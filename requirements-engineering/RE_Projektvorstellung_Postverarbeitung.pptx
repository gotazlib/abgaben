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67f053d6-8d6f-fd99-598e-5ba08be078e8}">
          <p14:sldIdLst>
            <p14:sldId id="256"/>
          </p14:sldIdLst>
        </p14:section>
        <p14:section name="Ausgangslage" id="{cb738484-fdf6-10ff-09c3-55e2787b201e}">
          <p14:sldIdLst>
            <p14:sldId id="257"/>
            <p14:sldId id="258"/>
            <p14:sldId id="259"/>
          </p14:sldIdLst>
        </p14:section>
        <p14:section name="Vision" id="{2f4a51cd-4b55-e00c-e7a1-2627c6d64a79}">
          <p14:sldIdLst>
            <p14:sldId id="260"/>
            <p14:sldId id="261"/>
            <p14:sldId id="262"/>
          </p14:sldIdLst>
        </p14:section>
        <p14:section name="Ziele und Rahmen" id="{ec530cd4-7610-04a8-13d0-d84d39194ab1}">
          <p14:sldIdLst>
            <p14:sldId id="263"/>
            <p14:sldId id="264"/>
          </p14:sldIdLst>
        </p14:section>
        <p14:section name="Auftrag" id="{69404bce-b7d4-2f69-3b60-0eadd9c52422}">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Guten Tag. Wir sind heute in der Rolle des Auftraggebers: die Musterbank Mittelland AG, ein fiktives Fallbeispiel. Unser Projekt heisst «Digitalisierung der internen Postverarbeitung». Die Kernidee steht auf der Folie: ein Posteingang, alles digital. In den nächsten fünf Minuten zeigen wir, wie die Post heute durch die Bank wandert, wo es hakt, wie wir uns die Zukunft vorstellen und was wir vom RE-Team erwarten.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zu uns: Die Musterbank Mittelland AG ist eine regionale Universalbank mit Hauptsitz in Olten, vierzehn Geschäftsstellen in den Kantonen Solothurn, Aargau und Bern und rund 520 Mitarbeitenden. Für unser Projekt zählen vor allem zwei Gruppen: rund 120 Kundenberaterinnen und Kundenberater in Teams und das zentrale Backoffice «Operations» mit rund 70 Personen. Pro Tag kommen etwa 360 Kundendokumente per Post zurück – Kontoeröffnungen, Vollmachten, Kreditunterlagen. Alle Zahlen sind Annahmen unseres Fallbeispiels.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läuft es heute: Die Kundenberaterin schickt dem Kunden Unterlagen per Post. Der Kunde ergänzt, unterschreibt und schickt sie zurück – und zwar direkt an die Kundenberaterin. Sie kontrolliert die Unterlagen und gibt sie in den internen Postlauf. Der Kurier fährt einmal pro Tag, zugestellt wird am Folgetag. Erst dann kann das Backoffice arbeiten. Die roten Punkte zeigen, wo es hakt: Ist die Kundenberaterin abwesend, bleibt die Post liegen – im Extremfall bis zu zehn Arbeitstage. Im Postlauf wird verspätet, falsch zugeordnet oder sogar etwas verloren. Und wenn das Backoffice merkt, dass etwas fehlt, beginnt die Runde per Post von vorne.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kostet uns das? Wir schätzen: Im Schnitt dauert es zweieinhalb Arbeitstage, bis eine Rücksendung im Backoffice ankommt. Rund zwölf Prozent der Dokumente sind unvollständig oder falsch ausgefüllt – jede davon löst eine Rückfrage aus. Jede Rücksendung kostet die Kundenberatung etwa sechs Minuten, die in der Beratung fehlen. Und ein bis zwei Dokumente pro Monat sind schlicht unauffindbar – bei Kundendokumenten einer Bank ist das heikel. Wichtig: Das sind Schätzungen. Wir wünschen uns, dass das RE-Team mit uns eine saubere Ausgangsmessung definiert.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Unsere Vision: Am Kundenkontakt ändert sich nichts – Unterlagen gehen weiterhin per Post an den Kunden. Neu kommt die Rücksendung aber nicht mehr zur Kundenberaterin, sondern in einen zentralen Posteingang. Dort wird gescannt und dem richtigen Kunden und Vorgang zugeordnet. Ab da ist alles digital: Der Vorgang erscheint in der Inbox unserer Posteingangs-Software. Die Kundenberaterin prüft, korrigiert offensichtliche Fehler oder löst eine Rückfrage aus – und leitet den Vorgang mit einem Klick ans zuständige Backoffice-Team weiter. Besonders wichtig ist uns die Teamsicht: Ist jemand abwesend, sieht die Stellvertretung die Vorgänge sofort. Der interne Postlauf entfällt.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man es sich vorstellen kann, haben wir eine Skizze gemacht – bewusst nur eine Skizze, keine Designvorgabe. Links wechselt man zwischen den eigenen Eingängen, dem Team, der Stellvertretung und offenen Rückfragen. Jeder Eingang zeigt Uhrzeit, Kundennummer, Dokumenttyp, wer zuständig ist und den Status. So sehen wir auf einen Blick, was neu ist, was geprüft wird, wo eine Rückfrage läuft und was schon beim Backoffice ist. Korrekturen und Rückfragen passieren direkt im Vorgang.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soll die Software für uns leisten? Wir formulieren das bewusst als Bedürfnisse – die eigentlichen Anforderungen soll das RE-Team mit unseren Stakeholdern erarbeiten. Erstens: alles an einem Ort. Zweitens: Teamsicht – Kundenberater sehen auch Vorgänge ihrer Kolleginnen, vor allem in der Stellvertretung. Drittens: korrigieren statt zurückschicken – wo der Kunde etwas falsch ausgefüllt hat, wollen wir das, wo zulässig, direkt beheben oder gezielt nachfragen. Viertens: digital an das richtige Backoffice-Team weiterleiten. Fünftens: Status jederzeit sichtbar. Und sechstens: sicher und nachvollziehbar – wir sind eine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wollen den Erfolg messen können. Vier Ziele: Die Durchlaufzeit vom Posteingang bis ins Backoffice soll bei 90 Prozent der Vorgänge höchstens einen Arbeitstag betragen – heute sind es im Schnitt zweieinhalb. Der Aufwand pro Rücksendung für die Kundenberatung soll sich halbieren, auf höchstens drei Minuten. Kein Dokument darf mehr verloren gehen. Und bei Abwesenheit soll die Stellvertretung sofort übernehmen können, statt dass Post bis zu zehn Tage liegen bleibt. Wie genau wir diese Werte messen, soll das RE-Team mit uns festlegen.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Einige Dinge sind für uns gesetzt. Als Bank unterstehen wir dem Bankkundengeheimnis nach Artikel 47 Bankengesetz – Kundendokumente dürfen nur Berechtigte sehen. Das gilt auch für die Teamsicht. Wir bearbeiten Personendaten nach dem Datenschutzgesetz. Es gelten gesetzliche Aufbewahrungsfristen, zum Beispiel zehn Jahre für Buchungsbelege nach Artikel 958f OR. Zugriffe müssen rollenbasiert und nachvollziehbar sein; die FINMA erwartet mit dem Rundschreiben 2023/1 ein Management der operationellen Risiken. Die genaue Einordnung machen Compliance und Rechtsdienst. Unser Budget: 450’000 Franken einmalig und höchstens 80’000 pro Jahr für den Betrieb. Pilot im zweiten Quartal 2027 am Hauptsitz und in zwei Geschäftsstellen, Rollout bis Ende 2027. Und: Der Postversand zum Kunden bleibt physisch.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zu unserem Auftrag an euch als RE-Team. Erstens: Ermittelt die Bedürfnisse unserer Stakeholder – Kundenberatung, Posteingang und Backoffice. Zweitens: Klärt die Zugriffsrechte – wer darf welche Vorgänge sehen und bearbeiten, gerade bei Team und Stellvertretung. Drittens: Beschreibt die Abläufe, auch Korrekturen, Rückfragen und Ausnahmen. Viertens: Macht unsere Qualitätsziele messbar. Rechts seht ihr unsere Ansprechpersonen. Wir sehen uns in der PVA 5 zum direkten Austausch, in der PVA 6 zum Zwischenstand und in der PVA 9 oder 10 zur Präsentation und Spezifikation.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zusammengefasst: Wir wollen die Software, in der alles reinkommt und bearbeitet wird – ein zentraler Posteingang, eine Inbox für das ganze Team und eine digitale Weiterleitung ans Backoffice. Messbar schneller, ohne verlorene Dokumente und sicher im Sinne des Bankkundengeheimnisses. Vielen Dank – wir freuen uns auf eure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ph idx="102" type="body" hasCustomPrompt="1"/>
          </p:nvPr>
        </p:nvSpPr>
        <p:spPr>
          <a:xfrm>
            <a:off x="548640" y="1371600"/>
            <a:ext cx="11094415" cy="384048"/>
          </a:xfrm>
          <a:prstGeom prst="rect">
            <a:avLst/>
          </a:prstGeom>
          <a:noFill/>
          <a:ln/>
        </p:spPr>
        <p:txBody>
          <a:bodyPr wrap="square" rtlCol="0"/>
          <a:lstStyle>
            <a:lvl1pPr indent="0" marL="0">
              <a:buNone/>
              <a:defRPr lang="en-US" sz="1700" dirty="0">
                <a:solidFill>
                  <a:schemeClr val="tx2"/>
                </a:solidFill>
              </a:defRPr>
            </a:lvl1pPr>
          </a:lstStyle>
          <a:p>
            <a:pPr indent="0" marL="0">
              <a:buNone/>
            </a:pPr>
            <a:endParaRPr lang="en-US" sz="1700" dirty="0"/>
          </a:p>
        </p:txBody>
      </p:sp>
      <p:sp>
        <p:nvSpPr>
          <p:cNvPr id="5" name="Text 0"/>
          <p:cNvSpPr/>
          <p:nvPr/>
        </p:nvSpPr>
        <p:spPr>
          <a:xfrm>
            <a:off x="548640" y="6382512"/>
            <a:ext cx="8686800" cy="274320"/>
          </a:xfrm>
          <a:prstGeom prst="rect">
            <a:avLst/>
          </a:prstGeom>
          <a:noFill/>
          <a:ln/>
        </p:spPr>
        <p:txBody>
          <a:bodyPr wrap="square" lIns="0" tIns="0" rIns="0" bIns="0" rtlCol="0" anchor="t"/>
          <a:lstStyle/>
          <a:p>
            <a:pPr indent="0" marL="0">
              <a:buNone/>
            </a:pPr>
            <a:r>
              <a:rPr lang="en-US" sz="1000" dirty="0">
                <a:solidFill>
                  <a:schemeClr val="tx2"/>
                </a:solidFill>
              </a:rPr>
              <a:t>Musterbank Mittelland AG (fiktiv) · Digitalisierung der internen Postverarbeitung · PVA 2</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6400800" cy="320040"/>
          </a:xfrm>
          <a:prstGeom prst="rect">
            <a:avLst/>
          </a:prstGeom>
          <a:noFill/>
          <a:ln/>
        </p:spPr>
        <p:txBody>
          <a:bodyPr wrap="square" lIns="0" tIns="0" rIns="0" bIns="0" rtlCol="0" anchor="t"/>
          <a:lstStyle/>
          <a:p>
            <a:pPr indent="0" marL="0">
              <a:buNone/>
            </a:pPr>
            <a:r>
              <a:rPr lang="en-US" sz="1300" b="1" spc="300" kern="0" dirty="0">
                <a:solidFill>
                  <a:schemeClr val="accent3"/>
                </a:solidFill>
              </a:rPr>
              <a:t>PROJEKTVORSTELLUNG · AUFTRAGGEBER</a:t>
            </a:r>
            <a:endParaRPr lang="en-US" sz="1300" dirty="0"/>
          </a:p>
        </p:txBody>
      </p:sp>
      <p:sp>
        <p:nvSpPr>
          <p:cNvPr id="3" name="Text 1"/>
          <p:cNvSpPr txBox="1"/>
          <p:nvPr/>
        </p:nvSpPr>
        <p:spPr>
          <a:xfrm>
            <a:off x="640080" y="1600200"/>
            <a:ext cx="6583680" cy="1920240"/>
          </a:xfrm>
          <a:prstGeom prst="rect">
            <a:avLst/>
          </a:prstGeom>
          <a:noFill/>
          <a:ln/>
        </p:spPr>
        <p:txBody>
          <a:bodyPr wrap="square" lIns="0" tIns="0" rIns="0" bIns="0" rtlCol="0" anchor="t"/>
          <a:lstStyle/>
          <a:p>
            <a:pPr indent="0" marL="0">
              <a:lnSpc>
                <a:spcPct val="95000"/>
              </a:lnSpc>
              <a:buNone/>
            </a:pPr>
            <a:r>
              <a:rPr lang="en-US" sz="5400" b="1" dirty="0">
                <a:solidFill>
                  <a:schemeClr val="bg1"/>
                </a:solidFill>
              </a:rPr>
              <a:t>Ein Posteingang.</a:t>
            </a:r>
            <a:endParaRPr lang="en-US" sz="5400" dirty="0"/>
          </a:p>
          <a:p>
            <a:pPr indent="0" marL="0">
              <a:lnSpc>
                <a:spcPct val="95000"/>
              </a:lnSpc>
              <a:buNone/>
            </a:pPr>
            <a:r>
              <a:rPr lang="en-US" sz="5400" b="1" dirty="0">
                <a:solidFill>
                  <a:schemeClr val="bg1"/>
                </a:solidFill>
              </a:rPr>
              <a:t>Alles digital.</a:t>
            </a:r>
            <a:endParaRPr lang="en-US" sz="5400" dirty="0"/>
          </a:p>
        </p:txBody>
      </p:sp>
      <p:sp>
        <p:nvSpPr>
          <p:cNvPr id="4" name="Text 2"/>
          <p:cNvSpPr txBox="1"/>
          <p:nvPr/>
        </p:nvSpPr>
        <p:spPr>
          <a:xfrm>
            <a:off x="640080" y="3657600"/>
            <a:ext cx="6400800" cy="457200"/>
          </a:xfrm>
          <a:prstGeom prst="rect">
            <a:avLst/>
          </a:prstGeom>
          <a:noFill/>
          <a:ln/>
        </p:spPr>
        <p:txBody>
          <a:bodyPr wrap="square" lIns="0" tIns="0" rIns="0" bIns="0" rtlCol="0" anchor="t"/>
          <a:lstStyle/>
          <a:p>
            <a:pPr indent="0" marL="0">
              <a:buNone/>
            </a:pPr>
            <a:r>
              <a:rPr lang="en-US" sz="2200" dirty="0">
                <a:solidFill>
                  <a:schemeClr val="bg1"/>
                </a:solidFill>
              </a:rPr>
              <a:t>Digitalisierung der internen Postverarbeitung</a:t>
            </a:r>
            <a:endParaRPr lang="en-US" sz="2200" dirty="0"/>
          </a:p>
        </p:txBody>
      </p:sp>
      <p:sp>
        <p:nvSpPr>
          <p:cNvPr id="5" name="Text 3"/>
          <p:cNvSpPr txBox="1"/>
          <p:nvPr/>
        </p:nvSpPr>
        <p:spPr>
          <a:xfrm>
            <a:off x="640080" y="4114800"/>
            <a:ext cx="6400800" cy="365760"/>
          </a:xfrm>
          <a:prstGeom prst="rect">
            <a:avLst/>
          </a:prstGeom>
          <a:noFill/>
          <a:ln/>
        </p:spPr>
        <p:txBody>
          <a:bodyPr wrap="square" lIns="0" tIns="0" rIns="0" bIns="0" rtlCol="0" anchor="t"/>
          <a:lstStyle/>
          <a:p>
            <a:pPr indent="0" marL="0">
              <a:buNone/>
            </a:pPr>
            <a:r>
              <a:rPr lang="en-US" sz="1600" dirty="0">
                <a:solidFill>
                  <a:schemeClr val="accent3"/>
                </a:solidFill>
              </a:rPr>
              <a:t>Musterbank Mittelland AG · fiktives Fallbeispiel</a:t>
            </a:r>
            <a:endParaRPr lang="en-US" sz="1600" dirty="0"/>
          </a:p>
        </p:txBody>
      </p:sp>
      <p:sp>
        <p:nvSpPr>
          <p:cNvPr id="6" name="Text 4"/>
          <p:cNvSpPr txBox="1"/>
          <p:nvPr/>
        </p:nvSpPr>
        <p:spPr>
          <a:xfrm>
            <a:off x="640080" y="5989320"/>
            <a:ext cx="8229600" cy="320040"/>
          </a:xfrm>
          <a:prstGeom prst="rect">
            <a:avLst/>
          </a:prstGeom>
          <a:noFill/>
          <a:ln/>
        </p:spPr>
        <p:txBody>
          <a:bodyPr wrap="square" lIns="0" tIns="0" rIns="0" bIns="0" rtlCol="0" anchor="t"/>
          <a:lstStyle/>
          <a:p>
            <a:pPr indent="0" marL="0">
              <a:buNone/>
            </a:pPr>
            <a:r>
              <a:rPr lang="en-US" sz="1200" dirty="0">
                <a:solidFill>
                  <a:schemeClr val="accent6"/>
                </a:solidFill>
              </a:rPr>
              <a:t>Requirements Engineering HS26 · PVA 2 · Gruppe 9 · [Name 1], [Name 2], [Name 3]</a:t>
            </a:r>
            <a:endParaRPr lang="en-US" sz="1200" dirty="0"/>
          </a:p>
        </p:txBody>
      </p:sp>
      <p:sp>
        <p:nvSpPr>
          <p:cNvPr id="7" name="Motiv Linie"/>
          <p:cNvSpPr/>
          <p:nvPr/>
        </p:nvSpPr>
        <p:spPr>
          <a:xfrm>
            <a:off x="9212580" y="1485900"/>
            <a:ext cx="0" cy="3703320"/>
          </a:xfrm>
          <a:prstGeom prst="line">
            <a:avLst/>
          </a:prstGeom>
          <a:noFill/>
          <a:ln w="19050">
            <a:solidFill>
              <a:schemeClr val="accent3"/>
            </a:solidFill>
            <a:prstDash val="dash"/>
          </a:ln>
        </p:spPr>
      </p:sp>
      <p:sp>
        <p:nvSpPr>
          <p:cNvPr id="8" name="Motiv Rücksendung"/>
          <p:cNvSpPr/>
          <p:nvPr/>
        </p:nvSpPr>
        <p:spPr>
          <a:xfrm>
            <a:off x="8778240" y="1051560"/>
            <a:ext cx="868680" cy="868680"/>
          </a:xfrm>
          <a:prstGeom prst="ellipse">
            <a:avLst/>
          </a:prstGeom>
          <a:solidFill>
            <a:schemeClr val="tx1"/>
          </a:solidFill>
          <a:ln w="25400">
            <a:solidFill>
              <a:schemeClr val="accent3"/>
            </a:solidFill>
            <a:prstDash val="solid"/>
          </a:ln>
        </p:spPr>
      </p:sp>
      <p:pic>
        <p:nvPicPr>
          <p:cNvPr id="9" name="Image 0" descr="Rücksendung">    </p:cNvPr>
          <p:cNvPicPr>
            <a:picLocks noChangeAspect="1"/>
          </p:cNvPicPr>
          <p:nvPr/>
        </p:nvPicPr>
        <p:blipFill>
          <a:blip r:embed="rId1"/>
          <a:stretch>
            <a:fillRect/>
          </a:stretch>
        </p:blipFill>
        <p:spPr>
          <a:xfrm>
            <a:off x="9006840" y="1280160"/>
            <a:ext cx="411480" cy="411480"/>
          </a:xfrm>
          <a:prstGeom prst="rect">
            <a:avLst/>
          </a:prstGeom>
        </p:spPr>
      </p:pic>
      <p:sp>
        <p:nvSpPr>
          <p:cNvPr id="10" name="Text 7"/>
          <p:cNvSpPr txBox="1"/>
          <p:nvPr/>
        </p:nvSpPr>
        <p:spPr>
          <a:xfrm>
            <a:off x="9921240" y="1298448"/>
            <a:ext cx="2011680" cy="384048"/>
          </a:xfrm>
          <a:prstGeom prst="rect">
            <a:avLst/>
          </a:prstGeom>
          <a:noFill/>
          <a:ln/>
        </p:spPr>
        <p:txBody>
          <a:bodyPr wrap="square" lIns="0" tIns="0" rIns="0" bIns="0" rtlCol="0" anchor="ctr"/>
          <a:lstStyle/>
          <a:p>
            <a:pPr indent="0" marL="0">
              <a:buNone/>
            </a:pPr>
            <a:r>
              <a:rPr lang="en-US" sz="1600" dirty="0">
                <a:solidFill>
                  <a:schemeClr val="bg1"/>
                </a:solidFill>
              </a:rPr>
              <a:t>Rücksendung</a:t>
            </a:r>
            <a:endParaRPr lang="en-US" sz="1600" dirty="0"/>
          </a:p>
        </p:txBody>
      </p:sp>
      <p:sp>
        <p:nvSpPr>
          <p:cNvPr id="11" name="Motiv Scan"/>
          <p:cNvSpPr/>
          <p:nvPr/>
        </p:nvSpPr>
        <p:spPr>
          <a:xfrm>
            <a:off x="8778240" y="2286000"/>
            <a:ext cx="868680" cy="868680"/>
          </a:xfrm>
          <a:prstGeom prst="ellipse">
            <a:avLst/>
          </a:prstGeom>
          <a:solidFill>
            <a:schemeClr val="tx1"/>
          </a:solidFill>
          <a:ln w="25400">
            <a:solidFill>
              <a:schemeClr val="accent3"/>
            </a:solidFill>
            <a:prstDash val="solid"/>
          </a:ln>
        </p:spPr>
      </p:sp>
      <p:pic>
        <p:nvPicPr>
          <p:cNvPr id="12" name="Image 1" descr="Scan">    </p:cNvPr>
          <p:cNvPicPr>
            <a:picLocks noChangeAspect="1"/>
          </p:cNvPicPr>
          <p:nvPr/>
        </p:nvPicPr>
        <p:blipFill>
          <a:blip r:embed="rId2"/>
          <a:stretch>
            <a:fillRect/>
          </a:stretch>
        </p:blipFill>
        <p:spPr>
          <a:xfrm>
            <a:off x="9006840" y="2514600"/>
            <a:ext cx="411480" cy="411480"/>
          </a:xfrm>
          <a:prstGeom prst="rect">
            <a:avLst/>
          </a:prstGeom>
        </p:spPr>
      </p:pic>
      <p:sp>
        <p:nvSpPr>
          <p:cNvPr id="13" name="Text 9"/>
          <p:cNvSpPr txBox="1"/>
          <p:nvPr/>
        </p:nvSpPr>
        <p:spPr>
          <a:xfrm>
            <a:off x="9921240" y="2532888"/>
            <a:ext cx="2011680" cy="384048"/>
          </a:xfrm>
          <a:prstGeom prst="rect">
            <a:avLst/>
          </a:prstGeom>
          <a:noFill/>
          <a:ln/>
        </p:spPr>
        <p:txBody>
          <a:bodyPr wrap="square" lIns="0" tIns="0" rIns="0" bIns="0" rtlCol="0" anchor="ctr"/>
          <a:lstStyle/>
          <a:p>
            <a:pPr indent="0" marL="0">
              <a:buNone/>
            </a:pPr>
            <a:r>
              <a:rPr lang="en-US" sz="1600" dirty="0">
                <a:solidFill>
                  <a:schemeClr val="bg1"/>
                </a:solidFill>
              </a:rPr>
              <a:t>Scan</a:t>
            </a:r>
            <a:endParaRPr lang="en-US" sz="1600" dirty="0"/>
          </a:p>
        </p:txBody>
      </p:sp>
      <p:sp>
        <p:nvSpPr>
          <p:cNvPr id="14" name="Motiv Inbox"/>
          <p:cNvSpPr/>
          <p:nvPr/>
        </p:nvSpPr>
        <p:spPr>
          <a:xfrm>
            <a:off x="8778240" y="3520440"/>
            <a:ext cx="868680" cy="868680"/>
          </a:xfrm>
          <a:prstGeom prst="ellipse">
            <a:avLst/>
          </a:prstGeom>
          <a:solidFill>
            <a:schemeClr val="tx1"/>
          </a:solidFill>
          <a:ln w="25400">
            <a:solidFill>
              <a:schemeClr val="accent3"/>
            </a:solidFill>
            <a:prstDash val="solid"/>
          </a:ln>
        </p:spPr>
      </p:sp>
      <p:pic>
        <p:nvPicPr>
          <p:cNvPr id="15" name="Image 2" descr="Inbox">    </p:cNvPr>
          <p:cNvPicPr>
            <a:picLocks noChangeAspect="1"/>
          </p:cNvPicPr>
          <p:nvPr/>
        </p:nvPicPr>
        <p:blipFill>
          <a:blip r:embed="rId3"/>
          <a:stretch>
            <a:fillRect/>
          </a:stretch>
        </p:blipFill>
        <p:spPr>
          <a:xfrm>
            <a:off x="9006840" y="3749040"/>
            <a:ext cx="411480" cy="411480"/>
          </a:xfrm>
          <a:prstGeom prst="rect">
            <a:avLst/>
          </a:prstGeom>
        </p:spPr>
      </p:pic>
      <p:sp>
        <p:nvSpPr>
          <p:cNvPr id="16" name="Text 11"/>
          <p:cNvSpPr txBox="1"/>
          <p:nvPr/>
        </p:nvSpPr>
        <p:spPr>
          <a:xfrm>
            <a:off x="9921240" y="3767328"/>
            <a:ext cx="2011680" cy="384048"/>
          </a:xfrm>
          <a:prstGeom prst="rect">
            <a:avLst/>
          </a:prstGeom>
          <a:noFill/>
          <a:ln/>
        </p:spPr>
        <p:txBody>
          <a:bodyPr wrap="square" lIns="0" tIns="0" rIns="0" bIns="0" rtlCol="0" anchor="ctr"/>
          <a:lstStyle/>
          <a:p>
            <a:pPr indent="0" marL="0">
              <a:buNone/>
            </a:pPr>
            <a:r>
              <a:rPr lang="en-US" sz="1600" dirty="0">
                <a:solidFill>
                  <a:schemeClr val="bg1"/>
                </a:solidFill>
              </a:rPr>
              <a:t>Inbox</a:t>
            </a:r>
            <a:endParaRPr lang="en-US" sz="1600" dirty="0"/>
          </a:p>
        </p:txBody>
      </p:sp>
      <p:sp>
        <p:nvSpPr>
          <p:cNvPr id="17" name="Motiv Backoffice"/>
          <p:cNvSpPr/>
          <p:nvPr/>
        </p:nvSpPr>
        <p:spPr>
          <a:xfrm>
            <a:off x="8778240" y="4754880"/>
            <a:ext cx="868680" cy="868680"/>
          </a:xfrm>
          <a:prstGeom prst="ellipse">
            <a:avLst/>
          </a:prstGeom>
          <a:solidFill>
            <a:schemeClr val="tx1"/>
          </a:solidFill>
          <a:ln w="25400">
            <a:solidFill>
              <a:schemeClr val="accent3"/>
            </a:solidFill>
            <a:prstDash val="solid"/>
          </a:ln>
        </p:spPr>
      </p:sp>
      <p:pic>
        <p:nvPicPr>
          <p:cNvPr id="18" name="Image 3" descr="Backoffice">    </p:cNvPr>
          <p:cNvPicPr>
            <a:picLocks noChangeAspect="1"/>
          </p:cNvPicPr>
          <p:nvPr/>
        </p:nvPicPr>
        <p:blipFill>
          <a:blip r:embed="rId4"/>
          <a:stretch>
            <a:fillRect/>
          </a:stretch>
        </p:blipFill>
        <p:spPr>
          <a:xfrm>
            <a:off x="9006840" y="4983480"/>
            <a:ext cx="411480" cy="411480"/>
          </a:xfrm>
          <a:prstGeom prst="rect">
            <a:avLst/>
          </a:prstGeom>
        </p:spPr>
      </p:pic>
      <p:sp>
        <p:nvSpPr>
          <p:cNvPr id="19" name="Text 13"/>
          <p:cNvSpPr txBox="1"/>
          <p:nvPr/>
        </p:nvSpPr>
        <p:spPr>
          <a:xfrm>
            <a:off x="9921240" y="5001768"/>
            <a:ext cx="2011680" cy="384048"/>
          </a:xfrm>
          <a:prstGeom prst="rect">
            <a:avLst/>
          </a:prstGeom>
          <a:noFill/>
          <a:ln/>
        </p:spPr>
        <p:txBody>
          <a:bodyPr wrap="square" lIns="0" tIns="0" rIns="0" bIns="0" rtlCol="0" anchor="ctr"/>
          <a:lstStyle/>
          <a:p>
            <a:pPr indent="0" marL="0">
              <a:buNone/>
            </a:pPr>
            <a:r>
              <a:rPr lang="en-US" sz="1600" dirty="0">
                <a:solidFill>
                  <a:schemeClr val="bg1"/>
                </a:solidFill>
              </a:rPr>
              <a:t>Backoffice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WER WIR SIND</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Musterbank Mittelland AG</a:t>
            </a:r>
            <a:endParaRPr lang="en-US" sz="34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700" dirty="0">
                <a:solidFill>
                  <a:schemeClr val="tx2"/>
                </a:solidFill>
              </a:rPr>
              <a:t>Regionale Universalbank mit Hauptsitz in Olten – ein fiktives Fallbeispiel.</a:t>
            </a:r>
            <a:endParaRPr lang="en-US" sz="1700" dirty="0"/>
          </a:p>
        </p:txBody>
      </p:sp>
      <p:sp>
        <p:nvSpPr>
          <p:cNvPr id="5" name="Kennzahl Geschäftsstellen"/>
          <p:cNvSpPr/>
          <p:nvPr/>
        </p:nvSpPr>
        <p:spPr>
          <a:xfrm>
            <a:off x="548640" y="2148840"/>
            <a:ext cx="2567864" cy="3383280"/>
          </a:xfrm>
          <a:prstGeom prst="roundRect">
            <a:avLst>
              <a:gd name="adj" fmla="val 4273"/>
            </a:avLst>
          </a:prstGeom>
          <a:solidFill>
            <a:schemeClr val="bg2"/>
          </a:solidFill>
          <a:ln/>
        </p:spPr>
      </p:sp>
      <p:sp>
        <p:nvSpPr>
          <p:cNvPr id="6" name="Icon Geschäftsstellen Kreis"/>
          <p:cNvSpPr/>
          <p:nvPr/>
        </p:nvSpPr>
        <p:spPr>
          <a:xfrm>
            <a:off x="868680" y="2514600"/>
            <a:ext cx="685800" cy="685800"/>
          </a:xfrm>
          <a:prstGeom prst="ellipse">
            <a:avLst/>
          </a:prstGeom>
          <a:solidFill>
            <a:schemeClr val="accent1"/>
          </a:solidFill>
          <a:ln/>
        </p:spPr>
      </p:sp>
      <p:pic>
        <p:nvPicPr>
          <p:cNvPr id="7" name="Icon Geschäftsstellen" descr="MapPin">    </p:cNvPr>
          <p:cNvPicPr>
            <a:picLocks noChangeAspect="1"/>
          </p:cNvPicPr>
          <p:nvPr/>
        </p:nvPicPr>
        <p:blipFill>
          <a:blip r:embed="rId1"/>
          <a:stretch>
            <a:fillRect/>
          </a:stretch>
        </p:blipFill>
        <p:spPr>
          <a:xfrm>
            <a:off x="1040130" y="2686050"/>
            <a:ext cx="342900" cy="342900"/>
          </a:xfrm>
          <a:prstGeom prst="rect">
            <a:avLst/>
          </a:prstGeom>
        </p:spPr>
      </p:pic>
      <p:sp>
        <p:nvSpPr>
          <p:cNvPr id="8" name="Text 5"/>
          <p:cNvSpPr txBox="1"/>
          <p:nvPr/>
        </p:nvSpPr>
        <p:spPr>
          <a:xfrm>
            <a:off x="868680" y="3429000"/>
            <a:ext cx="1927784" cy="868680"/>
          </a:xfrm>
          <a:prstGeom prst="rect">
            <a:avLst/>
          </a:prstGeom>
          <a:noFill/>
          <a:ln/>
        </p:spPr>
        <p:txBody>
          <a:bodyPr wrap="square" lIns="0" tIns="0" rIns="0" bIns="0" rtlCol="0" anchor="ctr"/>
          <a:lstStyle/>
          <a:p>
            <a:pPr indent="0" marL="0">
              <a:buNone/>
            </a:pPr>
            <a:r>
              <a:rPr lang="en-US" sz="4800" b="1" dirty="0">
                <a:solidFill>
                  <a:schemeClr val="tx1"/>
                </a:solidFill>
              </a:rPr>
              <a:t>14</a:t>
            </a:r>
            <a:endParaRPr lang="en-US" sz="4800" dirty="0"/>
          </a:p>
        </p:txBody>
      </p:sp>
      <p:sp>
        <p:nvSpPr>
          <p:cNvPr id="9" name="Text 6"/>
          <p:cNvSpPr txBox="1"/>
          <p:nvPr/>
        </p:nvSpPr>
        <p:spPr>
          <a:xfrm>
            <a:off x="868680" y="4343400"/>
            <a:ext cx="2019224" cy="640080"/>
          </a:xfrm>
          <a:prstGeom prst="rect">
            <a:avLst/>
          </a:prstGeom>
          <a:noFill/>
          <a:ln/>
        </p:spPr>
        <p:txBody>
          <a:bodyPr wrap="square" lIns="0" tIns="0" rIns="0" bIns="0" rtlCol="0" anchor="t"/>
          <a:lstStyle/>
          <a:p>
            <a:pPr indent="0" marL="0">
              <a:buNone/>
            </a:pPr>
            <a:r>
              <a:rPr lang="en-US" sz="1600" b="1" dirty="0">
                <a:solidFill>
                  <a:schemeClr val="tx1"/>
                </a:solidFill>
              </a:rPr>
              <a:t>Geschäftsstellen</a:t>
            </a:r>
            <a:endParaRPr lang="en-US" sz="1600" dirty="0"/>
          </a:p>
        </p:txBody>
      </p:sp>
      <p:sp>
        <p:nvSpPr>
          <p:cNvPr id="10" name="Text 7"/>
          <p:cNvSpPr txBox="1"/>
          <p:nvPr/>
        </p:nvSpPr>
        <p:spPr>
          <a:xfrm>
            <a:off x="868680" y="4983480"/>
            <a:ext cx="2019224" cy="320040"/>
          </a:xfrm>
          <a:prstGeom prst="rect">
            <a:avLst/>
          </a:prstGeom>
          <a:noFill/>
          <a:ln/>
        </p:spPr>
        <p:txBody>
          <a:bodyPr wrap="square" lIns="0" tIns="0" rIns="0" bIns="0" rtlCol="0" anchor="t"/>
          <a:lstStyle/>
          <a:p>
            <a:pPr indent="0" marL="0">
              <a:buNone/>
            </a:pPr>
            <a:r>
              <a:rPr lang="en-US" sz="1400" dirty="0">
                <a:solidFill>
                  <a:schemeClr val="tx2"/>
                </a:solidFill>
              </a:rPr>
              <a:t>SO, AG, BE</a:t>
            </a:r>
            <a:endParaRPr lang="en-US" sz="1400" dirty="0"/>
          </a:p>
        </p:txBody>
      </p:sp>
      <p:sp>
        <p:nvSpPr>
          <p:cNvPr id="11" name="Kennzahl Kundenberater:innen"/>
          <p:cNvSpPr/>
          <p:nvPr/>
        </p:nvSpPr>
        <p:spPr>
          <a:xfrm>
            <a:off x="3390824" y="2148840"/>
            <a:ext cx="2567864" cy="3383280"/>
          </a:xfrm>
          <a:prstGeom prst="roundRect">
            <a:avLst>
              <a:gd name="adj" fmla="val 4273"/>
            </a:avLst>
          </a:prstGeom>
          <a:solidFill>
            <a:schemeClr val="bg2"/>
          </a:solidFill>
          <a:ln/>
        </p:spPr>
      </p:sp>
      <p:sp>
        <p:nvSpPr>
          <p:cNvPr id="12" name="Icon Kundenberater:innen Kreis"/>
          <p:cNvSpPr/>
          <p:nvPr/>
        </p:nvSpPr>
        <p:spPr>
          <a:xfrm>
            <a:off x="3710864" y="2514600"/>
            <a:ext cx="685800" cy="685800"/>
          </a:xfrm>
          <a:prstGeom prst="ellipse">
            <a:avLst/>
          </a:prstGeom>
          <a:solidFill>
            <a:schemeClr val="accent1"/>
          </a:solidFill>
          <a:ln/>
        </p:spPr>
      </p:sp>
      <p:pic>
        <p:nvPicPr>
          <p:cNvPr id="13" name="Icon Kundenberater:innen" descr="Users">    </p:cNvPr>
          <p:cNvPicPr>
            <a:picLocks noChangeAspect="1"/>
          </p:cNvPicPr>
          <p:nvPr/>
        </p:nvPicPr>
        <p:blipFill>
          <a:blip r:embed="rId2"/>
          <a:stretch>
            <a:fillRect/>
          </a:stretch>
        </p:blipFill>
        <p:spPr>
          <a:xfrm>
            <a:off x="3882314" y="2686050"/>
            <a:ext cx="342900" cy="342900"/>
          </a:xfrm>
          <a:prstGeom prst="rect">
            <a:avLst/>
          </a:prstGeom>
        </p:spPr>
      </p:pic>
      <p:sp>
        <p:nvSpPr>
          <p:cNvPr id="14" name="Text 10"/>
          <p:cNvSpPr txBox="1"/>
          <p:nvPr/>
        </p:nvSpPr>
        <p:spPr>
          <a:xfrm>
            <a:off x="3710864" y="3429000"/>
            <a:ext cx="1927784" cy="868680"/>
          </a:xfrm>
          <a:prstGeom prst="rect">
            <a:avLst/>
          </a:prstGeom>
          <a:noFill/>
          <a:ln/>
        </p:spPr>
        <p:txBody>
          <a:bodyPr wrap="square" lIns="0" tIns="0" rIns="0" bIns="0" rtlCol="0" anchor="ctr"/>
          <a:lstStyle/>
          <a:p>
            <a:pPr indent="0" marL="0">
              <a:buNone/>
            </a:pPr>
            <a:r>
              <a:rPr lang="en-US" sz="4800" b="1" dirty="0">
                <a:solidFill>
                  <a:schemeClr val="tx1"/>
                </a:solidFill>
              </a:rPr>
              <a:t>~120</a:t>
            </a:r>
            <a:endParaRPr lang="en-US" sz="4800" dirty="0"/>
          </a:p>
        </p:txBody>
      </p:sp>
      <p:sp>
        <p:nvSpPr>
          <p:cNvPr id="15" name="Text 11"/>
          <p:cNvSpPr txBox="1"/>
          <p:nvPr/>
        </p:nvSpPr>
        <p:spPr>
          <a:xfrm>
            <a:off x="3710864" y="4343400"/>
            <a:ext cx="2019224" cy="640080"/>
          </a:xfrm>
          <a:prstGeom prst="rect">
            <a:avLst/>
          </a:prstGeom>
          <a:noFill/>
          <a:ln/>
        </p:spPr>
        <p:txBody>
          <a:bodyPr wrap="square" lIns="0" tIns="0" rIns="0" bIns="0" rtlCol="0" anchor="t"/>
          <a:lstStyle/>
          <a:p>
            <a:pPr indent="0" marL="0">
              <a:buNone/>
            </a:pPr>
            <a:r>
              <a:rPr lang="en-US" sz="1600" b="1" dirty="0">
                <a:solidFill>
                  <a:schemeClr val="tx1"/>
                </a:solidFill>
              </a:rPr>
              <a:t>Kundenberater:innen</a:t>
            </a:r>
            <a:endParaRPr lang="en-US" sz="1600" dirty="0"/>
          </a:p>
        </p:txBody>
      </p:sp>
      <p:sp>
        <p:nvSpPr>
          <p:cNvPr id="16" name="Text 12"/>
          <p:cNvSpPr txBox="1"/>
          <p:nvPr/>
        </p:nvSpPr>
        <p:spPr>
          <a:xfrm>
            <a:off x="3710864" y="4983480"/>
            <a:ext cx="2019224" cy="320040"/>
          </a:xfrm>
          <a:prstGeom prst="rect">
            <a:avLst/>
          </a:prstGeom>
          <a:noFill/>
          <a:ln/>
        </p:spPr>
        <p:txBody>
          <a:bodyPr wrap="square" lIns="0" tIns="0" rIns="0" bIns="0" rtlCol="0" anchor="t"/>
          <a:lstStyle/>
          <a:p>
            <a:pPr indent="0" marL="0">
              <a:buNone/>
            </a:pPr>
            <a:r>
              <a:rPr lang="en-US" sz="1400" dirty="0">
                <a:solidFill>
                  <a:schemeClr val="tx2"/>
                </a:solidFill>
              </a:rPr>
              <a:t>in Teams à 6–10</a:t>
            </a:r>
            <a:endParaRPr lang="en-US" sz="1400" dirty="0"/>
          </a:p>
        </p:txBody>
      </p:sp>
      <p:sp>
        <p:nvSpPr>
          <p:cNvPr id="17" name="Kennzahl Mitarbeitende im Backoffice"/>
          <p:cNvSpPr/>
          <p:nvPr/>
        </p:nvSpPr>
        <p:spPr>
          <a:xfrm>
            <a:off x="6233008" y="2148840"/>
            <a:ext cx="2567864" cy="3383280"/>
          </a:xfrm>
          <a:prstGeom prst="roundRect">
            <a:avLst>
              <a:gd name="adj" fmla="val 4273"/>
            </a:avLst>
          </a:prstGeom>
          <a:solidFill>
            <a:schemeClr val="bg2"/>
          </a:solidFill>
          <a:ln/>
        </p:spPr>
      </p:sp>
      <p:sp>
        <p:nvSpPr>
          <p:cNvPr id="18" name="Icon Mitarbeitende im Backoffice Kreis"/>
          <p:cNvSpPr/>
          <p:nvPr/>
        </p:nvSpPr>
        <p:spPr>
          <a:xfrm>
            <a:off x="6553048" y="2514600"/>
            <a:ext cx="685800" cy="685800"/>
          </a:xfrm>
          <a:prstGeom prst="ellipse">
            <a:avLst/>
          </a:prstGeom>
          <a:solidFill>
            <a:schemeClr val="accent1"/>
          </a:solidFill>
          <a:ln/>
        </p:spPr>
      </p:sp>
      <p:pic>
        <p:nvPicPr>
          <p:cNvPr id="19" name="Icon Mitarbeitende im Backoffice" descr="Building2">    </p:cNvPr>
          <p:cNvPicPr>
            <a:picLocks noChangeAspect="1"/>
          </p:cNvPicPr>
          <p:nvPr/>
        </p:nvPicPr>
        <p:blipFill>
          <a:blip r:embed="rId3"/>
          <a:stretch>
            <a:fillRect/>
          </a:stretch>
        </p:blipFill>
        <p:spPr>
          <a:xfrm>
            <a:off x="6724498" y="2686050"/>
            <a:ext cx="342900" cy="342900"/>
          </a:xfrm>
          <a:prstGeom prst="rect">
            <a:avLst/>
          </a:prstGeom>
        </p:spPr>
      </p:pic>
      <p:sp>
        <p:nvSpPr>
          <p:cNvPr id="20" name="Text 15"/>
          <p:cNvSpPr txBox="1"/>
          <p:nvPr/>
        </p:nvSpPr>
        <p:spPr>
          <a:xfrm>
            <a:off x="6553048" y="3429000"/>
            <a:ext cx="1927784" cy="868680"/>
          </a:xfrm>
          <a:prstGeom prst="rect">
            <a:avLst/>
          </a:prstGeom>
          <a:noFill/>
          <a:ln/>
        </p:spPr>
        <p:txBody>
          <a:bodyPr wrap="square" lIns="0" tIns="0" rIns="0" bIns="0" rtlCol="0" anchor="ctr"/>
          <a:lstStyle/>
          <a:p>
            <a:pPr indent="0" marL="0">
              <a:buNone/>
            </a:pPr>
            <a:r>
              <a:rPr lang="en-US" sz="4800" b="1" dirty="0">
                <a:solidFill>
                  <a:schemeClr val="tx1"/>
                </a:solidFill>
              </a:rPr>
              <a:t>~70</a:t>
            </a:r>
            <a:endParaRPr lang="en-US" sz="4800" dirty="0"/>
          </a:p>
        </p:txBody>
      </p:sp>
      <p:sp>
        <p:nvSpPr>
          <p:cNvPr id="21" name="Text 16"/>
          <p:cNvSpPr txBox="1"/>
          <p:nvPr/>
        </p:nvSpPr>
        <p:spPr>
          <a:xfrm>
            <a:off x="6553048" y="4343400"/>
            <a:ext cx="2019224" cy="640080"/>
          </a:xfrm>
          <a:prstGeom prst="rect">
            <a:avLst/>
          </a:prstGeom>
          <a:noFill/>
          <a:ln/>
        </p:spPr>
        <p:txBody>
          <a:bodyPr wrap="square" lIns="0" tIns="0" rIns="0" bIns="0" rtlCol="0" anchor="t"/>
          <a:lstStyle/>
          <a:p>
            <a:pPr indent="0" marL="0">
              <a:buNone/>
            </a:pPr>
            <a:r>
              <a:rPr lang="en-US" sz="1600" b="1" dirty="0">
                <a:solidFill>
                  <a:schemeClr val="tx1"/>
                </a:solidFill>
              </a:rPr>
              <a:t>Mitarbeitende im Backoffice</a:t>
            </a:r>
            <a:endParaRPr lang="en-US" sz="1600" dirty="0"/>
          </a:p>
        </p:txBody>
      </p:sp>
      <p:sp>
        <p:nvSpPr>
          <p:cNvPr id="22" name="Text 17"/>
          <p:cNvSpPr txBox="1"/>
          <p:nvPr/>
        </p:nvSpPr>
        <p:spPr>
          <a:xfrm>
            <a:off x="6553048" y="4983480"/>
            <a:ext cx="2019224" cy="320040"/>
          </a:xfrm>
          <a:prstGeom prst="rect">
            <a:avLst/>
          </a:prstGeom>
          <a:noFill/>
          <a:ln/>
        </p:spPr>
        <p:txBody>
          <a:bodyPr wrap="square" lIns="0" tIns="0" rIns="0" bIns="0" rtlCol="0" anchor="t"/>
          <a:lstStyle/>
          <a:p>
            <a:pPr indent="0" marL="0">
              <a:buNone/>
            </a:pPr>
            <a:r>
              <a:rPr lang="en-US" sz="1400" dirty="0">
                <a:solidFill>
                  <a:schemeClr val="tx2"/>
                </a:solidFill>
              </a:rPr>
              <a:t>«Operations», Olten</a:t>
            </a:r>
            <a:endParaRPr lang="en-US" sz="1400" dirty="0"/>
          </a:p>
        </p:txBody>
      </p:sp>
      <p:sp>
        <p:nvSpPr>
          <p:cNvPr id="23" name="Kennzahl Rücksendungen pro Arbeitstag"/>
          <p:cNvSpPr/>
          <p:nvPr/>
        </p:nvSpPr>
        <p:spPr>
          <a:xfrm>
            <a:off x="9075191" y="2148840"/>
            <a:ext cx="2567864" cy="3383280"/>
          </a:xfrm>
          <a:prstGeom prst="roundRect">
            <a:avLst>
              <a:gd name="adj" fmla="val 4273"/>
            </a:avLst>
          </a:prstGeom>
          <a:solidFill>
            <a:schemeClr val="bg2"/>
          </a:solidFill>
          <a:ln/>
        </p:spPr>
      </p:sp>
      <p:sp>
        <p:nvSpPr>
          <p:cNvPr id="24" name="Icon Rücksendungen pro Arbeitstag Kreis"/>
          <p:cNvSpPr/>
          <p:nvPr/>
        </p:nvSpPr>
        <p:spPr>
          <a:xfrm>
            <a:off x="9395231" y="2514600"/>
            <a:ext cx="685800" cy="685800"/>
          </a:xfrm>
          <a:prstGeom prst="ellipse">
            <a:avLst/>
          </a:prstGeom>
          <a:solidFill>
            <a:schemeClr val="accent1"/>
          </a:solidFill>
          <a:ln/>
        </p:spPr>
      </p:sp>
      <p:pic>
        <p:nvPicPr>
          <p:cNvPr id="25" name="Icon Rücksendungen pro Arbeitstag" descr="Mail">    </p:cNvPr>
          <p:cNvPicPr>
            <a:picLocks noChangeAspect="1"/>
          </p:cNvPicPr>
          <p:nvPr/>
        </p:nvPicPr>
        <p:blipFill>
          <a:blip r:embed="rId4"/>
          <a:stretch>
            <a:fillRect/>
          </a:stretch>
        </p:blipFill>
        <p:spPr>
          <a:xfrm>
            <a:off x="9566681" y="2686050"/>
            <a:ext cx="342900" cy="342900"/>
          </a:xfrm>
          <a:prstGeom prst="rect">
            <a:avLst/>
          </a:prstGeom>
        </p:spPr>
      </p:pic>
      <p:sp>
        <p:nvSpPr>
          <p:cNvPr id="26" name="Text 20"/>
          <p:cNvSpPr txBox="1"/>
          <p:nvPr/>
        </p:nvSpPr>
        <p:spPr>
          <a:xfrm>
            <a:off x="9395231" y="3429000"/>
            <a:ext cx="1927784" cy="868680"/>
          </a:xfrm>
          <a:prstGeom prst="rect">
            <a:avLst/>
          </a:prstGeom>
          <a:noFill/>
          <a:ln/>
        </p:spPr>
        <p:txBody>
          <a:bodyPr wrap="square" lIns="0" tIns="0" rIns="0" bIns="0" rtlCol="0" anchor="ctr"/>
          <a:lstStyle/>
          <a:p>
            <a:pPr indent="0" marL="0">
              <a:buNone/>
            </a:pPr>
            <a:r>
              <a:rPr lang="en-US" sz="4800" b="1" dirty="0">
                <a:solidFill>
                  <a:schemeClr val="tx1"/>
                </a:solidFill>
              </a:rPr>
              <a:t>~360</a:t>
            </a:r>
            <a:endParaRPr lang="en-US" sz="4800" dirty="0"/>
          </a:p>
        </p:txBody>
      </p:sp>
      <p:sp>
        <p:nvSpPr>
          <p:cNvPr id="27" name="Text 21"/>
          <p:cNvSpPr txBox="1"/>
          <p:nvPr/>
        </p:nvSpPr>
        <p:spPr>
          <a:xfrm>
            <a:off x="9395231" y="4343400"/>
            <a:ext cx="2019224" cy="640080"/>
          </a:xfrm>
          <a:prstGeom prst="rect">
            <a:avLst/>
          </a:prstGeom>
          <a:noFill/>
          <a:ln/>
        </p:spPr>
        <p:txBody>
          <a:bodyPr wrap="square" lIns="0" tIns="0" rIns="0" bIns="0" rtlCol="0" anchor="t"/>
          <a:lstStyle/>
          <a:p>
            <a:pPr indent="0" marL="0">
              <a:buNone/>
            </a:pPr>
            <a:r>
              <a:rPr lang="en-US" sz="1600" b="1" dirty="0">
                <a:solidFill>
                  <a:schemeClr val="tx1"/>
                </a:solidFill>
              </a:rPr>
              <a:t>Rücksendungen pro Arbeitstag</a:t>
            </a:r>
            <a:endParaRPr lang="en-US" sz="1600" dirty="0"/>
          </a:p>
        </p:txBody>
      </p:sp>
      <p:sp>
        <p:nvSpPr>
          <p:cNvPr id="28" name="Text 22"/>
          <p:cNvSpPr txBox="1"/>
          <p:nvPr/>
        </p:nvSpPr>
        <p:spPr>
          <a:xfrm>
            <a:off x="9395231" y="4983480"/>
            <a:ext cx="2019224" cy="320040"/>
          </a:xfrm>
          <a:prstGeom prst="rect">
            <a:avLst/>
          </a:prstGeom>
          <a:noFill/>
          <a:ln/>
        </p:spPr>
        <p:txBody>
          <a:bodyPr wrap="square" lIns="0" tIns="0" rIns="0" bIns="0" rtlCol="0" anchor="t"/>
          <a:lstStyle/>
          <a:p>
            <a:pPr indent="0" marL="0">
              <a:buNone/>
            </a:pPr>
            <a:r>
              <a:rPr lang="en-US" sz="1400" dirty="0">
                <a:solidFill>
                  <a:schemeClr val="tx2"/>
                </a:solidFill>
              </a:rPr>
              <a:t>ca. 1’800 pro Woche</a:t>
            </a:r>
            <a:endParaRPr lang="en-US" sz="1400" dirty="0"/>
          </a:p>
        </p:txBody>
      </p:sp>
      <p:sp>
        <p:nvSpPr>
          <p:cNvPr id="29" name="Text 23"/>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chemeClr val="accent1"/>
                </a:solidFill>
              </a:rPr>
              <a:t>Annahme  </a:t>
            </a:r>
            <a:pPr indent="0" marL="0">
              <a:buNone/>
            </a:pPr>
            <a:r>
              <a:rPr lang="en-US" sz="1100" dirty="0">
                <a:solidFill>
                  <a:schemeClr val="tx2"/>
                </a:solidFill>
              </a:rPr>
              <a:t>Alle Angaben zur Bank sind fiktive Annahmen der Stakeholder-Rolle.</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IST-PROZESS</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Heute wandert Papier durchs Haus</a:t>
            </a:r>
            <a:endParaRPr lang="en-US" sz="34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700" dirty="0">
                <a:solidFill>
                  <a:schemeClr val="tx2"/>
                </a:solidFill>
              </a:rPr>
              <a:t>Rücksendungen landen beim Kundenberater und gehen per internem Postlauf weiter.</a:t>
            </a:r>
            <a:endParaRPr lang="en-US" sz="1700" dirty="0"/>
          </a:p>
        </p:txBody>
      </p:sp>
      <p:sp>
        <p:nvSpPr>
          <p:cNvPr id="5" name="Pfeil 1"/>
          <p:cNvSpPr/>
          <p:nvPr/>
        </p:nvSpPr>
        <p:spPr>
          <a:xfrm>
            <a:off x="2225010" y="2606040"/>
            <a:ext cx="1085027" cy="0"/>
          </a:xfrm>
          <a:prstGeom prst="line">
            <a:avLst/>
          </a:prstGeom>
          <a:noFill/>
          <a:ln w="25400">
            <a:solidFill>
              <a:schemeClr val="tx2"/>
            </a:solidFill>
            <a:prstDash val="solid"/>
            <a:tailEnd type="triangle"/>
          </a:ln>
        </p:spPr>
      </p:sp>
      <p:sp>
        <p:nvSpPr>
          <p:cNvPr id="6" name="Schritt 1 Kreis"/>
          <p:cNvSpPr/>
          <p:nvPr/>
        </p:nvSpPr>
        <p:spPr>
          <a:xfrm>
            <a:off x="1200882" y="2148840"/>
            <a:ext cx="914400" cy="914400"/>
          </a:xfrm>
          <a:prstGeom prst="ellipse">
            <a:avLst/>
          </a:prstGeom>
          <a:solidFill>
            <a:schemeClr val="tx1"/>
          </a:solidFill>
          <a:ln/>
        </p:spPr>
      </p:sp>
      <p:pic>
        <p:nvPicPr>
          <p:cNvPr id="7" name="Schritt 1" descr="User">    </p:cNvPr>
          <p:cNvPicPr>
            <a:picLocks noChangeAspect="1"/>
          </p:cNvPicPr>
          <p:nvPr/>
        </p:nvPicPr>
        <p:blipFill>
          <a:blip r:embed="rId1"/>
          <a:stretch>
            <a:fillRect/>
          </a:stretch>
        </p:blipFill>
        <p:spPr>
          <a:xfrm>
            <a:off x="1429482" y="2377440"/>
            <a:ext cx="457200" cy="457200"/>
          </a:xfrm>
          <a:prstGeom prst="rect">
            <a:avLst/>
          </a:prstGeom>
        </p:spPr>
      </p:pic>
      <p:sp>
        <p:nvSpPr>
          <p:cNvPr id="8" name="Text 5"/>
          <p:cNvSpPr txBox="1"/>
          <p:nvPr/>
        </p:nvSpPr>
        <p:spPr>
          <a:xfrm>
            <a:off x="640080" y="3246120"/>
            <a:ext cx="2036003" cy="320040"/>
          </a:xfrm>
          <a:prstGeom prst="rect">
            <a:avLst/>
          </a:prstGeom>
          <a:noFill/>
          <a:ln/>
        </p:spPr>
        <p:txBody>
          <a:bodyPr wrap="square" lIns="0" tIns="0" rIns="0" bIns="0" rtlCol="0" anchor="t"/>
          <a:lstStyle/>
          <a:p>
            <a:pPr algn="ctr" indent="0" marL="0">
              <a:buNone/>
            </a:pPr>
            <a:r>
              <a:rPr lang="en-US" sz="1600" b="1" dirty="0">
                <a:solidFill>
                  <a:schemeClr val="tx1"/>
                </a:solidFill>
              </a:rPr>
              <a:t>Kundenberater:in</a:t>
            </a:r>
            <a:endParaRPr lang="en-US" sz="1600" dirty="0"/>
          </a:p>
        </p:txBody>
      </p:sp>
      <p:sp>
        <p:nvSpPr>
          <p:cNvPr id="9" name="Text 6"/>
          <p:cNvSpPr txBox="1"/>
          <p:nvPr/>
        </p:nvSpPr>
        <p:spPr>
          <a:xfrm>
            <a:off x="685800" y="3566160"/>
            <a:ext cx="1944563" cy="548640"/>
          </a:xfrm>
          <a:prstGeom prst="rect">
            <a:avLst/>
          </a:prstGeom>
          <a:noFill/>
          <a:ln/>
        </p:spPr>
        <p:txBody>
          <a:bodyPr wrap="square" lIns="0" tIns="0" rIns="0" bIns="0" rtlCol="0" anchor="t"/>
          <a:lstStyle/>
          <a:p>
            <a:pPr algn="ctr" indent="0" marL="0">
              <a:buNone/>
            </a:pPr>
            <a:r>
              <a:rPr lang="en-US" sz="1300" dirty="0">
                <a:solidFill>
                  <a:schemeClr val="tx2"/>
                </a:solidFill>
              </a:rPr>
              <a:t>versendet Unterlagen</a:t>
            </a:r>
            <a:endParaRPr lang="en-US" sz="1300" dirty="0"/>
          </a:p>
        </p:txBody>
      </p:sp>
      <p:sp>
        <p:nvSpPr>
          <p:cNvPr id="10" name="Pfeil 2"/>
          <p:cNvSpPr/>
          <p:nvPr/>
        </p:nvSpPr>
        <p:spPr>
          <a:xfrm>
            <a:off x="4443893" y="2606040"/>
            <a:ext cx="1085027" cy="0"/>
          </a:xfrm>
          <a:prstGeom prst="line">
            <a:avLst/>
          </a:prstGeom>
          <a:noFill/>
          <a:ln w="25400">
            <a:solidFill>
              <a:schemeClr val="tx2"/>
            </a:solidFill>
            <a:prstDash val="solid"/>
            <a:tailEnd type="triangle"/>
          </a:ln>
        </p:spPr>
      </p:sp>
      <p:sp>
        <p:nvSpPr>
          <p:cNvPr id="11" name="Schritt 2 Kreis"/>
          <p:cNvSpPr/>
          <p:nvPr/>
        </p:nvSpPr>
        <p:spPr>
          <a:xfrm>
            <a:off x="3419765" y="2148840"/>
            <a:ext cx="914400" cy="914400"/>
          </a:xfrm>
          <a:prstGeom prst="ellipse">
            <a:avLst/>
          </a:prstGeom>
          <a:solidFill>
            <a:schemeClr val="tx1"/>
          </a:solidFill>
          <a:ln/>
        </p:spPr>
      </p:sp>
      <p:pic>
        <p:nvPicPr>
          <p:cNvPr id="12" name="Schritt 2" descr="MailOpen">    </p:cNvPr>
          <p:cNvPicPr>
            <a:picLocks noChangeAspect="1"/>
          </p:cNvPicPr>
          <p:nvPr/>
        </p:nvPicPr>
        <p:blipFill>
          <a:blip r:embed="rId2"/>
          <a:stretch>
            <a:fillRect/>
          </a:stretch>
        </p:blipFill>
        <p:spPr>
          <a:xfrm>
            <a:off x="3648365" y="2377440"/>
            <a:ext cx="457200" cy="457200"/>
          </a:xfrm>
          <a:prstGeom prst="rect">
            <a:avLst/>
          </a:prstGeom>
        </p:spPr>
      </p:pic>
      <p:sp>
        <p:nvSpPr>
          <p:cNvPr id="13" name="Text 9"/>
          <p:cNvSpPr txBox="1"/>
          <p:nvPr/>
        </p:nvSpPr>
        <p:spPr>
          <a:xfrm>
            <a:off x="2858963" y="3246120"/>
            <a:ext cx="2036003" cy="320040"/>
          </a:xfrm>
          <a:prstGeom prst="rect">
            <a:avLst/>
          </a:prstGeom>
          <a:noFill/>
          <a:ln/>
        </p:spPr>
        <p:txBody>
          <a:bodyPr wrap="square" lIns="0" tIns="0" rIns="0" bIns="0" rtlCol="0" anchor="t"/>
          <a:lstStyle/>
          <a:p>
            <a:pPr algn="ctr" indent="0" marL="0">
              <a:buNone/>
            </a:pPr>
            <a:r>
              <a:rPr lang="en-US" sz="1600" b="1" dirty="0">
                <a:solidFill>
                  <a:schemeClr val="tx1"/>
                </a:solidFill>
              </a:rPr>
              <a:t>Kunde</a:t>
            </a:r>
            <a:endParaRPr lang="en-US" sz="1600" dirty="0"/>
          </a:p>
        </p:txBody>
      </p:sp>
      <p:sp>
        <p:nvSpPr>
          <p:cNvPr id="14" name="Text 10"/>
          <p:cNvSpPr txBox="1"/>
          <p:nvPr/>
        </p:nvSpPr>
        <p:spPr>
          <a:xfrm>
            <a:off x="2904683" y="3566160"/>
            <a:ext cx="1944563" cy="548640"/>
          </a:xfrm>
          <a:prstGeom prst="rect">
            <a:avLst/>
          </a:prstGeom>
          <a:noFill/>
          <a:ln/>
        </p:spPr>
        <p:txBody>
          <a:bodyPr wrap="square" lIns="0" tIns="0" rIns="0" bIns="0" rtlCol="0" anchor="t"/>
          <a:lstStyle/>
          <a:p>
            <a:pPr algn="ctr" indent="0" marL="0">
              <a:buNone/>
            </a:pPr>
            <a:r>
              <a:rPr lang="en-US" sz="1300" dirty="0">
                <a:solidFill>
                  <a:schemeClr val="tx2"/>
                </a:solidFill>
              </a:rPr>
              <a:t>ergänzt, unterschreibt, schickt zurück</a:t>
            </a:r>
            <a:endParaRPr lang="en-US" sz="1300" dirty="0"/>
          </a:p>
        </p:txBody>
      </p:sp>
      <p:sp>
        <p:nvSpPr>
          <p:cNvPr id="15" name="Pfeil 3"/>
          <p:cNvSpPr/>
          <p:nvPr/>
        </p:nvSpPr>
        <p:spPr>
          <a:xfrm>
            <a:off x="6662776" y="2606040"/>
            <a:ext cx="1085027" cy="0"/>
          </a:xfrm>
          <a:prstGeom prst="line">
            <a:avLst/>
          </a:prstGeom>
          <a:noFill/>
          <a:ln w="25400">
            <a:solidFill>
              <a:schemeClr val="tx2"/>
            </a:solidFill>
            <a:prstDash val="solid"/>
            <a:tailEnd type="triangle"/>
          </a:ln>
        </p:spPr>
      </p:sp>
      <p:sp>
        <p:nvSpPr>
          <p:cNvPr id="16" name="Schritt 3 Kreis"/>
          <p:cNvSpPr/>
          <p:nvPr/>
        </p:nvSpPr>
        <p:spPr>
          <a:xfrm>
            <a:off x="5638648" y="2148840"/>
            <a:ext cx="914400" cy="914400"/>
          </a:xfrm>
          <a:prstGeom prst="ellipse">
            <a:avLst/>
          </a:prstGeom>
          <a:solidFill>
            <a:schemeClr val="tx1"/>
          </a:solidFill>
          <a:ln/>
        </p:spPr>
      </p:sp>
      <p:pic>
        <p:nvPicPr>
          <p:cNvPr id="17" name="Schritt 3" descr="Inbox">    </p:cNvPr>
          <p:cNvPicPr>
            <a:picLocks noChangeAspect="1"/>
          </p:cNvPicPr>
          <p:nvPr/>
        </p:nvPicPr>
        <p:blipFill>
          <a:blip r:embed="rId3"/>
          <a:stretch>
            <a:fillRect/>
          </a:stretch>
        </p:blipFill>
        <p:spPr>
          <a:xfrm>
            <a:off x="5867248" y="2377440"/>
            <a:ext cx="457200" cy="457200"/>
          </a:xfrm>
          <a:prstGeom prst="rect">
            <a:avLst/>
          </a:prstGeom>
        </p:spPr>
      </p:pic>
      <p:sp>
        <p:nvSpPr>
          <p:cNvPr id="18" name="Text 13"/>
          <p:cNvSpPr txBox="1"/>
          <p:nvPr/>
        </p:nvSpPr>
        <p:spPr>
          <a:xfrm>
            <a:off x="5077846" y="3246120"/>
            <a:ext cx="2036003" cy="320040"/>
          </a:xfrm>
          <a:prstGeom prst="rect">
            <a:avLst/>
          </a:prstGeom>
          <a:noFill/>
          <a:ln/>
        </p:spPr>
        <p:txBody>
          <a:bodyPr wrap="square" lIns="0" tIns="0" rIns="0" bIns="0" rtlCol="0" anchor="t"/>
          <a:lstStyle/>
          <a:p>
            <a:pPr algn="ctr" indent="0" marL="0">
              <a:buNone/>
            </a:pPr>
            <a:r>
              <a:rPr lang="en-US" sz="1600" b="1" dirty="0">
                <a:solidFill>
                  <a:schemeClr val="tx1"/>
                </a:solidFill>
              </a:rPr>
              <a:t>Kundenberater:in</a:t>
            </a:r>
            <a:endParaRPr lang="en-US" sz="1600" dirty="0"/>
          </a:p>
        </p:txBody>
      </p:sp>
      <p:sp>
        <p:nvSpPr>
          <p:cNvPr id="19" name="Text 14"/>
          <p:cNvSpPr txBox="1"/>
          <p:nvPr/>
        </p:nvSpPr>
        <p:spPr>
          <a:xfrm>
            <a:off x="5123566" y="3566160"/>
            <a:ext cx="1944563" cy="548640"/>
          </a:xfrm>
          <a:prstGeom prst="rect">
            <a:avLst/>
          </a:prstGeom>
          <a:noFill/>
          <a:ln/>
        </p:spPr>
        <p:txBody>
          <a:bodyPr wrap="square" lIns="0" tIns="0" rIns="0" bIns="0" rtlCol="0" anchor="t"/>
          <a:lstStyle/>
          <a:p>
            <a:pPr algn="ctr" indent="0" marL="0">
              <a:buNone/>
            </a:pPr>
            <a:r>
              <a:rPr lang="en-US" sz="1300" dirty="0">
                <a:solidFill>
                  <a:schemeClr val="tx2"/>
                </a:solidFill>
              </a:rPr>
              <a:t>empfängt und kontrolliert</a:t>
            </a:r>
            <a:endParaRPr lang="en-US" sz="1300" dirty="0"/>
          </a:p>
        </p:txBody>
      </p:sp>
      <p:sp>
        <p:nvSpPr>
          <p:cNvPr id="20" name="Pfeil 4"/>
          <p:cNvSpPr/>
          <p:nvPr/>
        </p:nvSpPr>
        <p:spPr>
          <a:xfrm>
            <a:off x="8881659" y="2606040"/>
            <a:ext cx="1085027" cy="0"/>
          </a:xfrm>
          <a:prstGeom prst="line">
            <a:avLst/>
          </a:prstGeom>
          <a:noFill/>
          <a:ln w="25400">
            <a:solidFill>
              <a:schemeClr val="tx2"/>
            </a:solidFill>
            <a:prstDash val="solid"/>
            <a:tailEnd type="triangle"/>
          </a:ln>
        </p:spPr>
      </p:sp>
      <p:sp>
        <p:nvSpPr>
          <p:cNvPr id="21" name="Schritt 4 Kreis"/>
          <p:cNvSpPr/>
          <p:nvPr/>
        </p:nvSpPr>
        <p:spPr>
          <a:xfrm>
            <a:off x="7857531" y="2148840"/>
            <a:ext cx="914400" cy="914400"/>
          </a:xfrm>
          <a:prstGeom prst="ellipse">
            <a:avLst/>
          </a:prstGeom>
          <a:solidFill>
            <a:schemeClr val="tx1"/>
          </a:solidFill>
          <a:ln/>
        </p:spPr>
      </p:sp>
      <p:pic>
        <p:nvPicPr>
          <p:cNvPr id="22" name="Schritt 4" descr="Truck">    </p:cNvPr>
          <p:cNvPicPr>
            <a:picLocks noChangeAspect="1"/>
          </p:cNvPicPr>
          <p:nvPr/>
        </p:nvPicPr>
        <p:blipFill>
          <a:blip r:embed="rId4"/>
          <a:stretch>
            <a:fillRect/>
          </a:stretch>
        </p:blipFill>
        <p:spPr>
          <a:xfrm>
            <a:off x="8086131" y="2377440"/>
            <a:ext cx="457200" cy="457200"/>
          </a:xfrm>
          <a:prstGeom prst="rect">
            <a:avLst/>
          </a:prstGeom>
        </p:spPr>
      </p:pic>
      <p:sp>
        <p:nvSpPr>
          <p:cNvPr id="23" name="Text 17"/>
          <p:cNvSpPr txBox="1"/>
          <p:nvPr/>
        </p:nvSpPr>
        <p:spPr>
          <a:xfrm>
            <a:off x="7296729" y="3246120"/>
            <a:ext cx="2036003" cy="320040"/>
          </a:xfrm>
          <a:prstGeom prst="rect">
            <a:avLst/>
          </a:prstGeom>
          <a:noFill/>
          <a:ln/>
        </p:spPr>
        <p:txBody>
          <a:bodyPr wrap="square" lIns="0" tIns="0" rIns="0" bIns="0" rtlCol="0" anchor="t"/>
          <a:lstStyle/>
          <a:p>
            <a:pPr algn="ctr" indent="0" marL="0">
              <a:buNone/>
            </a:pPr>
            <a:r>
              <a:rPr lang="en-US" sz="1600" b="1" dirty="0">
                <a:solidFill>
                  <a:schemeClr val="tx1"/>
                </a:solidFill>
              </a:rPr>
              <a:t>Interner Postlauf</a:t>
            </a:r>
            <a:endParaRPr lang="en-US" sz="1600" dirty="0"/>
          </a:p>
        </p:txBody>
      </p:sp>
      <p:sp>
        <p:nvSpPr>
          <p:cNvPr id="24" name="Text 18"/>
          <p:cNvSpPr txBox="1"/>
          <p:nvPr/>
        </p:nvSpPr>
        <p:spPr>
          <a:xfrm>
            <a:off x="7342449" y="3566160"/>
            <a:ext cx="1944563" cy="548640"/>
          </a:xfrm>
          <a:prstGeom prst="rect">
            <a:avLst/>
          </a:prstGeom>
          <a:noFill/>
          <a:ln/>
        </p:spPr>
        <p:txBody>
          <a:bodyPr wrap="square" lIns="0" tIns="0" rIns="0" bIns="0" rtlCol="0" anchor="t"/>
          <a:lstStyle/>
          <a:p>
            <a:pPr algn="ctr" indent="0" marL="0">
              <a:buNone/>
            </a:pPr>
            <a:r>
              <a:rPr lang="en-US" sz="1300" dirty="0">
                <a:solidFill>
                  <a:schemeClr val="tx2"/>
                </a:solidFill>
              </a:rPr>
              <a:t>1× pro Tag, Zustellung am Folgetag</a:t>
            </a:r>
            <a:endParaRPr lang="en-US" sz="1300" dirty="0"/>
          </a:p>
        </p:txBody>
      </p:sp>
      <p:sp>
        <p:nvSpPr>
          <p:cNvPr id="25" name="Schritt 5 Kreis"/>
          <p:cNvSpPr/>
          <p:nvPr/>
        </p:nvSpPr>
        <p:spPr>
          <a:xfrm>
            <a:off x="10076414" y="2148840"/>
            <a:ext cx="914400" cy="914400"/>
          </a:xfrm>
          <a:prstGeom prst="ellipse">
            <a:avLst/>
          </a:prstGeom>
          <a:solidFill>
            <a:schemeClr val="tx1"/>
          </a:solidFill>
          <a:ln/>
        </p:spPr>
      </p:sp>
      <p:pic>
        <p:nvPicPr>
          <p:cNvPr id="26" name="Schritt 5" descr="Landmark">    </p:cNvPr>
          <p:cNvPicPr>
            <a:picLocks noChangeAspect="1"/>
          </p:cNvPicPr>
          <p:nvPr/>
        </p:nvPicPr>
        <p:blipFill>
          <a:blip r:embed="rId5"/>
          <a:stretch>
            <a:fillRect/>
          </a:stretch>
        </p:blipFill>
        <p:spPr>
          <a:xfrm>
            <a:off x="10305014" y="2377440"/>
            <a:ext cx="457200" cy="457200"/>
          </a:xfrm>
          <a:prstGeom prst="rect">
            <a:avLst/>
          </a:prstGeom>
        </p:spPr>
      </p:pic>
      <p:sp>
        <p:nvSpPr>
          <p:cNvPr id="27" name="Text 20"/>
          <p:cNvSpPr txBox="1"/>
          <p:nvPr/>
        </p:nvSpPr>
        <p:spPr>
          <a:xfrm>
            <a:off x="9515612" y="3246120"/>
            <a:ext cx="2036003" cy="320040"/>
          </a:xfrm>
          <a:prstGeom prst="rect">
            <a:avLst/>
          </a:prstGeom>
          <a:noFill/>
          <a:ln/>
        </p:spPr>
        <p:txBody>
          <a:bodyPr wrap="square" lIns="0" tIns="0" rIns="0" bIns="0" rtlCol="0" anchor="t"/>
          <a:lstStyle/>
          <a:p>
            <a:pPr algn="ctr" indent="0" marL="0">
              <a:buNone/>
            </a:pPr>
            <a:r>
              <a:rPr lang="en-US" sz="1600" b="1" dirty="0">
                <a:solidFill>
                  <a:schemeClr val="tx1"/>
                </a:solidFill>
              </a:rPr>
              <a:t>Backoffice</a:t>
            </a:r>
            <a:endParaRPr lang="en-US" sz="1600" dirty="0"/>
          </a:p>
        </p:txBody>
      </p:sp>
      <p:sp>
        <p:nvSpPr>
          <p:cNvPr id="28" name="Text 21"/>
          <p:cNvSpPr txBox="1"/>
          <p:nvPr/>
        </p:nvSpPr>
        <p:spPr>
          <a:xfrm>
            <a:off x="9561332" y="3566160"/>
            <a:ext cx="1944563" cy="548640"/>
          </a:xfrm>
          <a:prstGeom prst="rect">
            <a:avLst/>
          </a:prstGeom>
          <a:noFill/>
          <a:ln/>
        </p:spPr>
        <p:txBody>
          <a:bodyPr wrap="square" lIns="0" tIns="0" rIns="0" bIns="0" rtlCol="0" anchor="t"/>
          <a:lstStyle/>
          <a:p>
            <a:pPr algn="ctr" indent="0" marL="0">
              <a:buNone/>
            </a:pPr>
            <a:r>
              <a:rPr lang="en-US" sz="1300" dirty="0">
                <a:solidFill>
                  <a:schemeClr val="tx2"/>
                </a:solidFill>
              </a:rPr>
              <a:t>erfasst und verarbeitet</a:t>
            </a:r>
            <a:endParaRPr lang="en-US" sz="1300" dirty="0"/>
          </a:p>
        </p:txBody>
      </p:sp>
      <p:sp>
        <p:nvSpPr>
          <p:cNvPr id="29" name="Schmerzpunkt 3"/>
          <p:cNvSpPr/>
          <p:nvPr/>
        </p:nvSpPr>
        <p:spPr>
          <a:xfrm>
            <a:off x="6370168" y="2057400"/>
            <a:ext cx="329184" cy="329184"/>
          </a:xfrm>
          <a:prstGeom prst="ellipse">
            <a:avLst/>
          </a:prstGeom>
          <a:solidFill>
            <a:schemeClr val="accent2"/>
          </a:solidFill>
          <a:ln w="25400">
            <a:solidFill>
              <a:schemeClr val="bg1"/>
            </a:solidFill>
            <a:prstDash val="solid"/>
          </a:ln>
        </p:spPr>
      </p:sp>
      <p:sp>
        <p:nvSpPr>
          <p:cNvPr id="30" name="Text 23"/>
          <p:cNvSpPr txBox="1"/>
          <p:nvPr/>
        </p:nvSpPr>
        <p:spPr>
          <a:xfrm>
            <a:off x="6370168" y="205740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31" name="Schmerzpunkt Text 3"/>
          <p:cNvSpPr/>
          <p:nvPr/>
        </p:nvSpPr>
        <p:spPr>
          <a:xfrm>
            <a:off x="5077846" y="4343400"/>
            <a:ext cx="2036003" cy="1097280"/>
          </a:xfrm>
          <a:prstGeom prst="roundRect">
            <a:avLst>
              <a:gd name="adj" fmla="val 10000"/>
            </a:avLst>
          </a:prstGeom>
          <a:solidFill>
            <a:schemeClr val="accent5"/>
          </a:solidFill>
          <a:ln/>
        </p:spPr>
      </p:sp>
      <p:sp>
        <p:nvSpPr>
          <p:cNvPr id="32" name="Text 25"/>
          <p:cNvSpPr txBox="1"/>
          <p:nvPr/>
        </p:nvSpPr>
        <p:spPr>
          <a:xfrm>
            <a:off x="5260726" y="4480560"/>
            <a:ext cx="1670243" cy="822960"/>
          </a:xfrm>
          <a:prstGeom prst="rect">
            <a:avLst/>
          </a:prstGeom>
          <a:noFill/>
          <a:ln/>
        </p:spPr>
        <p:txBody>
          <a:bodyPr wrap="square" lIns="0" tIns="0" rIns="0" bIns="0" rtlCol="0" anchor="ctr"/>
          <a:lstStyle/>
          <a:p>
            <a:pPr algn="ctr" indent="0" marL="0">
              <a:buNone/>
            </a:pPr>
            <a:r>
              <a:rPr lang="en-US" sz="1400" dirty="0">
                <a:solidFill>
                  <a:schemeClr val="tx1"/>
                </a:solidFill>
              </a:rPr>
              <a:t>Liegt bei Abwesenheit – bis 10 Arbeitstage</a:t>
            </a:r>
            <a:endParaRPr lang="en-US" sz="1400" dirty="0"/>
          </a:p>
        </p:txBody>
      </p:sp>
      <p:sp>
        <p:nvSpPr>
          <p:cNvPr id="33" name="Verbinder 3"/>
          <p:cNvSpPr/>
          <p:nvPr/>
        </p:nvSpPr>
        <p:spPr>
          <a:xfrm>
            <a:off x="6095848" y="4114800"/>
            <a:ext cx="0" cy="228600"/>
          </a:xfrm>
          <a:prstGeom prst="line">
            <a:avLst/>
          </a:prstGeom>
          <a:noFill/>
          <a:ln w="19050">
            <a:solidFill>
              <a:schemeClr val="accent2"/>
            </a:solidFill>
            <a:prstDash val="dash"/>
          </a:ln>
        </p:spPr>
      </p:sp>
      <p:sp>
        <p:nvSpPr>
          <p:cNvPr id="34" name="Schmerzpunkt 4"/>
          <p:cNvSpPr/>
          <p:nvPr/>
        </p:nvSpPr>
        <p:spPr>
          <a:xfrm>
            <a:off x="8589051" y="2057400"/>
            <a:ext cx="329184" cy="329184"/>
          </a:xfrm>
          <a:prstGeom prst="ellipse">
            <a:avLst/>
          </a:prstGeom>
          <a:solidFill>
            <a:schemeClr val="accent2"/>
          </a:solidFill>
          <a:ln w="25400">
            <a:solidFill>
              <a:schemeClr val="bg1"/>
            </a:solidFill>
            <a:prstDash val="solid"/>
          </a:ln>
        </p:spPr>
      </p:sp>
      <p:sp>
        <p:nvSpPr>
          <p:cNvPr id="35" name="Text 28"/>
          <p:cNvSpPr txBox="1"/>
          <p:nvPr/>
        </p:nvSpPr>
        <p:spPr>
          <a:xfrm>
            <a:off x="8589051" y="205740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36" name="Schmerzpunkt Text 4"/>
          <p:cNvSpPr/>
          <p:nvPr/>
        </p:nvSpPr>
        <p:spPr>
          <a:xfrm>
            <a:off x="7296729" y="4343400"/>
            <a:ext cx="2036003" cy="1097280"/>
          </a:xfrm>
          <a:prstGeom prst="roundRect">
            <a:avLst>
              <a:gd name="adj" fmla="val 10000"/>
            </a:avLst>
          </a:prstGeom>
          <a:solidFill>
            <a:schemeClr val="accent5"/>
          </a:solidFill>
          <a:ln/>
        </p:spPr>
      </p:sp>
      <p:sp>
        <p:nvSpPr>
          <p:cNvPr id="37" name="Text 30"/>
          <p:cNvSpPr txBox="1"/>
          <p:nvPr/>
        </p:nvSpPr>
        <p:spPr>
          <a:xfrm>
            <a:off x="7479609" y="4480560"/>
            <a:ext cx="1670243" cy="822960"/>
          </a:xfrm>
          <a:prstGeom prst="rect">
            <a:avLst/>
          </a:prstGeom>
          <a:noFill/>
          <a:ln/>
        </p:spPr>
        <p:txBody>
          <a:bodyPr wrap="square" lIns="0" tIns="0" rIns="0" bIns="0" rtlCol="0" anchor="ctr"/>
          <a:lstStyle/>
          <a:p>
            <a:pPr algn="ctr" indent="0" marL="0">
              <a:buNone/>
            </a:pPr>
            <a:r>
              <a:rPr lang="en-US" sz="1400" dirty="0">
                <a:solidFill>
                  <a:schemeClr val="tx1"/>
                </a:solidFill>
              </a:rPr>
              <a:t>Verspätet, falsch zugeordnet, im Extremfall verloren</a:t>
            </a:r>
            <a:endParaRPr lang="en-US" sz="1400" dirty="0"/>
          </a:p>
        </p:txBody>
      </p:sp>
      <p:sp>
        <p:nvSpPr>
          <p:cNvPr id="38" name="Verbinder 4"/>
          <p:cNvSpPr/>
          <p:nvPr/>
        </p:nvSpPr>
        <p:spPr>
          <a:xfrm>
            <a:off x="8314731" y="4114800"/>
            <a:ext cx="0" cy="228600"/>
          </a:xfrm>
          <a:prstGeom prst="line">
            <a:avLst/>
          </a:prstGeom>
          <a:noFill/>
          <a:ln w="19050">
            <a:solidFill>
              <a:schemeClr val="accent2"/>
            </a:solidFill>
            <a:prstDash val="dash"/>
          </a:ln>
        </p:spPr>
      </p:sp>
      <p:sp>
        <p:nvSpPr>
          <p:cNvPr id="39" name="Schmerzpunkt 5"/>
          <p:cNvSpPr/>
          <p:nvPr/>
        </p:nvSpPr>
        <p:spPr>
          <a:xfrm>
            <a:off x="10807934" y="2057400"/>
            <a:ext cx="329184" cy="329184"/>
          </a:xfrm>
          <a:prstGeom prst="ellipse">
            <a:avLst/>
          </a:prstGeom>
          <a:solidFill>
            <a:schemeClr val="accent2"/>
          </a:solidFill>
          <a:ln w="25400">
            <a:solidFill>
              <a:schemeClr val="bg1"/>
            </a:solidFill>
            <a:prstDash val="solid"/>
          </a:ln>
        </p:spPr>
      </p:sp>
      <p:sp>
        <p:nvSpPr>
          <p:cNvPr id="40" name="Text 33"/>
          <p:cNvSpPr txBox="1"/>
          <p:nvPr/>
        </p:nvSpPr>
        <p:spPr>
          <a:xfrm>
            <a:off x="10807934" y="205740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41" name="Schmerzpunkt Text 5"/>
          <p:cNvSpPr/>
          <p:nvPr/>
        </p:nvSpPr>
        <p:spPr>
          <a:xfrm>
            <a:off x="9515612" y="4343400"/>
            <a:ext cx="2036003" cy="1097280"/>
          </a:xfrm>
          <a:prstGeom prst="roundRect">
            <a:avLst>
              <a:gd name="adj" fmla="val 10000"/>
            </a:avLst>
          </a:prstGeom>
          <a:solidFill>
            <a:schemeClr val="accent5"/>
          </a:solidFill>
          <a:ln/>
        </p:spPr>
      </p:sp>
      <p:sp>
        <p:nvSpPr>
          <p:cNvPr id="42" name="Text 35"/>
          <p:cNvSpPr txBox="1"/>
          <p:nvPr/>
        </p:nvSpPr>
        <p:spPr>
          <a:xfrm>
            <a:off x="9698492" y="4480560"/>
            <a:ext cx="1670243" cy="822960"/>
          </a:xfrm>
          <a:prstGeom prst="rect">
            <a:avLst/>
          </a:prstGeom>
          <a:noFill/>
          <a:ln/>
        </p:spPr>
        <p:txBody>
          <a:bodyPr wrap="square" lIns="0" tIns="0" rIns="0" bIns="0" rtlCol="0" anchor="ctr"/>
          <a:lstStyle/>
          <a:p>
            <a:pPr algn="ctr" indent="0" marL="0">
              <a:buNone/>
            </a:pPr>
            <a:r>
              <a:rPr lang="en-US" sz="1400" dirty="0">
                <a:solidFill>
                  <a:schemeClr val="tx1"/>
                </a:solidFill>
              </a:rPr>
              <a:t>Unvollständig – Rückfrage wieder per Post</a:t>
            </a:r>
            <a:endParaRPr lang="en-US" sz="1400" dirty="0"/>
          </a:p>
        </p:txBody>
      </p:sp>
      <p:sp>
        <p:nvSpPr>
          <p:cNvPr id="43" name="Verbinder 5"/>
          <p:cNvSpPr/>
          <p:nvPr/>
        </p:nvSpPr>
        <p:spPr>
          <a:xfrm>
            <a:off x="10533614" y="4114800"/>
            <a:ext cx="0" cy="228600"/>
          </a:xfrm>
          <a:prstGeom prst="line">
            <a:avLst/>
          </a:prstGeom>
          <a:noFill/>
          <a:ln w="19050">
            <a:solidFill>
              <a:schemeClr val="accent2"/>
            </a:solidFill>
            <a:prstDash val="dash"/>
          </a:ln>
        </p:spPr>
      </p:sp>
      <p:sp>
        <p:nvSpPr>
          <p:cNvPr id="44" name="Text 37"/>
          <p:cNvSpPr txBox="1"/>
          <p:nvPr/>
        </p:nvSpPr>
        <p:spPr>
          <a:xfrm>
            <a:off x="548640" y="4800600"/>
            <a:ext cx="4163446" cy="640080"/>
          </a:xfrm>
          <a:prstGeom prst="rect">
            <a:avLst/>
          </a:prstGeom>
          <a:noFill/>
          <a:ln/>
        </p:spPr>
        <p:txBody>
          <a:bodyPr wrap="square" lIns="0" tIns="0" rIns="0" bIns="0" rtlCol="0" anchor="ctr"/>
          <a:lstStyle/>
          <a:p>
            <a:pPr indent="0" marL="0">
              <a:buNone/>
            </a:pPr>
            <a:r>
              <a:rPr lang="en-US" sz="1400" b="1" dirty="0">
                <a:solidFill>
                  <a:schemeClr val="tx1"/>
                </a:solidFill>
              </a:rPr>
              <a:t>Alles physisch: </a:t>
            </a:r>
            <a:pPr indent="0" marL="0">
              <a:buNone/>
            </a:pPr>
            <a:r>
              <a:rPr lang="en-US" sz="1400" dirty="0">
                <a:solidFill>
                  <a:schemeClr val="tx2"/>
                </a:solidFill>
              </a:rPr>
              <a:t>Abhängig von Logistik und Anwesenheit einzelner Personen.</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PROBLEME IN ZAHLEN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Was uns der Papierweg kostet</a:t>
            </a:r>
            <a:endParaRPr lang="en-US" sz="34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700" dirty="0">
                <a:solidFill>
                  <a:schemeClr val="tx2"/>
                </a:solidFill>
              </a:rPr>
              <a:t>Geschätzte Werte – die Baseline wird im Projekt gemessen.</a:t>
            </a:r>
            <a:endParaRPr lang="en-US" sz="1700" dirty="0"/>
          </a:p>
        </p:txBody>
      </p:sp>
      <p:sp>
        <p:nvSpPr>
          <p:cNvPr id="5" name="Problem Arbeitstage"/>
          <p:cNvSpPr/>
          <p:nvPr/>
        </p:nvSpPr>
        <p:spPr>
          <a:xfrm>
            <a:off x="548640" y="2148840"/>
            <a:ext cx="2567864" cy="3520440"/>
          </a:xfrm>
          <a:prstGeom prst="roundRect">
            <a:avLst>
              <a:gd name="adj" fmla="val 4273"/>
            </a:avLst>
          </a:prstGeom>
          <a:solidFill>
            <a:schemeClr val="accent5"/>
          </a:solidFill>
          <a:ln/>
        </p:spPr>
      </p:sp>
      <p:sp>
        <p:nvSpPr>
          <p:cNvPr id="6" name="Icon Arbeitstage Kreis"/>
          <p:cNvSpPr/>
          <p:nvPr/>
        </p:nvSpPr>
        <p:spPr>
          <a:xfrm>
            <a:off x="868680" y="2514600"/>
            <a:ext cx="640080" cy="640080"/>
          </a:xfrm>
          <a:prstGeom prst="ellipse">
            <a:avLst/>
          </a:prstGeom>
          <a:solidFill>
            <a:schemeClr val="accent2"/>
          </a:solidFill>
          <a:ln/>
        </p:spPr>
      </p:sp>
      <p:pic>
        <p:nvPicPr>
          <p:cNvPr id="7" name="Icon Arbeitstage" descr="Clock">    </p:cNvPr>
          <p:cNvPicPr>
            <a:picLocks noChangeAspect="1"/>
          </p:cNvPicPr>
          <p:nvPr/>
        </p:nvPicPr>
        <p:blipFill>
          <a:blip r:embed="rId1"/>
          <a:stretch>
            <a:fillRect/>
          </a:stretch>
        </p:blipFill>
        <p:spPr>
          <a:xfrm>
            <a:off x="1028700" y="2674620"/>
            <a:ext cx="320040" cy="320040"/>
          </a:xfrm>
          <a:prstGeom prst="rect">
            <a:avLst/>
          </a:prstGeom>
        </p:spPr>
      </p:pic>
      <p:sp>
        <p:nvSpPr>
          <p:cNvPr id="8" name="Text 5"/>
          <p:cNvSpPr txBox="1"/>
          <p:nvPr/>
        </p:nvSpPr>
        <p:spPr>
          <a:xfrm>
            <a:off x="868680" y="3337560"/>
            <a:ext cx="2110664" cy="914400"/>
          </a:xfrm>
          <a:prstGeom prst="rect">
            <a:avLst/>
          </a:prstGeom>
          <a:noFill/>
          <a:ln/>
        </p:spPr>
        <p:txBody>
          <a:bodyPr wrap="square" lIns="0" tIns="0" rIns="0" bIns="0" rtlCol="0" anchor="ctr"/>
          <a:lstStyle/>
          <a:p>
            <a:pPr indent="0" marL="0">
              <a:buNone/>
            </a:pPr>
            <a:r>
              <a:rPr lang="en-US" sz="5200" b="1" dirty="0">
                <a:solidFill>
                  <a:schemeClr val="accent2"/>
                </a:solidFill>
              </a:rPr>
              <a:t>2,5</a:t>
            </a:r>
            <a:endParaRPr lang="en-US" sz="5200" dirty="0"/>
          </a:p>
        </p:txBody>
      </p:sp>
      <p:sp>
        <p:nvSpPr>
          <p:cNvPr id="9" name="Text 6"/>
          <p:cNvSpPr txBox="1"/>
          <p:nvPr/>
        </p:nvSpPr>
        <p:spPr>
          <a:xfrm>
            <a:off x="868680" y="4297680"/>
            <a:ext cx="1927784" cy="365760"/>
          </a:xfrm>
          <a:prstGeom prst="rect">
            <a:avLst/>
          </a:prstGeom>
          <a:noFill/>
          <a:ln/>
        </p:spPr>
        <p:txBody>
          <a:bodyPr wrap="square" lIns="0" tIns="0" rIns="0" bIns="0" rtlCol="0" anchor="t"/>
          <a:lstStyle/>
          <a:p>
            <a:pPr indent="0" marL="0">
              <a:buNone/>
            </a:pPr>
            <a:r>
              <a:rPr lang="en-US" sz="1700" b="1" dirty="0">
                <a:solidFill>
                  <a:schemeClr val="tx1"/>
                </a:solidFill>
              </a:rPr>
              <a:t>Arbeitstage</a:t>
            </a:r>
            <a:endParaRPr lang="en-US" sz="1700" dirty="0"/>
          </a:p>
        </p:txBody>
      </p:sp>
      <p:sp>
        <p:nvSpPr>
          <p:cNvPr id="10" name="Text 7"/>
          <p:cNvSpPr txBox="1"/>
          <p:nvPr/>
        </p:nvSpPr>
        <p:spPr>
          <a:xfrm>
            <a:off x="868680" y="4709160"/>
            <a:ext cx="2019224" cy="822960"/>
          </a:xfrm>
          <a:prstGeom prst="rect">
            <a:avLst/>
          </a:prstGeom>
          <a:noFill/>
          <a:ln/>
        </p:spPr>
        <p:txBody>
          <a:bodyPr wrap="square" lIns="0" tIns="0" rIns="0" bIns="0" rtlCol="0" anchor="t"/>
          <a:lstStyle/>
          <a:p>
            <a:pPr indent="0" marL="0">
              <a:buNone/>
            </a:pPr>
            <a:r>
              <a:rPr lang="en-US" sz="1400" dirty="0">
                <a:solidFill>
                  <a:schemeClr val="tx2"/>
                </a:solidFill>
              </a:rPr>
              <a:t>Ø vom Eingang beim KuBe bis ins Backoffice</a:t>
            </a:r>
            <a:endParaRPr lang="en-US" sz="1400" dirty="0"/>
          </a:p>
        </p:txBody>
      </p:sp>
      <p:sp>
        <p:nvSpPr>
          <p:cNvPr id="11" name="Problem Rückfragen"/>
          <p:cNvSpPr/>
          <p:nvPr/>
        </p:nvSpPr>
        <p:spPr>
          <a:xfrm>
            <a:off x="3390824" y="2148840"/>
            <a:ext cx="2567864" cy="3520440"/>
          </a:xfrm>
          <a:prstGeom prst="roundRect">
            <a:avLst>
              <a:gd name="adj" fmla="val 4273"/>
            </a:avLst>
          </a:prstGeom>
          <a:solidFill>
            <a:schemeClr val="accent5"/>
          </a:solidFill>
          <a:ln/>
        </p:spPr>
      </p:sp>
      <p:sp>
        <p:nvSpPr>
          <p:cNvPr id="12" name="Icon Rückfragen Kreis"/>
          <p:cNvSpPr/>
          <p:nvPr/>
        </p:nvSpPr>
        <p:spPr>
          <a:xfrm>
            <a:off x="3710864" y="2514600"/>
            <a:ext cx="640080" cy="640080"/>
          </a:xfrm>
          <a:prstGeom prst="ellipse">
            <a:avLst/>
          </a:prstGeom>
          <a:solidFill>
            <a:schemeClr val="accent2"/>
          </a:solidFill>
          <a:ln/>
        </p:spPr>
      </p:sp>
      <p:pic>
        <p:nvPicPr>
          <p:cNvPr id="13" name="Icon Rückfragen" descr="MessagesSquare">    </p:cNvPr>
          <p:cNvPicPr>
            <a:picLocks noChangeAspect="1"/>
          </p:cNvPicPr>
          <p:nvPr/>
        </p:nvPicPr>
        <p:blipFill>
          <a:blip r:embed="rId2"/>
          <a:stretch>
            <a:fillRect/>
          </a:stretch>
        </p:blipFill>
        <p:spPr>
          <a:xfrm>
            <a:off x="3870884" y="2674620"/>
            <a:ext cx="320040" cy="320040"/>
          </a:xfrm>
          <a:prstGeom prst="rect">
            <a:avLst/>
          </a:prstGeom>
        </p:spPr>
      </p:pic>
      <p:sp>
        <p:nvSpPr>
          <p:cNvPr id="14" name="Text 10"/>
          <p:cNvSpPr txBox="1"/>
          <p:nvPr/>
        </p:nvSpPr>
        <p:spPr>
          <a:xfrm>
            <a:off x="3710864" y="3337560"/>
            <a:ext cx="2110664" cy="914400"/>
          </a:xfrm>
          <a:prstGeom prst="rect">
            <a:avLst/>
          </a:prstGeom>
          <a:noFill/>
          <a:ln/>
        </p:spPr>
        <p:txBody>
          <a:bodyPr wrap="square" lIns="0" tIns="0" rIns="0" bIns="0" rtlCol="0" anchor="ctr"/>
          <a:lstStyle/>
          <a:p>
            <a:pPr indent="0" marL="0">
              <a:buNone/>
            </a:pPr>
            <a:r>
              <a:rPr lang="en-US" sz="5200" b="1" dirty="0">
                <a:solidFill>
                  <a:schemeClr val="accent2"/>
                </a:solidFill>
              </a:rPr>
              <a:t>12 %</a:t>
            </a:r>
            <a:endParaRPr lang="en-US" sz="5200" dirty="0"/>
          </a:p>
        </p:txBody>
      </p:sp>
      <p:sp>
        <p:nvSpPr>
          <p:cNvPr id="15" name="Text 11"/>
          <p:cNvSpPr txBox="1"/>
          <p:nvPr/>
        </p:nvSpPr>
        <p:spPr>
          <a:xfrm>
            <a:off x="3710864" y="4297680"/>
            <a:ext cx="1927784" cy="365760"/>
          </a:xfrm>
          <a:prstGeom prst="rect">
            <a:avLst/>
          </a:prstGeom>
          <a:noFill/>
          <a:ln/>
        </p:spPr>
        <p:txBody>
          <a:bodyPr wrap="square" lIns="0" tIns="0" rIns="0" bIns="0" rtlCol="0" anchor="t"/>
          <a:lstStyle/>
          <a:p>
            <a:pPr indent="0" marL="0">
              <a:buNone/>
            </a:pPr>
            <a:r>
              <a:rPr lang="en-US" sz="1700" b="1" dirty="0">
                <a:solidFill>
                  <a:schemeClr val="tx1"/>
                </a:solidFill>
              </a:rPr>
              <a:t>Rückfragen</a:t>
            </a:r>
            <a:endParaRPr lang="en-US" sz="1700" dirty="0"/>
          </a:p>
        </p:txBody>
      </p:sp>
      <p:sp>
        <p:nvSpPr>
          <p:cNvPr id="16" name="Text 12"/>
          <p:cNvSpPr txBox="1"/>
          <p:nvPr/>
        </p:nvSpPr>
        <p:spPr>
          <a:xfrm>
            <a:off x="3710864" y="4709160"/>
            <a:ext cx="2019224" cy="822960"/>
          </a:xfrm>
          <a:prstGeom prst="rect">
            <a:avLst/>
          </a:prstGeom>
          <a:noFill/>
          <a:ln/>
        </p:spPr>
        <p:txBody>
          <a:bodyPr wrap="square" lIns="0" tIns="0" rIns="0" bIns="0" rtlCol="0" anchor="t"/>
          <a:lstStyle/>
          <a:p>
            <a:pPr indent="0" marL="0">
              <a:buNone/>
            </a:pPr>
            <a:r>
              <a:rPr lang="en-US" sz="1400" dirty="0">
                <a:solidFill>
                  <a:schemeClr val="tx2"/>
                </a:solidFill>
              </a:rPr>
              <a:t>unvollständig oder fehlerhaft ausgefüllt</a:t>
            </a:r>
            <a:endParaRPr lang="en-US" sz="1400" dirty="0"/>
          </a:p>
        </p:txBody>
      </p:sp>
      <p:sp>
        <p:nvSpPr>
          <p:cNvPr id="17" name="Problem Aufwand KuBe"/>
          <p:cNvSpPr/>
          <p:nvPr/>
        </p:nvSpPr>
        <p:spPr>
          <a:xfrm>
            <a:off x="6233008" y="2148840"/>
            <a:ext cx="2567864" cy="3520440"/>
          </a:xfrm>
          <a:prstGeom prst="roundRect">
            <a:avLst>
              <a:gd name="adj" fmla="val 4273"/>
            </a:avLst>
          </a:prstGeom>
          <a:solidFill>
            <a:schemeClr val="accent5"/>
          </a:solidFill>
          <a:ln/>
        </p:spPr>
      </p:sp>
      <p:sp>
        <p:nvSpPr>
          <p:cNvPr id="18" name="Icon Aufwand KuBe Kreis"/>
          <p:cNvSpPr/>
          <p:nvPr/>
        </p:nvSpPr>
        <p:spPr>
          <a:xfrm>
            <a:off x="6553048" y="2514600"/>
            <a:ext cx="640080" cy="640080"/>
          </a:xfrm>
          <a:prstGeom prst="ellipse">
            <a:avLst/>
          </a:prstGeom>
          <a:solidFill>
            <a:schemeClr val="accent2"/>
          </a:solidFill>
          <a:ln/>
        </p:spPr>
      </p:sp>
      <p:pic>
        <p:nvPicPr>
          <p:cNvPr id="19" name="Icon Aufwand KuBe" descr="Gauge">    </p:cNvPr>
          <p:cNvPicPr>
            <a:picLocks noChangeAspect="1"/>
          </p:cNvPicPr>
          <p:nvPr/>
        </p:nvPicPr>
        <p:blipFill>
          <a:blip r:embed="rId3"/>
          <a:stretch>
            <a:fillRect/>
          </a:stretch>
        </p:blipFill>
        <p:spPr>
          <a:xfrm>
            <a:off x="6713068" y="2674620"/>
            <a:ext cx="320040" cy="320040"/>
          </a:xfrm>
          <a:prstGeom prst="rect">
            <a:avLst/>
          </a:prstGeom>
        </p:spPr>
      </p:pic>
      <p:sp>
        <p:nvSpPr>
          <p:cNvPr id="20" name="Text 15"/>
          <p:cNvSpPr txBox="1"/>
          <p:nvPr/>
        </p:nvSpPr>
        <p:spPr>
          <a:xfrm>
            <a:off x="6553048" y="3337560"/>
            <a:ext cx="2110664" cy="914400"/>
          </a:xfrm>
          <a:prstGeom prst="rect">
            <a:avLst/>
          </a:prstGeom>
          <a:noFill/>
          <a:ln/>
        </p:spPr>
        <p:txBody>
          <a:bodyPr wrap="square" lIns="0" tIns="0" rIns="0" bIns="0" rtlCol="0" anchor="ctr"/>
          <a:lstStyle/>
          <a:p>
            <a:pPr indent="0" marL="0">
              <a:buNone/>
            </a:pPr>
            <a:r>
              <a:rPr lang="en-US" sz="5200" b="1" dirty="0">
                <a:solidFill>
                  <a:schemeClr val="accent2"/>
                </a:solidFill>
              </a:rPr>
              <a:t>6 Min.</a:t>
            </a:r>
            <a:endParaRPr lang="en-US" sz="5200" dirty="0"/>
          </a:p>
        </p:txBody>
      </p:sp>
      <p:sp>
        <p:nvSpPr>
          <p:cNvPr id="21" name="Text 16"/>
          <p:cNvSpPr txBox="1"/>
          <p:nvPr/>
        </p:nvSpPr>
        <p:spPr>
          <a:xfrm>
            <a:off x="6553048" y="4297680"/>
            <a:ext cx="1927784" cy="365760"/>
          </a:xfrm>
          <a:prstGeom prst="rect">
            <a:avLst/>
          </a:prstGeom>
          <a:noFill/>
          <a:ln/>
        </p:spPr>
        <p:txBody>
          <a:bodyPr wrap="square" lIns="0" tIns="0" rIns="0" bIns="0" rtlCol="0" anchor="t"/>
          <a:lstStyle/>
          <a:p>
            <a:pPr indent="0" marL="0">
              <a:buNone/>
            </a:pPr>
            <a:r>
              <a:rPr lang="en-US" sz="1700" b="1" dirty="0">
                <a:solidFill>
                  <a:schemeClr val="tx1"/>
                </a:solidFill>
              </a:rPr>
              <a:t>Aufwand KuBe</a:t>
            </a:r>
            <a:endParaRPr lang="en-US" sz="1700" dirty="0"/>
          </a:p>
        </p:txBody>
      </p:sp>
      <p:sp>
        <p:nvSpPr>
          <p:cNvPr id="22" name="Text 17"/>
          <p:cNvSpPr txBox="1"/>
          <p:nvPr/>
        </p:nvSpPr>
        <p:spPr>
          <a:xfrm>
            <a:off x="6553048" y="4709160"/>
            <a:ext cx="2019224" cy="822960"/>
          </a:xfrm>
          <a:prstGeom prst="rect">
            <a:avLst/>
          </a:prstGeom>
          <a:noFill/>
          <a:ln/>
        </p:spPr>
        <p:txBody>
          <a:bodyPr wrap="square" lIns="0" tIns="0" rIns="0" bIns="0" rtlCol="0" anchor="t"/>
          <a:lstStyle/>
          <a:p>
            <a:pPr indent="0" marL="0">
              <a:buNone/>
            </a:pPr>
            <a:r>
              <a:rPr lang="en-US" sz="1400" dirty="0">
                <a:solidFill>
                  <a:schemeClr val="tx2"/>
                </a:solidFill>
              </a:rPr>
              <a:t>pro Rücksendung – kontrollieren, verpacken, weiterleiten</a:t>
            </a:r>
            <a:endParaRPr lang="en-US" sz="1400" dirty="0"/>
          </a:p>
        </p:txBody>
      </p:sp>
      <p:sp>
        <p:nvSpPr>
          <p:cNvPr id="23" name="Problem Dokumente/Monat"/>
          <p:cNvSpPr/>
          <p:nvPr/>
        </p:nvSpPr>
        <p:spPr>
          <a:xfrm>
            <a:off x="9075191" y="2148840"/>
            <a:ext cx="2567864" cy="3520440"/>
          </a:xfrm>
          <a:prstGeom prst="roundRect">
            <a:avLst>
              <a:gd name="adj" fmla="val 4273"/>
            </a:avLst>
          </a:prstGeom>
          <a:solidFill>
            <a:schemeClr val="accent5"/>
          </a:solidFill>
          <a:ln/>
        </p:spPr>
      </p:sp>
      <p:sp>
        <p:nvSpPr>
          <p:cNvPr id="24" name="Icon Dokumente/Monat Kreis"/>
          <p:cNvSpPr/>
          <p:nvPr/>
        </p:nvSpPr>
        <p:spPr>
          <a:xfrm>
            <a:off x="9395231" y="2514600"/>
            <a:ext cx="640080" cy="640080"/>
          </a:xfrm>
          <a:prstGeom prst="ellipse">
            <a:avLst/>
          </a:prstGeom>
          <a:solidFill>
            <a:schemeClr val="accent2"/>
          </a:solidFill>
          <a:ln/>
        </p:spPr>
      </p:sp>
      <p:pic>
        <p:nvPicPr>
          <p:cNvPr id="25" name="Icon Dokumente/Monat" descr="Search">    </p:cNvPr>
          <p:cNvPicPr>
            <a:picLocks noChangeAspect="1"/>
          </p:cNvPicPr>
          <p:nvPr/>
        </p:nvPicPr>
        <p:blipFill>
          <a:blip r:embed="rId4"/>
          <a:stretch>
            <a:fillRect/>
          </a:stretch>
        </p:blipFill>
        <p:spPr>
          <a:xfrm>
            <a:off x="9555251" y="2674620"/>
            <a:ext cx="320040" cy="320040"/>
          </a:xfrm>
          <a:prstGeom prst="rect">
            <a:avLst/>
          </a:prstGeom>
        </p:spPr>
      </p:pic>
      <p:sp>
        <p:nvSpPr>
          <p:cNvPr id="26" name="Text 20"/>
          <p:cNvSpPr txBox="1"/>
          <p:nvPr/>
        </p:nvSpPr>
        <p:spPr>
          <a:xfrm>
            <a:off x="9395231" y="3337560"/>
            <a:ext cx="2110664" cy="914400"/>
          </a:xfrm>
          <a:prstGeom prst="rect">
            <a:avLst/>
          </a:prstGeom>
          <a:noFill/>
          <a:ln/>
        </p:spPr>
        <p:txBody>
          <a:bodyPr wrap="square" lIns="0" tIns="0" rIns="0" bIns="0" rtlCol="0" anchor="ctr"/>
          <a:lstStyle/>
          <a:p>
            <a:pPr indent="0" marL="0">
              <a:buNone/>
            </a:pPr>
            <a:r>
              <a:rPr lang="en-US" sz="5200" b="1" dirty="0">
                <a:solidFill>
                  <a:schemeClr val="accent2"/>
                </a:solidFill>
              </a:rPr>
              <a:t>1–2</a:t>
            </a:r>
            <a:endParaRPr lang="en-US" sz="5200" dirty="0"/>
          </a:p>
        </p:txBody>
      </p:sp>
      <p:sp>
        <p:nvSpPr>
          <p:cNvPr id="27" name="Text 21"/>
          <p:cNvSpPr txBox="1"/>
          <p:nvPr/>
        </p:nvSpPr>
        <p:spPr>
          <a:xfrm>
            <a:off x="9395231" y="4297680"/>
            <a:ext cx="1927784" cy="365760"/>
          </a:xfrm>
          <a:prstGeom prst="rect">
            <a:avLst/>
          </a:prstGeom>
          <a:noFill/>
          <a:ln/>
        </p:spPr>
        <p:txBody>
          <a:bodyPr wrap="square" lIns="0" tIns="0" rIns="0" bIns="0" rtlCol="0" anchor="t"/>
          <a:lstStyle/>
          <a:p>
            <a:pPr indent="0" marL="0">
              <a:buNone/>
            </a:pPr>
            <a:r>
              <a:rPr lang="en-US" sz="1700" b="1" dirty="0">
                <a:solidFill>
                  <a:schemeClr val="tx1"/>
                </a:solidFill>
              </a:rPr>
              <a:t>Dokumente/Monat</a:t>
            </a:r>
            <a:endParaRPr lang="en-US" sz="1700" dirty="0"/>
          </a:p>
        </p:txBody>
      </p:sp>
      <p:sp>
        <p:nvSpPr>
          <p:cNvPr id="28" name="Text 22"/>
          <p:cNvSpPr txBox="1"/>
          <p:nvPr/>
        </p:nvSpPr>
        <p:spPr>
          <a:xfrm>
            <a:off x="9395231" y="4709160"/>
            <a:ext cx="2019224" cy="822960"/>
          </a:xfrm>
          <a:prstGeom prst="rect">
            <a:avLst/>
          </a:prstGeom>
          <a:noFill/>
          <a:ln/>
        </p:spPr>
        <p:txBody>
          <a:bodyPr wrap="square" lIns="0" tIns="0" rIns="0" bIns="0" rtlCol="0" anchor="t"/>
          <a:lstStyle/>
          <a:p>
            <a:pPr indent="0" marL="0">
              <a:buNone/>
            </a:pPr>
            <a:r>
              <a:rPr lang="en-US" sz="1400" dirty="0">
                <a:solidFill>
                  <a:schemeClr val="tx2"/>
                </a:solidFill>
              </a:rPr>
              <a:t>unauffindbar, 3 % falsch zugeordnet oder verspätet</a:t>
            </a:r>
            <a:endParaRPr lang="en-US" sz="1400" dirty="0"/>
          </a:p>
        </p:txBody>
      </p:sp>
      <p:sp>
        <p:nvSpPr>
          <p:cNvPr id="29" name="Text 23"/>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chemeClr val="accent1"/>
                </a:solidFill>
              </a:rPr>
              <a:t>Annahme  </a:t>
            </a:r>
            <a:pPr indent="0" marL="0">
              <a:buNone/>
            </a:pPr>
            <a:r>
              <a:rPr lang="en-US" sz="1100" dirty="0">
                <a:solidFill>
                  <a:schemeClr val="tx2"/>
                </a:solidFill>
              </a:rPr>
              <a:t>Schätzwerte der Stakeholder-Rolle (Fallbeispiel), nicht gemessen.</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SOLL-PROZESS</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Morgen: ein Eingang, eine Software</a:t>
            </a:r>
            <a:endParaRPr lang="en-US" sz="34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700" dirty="0">
                <a:solidFill>
                  <a:schemeClr val="tx2"/>
                </a:solidFill>
              </a:rPr>
              <a:t>Der Versand zum Kunden bleibt physisch – ab dem Posteingang läuft alles digital.</a:t>
            </a:r>
            <a:endParaRPr lang="en-US" sz="1700" dirty="0"/>
          </a:p>
        </p:txBody>
      </p:sp>
      <p:sp>
        <p:nvSpPr>
          <p:cNvPr id="5" name="Zone physisch"/>
          <p:cNvSpPr/>
          <p:nvPr/>
        </p:nvSpPr>
        <p:spPr>
          <a:xfrm>
            <a:off x="548640" y="2011680"/>
            <a:ext cx="2127443" cy="2788920"/>
          </a:xfrm>
          <a:prstGeom prst="roundRect">
            <a:avLst>
              <a:gd name="adj" fmla="val 5158"/>
            </a:avLst>
          </a:prstGeom>
          <a:solidFill>
            <a:schemeClr val="bg2"/>
          </a:solidFill>
          <a:ln/>
        </p:spPr>
      </p:sp>
      <p:sp>
        <p:nvSpPr>
          <p:cNvPr id="6" name="Zone digital"/>
          <p:cNvSpPr/>
          <p:nvPr/>
        </p:nvSpPr>
        <p:spPr>
          <a:xfrm>
            <a:off x="2858963" y="2011680"/>
            <a:ext cx="8784092" cy="2788920"/>
          </a:xfrm>
          <a:prstGeom prst="roundRect">
            <a:avLst>
              <a:gd name="adj" fmla="val 3934"/>
            </a:avLst>
          </a:prstGeom>
          <a:solidFill>
            <a:schemeClr val="accent4"/>
          </a:solidFill>
          <a:ln/>
        </p:spPr>
      </p:sp>
      <p:sp>
        <p:nvSpPr>
          <p:cNvPr id="7" name="Text 5"/>
          <p:cNvSpPr txBox="1"/>
          <p:nvPr/>
        </p:nvSpPr>
        <p:spPr>
          <a:xfrm>
            <a:off x="731520" y="2121408"/>
            <a:ext cx="1828800" cy="274320"/>
          </a:xfrm>
          <a:prstGeom prst="rect">
            <a:avLst/>
          </a:prstGeom>
          <a:noFill/>
          <a:ln/>
        </p:spPr>
        <p:txBody>
          <a:bodyPr wrap="square" lIns="0" tIns="0" rIns="0" bIns="0" rtlCol="0" anchor="t"/>
          <a:lstStyle/>
          <a:p>
            <a:pPr indent="0" marL="0">
              <a:buNone/>
            </a:pPr>
            <a:r>
              <a:rPr lang="en-US" sz="1100" b="1" spc="200" kern="0" dirty="0">
                <a:solidFill>
                  <a:schemeClr val="tx2"/>
                </a:solidFill>
              </a:rPr>
              <a:t>PHYSISCH</a:t>
            </a:r>
            <a:endParaRPr lang="en-US" sz="1100" dirty="0"/>
          </a:p>
        </p:txBody>
      </p:sp>
      <p:sp>
        <p:nvSpPr>
          <p:cNvPr id="8" name="Text 6"/>
          <p:cNvSpPr txBox="1"/>
          <p:nvPr/>
        </p:nvSpPr>
        <p:spPr>
          <a:xfrm>
            <a:off x="3041843" y="2121408"/>
            <a:ext cx="45720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DIGITAL – POSTEINGANGS-SOFTWARE</a:t>
            </a:r>
            <a:endParaRPr lang="en-US" sz="1100" dirty="0"/>
          </a:p>
        </p:txBody>
      </p:sp>
      <p:sp>
        <p:nvSpPr>
          <p:cNvPr id="9" name="Pfeil 1"/>
          <p:cNvSpPr/>
          <p:nvPr/>
        </p:nvSpPr>
        <p:spPr>
          <a:xfrm>
            <a:off x="2225010" y="2971800"/>
            <a:ext cx="1085027" cy="0"/>
          </a:xfrm>
          <a:prstGeom prst="line">
            <a:avLst/>
          </a:prstGeom>
          <a:noFill/>
          <a:ln w="25400">
            <a:solidFill>
              <a:schemeClr val="tx2"/>
            </a:solidFill>
            <a:prstDash val="solid"/>
            <a:tailEnd type="triangle"/>
          </a:ln>
        </p:spPr>
      </p:sp>
      <p:sp>
        <p:nvSpPr>
          <p:cNvPr id="10" name="Schritt 1 Kreis"/>
          <p:cNvSpPr/>
          <p:nvPr/>
        </p:nvSpPr>
        <p:spPr>
          <a:xfrm>
            <a:off x="1200882" y="2514600"/>
            <a:ext cx="914400" cy="914400"/>
          </a:xfrm>
          <a:prstGeom prst="ellipse">
            <a:avLst/>
          </a:prstGeom>
          <a:solidFill>
            <a:schemeClr val="tx1"/>
          </a:solidFill>
          <a:ln/>
        </p:spPr>
      </p:sp>
      <p:pic>
        <p:nvPicPr>
          <p:cNvPr id="11" name="Schritt 1" descr="Mail">    </p:cNvPr>
          <p:cNvPicPr>
            <a:picLocks noChangeAspect="1"/>
          </p:cNvPicPr>
          <p:nvPr/>
        </p:nvPicPr>
        <p:blipFill>
          <a:blip r:embed="rId1"/>
          <a:stretch>
            <a:fillRect/>
          </a:stretch>
        </p:blipFill>
        <p:spPr>
          <a:xfrm>
            <a:off x="1429482" y="2743200"/>
            <a:ext cx="457200" cy="457200"/>
          </a:xfrm>
          <a:prstGeom prst="rect">
            <a:avLst/>
          </a:prstGeom>
        </p:spPr>
      </p:pic>
      <p:sp>
        <p:nvSpPr>
          <p:cNvPr id="12" name="Text 9"/>
          <p:cNvSpPr txBox="1"/>
          <p:nvPr/>
        </p:nvSpPr>
        <p:spPr>
          <a:xfrm>
            <a:off x="640080" y="3611880"/>
            <a:ext cx="2036003" cy="320040"/>
          </a:xfrm>
          <a:prstGeom prst="rect">
            <a:avLst/>
          </a:prstGeom>
          <a:noFill/>
          <a:ln/>
        </p:spPr>
        <p:txBody>
          <a:bodyPr wrap="square" lIns="0" tIns="0" rIns="0" bIns="0" rtlCol="0" anchor="t"/>
          <a:lstStyle/>
          <a:p>
            <a:pPr algn="ctr" indent="0" marL="0">
              <a:buNone/>
            </a:pPr>
            <a:r>
              <a:rPr lang="en-US" sz="1600" b="1" dirty="0">
                <a:solidFill>
                  <a:schemeClr val="tx1"/>
                </a:solidFill>
              </a:rPr>
              <a:t>Kunde</a:t>
            </a:r>
            <a:endParaRPr lang="en-US" sz="1600" dirty="0"/>
          </a:p>
        </p:txBody>
      </p:sp>
      <p:sp>
        <p:nvSpPr>
          <p:cNvPr id="13" name="Text 10"/>
          <p:cNvSpPr txBox="1"/>
          <p:nvPr/>
        </p:nvSpPr>
        <p:spPr>
          <a:xfrm>
            <a:off x="731520" y="3931920"/>
            <a:ext cx="1853123" cy="548640"/>
          </a:xfrm>
          <a:prstGeom prst="rect">
            <a:avLst/>
          </a:prstGeom>
          <a:noFill/>
          <a:ln/>
        </p:spPr>
        <p:txBody>
          <a:bodyPr wrap="square" lIns="0" tIns="0" rIns="0" bIns="0" rtlCol="0" anchor="t"/>
          <a:lstStyle/>
          <a:p>
            <a:pPr algn="ctr" indent="0" marL="0">
              <a:buNone/>
            </a:pPr>
            <a:r>
              <a:rPr lang="en-US" sz="1300" dirty="0">
                <a:solidFill>
                  <a:schemeClr val="tx2"/>
                </a:solidFill>
              </a:rPr>
              <a:t>schickt Unterlagen zurück</a:t>
            </a:r>
            <a:endParaRPr lang="en-US" sz="1300" dirty="0"/>
          </a:p>
        </p:txBody>
      </p:sp>
      <p:sp>
        <p:nvSpPr>
          <p:cNvPr id="14" name="Pfeil 2"/>
          <p:cNvSpPr/>
          <p:nvPr/>
        </p:nvSpPr>
        <p:spPr>
          <a:xfrm>
            <a:off x="4443893" y="2971800"/>
            <a:ext cx="1085027" cy="0"/>
          </a:xfrm>
          <a:prstGeom prst="line">
            <a:avLst/>
          </a:prstGeom>
          <a:noFill/>
          <a:ln w="25400">
            <a:solidFill>
              <a:schemeClr val="accent1"/>
            </a:solidFill>
            <a:prstDash val="solid"/>
            <a:tailEnd type="triangle"/>
          </a:ln>
        </p:spPr>
      </p:sp>
      <p:sp>
        <p:nvSpPr>
          <p:cNvPr id="15" name="Schritt 2 Kreis"/>
          <p:cNvSpPr/>
          <p:nvPr/>
        </p:nvSpPr>
        <p:spPr>
          <a:xfrm>
            <a:off x="3419765" y="2514600"/>
            <a:ext cx="914400" cy="914400"/>
          </a:xfrm>
          <a:prstGeom prst="ellipse">
            <a:avLst/>
          </a:prstGeom>
          <a:solidFill>
            <a:schemeClr val="accent1"/>
          </a:solidFill>
          <a:ln/>
        </p:spPr>
      </p:sp>
      <p:pic>
        <p:nvPicPr>
          <p:cNvPr id="16" name="Schritt 2" descr="ScanLine">    </p:cNvPr>
          <p:cNvPicPr>
            <a:picLocks noChangeAspect="1"/>
          </p:cNvPicPr>
          <p:nvPr/>
        </p:nvPicPr>
        <p:blipFill>
          <a:blip r:embed="rId2"/>
          <a:stretch>
            <a:fillRect/>
          </a:stretch>
        </p:blipFill>
        <p:spPr>
          <a:xfrm>
            <a:off x="3648365" y="2743200"/>
            <a:ext cx="457200" cy="457200"/>
          </a:xfrm>
          <a:prstGeom prst="rect">
            <a:avLst/>
          </a:prstGeom>
        </p:spPr>
      </p:pic>
      <p:sp>
        <p:nvSpPr>
          <p:cNvPr id="17" name="Text 13"/>
          <p:cNvSpPr txBox="1"/>
          <p:nvPr/>
        </p:nvSpPr>
        <p:spPr>
          <a:xfrm>
            <a:off x="2858963" y="3611880"/>
            <a:ext cx="2036003" cy="320040"/>
          </a:xfrm>
          <a:prstGeom prst="rect">
            <a:avLst/>
          </a:prstGeom>
          <a:noFill/>
          <a:ln/>
        </p:spPr>
        <p:txBody>
          <a:bodyPr wrap="square" lIns="0" tIns="0" rIns="0" bIns="0" rtlCol="0" anchor="t"/>
          <a:lstStyle/>
          <a:p>
            <a:pPr algn="ctr" indent="0" marL="0">
              <a:buNone/>
            </a:pPr>
            <a:r>
              <a:rPr lang="en-US" sz="1600" b="1" dirty="0">
                <a:solidFill>
                  <a:schemeClr val="tx1"/>
                </a:solidFill>
              </a:rPr>
              <a:t>Zentraler Posteingang</a:t>
            </a:r>
            <a:endParaRPr lang="en-US" sz="1600" dirty="0"/>
          </a:p>
        </p:txBody>
      </p:sp>
      <p:sp>
        <p:nvSpPr>
          <p:cNvPr id="18" name="Text 14"/>
          <p:cNvSpPr txBox="1"/>
          <p:nvPr/>
        </p:nvSpPr>
        <p:spPr>
          <a:xfrm>
            <a:off x="2950403" y="3931920"/>
            <a:ext cx="1853123" cy="548640"/>
          </a:xfrm>
          <a:prstGeom prst="rect">
            <a:avLst/>
          </a:prstGeom>
          <a:noFill/>
          <a:ln/>
        </p:spPr>
        <p:txBody>
          <a:bodyPr wrap="square" lIns="0" tIns="0" rIns="0" bIns="0" rtlCol="0" anchor="t"/>
          <a:lstStyle/>
          <a:p>
            <a:pPr algn="ctr" indent="0" marL="0">
              <a:buNone/>
            </a:pPr>
            <a:r>
              <a:rPr lang="en-US" sz="1300" dirty="0">
                <a:solidFill>
                  <a:schemeClr val="tx2"/>
                </a:solidFill>
              </a:rPr>
              <a:t>scannt und ordnet zu</a:t>
            </a:r>
            <a:endParaRPr lang="en-US" sz="1300" dirty="0"/>
          </a:p>
        </p:txBody>
      </p:sp>
      <p:sp>
        <p:nvSpPr>
          <p:cNvPr id="19" name="Pfeil 3"/>
          <p:cNvSpPr/>
          <p:nvPr/>
        </p:nvSpPr>
        <p:spPr>
          <a:xfrm>
            <a:off x="6662776" y="2971800"/>
            <a:ext cx="1085027" cy="0"/>
          </a:xfrm>
          <a:prstGeom prst="line">
            <a:avLst/>
          </a:prstGeom>
          <a:noFill/>
          <a:ln w="25400">
            <a:solidFill>
              <a:schemeClr val="accent1"/>
            </a:solidFill>
            <a:prstDash val="solid"/>
            <a:tailEnd type="triangle"/>
          </a:ln>
        </p:spPr>
      </p:sp>
      <p:sp>
        <p:nvSpPr>
          <p:cNvPr id="20" name="Schritt 3 Kreis"/>
          <p:cNvSpPr/>
          <p:nvPr/>
        </p:nvSpPr>
        <p:spPr>
          <a:xfrm>
            <a:off x="5638648" y="2514600"/>
            <a:ext cx="914400" cy="914400"/>
          </a:xfrm>
          <a:prstGeom prst="ellipse">
            <a:avLst/>
          </a:prstGeom>
          <a:solidFill>
            <a:schemeClr val="accent1"/>
          </a:solidFill>
          <a:ln/>
        </p:spPr>
      </p:sp>
      <p:pic>
        <p:nvPicPr>
          <p:cNvPr id="21" name="Schritt 3" descr="Inbox">    </p:cNvPr>
          <p:cNvPicPr>
            <a:picLocks noChangeAspect="1"/>
          </p:cNvPicPr>
          <p:nvPr/>
        </p:nvPicPr>
        <p:blipFill>
          <a:blip r:embed="rId3"/>
          <a:stretch>
            <a:fillRect/>
          </a:stretch>
        </p:blipFill>
        <p:spPr>
          <a:xfrm>
            <a:off x="5867248" y="2743200"/>
            <a:ext cx="457200" cy="457200"/>
          </a:xfrm>
          <a:prstGeom prst="rect">
            <a:avLst/>
          </a:prstGeom>
        </p:spPr>
      </p:pic>
      <p:sp>
        <p:nvSpPr>
          <p:cNvPr id="22" name="Text 17"/>
          <p:cNvSpPr txBox="1"/>
          <p:nvPr/>
        </p:nvSpPr>
        <p:spPr>
          <a:xfrm>
            <a:off x="5077846" y="3611880"/>
            <a:ext cx="2036003" cy="320040"/>
          </a:xfrm>
          <a:prstGeom prst="rect">
            <a:avLst/>
          </a:prstGeom>
          <a:noFill/>
          <a:ln/>
        </p:spPr>
        <p:txBody>
          <a:bodyPr wrap="square" lIns="0" tIns="0" rIns="0" bIns="0" rtlCol="0" anchor="t"/>
          <a:lstStyle/>
          <a:p>
            <a:pPr algn="ctr" indent="0" marL="0">
              <a:buNone/>
            </a:pPr>
            <a:r>
              <a:rPr lang="en-US" sz="1600" b="1" dirty="0">
                <a:solidFill>
                  <a:schemeClr val="tx1"/>
                </a:solidFill>
              </a:rPr>
              <a:t>Inbox</a:t>
            </a:r>
            <a:endParaRPr lang="en-US" sz="1600" dirty="0"/>
          </a:p>
        </p:txBody>
      </p:sp>
      <p:sp>
        <p:nvSpPr>
          <p:cNvPr id="23" name="Text 18"/>
          <p:cNvSpPr txBox="1"/>
          <p:nvPr/>
        </p:nvSpPr>
        <p:spPr>
          <a:xfrm>
            <a:off x="5169286" y="3931920"/>
            <a:ext cx="1853123" cy="548640"/>
          </a:xfrm>
          <a:prstGeom prst="rect">
            <a:avLst/>
          </a:prstGeom>
          <a:noFill/>
          <a:ln/>
        </p:spPr>
        <p:txBody>
          <a:bodyPr wrap="square" lIns="0" tIns="0" rIns="0" bIns="0" rtlCol="0" anchor="t"/>
          <a:lstStyle/>
          <a:p>
            <a:pPr algn="ctr" indent="0" marL="0">
              <a:buNone/>
            </a:pPr>
            <a:r>
              <a:rPr lang="en-US" sz="1300" dirty="0">
                <a:solidFill>
                  <a:schemeClr val="tx2"/>
                </a:solidFill>
              </a:rPr>
              <a:t>Vorgang für KuBe und Team</a:t>
            </a:r>
            <a:endParaRPr lang="en-US" sz="1300" dirty="0"/>
          </a:p>
        </p:txBody>
      </p:sp>
      <p:sp>
        <p:nvSpPr>
          <p:cNvPr id="24" name="Pfeil 4"/>
          <p:cNvSpPr/>
          <p:nvPr/>
        </p:nvSpPr>
        <p:spPr>
          <a:xfrm>
            <a:off x="8881659" y="2971800"/>
            <a:ext cx="1085027" cy="0"/>
          </a:xfrm>
          <a:prstGeom prst="line">
            <a:avLst/>
          </a:prstGeom>
          <a:noFill/>
          <a:ln w="25400">
            <a:solidFill>
              <a:schemeClr val="accent1"/>
            </a:solidFill>
            <a:prstDash val="solid"/>
            <a:tailEnd type="triangle"/>
          </a:ln>
        </p:spPr>
      </p:sp>
      <p:sp>
        <p:nvSpPr>
          <p:cNvPr id="25" name="Schritt 4 Kreis"/>
          <p:cNvSpPr/>
          <p:nvPr/>
        </p:nvSpPr>
        <p:spPr>
          <a:xfrm>
            <a:off x="7857531" y="2514600"/>
            <a:ext cx="914400" cy="914400"/>
          </a:xfrm>
          <a:prstGeom prst="ellipse">
            <a:avLst/>
          </a:prstGeom>
          <a:solidFill>
            <a:schemeClr val="accent1"/>
          </a:solidFill>
          <a:ln/>
        </p:spPr>
      </p:sp>
      <p:pic>
        <p:nvPicPr>
          <p:cNvPr id="26" name="Schritt 4" descr="PencilLine">    </p:cNvPr>
          <p:cNvPicPr>
            <a:picLocks noChangeAspect="1"/>
          </p:cNvPicPr>
          <p:nvPr/>
        </p:nvPicPr>
        <p:blipFill>
          <a:blip r:embed="rId4"/>
          <a:stretch>
            <a:fillRect/>
          </a:stretch>
        </p:blipFill>
        <p:spPr>
          <a:xfrm>
            <a:off x="8086131" y="2743200"/>
            <a:ext cx="457200" cy="457200"/>
          </a:xfrm>
          <a:prstGeom prst="rect">
            <a:avLst/>
          </a:prstGeom>
        </p:spPr>
      </p:pic>
      <p:sp>
        <p:nvSpPr>
          <p:cNvPr id="27" name="Text 21"/>
          <p:cNvSpPr txBox="1"/>
          <p:nvPr/>
        </p:nvSpPr>
        <p:spPr>
          <a:xfrm>
            <a:off x="7296729" y="3611880"/>
            <a:ext cx="2036003" cy="320040"/>
          </a:xfrm>
          <a:prstGeom prst="rect">
            <a:avLst/>
          </a:prstGeom>
          <a:noFill/>
          <a:ln/>
        </p:spPr>
        <p:txBody>
          <a:bodyPr wrap="square" lIns="0" tIns="0" rIns="0" bIns="0" rtlCol="0" anchor="t"/>
          <a:lstStyle/>
          <a:p>
            <a:pPr algn="ctr" indent="0" marL="0">
              <a:buNone/>
            </a:pPr>
            <a:r>
              <a:rPr lang="en-US" sz="1600" b="1" dirty="0">
                <a:solidFill>
                  <a:schemeClr val="tx1"/>
                </a:solidFill>
              </a:rPr>
              <a:t>Prüfen</a:t>
            </a:r>
            <a:endParaRPr lang="en-US" sz="1600" dirty="0"/>
          </a:p>
        </p:txBody>
      </p:sp>
      <p:sp>
        <p:nvSpPr>
          <p:cNvPr id="28" name="Text 22"/>
          <p:cNvSpPr txBox="1"/>
          <p:nvPr/>
        </p:nvSpPr>
        <p:spPr>
          <a:xfrm>
            <a:off x="7388169" y="3931920"/>
            <a:ext cx="1853123" cy="548640"/>
          </a:xfrm>
          <a:prstGeom prst="rect">
            <a:avLst/>
          </a:prstGeom>
          <a:noFill/>
          <a:ln/>
        </p:spPr>
        <p:txBody>
          <a:bodyPr wrap="square" lIns="0" tIns="0" rIns="0" bIns="0" rtlCol="0" anchor="t"/>
          <a:lstStyle/>
          <a:p>
            <a:pPr algn="ctr" indent="0" marL="0">
              <a:buNone/>
            </a:pPr>
            <a:r>
              <a:rPr lang="en-US" sz="1300" dirty="0">
                <a:solidFill>
                  <a:schemeClr val="tx2"/>
                </a:solidFill>
              </a:rPr>
              <a:t>korrigieren oder Rückfrage</a:t>
            </a:r>
            <a:endParaRPr lang="en-US" sz="1300" dirty="0"/>
          </a:p>
        </p:txBody>
      </p:sp>
      <p:sp>
        <p:nvSpPr>
          <p:cNvPr id="29" name="Schritt 5 Kreis"/>
          <p:cNvSpPr/>
          <p:nvPr/>
        </p:nvSpPr>
        <p:spPr>
          <a:xfrm>
            <a:off x="10076414" y="2514600"/>
            <a:ext cx="914400" cy="914400"/>
          </a:xfrm>
          <a:prstGeom prst="ellipse">
            <a:avLst/>
          </a:prstGeom>
          <a:solidFill>
            <a:schemeClr val="accent1"/>
          </a:solidFill>
          <a:ln/>
        </p:spPr>
      </p:sp>
      <p:pic>
        <p:nvPicPr>
          <p:cNvPr id="30" name="Schritt 5" descr="Send">    </p:cNvPr>
          <p:cNvPicPr>
            <a:picLocks noChangeAspect="1"/>
          </p:cNvPicPr>
          <p:nvPr/>
        </p:nvPicPr>
        <p:blipFill>
          <a:blip r:embed="rId5"/>
          <a:stretch>
            <a:fillRect/>
          </a:stretch>
        </p:blipFill>
        <p:spPr>
          <a:xfrm>
            <a:off x="10305014" y="2743200"/>
            <a:ext cx="457200" cy="457200"/>
          </a:xfrm>
          <a:prstGeom prst="rect">
            <a:avLst/>
          </a:prstGeom>
        </p:spPr>
      </p:pic>
      <p:sp>
        <p:nvSpPr>
          <p:cNvPr id="31" name="Text 24"/>
          <p:cNvSpPr txBox="1"/>
          <p:nvPr/>
        </p:nvSpPr>
        <p:spPr>
          <a:xfrm>
            <a:off x="9515612" y="3611880"/>
            <a:ext cx="2036003" cy="320040"/>
          </a:xfrm>
          <a:prstGeom prst="rect">
            <a:avLst/>
          </a:prstGeom>
          <a:noFill/>
          <a:ln/>
        </p:spPr>
        <p:txBody>
          <a:bodyPr wrap="square" lIns="0" tIns="0" rIns="0" bIns="0" rtlCol="0" anchor="t"/>
          <a:lstStyle/>
          <a:p>
            <a:pPr algn="ctr" indent="0" marL="0">
              <a:buNone/>
            </a:pPr>
            <a:r>
              <a:rPr lang="en-US" sz="1600" b="1" dirty="0">
                <a:solidFill>
                  <a:schemeClr val="tx1"/>
                </a:solidFill>
              </a:rPr>
              <a:t>Backoffice</a:t>
            </a:r>
            <a:endParaRPr lang="en-US" sz="1600" dirty="0"/>
          </a:p>
        </p:txBody>
      </p:sp>
      <p:sp>
        <p:nvSpPr>
          <p:cNvPr id="32" name="Text 25"/>
          <p:cNvSpPr txBox="1"/>
          <p:nvPr/>
        </p:nvSpPr>
        <p:spPr>
          <a:xfrm>
            <a:off x="9607052" y="3931920"/>
            <a:ext cx="1853123" cy="548640"/>
          </a:xfrm>
          <a:prstGeom prst="rect">
            <a:avLst/>
          </a:prstGeom>
          <a:noFill/>
          <a:ln/>
        </p:spPr>
        <p:txBody>
          <a:bodyPr wrap="square" lIns="0" tIns="0" rIns="0" bIns="0" rtlCol="0" anchor="t"/>
          <a:lstStyle/>
          <a:p>
            <a:pPr algn="ctr" indent="0" marL="0">
              <a:buNone/>
            </a:pPr>
            <a:r>
              <a:rPr lang="en-US" sz="1300" dirty="0">
                <a:solidFill>
                  <a:schemeClr val="tx2"/>
                </a:solidFill>
              </a:rPr>
              <a:t>digital zugewiesen</a:t>
            </a:r>
            <a:endParaRPr lang="en-US" sz="1300" dirty="0"/>
          </a:p>
        </p:txBody>
      </p:sp>
      <p:sp>
        <p:nvSpPr>
          <p:cNvPr id="33" name="Teamsicht"/>
          <p:cNvSpPr/>
          <p:nvPr/>
        </p:nvSpPr>
        <p:spPr>
          <a:xfrm>
            <a:off x="5215006" y="5074920"/>
            <a:ext cx="6428049" cy="777240"/>
          </a:xfrm>
          <a:prstGeom prst="roundRect">
            <a:avLst>
              <a:gd name="adj" fmla="val 14118"/>
            </a:avLst>
          </a:prstGeom>
          <a:solidFill>
            <a:schemeClr val="bg1"/>
          </a:solidFill>
          <a:ln/>
        </p:spPr>
      </p:sp>
      <p:sp>
        <p:nvSpPr>
          <p:cNvPr id="34" name="Teamsicht Rahmen"/>
          <p:cNvSpPr/>
          <p:nvPr/>
        </p:nvSpPr>
        <p:spPr>
          <a:xfrm>
            <a:off x="5215006" y="5074920"/>
            <a:ext cx="6428049" cy="777240"/>
          </a:xfrm>
          <a:prstGeom prst="roundRect">
            <a:avLst>
              <a:gd name="adj" fmla="val 14118"/>
            </a:avLst>
          </a:prstGeom>
          <a:ln w="15875">
            <a:solidFill>
              <a:schemeClr val="accent1"/>
            </a:solidFill>
            <a:prstDash val="solid"/>
          </a:ln>
        </p:spPr>
      </p:sp>
      <p:pic>
        <p:nvPicPr>
          <p:cNvPr id="35" name="Image 5" descr="Team">    </p:cNvPr>
          <p:cNvPicPr>
            <a:picLocks noChangeAspect="1"/>
          </p:cNvPicPr>
          <p:nvPr/>
        </p:nvPicPr>
        <p:blipFill>
          <a:blip r:embed="rId6"/>
          <a:stretch>
            <a:fillRect/>
          </a:stretch>
        </p:blipFill>
        <p:spPr>
          <a:xfrm>
            <a:off x="5443606" y="5257800"/>
            <a:ext cx="411480" cy="411480"/>
          </a:xfrm>
          <a:prstGeom prst="rect">
            <a:avLst/>
          </a:prstGeom>
        </p:spPr>
      </p:pic>
      <p:sp>
        <p:nvSpPr>
          <p:cNvPr id="36" name="Text 28"/>
          <p:cNvSpPr txBox="1"/>
          <p:nvPr/>
        </p:nvSpPr>
        <p:spPr>
          <a:xfrm>
            <a:off x="6037966" y="5120640"/>
            <a:ext cx="5513649" cy="685800"/>
          </a:xfrm>
          <a:prstGeom prst="rect">
            <a:avLst/>
          </a:prstGeom>
          <a:noFill/>
          <a:ln/>
        </p:spPr>
        <p:txBody>
          <a:bodyPr wrap="square" lIns="0" tIns="0" rIns="0" bIns="0" rtlCol="0" anchor="ctr"/>
          <a:lstStyle/>
          <a:p>
            <a:pPr indent="0" marL="0">
              <a:buNone/>
            </a:pPr>
            <a:r>
              <a:rPr lang="en-US" sz="1600" b="1" dirty="0">
                <a:solidFill>
                  <a:schemeClr val="tx1"/>
                </a:solidFill>
              </a:rPr>
              <a:t>Team &amp; Stellvertretung </a:t>
            </a:r>
            <a:pPr indent="0" marL="0">
              <a:buNone/>
            </a:pPr>
            <a:r>
              <a:rPr lang="en-US" sz="1600" dirty="0">
                <a:solidFill>
                  <a:schemeClr val="tx2"/>
                </a:solidFill>
              </a:rPr>
              <a:t>sehen die Vorgänge anderer KuBe – mit passenden Rechten</a:t>
            </a:r>
            <a:endParaRPr lang="en-US" sz="1600" dirty="0"/>
          </a:p>
        </p:txBody>
      </p:sp>
      <p:sp>
        <p:nvSpPr>
          <p:cNvPr id="37" name="Text 29"/>
          <p:cNvSpPr txBox="1"/>
          <p:nvPr/>
        </p:nvSpPr>
        <p:spPr>
          <a:xfrm>
            <a:off x="548640" y="5120640"/>
            <a:ext cx="4346326" cy="685800"/>
          </a:xfrm>
          <a:prstGeom prst="rect">
            <a:avLst/>
          </a:prstGeom>
          <a:noFill/>
          <a:ln/>
        </p:spPr>
        <p:txBody>
          <a:bodyPr wrap="square" lIns="0" tIns="0" rIns="0" bIns="0" rtlCol="0" anchor="ctr"/>
          <a:lstStyle/>
          <a:p>
            <a:pPr indent="0" marL="0">
              <a:buNone/>
            </a:pPr>
            <a:r>
              <a:rPr lang="en-US" sz="1500" b="1" dirty="0">
                <a:solidFill>
                  <a:schemeClr val="accent1"/>
                </a:solidFill>
              </a:rPr>
              <a:t>Ergebnis: </a:t>
            </a:r>
            <a:pPr indent="0" marL="0">
              <a:buNone/>
            </a:pPr>
            <a:r>
              <a:rPr lang="en-US" sz="1500" dirty="0">
                <a:solidFill>
                  <a:schemeClr val="tx1"/>
                </a:solidFill>
              </a:rPr>
              <a:t>kein interner Postlauf mehr, Status jederzeit sichtbar.</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VISION · SKIZZE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So könnte die Inbox aussehen</a:t>
            </a:r>
            <a:endParaRPr lang="en-US" sz="3400" dirty="0"/>
          </a:p>
        </p:txBody>
      </p:sp>
      <p:sp>
        <p:nvSpPr>
          <p:cNvPr id="4" name="Skizze Fenster"/>
          <p:cNvSpPr/>
          <p:nvPr/>
        </p:nvSpPr>
        <p:spPr>
          <a:xfrm>
            <a:off x="548640" y="1508760"/>
            <a:ext cx="7818120" cy="4526280"/>
          </a:xfrm>
          <a:prstGeom prst="roundRect">
            <a:avLst>
              <a:gd name="adj" fmla="val 2020"/>
            </a:avLst>
          </a:prstGeom>
          <a:solidFill>
            <a:schemeClr val="bg1"/>
          </a:solidFill>
          <a:ln w="12700">
            <a:solidFill>
              <a:schemeClr val="accent6"/>
            </a:solidFill>
            <a:prstDash val="solid"/>
          </a:ln>
          <a:effectLst>
            <a:outerShdw sx="100000" sy="100000" kx="0" ky="0" algn="bl" rotWithShape="0" blurRad="152400" dist="38100" dir="5400000">
              <a:srgbClr val="13293D">
                <a:alpha val="12000"/>
              </a:srgbClr>
            </a:outerShdw>
          </a:effectLst>
        </p:spPr>
      </p:sp>
      <p:sp>
        <p:nvSpPr>
          <p:cNvPr id="5" name="Skizze Titelleiste"/>
          <p:cNvSpPr/>
          <p:nvPr/>
        </p:nvSpPr>
        <p:spPr>
          <a:xfrm>
            <a:off x="566928" y="1581912"/>
            <a:ext cx="7781544" cy="384048"/>
          </a:xfrm>
          <a:prstGeom prst="rect">
            <a:avLst/>
          </a:prstGeom>
          <a:solidFill>
            <a:schemeClr val="bg2"/>
          </a:solidFill>
          <a:ln/>
        </p:spPr>
      </p:sp>
      <p:sp>
        <p:nvSpPr>
          <p:cNvPr id="6" name="Skizze Punkt"/>
          <p:cNvSpPr/>
          <p:nvPr/>
        </p:nvSpPr>
        <p:spPr>
          <a:xfrm>
            <a:off x="731520" y="1709928"/>
            <a:ext cx="118872" cy="118872"/>
          </a:xfrm>
          <a:prstGeom prst="ellipse">
            <a:avLst/>
          </a:prstGeom>
          <a:solidFill>
            <a:schemeClr val="accent6"/>
          </a:solidFill>
          <a:ln/>
        </p:spPr>
      </p:sp>
      <p:sp>
        <p:nvSpPr>
          <p:cNvPr id="7" name="Skizze Punkt"/>
          <p:cNvSpPr/>
          <p:nvPr/>
        </p:nvSpPr>
        <p:spPr>
          <a:xfrm>
            <a:off x="932688" y="1709928"/>
            <a:ext cx="118872" cy="118872"/>
          </a:xfrm>
          <a:prstGeom prst="ellipse">
            <a:avLst/>
          </a:prstGeom>
          <a:solidFill>
            <a:schemeClr val="accent6"/>
          </a:solidFill>
          <a:ln/>
        </p:spPr>
      </p:sp>
      <p:sp>
        <p:nvSpPr>
          <p:cNvPr id="8" name="Skizze Punkt"/>
          <p:cNvSpPr/>
          <p:nvPr/>
        </p:nvSpPr>
        <p:spPr>
          <a:xfrm>
            <a:off x="1133856" y="1709928"/>
            <a:ext cx="118872" cy="118872"/>
          </a:xfrm>
          <a:prstGeom prst="ellipse">
            <a:avLst/>
          </a:prstGeom>
          <a:solidFill>
            <a:schemeClr val="accent6"/>
          </a:solidFill>
          <a:ln/>
        </p:spPr>
      </p:sp>
      <p:sp>
        <p:nvSpPr>
          <p:cNvPr id="9" name="Text 7"/>
          <p:cNvSpPr txBox="1"/>
          <p:nvPr/>
        </p:nvSpPr>
        <p:spPr>
          <a:xfrm>
            <a:off x="1463040" y="1618488"/>
            <a:ext cx="4572000" cy="310896"/>
          </a:xfrm>
          <a:prstGeom prst="rect">
            <a:avLst/>
          </a:prstGeom>
          <a:noFill/>
          <a:ln/>
        </p:spPr>
        <p:txBody>
          <a:bodyPr wrap="square" lIns="0" tIns="0" rIns="0" bIns="0" rtlCol="0" anchor="ctr"/>
          <a:lstStyle/>
          <a:p>
            <a:pPr indent="0" marL="0">
              <a:buNone/>
            </a:pPr>
            <a:r>
              <a:rPr lang="en-US" sz="1200" b="1" dirty="0">
                <a:solidFill>
                  <a:schemeClr val="tx2"/>
                </a:solidFill>
              </a:rPr>
              <a:t>Posteingang · Team Olten Privatkunden</a:t>
            </a:r>
            <a:endParaRPr lang="en-US" sz="1200" dirty="0"/>
          </a:p>
        </p:txBody>
      </p:sp>
      <p:sp>
        <p:nvSpPr>
          <p:cNvPr id="10" name="Skizze Navigation aktiv"/>
          <p:cNvSpPr/>
          <p:nvPr/>
        </p:nvSpPr>
        <p:spPr>
          <a:xfrm>
            <a:off x="731520" y="2194560"/>
            <a:ext cx="1783080" cy="384048"/>
          </a:xfrm>
          <a:prstGeom prst="roundRect">
            <a:avLst>
              <a:gd name="adj" fmla="val 19048"/>
            </a:avLst>
          </a:prstGeom>
          <a:solidFill>
            <a:schemeClr val="accent4"/>
          </a:solidFill>
          <a:ln/>
        </p:spPr>
      </p:sp>
      <p:sp>
        <p:nvSpPr>
          <p:cNvPr id="11" name="Text 9"/>
          <p:cNvSpPr txBox="1"/>
          <p:nvPr/>
        </p:nvSpPr>
        <p:spPr>
          <a:xfrm>
            <a:off x="841248" y="2194560"/>
            <a:ext cx="1280160" cy="384048"/>
          </a:xfrm>
          <a:prstGeom prst="rect">
            <a:avLst/>
          </a:prstGeom>
          <a:noFill/>
          <a:ln/>
        </p:spPr>
        <p:txBody>
          <a:bodyPr wrap="square" lIns="0" tIns="0" rIns="0" bIns="0" rtlCol="0" anchor="ctr"/>
          <a:lstStyle/>
          <a:p>
            <a:pPr indent="0" marL="0">
              <a:buNone/>
            </a:pPr>
            <a:r>
              <a:rPr lang="en-US" sz="1200" b="1" dirty="0">
                <a:solidFill>
                  <a:schemeClr val="accent1"/>
                </a:solidFill>
              </a:rPr>
              <a:t>Meine Eingänge</a:t>
            </a:r>
            <a:endParaRPr lang="en-US" sz="1200" dirty="0"/>
          </a:p>
        </p:txBody>
      </p:sp>
      <p:sp>
        <p:nvSpPr>
          <p:cNvPr id="12" name="Text 10"/>
          <p:cNvSpPr txBox="1"/>
          <p:nvPr/>
        </p:nvSpPr>
        <p:spPr>
          <a:xfrm>
            <a:off x="2057400" y="2194560"/>
            <a:ext cx="347472" cy="384048"/>
          </a:xfrm>
          <a:prstGeom prst="rect">
            <a:avLst/>
          </a:prstGeom>
          <a:noFill/>
          <a:ln/>
        </p:spPr>
        <p:txBody>
          <a:bodyPr wrap="square" lIns="0" tIns="0" rIns="0" bIns="0" rtlCol="0" anchor="ctr"/>
          <a:lstStyle/>
          <a:p>
            <a:pPr algn="r" indent="0" marL="0">
              <a:buNone/>
            </a:pPr>
            <a:r>
              <a:rPr lang="en-US" sz="1200" b="1" dirty="0">
                <a:solidFill>
                  <a:schemeClr val="accent1"/>
                </a:solidFill>
              </a:rPr>
              <a:t>12</a:t>
            </a:r>
            <a:endParaRPr lang="en-US" sz="1200" dirty="0"/>
          </a:p>
        </p:txBody>
      </p:sp>
      <p:sp>
        <p:nvSpPr>
          <p:cNvPr id="13" name="Text 11"/>
          <p:cNvSpPr txBox="1"/>
          <p:nvPr/>
        </p:nvSpPr>
        <p:spPr>
          <a:xfrm>
            <a:off x="841248" y="2670048"/>
            <a:ext cx="1280160" cy="384048"/>
          </a:xfrm>
          <a:prstGeom prst="rect">
            <a:avLst/>
          </a:prstGeom>
          <a:noFill/>
          <a:ln/>
        </p:spPr>
        <p:txBody>
          <a:bodyPr wrap="square" lIns="0" tIns="0" rIns="0" bIns="0" rtlCol="0" anchor="ctr"/>
          <a:lstStyle/>
          <a:p>
            <a:pPr indent="0" marL="0">
              <a:buNone/>
            </a:pPr>
            <a:r>
              <a:rPr lang="en-US" sz="1200" dirty="0">
                <a:solidFill>
                  <a:schemeClr val="tx1"/>
                </a:solidFill>
              </a:rPr>
              <a:t>Team</a:t>
            </a:r>
            <a:endParaRPr lang="en-US" sz="1200" dirty="0"/>
          </a:p>
        </p:txBody>
      </p:sp>
      <p:sp>
        <p:nvSpPr>
          <p:cNvPr id="14" name="Text 12"/>
          <p:cNvSpPr txBox="1"/>
          <p:nvPr/>
        </p:nvSpPr>
        <p:spPr>
          <a:xfrm>
            <a:off x="2057400" y="2670048"/>
            <a:ext cx="347472" cy="384048"/>
          </a:xfrm>
          <a:prstGeom prst="rect">
            <a:avLst/>
          </a:prstGeom>
          <a:noFill/>
          <a:ln/>
        </p:spPr>
        <p:txBody>
          <a:bodyPr wrap="square" lIns="0" tIns="0" rIns="0" bIns="0" rtlCol="0" anchor="ctr"/>
          <a:lstStyle/>
          <a:p>
            <a:pPr algn="r" indent="0" marL="0">
              <a:buNone/>
            </a:pPr>
            <a:r>
              <a:rPr lang="en-US" sz="1200" b="1" dirty="0">
                <a:solidFill>
                  <a:schemeClr val="tx2"/>
                </a:solidFill>
              </a:rPr>
              <a:t>47</a:t>
            </a:r>
            <a:endParaRPr lang="en-US" sz="1200" dirty="0"/>
          </a:p>
        </p:txBody>
      </p:sp>
      <p:sp>
        <p:nvSpPr>
          <p:cNvPr id="15" name="Text 13"/>
          <p:cNvSpPr txBox="1"/>
          <p:nvPr/>
        </p:nvSpPr>
        <p:spPr>
          <a:xfrm>
            <a:off x="841248" y="3145536"/>
            <a:ext cx="1280160" cy="384048"/>
          </a:xfrm>
          <a:prstGeom prst="rect">
            <a:avLst/>
          </a:prstGeom>
          <a:noFill/>
          <a:ln/>
        </p:spPr>
        <p:txBody>
          <a:bodyPr wrap="square" lIns="0" tIns="0" rIns="0" bIns="0" rtlCol="0" anchor="ctr"/>
          <a:lstStyle/>
          <a:p>
            <a:pPr indent="0" marL="0">
              <a:buNone/>
            </a:pPr>
            <a:r>
              <a:rPr lang="en-US" sz="1200" dirty="0">
                <a:solidFill>
                  <a:schemeClr val="tx1"/>
                </a:solidFill>
              </a:rPr>
              <a:t>Stellvertretung</a:t>
            </a:r>
            <a:endParaRPr lang="en-US" sz="1200" dirty="0"/>
          </a:p>
        </p:txBody>
      </p:sp>
      <p:sp>
        <p:nvSpPr>
          <p:cNvPr id="16" name="Text 14"/>
          <p:cNvSpPr txBox="1"/>
          <p:nvPr/>
        </p:nvSpPr>
        <p:spPr>
          <a:xfrm>
            <a:off x="2057400" y="3145536"/>
            <a:ext cx="347472" cy="384048"/>
          </a:xfrm>
          <a:prstGeom prst="rect">
            <a:avLst/>
          </a:prstGeom>
          <a:noFill/>
          <a:ln/>
        </p:spPr>
        <p:txBody>
          <a:bodyPr wrap="square" lIns="0" tIns="0" rIns="0" bIns="0" rtlCol="0" anchor="ctr"/>
          <a:lstStyle/>
          <a:p>
            <a:pPr algn="r" indent="0" marL="0">
              <a:buNone/>
            </a:pPr>
            <a:r>
              <a:rPr lang="en-US" sz="1200" b="1" dirty="0">
                <a:solidFill>
                  <a:schemeClr val="tx2"/>
                </a:solidFill>
              </a:rPr>
              <a:t>5</a:t>
            </a:r>
            <a:endParaRPr lang="en-US" sz="1200" dirty="0"/>
          </a:p>
        </p:txBody>
      </p:sp>
      <p:sp>
        <p:nvSpPr>
          <p:cNvPr id="17" name="Text 15"/>
          <p:cNvSpPr txBox="1"/>
          <p:nvPr/>
        </p:nvSpPr>
        <p:spPr>
          <a:xfrm>
            <a:off x="841248" y="3621024"/>
            <a:ext cx="1280160" cy="384048"/>
          </a:xfrm>
          <a:prstGeom prst="rect">
            <a:avLst/>
          </a:prstGeom>
          <a:noFill/>
          <a:ln/>
        </p:spPr>
        <p:txBody>
          <a:bodyPr wrap="square" lIns="0" tIns="0" rIns="0" bIns="0" rtlCol="0" anchor="ctr"/>
          <a:lstStyle/>
          <a:p>
            <a:pPr indent="0" marL="0">
              <a:buNone/>
            </a:pPr>
            <a:r>
              <a:rPr lang="en-US" sz="1200" dirty="0">
                <a:solidFill>
                  <a:schemeClr val="tx1"/>
                </a:solidFill>
              </a:rPr>
              <a:t>Rückfragen</a:t>
            </a:r>
            <a:endParaRPr lang="en-US" sz="1200" dirty="0"/>
          </a:p>
        </p:txBody>
      </p:sp>
      <p:sp>
        <p:nvSpPr>
          <p:cNvPr id="18" name="Text 16"/>
          <p:cNvSpPr txBox="1"/>
          <p:nvPr/>
        </p:nvSpPr>
        <p:spPr>
          <a:xfrm>
            <a:off x="2057400" y="3621024"/>
            <a:ext cx="347472" cy="384048"/>
          </a:xfrm>
          <a:prstGeom prst="rect">
            <a:avLst/>
          </a:prstGeom>
          <a:noFill/>
          <a:ln/>
        </p:spPr>
        <p:txBody>
          <a:bodyPr wrap="square" lIns="0" tIns="0" rIns="0" bIns="0" rtlCol="0" anchor="ctr"/>
          <a:lstStyle/>
          <a:p>
            <a:pPr algn="r" indent="0" marL="0">
              <a:buNone/>
            </a:pPr>
            <a:r>
              <a:rPr lang="en-US" sz="1200" b="1" dirty="0">
                <a:solidFill>
                  <a:schemeClr val="tx2"/>
                </a:solidFill>
              </a:rPr>
              <a:t>3</a:t>
            </a:r>
            <a:endParaRPr lang="en-US" sz="1200" dirty="0"/>
          </a:p>
        </p:txBody>
      </p:sp>
      <p:sp>
        <p:nvSpPr>
          <p:cNvPr id="19" name="Text 17"/>
          <p:cNvSpPr txBox="1"/>
          <p:nvPr/>
        </p:nvSpPr>
        <p:spPr>
          <a:xfrm>
            <a:off x="2834640" y="2194560"/>
            <a:ext cx="960120" cy="320040"/>
          </a:xfrm>
          <a:prstGeom prst="rect">
            <a:avLst/>
          </a:prstGeom>
          <a:noFill/>
          <a:ln/>
        </p:spPr>
        <p:txBody>
          <a:bodyPr wrap="square" lIns="0" tIns="0" rIns="0" bIns="0" rtlCol="0" anchor="ctr"/>
          <a:lstStyle/>
          <a:p>
            <a:pPr indent="0" marL="0">
              <a:buNone/>
            </a:pPr>
            <a:r>
              <a:rPr lang="en-US" sz="1000" b="1" spc="100" kern="0" dirty="0">
                <a:solidFill>
                  <a:schemeClr val="tx2"/>
                </a:solidFill>
              </a:rPr>
              <a:t>EINGANG</a:t>
            </a:r>
            <a:endParaRPr lang="en-US" sz="1000" dirty="0"/>
          </a:p>
        </p:txBody>
      </p:sp>
      <p:sp>
        <p:nvSpPr>
          <p:cNvPr id="20" name="Text 18"/>
          <p:cNvSpPr txBox="1"/>
          <p:nvPr/>
        </p:nvSpPr>
        <p:spPr>
          <a:xfrm>
            <a:off x="3794760" y="2194560"/>
            <a:ext cx="868680" cy="320040"/>
          </a:xfrm>
          <a:prstGeom prst="rect">
            <a:avLst/>
          </a:prstGeom>
          <a:noFill/>
          <a:ln/>
        </p:spPr>
        <p:txBody>
          <a:bodyPr wrap="square" lIns="0" tIns="0" rIns="0" bIns="0" rtlCol="0" anchor="ctr"/>
          <a:lstStyle/>
          <a:p>
            <a:pPr indent="0" marL="0">
              <a:buNone/>
            </a:pPr>
            <a:r>
              <a:rPr lang="en-US" sz="1000" b="1" spc="100" kern="0" dirty="0">
                <a:solidFill>
                  <a:schemeClr val="tx2"/>
                </a:solidFill>
              </a:rPr>
              <a:t>KUNDE</a:t>
            </a:r>
            <a:endParaRPr lang="en-US" sz="1000" dirty="0"/>
          </a:p>
        </p:txBody>
      </p:sp>
      <p:sp>
        <p:nvSpPr>
          <p:cNvPr id="21" name="Text 19"/>
          <p:cNvSpPr txBox="1"/>
          <p:nvPr/>
        </p:nvSpPr>
        <p:spPr>
          <a:xfrm>
            <a:off x="4663440" y="2194560"/>
            <a:ext cx="1554480" cy="320040"/>
          </a:xfrm>
          <a:prstGeom prst="rect">
            <a:avLst/>
          </a:prstGeom>
          <a:noFill/>
          <a:ln/>
        </p:spPr>
        <p:txBody>
          <a:bodyPr wrap="square" lIns="0" tIns="0" rIns="0" bIns="0" rtlCol="0" anchor="ctr"/>
          <a:lstStyle/>
          <a:p>
            <a:pPr indent="0" marL="0">
              <a:buNone/>
            </a:pPr>
            <a:r>
              <a:rPr lang="en-US" sz="1000" b="1" spc="100" kern="0" dirty="0">
                <a:solidFill>
                  <a:schemeClr val="tx2"/>
                </a:solidFill>
              </a:rPr>
              <a:t>DOKUMENT</a:t>
            </a:r>
            <a:endParaRPr lang="en-US" sz="1000" dirty="0"/>
          </a:p>
        </p:txBody>
      </p:sp>
      <p:sp>
        <p:nvSpPr>
          <p:cNvPr id="22" name="Text 20"/>
          <p:cNvSpPr txBox="1"/>
          <p:nvPr/>
        </p:nvSpPr>
        <p:spPr>
          <a:xfrm>
            <a:off x="6217920" y="2194560"/>
            <a:ext cx="914400" cy="320040"/>
          </a:xfrm>
          <a:prstGeom prst="rect">
            <a:avLst/>
          </a:prstGeom>
          <a:noFill/>
          <a:ln/>
        </p:spPr>
        <p:txBody>
          <a:bodyPr wrap="square" lIns="0" tIns="0" rIns="0" bIns="0" rtlCol="0" anchor="ctr"/>
          <a:lstStyle/>
          <a:p>
            <a:pPr indent="0" marL="0">
              <a:buNone/>
            </a:pPr>
            <a:r>
              <a:rPr lang="en-US" sz="1000" b="1" spc="100" kern="0" dirty="0">
                <a:solidFill>
                  <a:schemeClr val="tx2"/>
                </a:solidFill>
              </a:rPr>
              <a:t>ZUSTÄNDIG</a:t>
            </a:r>
            <a:endParaRPr lang="en-US" sz="1000" dirty="0"/>
          </a:p>
        </p:txBody>
      </p:sp>
      <p:sp>
        <p:nvSpPr>
          <p:cNvPr id="23" name="Text 21"/>
          <p:cNvSpPr txBox="1"/>
          <p:nvPr/>
        </p:nvSpPr>
        <p:spPr>
          <a:xfrm>
            <a:off x="7132320" y="2194560"/>
            <a:ext cx="1143000" cy="320040"/>
          </a:xfrm>
          <a:prstGeom prst="rect">
            <a:avLst/>
          </a:prstGeom>
          <a:noFill/>
          <a:ln/>
        </p:spPr>
        <p:txBody>
          <a:bodyPr wrap="square" lIns="0" tIns="0" rIns="0" bIns="0" rtlCol="0" anchor="ctr"/>
          <a:lstStyle/>
          <a:p>
            <a:pPr indent="0" marL="0">
              <a:buNone/>
            </a:pPr>
            <a:r>
              <a:rPr lang="en-US" sz="1000" b="1" spc="100" kern="0" dirty="0">
                <a:solidFill>
                  <a:schemeClr val="tx2"/>
                </a:solidFill>
              </a:rPr>
              <a:t>STATUS</a:t>
            </a:r>
            <a:endParaRPr lang="en-US" sz="1000" dirty="0"/>
          </a:p>
        </p:txBody>
      </p:sp>
      <p:sp>
        <p:nvSpPr>
          <p:cNvPr id="24" name="Skizze Zeilenlinie"/>
          <p:cNvSpPr/>
          <p:nvPr/>
        </p:nvSpPr>
        <p:spPr>
          <a:xfrm>
            <a:off x="2743200" y="2606040"/>
            <a:ext cx="5440680" cy="0"/>
          </a:xfrm>
          <a:prstGeom prst="line">
            <a:avLst/>
          </a:prstGeom>
          <a:noFill/>
          <a:ln w="9525">
            <a:solidFill>
              <a:schemeClr val="accent6"/>
            </a:solidFill>
            <a:prstDash val="solid"/>
          </a:ln>
        </p:spPr>
      </p:sp>
      <p:sp>
        <p:nvSpPr>
          <p:cNvPr id="25" name="Text 23"/>
          <p:cNvSpPr txBox="1"/>
          <p:nvPr/>
        </p:nvSpPr>
        <p:spPr>
          <a:xfrm>
            <a:off x="2834640" y="2706624"/>
            <a:ext cx="914400" cy="402336"/>
          </a:xfrm>
          <a:prstGeom prst="rect">
            <a:avLst/>
          </a:prstGeom>
          <a:noFill/>
          <a:ln/>
        </p:spPr>
        <p:txBody>
          <a:bodyPr wrap="square" lIns="0" tIns="0" rIns="0" bIns="0" rtlCol="0" anchor="ctr"/>
          <a:lstStyle/>
          <a:p>
            <a:pPr indent="0" marL="0">
              <a:buNone/>
            </a:pPr>
            <a:r>
              <a:rPr lang="en-US" sz="1200" dirty="0">
                <a:solidFill>
                  <a:schemeClr val="tx1"/>
                </a:solidFill>
              </a:rPr>
              <a:t>08:12</a:t>
            </a:r>
            <a:endParaRPr lang="en-US" sz="1200" dirty="0"/>
          </a:p>
        </p:txBody>
      </p:sp>
      <p:sp>
        <p:nvSpPr>
          <p:cNvPr id="26" name="Text 24"/>
          <p:cNvSpPr txBox="1"/>
          <p:nvPr/>
        </p:nvSpPr>
        <p:spPr>
          <a:xfrm>
            <a:off x="3794760" y="2706624"/>
            <a:ext cx="822960" cy="402336"/>
          </a:xfrm>
          <a:prstGeom prst="rect">
            <a:avLst/>
          </a:prstGeom>
          <a:noFill/>
          <a:ln/>
        </p:spPr>
        <p:txBody>
          <a:bodyPr wrap="square" lIns="0" tIns="0" rIns="0" bIns="0" rtlCol="0" anchor="ctr"/>
          <a:lstStyle/>
          <a:p>
            <a:pPr indent="0" marL="0">
              <a:buNone/>
            </a:pPr>
            <a:r>
              <a:rPr lang="en-US" sz="1200" b="1" dirty="0">
                <a:solidFill>
                  <a:schemeClr val="tx1"/>
                </a:solidFill>
              </a:rPr>
              <a:t>K-10482</a:t>
            </a:r>
            <a:endParaRPr lang="en-US" sz="1200" dirty="0"/>
          </a:p>
        </p:txBody>
      </p:sp>
      <p:sp>
        <p:nvSpPr>
          <p:cNvPr id="27" name="Text 25"/>
          <p:cNvSpPr txBox="1"/>
          <p:nvPr/>
        </p:nvSpPr>
        <p:spPr>
          <a:xfrm>
            <a:off x="4663440" y="2706624"/>
            <a:ext cx="1508760" cy="402336"/>
          </a:xfrm>
          <a:prstGeom prst="rect">
            <a:avLst/>
          </a:prstGeom>
          <a:noFill/>
          <a:ln/>
        </p:spPr>
        <p:txBody>
          <a:bodyPr wrap="square" lIns="0" tIns="0" rIns="0" bIns="0" rtlCol="0" anchor="ctr"/>
          <a:lstStyle/>
          <a:p>
            <a:pPr indent="0" marL="0">
              <a:buNone/>
            </a:pPr>
            <a:r>
              <a:rPr lang="en-US" sz="1200" dirty="0">
                <a:solidFill>
                  <a:schemeClr val="tx1"/>
                </a:solidFill>
              </a:rPr>
              <a:t>Kontoeröffnung</a:t>
            </a:r>
            <a:endParaRPr lang="en-US" sz="1200" dirty="0"/>
          </a:p>
        </p:txBody>
      </p:sp>
      <p:sp>
        <p:nvSpPr>
          <p:cNvPr id="28" name="Text 26"/>
          <p:cNvSpPr txBox="1"/>
          <p:nvPr/>
        </p:nvSpPr>
        <p:spPr>
          <a:xfrm>
            <a:off x="6217920" y="2706624"/>
            <a:ext cx="868680" cy="402336"/>
          </a:xfrm>
          <a:prstGeom prst="rect">
            <a:avLst/>
          </a:prstGeom>
          <a:noFill/>
          <a:ln/>
        </p:spPr>
        <p:txBody>
          <a:bodyPr wrap="square" lIns="0" tIns="0" rIns="0" bIns="0" rtlCol="0" anchor="ctr"/>
          <a:lstStyle/>
          <a:p>
            <a:pPr indent="0" marL="0">
              <a:buNone/>
            </a:pPr>
            <a:r>
              <a:rPr lang="en-US" sz="1200" dirty="0">
                <a:solidFill>
                  <a:schemeClr val="tx1"/>
                </a:solidFill>
              </a:rPr>
              <a:t>A. Keller</a:t>
            </a:r>
            <a:endParaRPr lang="en-US" sz="1200" dirty="0"/>
          </a:p>
        </p:txBody>
      </p:sp>
      <p:sp>
        <p:nvSpPr>
          <p:cNvPr id="29" name="Skizze Status Neu"/>
          <p:cNvSpPr/>
          <p:nvPr/>
        </p:nvSpPr>
        <p:spPr>
          <a:xfrm>
            <a:off x="7132320" y="2770632"/>
            <a:ext cx="1051560" cy="274320"/>
          </a:xfrm>
          <a:prstGeom prst="roundRect">
            <a:avLst>
              <a:gd name="adj" fmla="val 50000"/>
            </a:avLst>
          </a:prstGeom>
          <a:solidFill>
            <a:schemeClr val="accent4"/>
          </a:solidFill>
          <a:ln/>
        </p:spPr>
      </p:sp>
      <p:sp>
        <p:nvSpPr>
          <p:cNvPr id="30" name="Text 28"/>
          <p:cNvSpPr txBox="1"/>
          <p:nvPr/>
        </p:nvSpPr>
        <p:spPr>
          <a:xfrm>
            <a:off x="7132320" y="2770632"/>
            <a:ext cx="1051560" cy="274320"/>
          </a:xfrm>
          <a:prstGeom prst="rect">
            <a:avLst/>
          </a:prstGeom>
          <a:noFill/>
          <a:ln/>
        </p:spPr>
        <p:txBody>
          <a:bodyPr wrap="square" lIns="0" tIns="0" rIns="0" bIns="0" rtlCol="0" anchor="ctr"/>
          <a:lstStyle/>
          <a:p>
            <a:pPr algn="ctr" indent="0" marL="0">
              <a:buNone/>
            </a:pPr>
            <a:r>
              <a:rPr lang="en-US" sz="1000" b="1" dirty="0">
                <a:solidFill>
                  <a:schemeClr val="accent1"/>
                </a:solidFill>
              </a:rPr>
              <a:t>Neu</a:t>
            </a:r>
            <a:endParaRPr lang="en-US" sz="1000" dirty="0"/>
          </a:p>
        </p:txBody>
      </p:sp>
      <p:sp>
        <p:nvSpPr>
          <p:cNvPr id="31" name="Skizze Zeilenlinie"/>
          <p:cNvSpPr/>
          <p:nvPr/>
        </p:nvSpPr>
        <p:spPr>
          <a:xfrm>
            <a:off x="2743200" y="3209544"/>
            <a:ext cx="5440680" cy="0"/>
          </a:xfrm>
          <a:prstGeom prst="line">
            <a:avLst/>
          </a:prstGeom>
          <a:noFill/>
          <a:ln w="9525">
            <a:solidFill>
              <a:schemeClr val="accent6"/>
            </a:solidFill>
            <a:prstDash val="solid"/>
          </a:ln>
        </p:spPr>
      </p:sp>
      <p:sp>
        <p:nvSpPr>
          <p:cNvPr id="32" name="Text 30"/>
          <p:cNvSpPr txBox="1"/>
          <p:nvPr/>
        </p:nvSpPr>
        <p:spPr>
          <a:xfrm>
            <a:off x="2834640" y="3310128"/>
            <a:ext cx="914400" cy="402336"/>
          </a:xfrm>
          <a:prstGeom prst="rect">
            <a:avLst/>
          </a:prstGeom>
          <a:noFill/>
          <a:ln/>
        </p:spPr>
        <p:txBody>
          <a:bodyPr wrap="square" lIns="0" tIns="0" rIns="0" bIns="0" rtlCol="0" anchor="ctr"/>
          <a:lstStyle/>
          <a:p>
            <a:pPr indent="0" marL="0">
              <a:buNone/>
            </a:pPr>
            <a:r>
              <a:rPr lang="en-US" sz="1200" dirty="0">
                <a:solidFill>
                  <a:schemeClr val="tx1"/>
                </a:solidFill>
              </a:rPr>
              <a:t>08:14</a:t>
            </a:r>
            <a:endParaRPr lang="en-US" sz="1200" dirty="0"/>
          </a:p>
        </p:txBody>
      </p:sp>
      <p:sp>
        <p:nvSpPr>
          <p:cNvPr id="33" name="Text 31"/>
          <p:cNvSpPr txBox="1"/>
          <p:nvPr/>
        </p:nvSpPr>
        <p:spPr>
          <a:xfrm>
            <a:off x="3794760" y="3310128"/>
            <a:ext cx="822960" cy="402336"/>
          </a:xfrm>
          <a:prstGeom prst="rect">
            <a:avLst/>
          </a:prstGeom>
          <a:noFill/>
          <a:ln/>
        </p:spPr>
        <p:txBody>
          <a:bodyPr wrap="square" lIns="0" tIns="0" rIns="0" bIns="0" rtlCol="0" anchor="ctr"/>
          <a:lstStyle/>
          <a:p>
            <a:pPr indent="0" marL="0">
              <a:buNone/>
            </a:pPr>
            <a:r>
              <a:rPr lang="en-US" sz="1200" b="1" dirty="0">
                <a:solidFill>
                  <a:schemeClr val="tx1"/>
                </a:solidFill>
              </a:rPr>
              <a:t>K-20931</a:t>
            </a:r>
            <a:endParaRPr lang="en-US" sz="1200" dirty="0"/>
          </a:p>
        </p:txBody>
      </p:sp>
      <p:sp>
        <p:nvSpPr>
          <p:cNvPr id="34" name="Text 32"/>
          <p:cNvSpPr txBox="1"/>
          <p:nvPr/>
        </p:nvSpPr>
        <p:spPr>
          <a:xfrm>
            <a:off x="4663440" y="3310128"/>
            <a:ext cx="1508760" cy="402336"/>
          </a:xfrm>
          <a:prstGeom prst="rect">
            <a:avLst/>
          </a:prstGeom>
          <a:noFill/>
          <a:ln/>
        </p:spPr>
        <p:txBody>
          <a:bodyPr wrap="square" lIns="0" tIns="0" rIns="0" bIns="0" rtlCol="0" anchor="ctr"/>
          <a:lstStyle/>
          <a:p>
            <a:pPr indent="0" marL="0">
              <a:buNone/>
            </a:pPr>
            <a:r>
              <a:rPr lang="en-US" sz="1200" dirty="0">
                <a:solidFill>
                  <a:schemeClr val="tx1"/>
                </a:solidFill>
              </a:rPr>
              <a:t>Vollmacht</a:t>
            </a:r>
            <a:endParaRPr lang="en-US" sz="1200" dirty="0"/>
          </a:p>
        </p:txBody>
      </p:sp>
      <p:sp>
        <p:nvSpPr>
          <p:cNvPr id="35" name="Text 33"/>
          <p:cNvSpPr txBox="1"/>
          <p:nvPr/>
        </p:nvSpPr>
        <p:spPr>
          <a:xfrm>
            <a:off x="6217920" y="3310128"/>
            <a:ext cx="868680" cy="402336"/>
          </a:xfrm>
          <a:prstGeom prst="rect">
            <a:avLst/>
          </a:prstGeom>
          <a:noFill/>
          <a:ln/>
        </p:spPr>
        <p:txBody>
          <a:bodyPr wrap="square" lIns="0" tIns="0" rIns="0" bIns="0" rtlCol="0" anchor="ctr"/>
          <a:lstStyle/>
          <a:p>
            <a:pPr indent="0" marL="0">
              <a:buNone/>
            </a:pPr>
            <a:r>
              <a:rPr lang="en-US" sz="1200" dirty="0">
                <a:solidFill>
                  <a:schemeClr val="tx1"/>
                </a:solidFill>
              </a:rPr>
              <a:t>M. Rossi</a:t>
            </a:r>
            <a:endParaRPr lang="en-US" sz="1200" dirty="0"/>
          </a:p>
        </p:txBody>
      </p:sp>
      <p:sp>
        <p:nvSpPr>
          <p:cNvPr id="36" name="Skizze Status Rückfrage"/>
          <p:cNvSpPr/>
          <p:nvPr/>
        </p:nvSpPr>
        <p:spPr>
          <a:xfrm>
            <a:off x="7132320" y="3374136"/>
            <a:ext cx="1051560" cy="274320"/>
          </a:xfrm>
          <a:prstGeom prst="roundRect">
            <a:avLst>
              <a:gd name="adj" fmla="val 50000"/>
            </a:avLst>
          </a:prstGeom>
          <a:solidFill>
            <a:schemeClr val="accent5"/>
          </a:solidFill>
          <a:ln/>
        </p:spPr>
      </p:sp>
      <p:sp>
        <p:nvSpPr>
          <p:cNvPr id="37" name="Text 35"/>
          <p:cNvSpPr txBox="1"/>
          <p:nvPr/>
        </p:nvSpPr>
        <p:spPr>
          <a:xfrm>
            <a:off x="7132320" y="3374136"/>
            <a:ext cx="1051560" cy="274320"/>
          </a:xfrm>
          <a:prstGeom prst="rect">
            <a:avLst/>
          </a:prstGeom>
          <a:noFill/>
          <a:ln/>
        </p:spPr>
        <p:txBody>
          <a:bodyPr wrap="square" lIns="0" tIns="0" rIns="0" bIns="0" rtlCol="0" anchor="ctr"/>
          <a:lstStyle/>
          <a:p>
            <a:pPr algn="ctr" indent="0" marL="0">
              <a:buNone/>
            </a:pPr>
            <a:r>
              <a:rPr lang="en-US" sz="1000" b="1" dirty="0">
                <a:solidFill>
                  <a:schemeClr val="accent2"/>
                </a:solidFill>
              </a:rPr>
              <a:t>Rückfrage</a:t>
            </a:r>
            <a:endParaRPr lang="en-US" sz="1000" dirty="0"/>
          </a:p>
        </p:txBody>
      </p:sp>
      <p:sp>
        <p:nvSpPr>
          <p:cNvPr id="38" name="Skizze Zeilenlinie"/>
          <p:cNvSpPr/>
          <p:nvPr/>
        </p:nvSpPr>
        <p:spPr>
          <a:xfrm>
            <a:off x="2743200" y="3813048"/>
            <a:ext cx="5440680" cy="0"/>
          </a:xfrm>
          <a:prstGeom prst="line">
            <a:avLst/>
          </a:prstGeom>
          <a:noFill/>
          <a:ln w="9525">
            <a:solidFill>
              <a:schemeClr val="accent6"/>
            </a:solidFill>
            <a:prstDash val="solid"/>
          </a:ln>
        </p:spPr>
      </p:sp>
      <p:sp>
        <p:nvSpPr>
          <p:cNvPr id="39" name="Text 37"/>
          <p:cNvSpPr txBox="1"/>
          <p:nvPr/>
        </p:nvSpPr>
        <p:spPr>
          <a:xfrm>
            <a:off x="2834640" y="3913632"/>
            <a:ext cx="914400" cy="402336"/>
          </a:xfrm>
          <a:prstGeom prst="rect">
            <a:avLst/>
          </a:prstGeom>
          <a:noFill/>
          <a:ln/>
        </p:spPr>
        <p:txBody>
          <a:bodyPr wrap="square" lIns="0" tIns="0" rIns="0" bIns="0" rtlCol="0" anchor="ctr"/>
          <a:lstStyle/>
          <a:p>
            <a:pPr indent="0" marL="0">
              <a:buNone/>
            </a:pPr>
            <a:r>
              <a:rPr lang="en-US" sz="1200" dirty="0">
                <a:solidFill>
                  <a:schemeClr val="tx1"/>
                </a:solidFill>
              </a:rPr>
              <a:t>08:20</a:t>
            </a:r>
            <a:endParaRPr lang="en-US" sz="1200" dirty="0"/>
          </a:p>
        </p:txBody>
      </p:sp>
      <p:sp>
        <p:nvSpPr>
          <p:cNvPr id="40" name="Text 38"/>
          <p:cNvSpPr txBox="1"/>
          <p:nvPr/>
        </p:nvSpPr>
        <p:spPr>
          <a:xfrm>
            <a:off x="3794760" y="3913632"/>
            <a:ext cx="822960" cy="402336"/>
          </a:xfrm>
          <a:prstGeom prst="rect">
            <a:avLst/>
          </a:prstGeom>
          <a:noFill/>
          <a:ln/>
        </p:spPr>
        <p:txBody>
          <a:bodyPr wrap="square" lIns="0" tIns="0" rIns="0" bIns="0" rtlCol="0" anchor="ctr"/>
          <a:lstStyle/>
          <a:p>
            <a:pPr indent="0" marL="0">
              <a:buNone/>
            </a:pPr>
            <a:r>
              <a:rPr lang="en-US" sz="1200" b="1" dirty="0">
                <a:solidFill>
                  <a:schemeClr val="tx1"/>
                </a:solidFill>
              </a:rPr>
              <a:t>K-11807</a:t>
            </a:r>
            <a:endParaRPr lang="en-US" sz="1200" dirty="0"/>
          </a:p>
        </p:txBody>
      </p:sp>
      <p:sp>
        <p:nvSpPr>
          <p:cNvPr id="41" name="Text 39"/>
          <p:cNvSpPr txBox="1"/>
          <p:nvPr/>
        </p:nvSpPr>
        <p:spPr>
          <a:xfrm>
            <a:off x="4663440" y="3913632"/>
            <a:ext cx="1508760" cy="402336"/>
          </a:xfrm>
          <a:prstGeom prst="rect">
            <a:avLst/>
          </a:prstGeom>
          <a:noFill/>
          <a:ln/>
        </p:spPr>
        <p:txBody>
          <a:bodyPr wrap="square" lIns="0" tIns="0" rIns="0" bIns="0" rtlCol="0" anchor="ctr"/>
          <a:lstStyle/>
          <a:p>
            <a:pPr indent="0" marL="0">
              <a:buNone/>
            </a:pPr>
            <a:r>
              <a:rPr lang="en-US" sz="1200" dirty="0">
                <a:solidFill>
                  <a:schemeClr val="tx1"/>
                </a:solidFill>
              </a:rPr>
              <a:t>Hypothekarvertrag</a:t>
            </a:r>
            <a:endParaRPr lang="en-US" sz="1200" dirty="0"/>
          </a:p>
        </p:txBody>
      </p:sp>
      <p:sp>
        <p:nvSpPr>
          <p:cNvPr id="42" name="Text 40"/>
          <p:cNvSpPr txBox="1"/>
          <p:nvPr/>
        </p:nvSpPr>
        <p:spPr>
          <a:xfrm>
            <a:off x="6217920" y="3913632"/>
            <a:ext cx="868680" cy="402336"/>
          </a:xfrm>
          <a:prstGeom prst="rect">
            <a:avLst/>
          </a:prstGeom>
          <a:noFill/>
          <a:ln/>
        </p:spPr>
        <p:txBody>
          <a:bodyPr wrap="square" lIns="0" tIns="0" rIns="0" bIns="0" rtlCol="0" anchor="ctr"/>
          <a:lstStyle/>
          <a:p>
            <a:pPr indent="0" marL="0">
              <a:buNone/>
            </a:pPr>
            <a:r>
              <a:rPr lang="en-US" sz="1200" dirty="0">
                <a:solidFill>
                  <a:schemeClr val="tx1"/>
                </a:solidFill>
              </a:rPr>
              <a:t>A. Keller</a:t>
            </a:r>
            <a:endParaRPr lang="en-US" sz="1200" dirty="0"/>
          </a:p>
        </p:txBody>
      </p:sp>
      <p:sp>
        <p:nvSpPr>
          <p:cNvPr id="43" name="Skizze Status In Prüfung"/>
          <p:cNvSpPr/>
          <p:nvPr/>
        </p:nvSpPr>
        <p:spPr>
          <a:xfrm>
            <a:off x="7132320" y="3977640"/>
            <a:ext cx="1051560" cy="274320"/>
          </a:xfrm>
          <a:prstGeom prst="roundRect">
            <a:avLst>
              <a:gd name="adj" fmla="val 50000"/>
            </a:avLst>
          </a:prstGeom>
          <a:solidFill>
            <a:schemeClr val="bg2"/>
          </a:solidFill>
          <a:ln/>
        </p:spPr>
      </p:sp>
      <p:sp>
        <p:nvSpPr>
          <p:cNvPr id="44" name="Text 42"/>
          <p:cNvSpPr txBox="1"/>
          <p:nvPr/>
        </p:nvSpPr>
        <p:spPr>
          <a:xfrm>
            <a:off x="7132320" y="3977640"/>
            <a:ext cx="1051560" cy="274320"/>
          </a:xfrm>
          <a:prstGeom prst="rect">
            <a:avLst/>
          </a:prstGeom>
          <a:noFill/>
          <a:ln/>
        </p:spPr>
        <p:txBody>
          <a:bodyPr wrap="square" lIns="0" tIns="0" rIns="0" bIns="0" rtlCol="0" anchor="ctr"/>
          <a:lstStyle/>
          <a:p>
            <a:pPr algn="ctr" indent="0" marL="0">
              <a:buNone/>
            </a:pPr>
            <a:r>
              <a:rPr lang="en-US" sz="1000" b="1" dirty="0">
                <a:solidFill>
                  <a:schemeClr val="tx1"/>
                </a:solidFill>
              </a:rPr>
              <a:t>In Prüfung</a:t>
            </a:r>
            <a:endParaRPr lang="en-US" sz="1000" dirty="0"/>
          </a:p>
        </p:txBody>
      </p:sp>
      <p:sp>
        <p:nvSpPr>
          <p:cNvPr id="45" name="Skizze Zeilenlinie"/>
          <p:cNvSpPr/>
          <p:nvPr/>
        </p:nvSpPr>
        <p:spPr>
          <a:xfrm>
            <a:off x="2743200" y="4416552"/>
            <a:ext cx="5440680" cy="0"/>
          </a:xfrm>
          <a:prstGeom prst="line">
            <a:avLst/>
          </a:prstGeom>
          <a:noFill/>
          <a:ln w="9525">
            <a:solidFill>
              <a:schemeClr val="accent6"/>
            </a:solidFill>
            <a:prstDash val="solid"/>
          </a:ln>
        </p:spPr>
      </p:sp>
      <p:sp>
        <p:nvSpPr>
          <p:cNvPr id="46" name="Text 44"/>
          <p:cNvSpPr txBox="1"/>
          <p:nvPr/>
        </p:nvSpPr>
        <p:spPr>
          <a:xfrm>
            <a:off x="2834640" y="4517136"/>
            <a:ext cx="914400" cy="402336"/>
          </a:xfrm>
          <a:prstGeom prst="rect">
            <a:avLst/>
          </a:prstGeom>
          <a:noFill/>
          <a:ln/>
        </p:spPr>
        <p:txBody>
          <a:bodyPr wrap="square" lIns="0" tIns="0" rIns="0" bIns="0" rtlCol="0" anchor="ctr"/>
          <a:lstStyle/>
          <a:p>
            <a:pPr indent="0" marL="0">
              <a:buNone/>
            </a:pPr>
            <a:r>
              <a:rPr lang="en-US" sz="1200" dirty="0">
                <a:solidFill>
                  <a:schemeClr val="tx1"/>
                </a:solidFill>
              </a:rPr>
              <a:t>08:31</a:t>
            </a:r>
            <a:endParaRPr lang="en-US" sz="1200" dirty="0"/>
          </a:p>
        </p:txBody>
      </p:sp>
      <p:sp>
        <p:nvSpPr>
          <p:cNvPr id="47" name="Text 45"/>
          <p:cNvSpPr txBox="1"/>
          <p:nvPr/>
        </p:nvSpPr>
        <p:spPr>
          <a:xfrm>
            <a:off x="3794760" y="4517136"/>
            <a:ext cx="822960" cy="402336"/>
          </a:xfrm>
          <a:prstGeom prst="rect">
            <a:avLst/>
          </a:prstGeom>
          <a:noFill/>
          <a:ln/>
        </p:spPr>
        <p:txBody>
          <a:bodyPr wrap="square" lIns="0" tIns="0" rIns="0" bIns="0" rtlCol="0" anchor="ctr"/>
          <a:lstStyle/>
          <a:p>
            <a:pPr indent="0" marL="0">
              <a:buNone/>
            </a:pPr>
            <a:r>
              <a:rPr lang="en-US" sz="1200" b="1" dirty="0">
                <a:solidFill>
                  <a:schemeClr val="tx1"/>
                </a:solidFill>
              </a:rPr>
              <a:t>K-30544</a:t>
            </a:r>
            <a:endParaRPr lang="en-US" sz="1200" dirty="0"/>
          </a:p>
        </p:txBody>
      </p:sp>
      <p:sp>
        <p:nvSpPr>
          <p:cNvPr id="48" name="Text 46"/>
          <p:cNvSpPr txBox="1"/>
          <p:nvPr/>
        </p:nvSpPr>
        <p:spPr>
          <a:xfrm>
            <a:off x="4663440" y="4517136"/>
            <a:ext cx="1508760" cy="402336"/>
          </a:xfrm>
          <a:prstGeom prst="rect">
            <a:avLst/>
          </a:prstGeom>
          <a:noFill/>
          <a:ln/>
        </p:spPr>
        <p:txBody>
          <a:bodyPr wrap="square" lIns="0" tIns="0" rIns="0" bIns="0" rtlCol="0" anchor="ctr"/>
          <a:lstStyle/>
          <a:p>
            <a:pPr indent="0" marL="0">
              <a:buNone/>
            </a:pPr>
            <a:r>
              <a:rPr lang="en-US" sz="1200" dirty="0">
                <a:solidFill>
                  <a:schemeClr val="tx1"/>
                </a:solidFill>
              </a:rPr>
              <a:t>Adressänderung</a:t>
            </a:r>
            <a:endParaRPr lang="en-US" sz="1200" dirty="0"/>
          </a:p>
        </p:txBody>
      </p:sp>
      <p:sp>
        <p:nvSpPr>
          <p:cNvPr id="49" name="Text 47"/>
          <p:cNvSpPr txBox="1"/>
          <p:nvPr/>
        </p:nvSpPr>
        <p:spPr>
          <a:xfrm>
            <a:off x="6217920" y="4517136"/>
            <a:ext cx="868680" cy="402336"/>
          </a:xfrm>
          <a:prstGeom prst="rect">
            <a:avLst/>
          </a:prstGeom>
          <a:noFill/>
          <a:ln/>
        </p:spPr>
        <p:txBody>
          <a:bodyPr wrap="square" lIns="0" tIns="0" rIns="0" bIns="0" rtlCol="0" anchor="ctr"/>
          <a:lstStyle/>
          <a:p>
            <a:pPr indent="0" marL="0">
              <a:buNone/>
            </a:pPr>
            <a:r>
              <a:rPr lang="en-US" sz="1200" dirty="0">
                <a:solidFill>
                  <a:schemeClr val="tx1"/>
                </a:solidFill>
              </a:rPr>
              <a:t>S. Baumann</a:t>
            </a:r>
            <a:endParaRPr lang="en-US" sz="1200" dirty="0"/>
          </a:p>
        </p:txBody>
      </p:sp>
      <p:sp>
        <p:nvSpPr>
          <p:cNvPr id="50" name="Skizze Status Weitergeleitet"/>
          <p:cNvSpPr/>
          <p:nvPr/>
        </p:nvSpPr>
        <p:spPr>
          <a:xfrm>
            <a:off x="7132320" y="4581144"/>
            <a:ext cx="1051560" cy="274320"/>
          </a:xfrm>
          <a:prstGeom prst="roundRect">
            <a:avLst>
              <a:gd name="adj" fmla="val 50000"/>
            </a:avLst>
          </a:prstGeom>
          <a:solidFill>
            <a:schemeClr val="accent1"/>
          </a:solidFill>
          <a:ln/>
        </p:spPr>
      </p:sp>
      <p:sp>
        <p:nvSpPr>
          <p:cNvPr id="51" name="Text 49"/>
          <p:cNvSpPr txBox="1"/>
          <p:nvPr/>
        </p:nvSpPr>
        <p:spPr>
          <a:xfrm>
            <a:off x="7132320" y="4581144"/>
            <a:ext cx="1051560" cy="274320"/>
          </a:xfrm>
          <a:prstGeom prst="rect">
            <a:avLst/>
          </a:prstGeom>
          <a:noFill/>
          <a:ln/>
        </p:spPr>
        <p:txBody>
          <a:bodyPr wrap="square" lIns="0" tIns="0" rIns="0" bIns="0" rtlCol="0" anchor="ctr"/>
          <a:lstStyle/>
          <a:p>
            <a:pPr algn="ctr" indent="0" marL="0">
              <a:buNone/>
            </a:pPr>
            <a:r>
              <a:rPr lang="en-US" sz="1000" b="1" dirty="0">
                <a:solidFill>
                  <a:schemeClr val="bg1"/>
                </a:solidFill>
              </a:rPr>
              <a:t>Weitergeleitet</a:t>
            </a:r>
            <a:endParaRPr lang="en-US" sz="1000" dirty="0"/>
          </a:p>
        </p:txBody>
      </p:sp>
      <p:sp>
        <p:nvSpPr>
          <p:cNvPr id="52" name="Skizze Zeilenlinie"/>
          <p:cNvSpPr/>
          <p:nvPr/>
        </p:nvSpPr>
        <p:spPr>
          <a:xfrm>
            <a:off x="2743200" y="5020056"/>
            <a:ext cx="5440680" cy="0"/>
          </a:xfrm>
          <a:prstGeom prst="line">
            <a:avLst/>
          </a:prstGeom>
          <a:noFill/>
          <a:ln w="9525">
            <a:solidFill>
              <a:schemeClr val="accent6"/>
            </a:solidFill>
            <a:prstDash val="solid"/>
          </a:ln>
        </p:spPr>
      </p:sp>
      <p:sp>
        <p:nvSpPr>
          <p:cNvPr id="53" name="Text 51"/>
          <p:cNvSpPr txBox="1"/>
          <p:nvPr/>
        </p:nvSpPr>
        <p:spPr>
          <a:xfrm>
            <a:off x="2834640" y="5120640"/>
            <a:ext cx="914400" cy="402336"/>
          </a:xfrm>
          <a:prstGeom prst="rect">
            <a:avLst/>
          </a:prstGeom>
          <a:noFill/>
          <a:ln/>
        </p:spPr>
        <p:txBody>
          <a:bodyPr wrap="square" lIns="0" tIns="0" rIns="0" bIns="0" rtlCol="0" anchor="ctr"/>
          <a:lstStyle/>
          <a:p>
            <a:pPr indent="0" marL="0">
              <a:buNone/>
            </a:pPr>
            <a:r>
              <a:rPr lang="en-US" sz="1200" dirty="0">
                <a:solidFill>
                  <a:schemeClr val="tx1"/>
                </a:solidFill>
              </a:rPr>
              <a:t>08:47</a:t>
            </a:r>
            <a:endParaRPr lang="en-US" sz="1200" dirty="0"/>
          </a:p>
        </p:txBody>
      </p:sp>
      <p:sp>
        <p:nvSpPr>
          <p:cNvPr id="54" name="Text 52"/>
          <p:cNvSpPr txBox="1"/>
          <p:nvPr/>
        </p:nvSpPr>
        <p:spPr>
          <a:xfrm>
            <a:off x="3794760" y="5120640"/>
            <a:ext cx="822960" cy="402336"/>
          </a:xfrm>
          <a:prstGeom prst="rect">
            <a:avLst/>
          </a:prstGeom>
          <a:noFill/>
          <a:ln/>
        </p:spPr>
        <p:txBody>
          <a:bodyPr wrap="square" lIns="0" tIns="0" rIns="0" bIns="0" rtlCol="0" anchor="ctr"/>
          <a:lstStyle/>
          <a:p>
            <a:pPr indent="0" marL="0">
              <a:buNone/>
            </a:pPr>
            <a:r>
              <a:rPr lang="en-US" sz="1200" b="1" dirty="0">
                <a:solidFill>
                  <a:schemeClr val="tx1"/>
                </a:solidFill>
              </a:rPr>
              <a:t>K-18260</a:t>
            </a:r>
            <a:endParaRPr lang="en-US" sz="1200" dirty="0"/>
          </a:p>
        </p:txBody>
      </p:sp>
      <p:sp>
        <p:nvSpPr>
          <p:cNvPr id="55" name="Text 53"/>
          <p:cNvSpPr txBox="1"/>
          <p:nvPr/>
        </p:nvSpPr>
        <p:spPr>
          <a:xfrm>
            <a:off x="4663440" y="5120640"/>
            <a:ext cx="1508760" cy="402336"/>
          </a:xfrm>
          <a:prstGeom prst="rect">
            <a:avLst/>
          </a:prstGeom>
          <a:noFill/>
          <a:ln/>
        </p:spPr>
        <p:txBody>
          <a:bodyPr wrap="square" lIns="0" tIns="0" rIns="0" bIns="0" rtlCol="0" anchor="ctr"/>
          <a:lstStyle/>
          <a:p>
            <a:pPr indent="0" marL="0">
              <a:buNone/>
            </a:pPr>
            <a:r>
              <a:rPr lang="en-US" sz="1200" dirty="0">
                <a:solidFill>
                  <a:schemeClr val="tx1"/>
                </a:solidFill>
              </a:rPr>
              <a:t>Depoteröffnung</a:t>
            </a:r>
            <a:endParaRPr lang="en-US" sz="1200" dirty="0"/>
          </a:p>
        </p:txBody>
      </p:sp>
      <p:sp>
        <p:nvSpPr>
          <p:cNvPr id="56" name="Text 54"/>
          <p:cNvSpPr txBox="1"/>
          <p:nvPr/>
        </p:nvSpPr>
        <p:spPr>
          <a:xfrm>
            <a:off x="6217920" y="5120640"/>
            <a:ext cx="868680" cy="402336"/>
          </a:xfrm>
          <a:prstGeom prst="rect">
            <a:avLst/>
          </a:prstGeom>
          <a:noFill/>
          <a:ln/>
        </p:spPr>
        <p:txBody>
          <a:bodyPr wrap="square" lIns="0" tIns="0" rIns="0" bIns="0" rtlCol="0" anchor="ctr"/>
          <a:lstStyle/>
          <a:p>
            <a:pPr indent="0" marL="0">
              <a:buNone/>
            </a:pPr>
            <a:r>
              <a:rPr lang="en-US" sz="1200" dirty="0">
                <a:solidFill>
                  <a:schemeClr val="tx1"/>
                </a:solidFill>
              </a:rPr>
              <a:t>M. Rossi</a:t>
            </a:r>
            <a:endParaRPr lang="en-US" sz="1200" dirty="0"/>
          </a:p>
        </p:txBody>
      </p:sp>
      <p:sp>
        <p:nvSpPr>
          <p:cNvPr id="57" name="Skizze Status Neu"/>
          <p:cNvSpPr/>
          <p:nvPr/>
        </p:nvSpPr>
        <p:spPr>
          <a:xfrm>
            <a:off x="7132320" y="5184648"/>
            <a:ext cx="1051560" cy="274320"/>
          </a:xfrm>
          <a:prstGeom prst="roundRect">
            <a:avLst>
              <a:gd name="adj" fmla="val 50000"/>
            </a:avLst>
          </a:prstGeom>
          <a:solidFill>
            <a:schemeClr val="accent4"/>
          </a:solidFill>
          <a:ln/>
        </p:spPr>
      </p:sp>
      <p:sp>
        <p:nvSpPr>
          <p:cNvPr id="58" name="Text 56"/>
          <p:cNvSpPr txBox="1"/>
          <p:nvPr/>
        </p:nvSpPr>
        <p:spPr>
          <a:xfrm>
            <a:off x="7132320" y="5184648"/>
            <a:ext cx="1051560" cy="274320"/>
          </a:xfrm>
          <a:prstGeom prst="rect">
            <a:avLst/>
          </a:prstGeom>
          <a:noFill/>
          <a:ln/>
        </p:spPr>
        <p:txBody>
          <a:bodyPr wrap="square" lIns="0" tIns="0" rIns="0" bIns="0" rtlCol="0" anchor="ctr"/>
          <a:lstStyle/>
          <a:p>
            <a:pPr algn="ctr" indent="0" marL="0">
              <a:buNone/>
            </a:pPr>
            <a:r>
              <a:rPr lang="en-US" sz="1000" b="1" dirty="0">
                <a:solidFill>
                  <a:schemeClr val="accent1"/>
                </a:solidFill>
              </a:rPr>
              <a:t>Neu</a:t>
            </a:r>
            <a:endParaRPr lang="en-US" sz="1000" dirty="0"/>
          </a:p>
        </p:txBody>
      </p:sp>
      <p:sp>
        <p:nvSpPr>
          <p:cNvPr id="59" name="Erklärung 1"/>
          <p:cNvSpPr/>
          <p:nvPr/>
        </p:nvSpPr>
        <p:spPr>
          <a:xfrm>
            <a:off x="8778240" y="1691640"/>
            <a:ext cx="438912" cy="438912"/>
          </a:xfrm>
          <a:prstGeom prst="ellipse">
            <a:avLst/>
          </a:prstGeom>
          <a:solidFill>
            <a:schemeClr val="accent1"/>
          </a:solidFill>
          <a:ln/>
        </p:spPr>
      </p:sp>
      <p:sp>
        <p:nvSpPr>
          <p:cNvPr id="60" name="Text 58"/>
          <p:cNvSpPr txBox="1"/>
          <p:nvPr/>
        </p:nvSpPr>
        <p:spPr>
          <a:xfrm>
            <a:off x="8778240" y="169164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1" name="Text 59"/>
          <p:cNvSpPr txBox="1"/>
          <p:nvPr/>
        </p:nvSpPr>
        <p:spPr>
          <a:xfrm>
            <a:off x="9418320" y="1691640"/>
            <a:ext cx="2224735" cy="438912"/>
          </a:xfrm>
          <a:prstGeom prst="rect">
            <a:avLst/>
          </a:prstGeom>
          <a:noFill/>
          <a:ln/>
        </p:spPr>
        <p:txBody>
          <a:bodyPr wrap="square" lIns="0" tIns="0" rIns="0" bIns="0" rtlCol="0" anchor="ctr"/>
          <a:lstStyle/>
          <a:p>
            <a:pPr indent="0" marL="0">
              <a:buNone/>
            </a:pPr>
            <a:r>
              <a:rPr lang="en-US" sz="1600" b="1" dirty="0">
                <a:solidFill>
                  <a:schemeClr val="tx1"/>
                </a:solidFill>
              </a:rPr>
              <a:t>Teamsicht</a:t>
            </a:r>
            <a:endParaRPr lang="en-US" sz="1600" dirty="0"/>
          </a:p>
        </p:txBody>
      </p:sp>
      <p:sp>
        <p:nvSpPr>
          <p:cNvPr id="62" name="Text 60"/>
          <p:cNvSpPr txBox="1"/>
          <p:nvPr/>
        </p:nvSpPr>
        <p:spPr>
          <a:xfrm>
            <a:off x="9418320" y="2148840"/>
            <a:ext cx="2224735" cy="594360"/>
          </a:xfrm>
          <a:prstGeom prst="rect">
            <a:avLst/>
          </a:prstGeom>
          <a:noFill/>
          <a:ln/>
        </p:spPr>
        <p:txBody>
          <a:bodyPr wrap="square" lIns="0" tIns="0" rIns="0" bIns="0" rtlCol="0" anchor="t"/>
          <a:lstStyle/>
          <a:p>
            <a:pPr indent="0" marL="0">
              <a:buNone/>
            </a:pPr>
            <a:r>
              <a:rPr lang="en-US" sz="1400" dirty="0">
                <a:solidFill>
                  <a:schemeClr val="tx2"/>
                </a:solidFill>
              </a:rPr>
              <a:t>Vorgänge von Kolleg:innen und Stellvertretung</a:t>
            </a:r>
            <a:endParaRPr lang="en-US" sz="1400" dirty="0"/>
          </a:p>
        </p:txBody>
      </p:sp>
      <p:sp>
        <p:nvSpPr>
          <p:cNvPr id="63" name="Erklärung 2"/>
          <p:cNvSpPr/>
          <p:nvPr/>
        </p:nvSpPr>
        <p:spPr>
          <a:xfrm>
            <a:off x="8778240" y="3017520"/>
            <a:ext cx="438912" cy="438912"/>
          </a:xfrm>
          <a:prstGeom prst="ellipse">
            <a:avLst/>
          </a:prstGeom>
          <a:solidFill>
            <a:schemeClr val="accent1"/>
          </a:solidFill>
          <a:ln/>
        </p:spPr>
      </p:sp>
      <p:sp>
        <p:nvSpPr>
          <p:cNvPr id="64" name="Text 62"/>
          <p:cNvSpPr txBox="1"/>
          <p:nvPr/>
        </p:nvSpPr>
        <p:spPr>
          <a:xfrm>
            <a:off x="8778240" y="301752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65" name="Text 63"/>
          <p:cNvSpPr txBox="1"/>
          <p:nvPr/>
        </p:nvSpPr>
        <p:spPr>
          <a:xfrm>
            <a:off x="9418320" y="3017520"/>
            <a:ext cx="2224735" cy="438912"/>
          </a:xfrm>
          <a:prstGeom prst="rect">
            <a:avLst/>
          </a:prstGeom>
          <a:noFill/>
          <a:ln/>
        </p:spPr>
        <p:txBody>
          <a:bodyPr wrap="square" lIns="0" tIns="0" rIns="0" bIns="0" rtlCol="0" anchor="ctr"/>
          <a:lstStyle/>
          <a:p>
            <a:pPr indent="0" marL="0">
              <a:buNone/>
            </a:pPr>
            <a:r>
              <a:rPr lang="en-US" sz="1600" b="1" dirty="0">
                <a:solidFill>
                  <a:schemeClr val="tx1"/>
                </a:solidFill>
              </a:rPr>
              <a:t>Status auf einen Blick</a:t>
            </a:r>
            <a:endParaRPr lang="en-US" sz="1600" dirty="0"/>
          </a:p>
        </p:txBody>
      </p:sp>
      <p:sp>
        <p:nvSpPr>
          <p:cNvPr id="66" name="Text 64"/>
          <p:cNvSpPr txBox="1"/>
          <p:nvPr/>
        </p:nvSpPr>
        <p:spPr>
          <a:xfrm>
            <a:off x="9418320" y="3474720"/>
            <a:ext cx="2224735" cy="594360"/>
          </a:xfrm>
          <a:prstGeom prst="rect">
            <a:avLst/>
          </a:prstGeom>
          <a:noFill/>
          <a:ln/>
        </p:spPr>
        <p:txBody>
          <a:bodyPr wrap="square" lIns="0" tIns="0" rIns="0" bIns="0" rtlCol="0" anchor="t"/>
          <a:lstStyle/>
          <a:p>
            <a:pPr indent="0" marL="0">
              <a:buNone/>
            </a:pPr>
            <a:r>
              <a:rPr lang="en-US" sz="1400" dirty="0">
                <a:solidFill>
                  <a:schemeClr val="tx2"/>
                </a:solidFill>
              </a:rPr>
              <a:t>neu, in Prüfung, Rückfrage, weitergeleitet</a:t>
            </a:r>
            <a:endParaRPr lang="en-US" sz="1400" dirty="0"/>
          </a:p>
        </p:txBody>
      </p:sp>
      <p:sp>
        <p:nvSpPr>
          <p:cNvPr id="67" name="Erklärung 3"/>
          <p:cNvSpPr/>
          <p:nvPr/>
        </p:nvSpPr>
        <p:spPr>
          <a:xfrm>
            <a:off x="8778240" y="4343400"/>
            <a:ext cx="438912" cy="438912"/>
          </a:xfrm>
          <a:prstGeom prst="ellipse">
            <a:avLst/>
          </a:prstGeom>
          <a:solidFill>
            <a:schemeClr val="accent1"/>
          </a:solidFill>
          <a:ln/>
        </p:spPr>
      </p:sp>
      <p:sp>
        <p:nvSpPr>
          <p:cNvPr id="68" name="Text 66"/>
          <p:cNvSpPr txBox="1"/>
          <p:nvPr/>
        </p:nvSpPr>
        <p:spPr>
          <a:xfrm>
            <a:off x="8778240" y="43434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69" name="Text 67"/>
          <p:cNvSpPr txBox="1"/>
          <p:nvPr/>
        </p:nvSpPr>
        <p:spPr>
          <a:xfrm>
            <a:off x="9418320" y="4343400"/>
            <a:ext cx="2224735" cy="438912"/>
          </a:xfrm>
          <a:prstGeom prst="rect">
            <a:avLst/>
          </a:prstGeom>
          <a:noFill/>
          <a:ln/>
        </p:spPr>
        <p:txBody>
          <a:bodyPr wrap="square" lIns="0" tIns="0" rIns="0" bIns="0" rtlCol="0" anchor="ctr"/>
          <a:lstStyle/>
          <a:p>
            <a:pPr indent="0" marL="0">
              <a:buNone/>
            </a:pPr>
            <a:r>
              <a:rPr lang="en-US" sz="1600" b="1" dirty="0">
                <a:solidFill>
                  <a:schemeClr val="tx1"/>
                </a:solidFill>
              </a:rPr>
              <a:t>Korrigieren, nachfragen</a:t>
            </a:r>
            <a:endParaRPr lang="en-US" sz="1600" dirty="0"/>
          </a:p>
        </p:txBody>
      </p:sp>
      <p:sp>
        <p:nvSpPr>
          <p:cNvPr id="70" name="Text 68"/>
          <p:cNvSpPr txBox="1"/>
          <p:nvPr/>
        </p:nvSpPr>
        <p:spPr>
          <a:xfrm>
            <a:off x="9418320" y="4800600"/>
            <a:ext cx="2224735" cy="594360"/>
          </a:xfrm>
          <a:prstGeom prst="rect">
            <a:avLst/>
          </a:prstGeom>
          <a:noFill/>
          <a:ln/>
        </p:spPr>
        <p:txBody>
          <a:bodyPr wrap="square" lIns="0" tIns="0" rIns="0" bIns="0" rtlCol="0" anchor="t"/>
          <a:lstStyle/>
          <a:p>
            <a:pPr indent="0" marL="0">
              <a:buNone/>
            </a:pPr>
            <a:r>
              <a:rPr lang="en-US" sz="1400" dirty="0">
                <a:solidFill>
                  <a:schemeClr val="tx2"/>
                </a:solidFill>
              </a:rPr>
              <a:t>direkt im Vorgang, ohne Papier</a:t>
            </a:r>
            <a:endParaRPr lang="en-US" sz="1400" dirty="0"/>
          </a:p>
        </p:txBody>
      </p:sp>
      <p:sp>
        <p:nvSpPr>
          <p:cNvPr id="71" name="Markierung 1"/>
          <p:cNvSpPr/>
          <p:nvPr/>
        </p:nvSpPr>
        <p:spPr>
          <a:xfrm>
            <a:off x="420624" y="2715768"/>
            <a:ext cx="292608" cy="292608"/>
          </a:xfrm>
          <a:prstGeom prst="ellipse">
            <a:avLst/>
          </a:prstGeom>
          <a:solidFill>
            <a:schemeClr val="accent1"/>
          </a:solidFill>
          <a:ln w="19050">
            <a:solidFill>
              <a:schemeClr val="bg1"/>
            </a:solidFill>
            <a:prstDash val="solid"/>
          </a:ln>
        </p:spPr>
      </p:sp>
      <p:sp>
        <p:nvSpPr>
          <p:cNvPr id="72" name="Text 70"/>
          <p:cNvSpPr txBox="1"/>
          <p:nvPr/>
        </p:nvSpPr>
        <p:spPr>
          <a:xfrm>
            <a:off x="420624" y="271576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73" name="Markierung 2"/>
          <p:cNvSpPr/>
          <p:nvPr/>
        </p:nvSpPr>
        <p:spPr>
          <a:xfrm>
            <a:off x="7818120" y="2212848"/>
            <a:ext cx="292608" cy="292608"/>
          </a:xfrm>
          <a:prstGeom prst="ellipse">
            <a:avLst/>
          </a:prstGeom>
          <a:solidFill>
            <a:schemeClr val="accent1"/>
          </a:solidFill>
          <a:ln w="19050">
            <a:solidFill>
              <a:schemeClr val="bg1"/>
            </a:solidFill>
            <a:prstDash val="solid"/>
          </a:ln>
        </p:spPr>
      </p:sp>
      <p:sp>
        <p:nvSpPr>
          <p:cNvPr id="74" name="Text 72"/>
          <p:cNvSpPr txBox="1"/>
          <p:nvPr/>
        </p:nvSpPr>
        <p:spPr>
          <a:xfrm>
            <a:off x="7818120" y="221284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75" name="Markierung 3"/>
          <p:cNvSpPr/>
          <p:nvPr/>
        </p:nvSpPr>
        <p:spPr>
          <a:xfrm>
            <a:off x="8046720" y="3264408"/>
            <a:ext cx="292608" cy="292608"/>
          </a:xfrm>
          <a:prstGeom prst="ellipse">
            <a:avLst/>
          </a:prstGeom>
          <a:solidFill>
            <a:schemeClr val="accent1"/>
          </a:solidFill>
          <a:ln w="19050">
            <a:solidFill>
              <a:schemeClr val="bg1"/>
            </a:solidFill>
            <a:prstDash val="solid"/>
          </a:ln>
        </p:spPr>
      </p:sp>
      <p:sp>
        <p:nvSpPr>
          <p:cNvPr id="76" name="Text 74"/>
          <p:cNvSpPr txBox="1"/>
          <p:nvPr/>
        </p:nvSpPr>
        <p:spPr>
          <a:xfrm>
            <a:off x="8046720" y="326440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77" name="Text 75"/>
          <p:cNvSpPr txBox="1"/>
          <p:nvPr/>
        </p:nvSpPr>
        <p:spPr>
          <a:xfrm>
            <a:off x="8778240" y="5532120"/>
            <a:ext cx="2864815" cy="502920"/>
          </a:xfrm>
          <a:prstGeom prst="rect">
            <a:avLst/>
          </a:prstGeom>
          <a:noFill/>
          <a:ln/>
        </p:spPr>
        <p:txBody>
          <a:bodyPr wrap="square" lIns="0" tIns="0" rIns="0" bIns="0" rtlCol="0" anchor="t"/>
          <a:lstStyle/>
          <a:p>
            <a:pPr indent="0" marL="0">
              <a:buNone/>
            </a:pPr>
            <a:r>
              <a:rPr lang="en-US" sz="1100" b="1" dirty="0">
                <a:solidFill>
                  <a:schemeClr val="accent1"/>
                </a:solidFill>
              </a:rPr>
              <a:t>Skizze  </a:t>
            </a:r>
            <a:pPr indent="0" marL="0">
              <a:buNone/>
            </a:pPr>
            <a:r>
              <a:rPr lang="en-US" sz="1100" dirty="0">
                <a:solidFill>
                  <a:schemeClr val="tx2"/>
                </a:solidFill>
              </a:rPr>
              <a:t>Unsere Vorstellung, keine Designvorgabe. Kundennummern statt Namen, fiktive Daten.</a:t>
            </a:r>
            <a:endParaRPr lang="en-US" sz="1100" dirty="0"/>
          </a:p>
        </p:txBody>
      </p:sp>
      <p:sp>
        <p:nvSpPr>
          <p:cNvPr id="79"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UNSERE BEDÜRFNISSE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Was die Software für uns leisten soll</a:t>
            </a:r>
            <a:endParaRPr lang="en-US" sz="34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700" dirty="0">
                <a:solidFill>
                  <a:schemeClr val="tx2"/>
                </a:solidFill>
              </a:rPr>
              <a:t>Aus Sicht des Auftraggebers – die Anforderungen erarbeitet das RE-Team.</a:t>
            </a:r>
            <a:endParaRPr lang="en-US" sz="1700" dirty="0"/>
          </a:p>
        </p:txBody>
      </p:sp>
      <p:sp>
        <p:nvSpPr>
          <p:cNvPr id="5" name="Bedürfnis Alles an einem Ort"/>
          <p:cNvSpPr/>
          <p:nvPr/>
        </p:nvSpPr>
        <p:spPr>
          <a:xfrm>
            <a:off x="548640" y="2057400"/>
            <a:ext cx="3515258" cy="1783080"/>
          </a:xfrm>
          <a:prstGeom prst="roundRect">
            <a:avLst>
              <a:gd name="adj" fmla="val 6154"/>
            </a:avLst>
          </a:prstGeom>
          <a:solidFill>
            <a:schemeClr val="bg2"/>
          </a:solidFill>
          <a:ln/>
        </p:spPr>
      </p:sp>
      <p:sp>
        <p:nvSpPr>
          <p:cNvPr id="6" name="Icon Alles an einem Ort Kreis"/>
          <p:cNvSpPr/>
          <p:nvPr/>
        </p:nvSpPr>
        <p:spPr>
          <a:xfrm>
            <a:off x="822960" y="2377440"/>
            <a:ext cx="640080" cy="640080"/>
          </a:xfrm>
          <a:prstGeom prst="ellipse">
            <a:avLst/>
          </a:prstGeom>
          <a:solidFill>
            <a:schemeClr val="accent1"/>
          </a:solidFill>
          <a:ln/>
        </p:spPr>
      </p:sp>
      <p:pic>
        <p:nvPicPr>
          <p:cNvPr id="7" name="Icon Alles an einem Ort" descr="Inbox">    </p:cNvPr>
          <p:cNvPicPr>
            <a:picLocks noChangeAspect="1"/>
          </p:cNvPicPr>
          <p:nvPr/>
        </p:nvPicPr>
        <p:blipFill>
          <a:blip r:embed="rId1"/>
          <a:stretch>
            <a:fillRect/>
          </a:stretch>
        </p:blipFill>
        <p:spPr>
          <a:xfrm>
            <a:off x="982980" y="2537460"/>
            <a:ext cx="320040" cy="320040"/>
          </a:xfrm>
          <a:prstGeom prst="rect">
            <a:avLst/>
          </a:prstGeom>
        </p:spPr>
      </p:pic>
      <p:sp>
        <p:nvSpPr>
          <p:cNvPr id="8" name="Text 5"/>
          <p:cNvSpPr txBox="1"/>
          <p:nvPr/>
        </p:nvSpPr>
        <p:spPr>
          <a:xfrm>
            <a:off x="1645920" y="2377440"/>
            <a:ext cx="2189378" cy="640080"/>
          </a:xfrm>
          <a:prstGeom prst="rect">
            <a:avLst/>
          </a:prstGeom>
          <a:noFill/>
          <a:ln/>
        </p:spPr>
        <p:txBody>
          <a:bodyPr wrap="square" lIns="0" tIns="0" rIns="0" bIns="0" rtlCol="0" anchor="ctr"/>
          <a:lstStyle/>
          <a:p>
            <a:pPr indent="0" marL="0">
              <a:buNone/>
            </a:pPr>
            <a:r>
              <a:rPr lang="en-US" sz="1800" b="1" dirty="0">
                <a:solidFill>
                  <a:schemeClr val="tx1"/>
                </a:solidFill>
              </a:rPr>
              <a:t>Alles an einem Ort</a:t>
            </a:r>
            <a:endParaRPr lang="en-US" sz="1800" dirty="0"/>
          </a:p>
        </p:txBody>
      </p:sp>
      <p:sp>
        <p:nvSpPr>
          <p:cNvPr id="9" name="Text 6"/>
          <p:cNvSpPr txBox="1"/>
          <p:nvPr/>
        </p:nvSpPr>
        <p:spPr>
          <a:xfrm>
            <a:off x="1645920" y="3063240"/>
            <a:ext cx="2189378" cy="640080"/>
          </a:xfrm>
          <a:prstGeom prst="rect">
            <a:avLst/>
          </a:prstGeom>
          <a:noFill/>
          <a:ln/>
        </p:spPr>
        <p:txBody>
          <a:bodyPr wrap="square" lIns="0" tIns="0" rIns="0" bIns="0" rtlCol="0" anchor="t"/>
          <a:lstStyle/>
          <a:p>
            <a:pPr indent="0" marL="0">
              <a:buNone/>
            </a:pPr>
            <a:r>
              <a:rPr lang="en-US" sz="1400" dirty="0">
                <a:solidFill>
                  <a:schemeClr val="tx2"/>
                </a:solidFill>
              </a:rPr>
              <a:t>Jede Rücksendung landet digital in einer Inbox.</a:t>
            </a:r>
            <a:endParaRPr lang="en-US" sz="1400" dirty="0"/>
          </a:p>
        </p:txBody>
      </p:sp>
      <p:sp>
        <p:nvSpPr>
          <p:cNvPr id="10" name="Bedürfnis Teamsicht"/>
          <p:cNvSpPr/>
          <p:nvPr/>
        </p:nvSpPr>
        <p:spPr>
          <a:xfrm>
            <a:off x="4338218" y="2057400"/>
            <a:ext cx="3515258" cy="1783080"/>
          </a:xfrm>
          <a:prstGeom prst="roundRect">
            <a:avLst>
              <a:gd name="adj" fmla="val 6154"/>
            </a:avLst>
          </a:prstGeom>
          <a:solidFill>
            <a:schemeClr val="bg2"/>
          </a:solidFill>
          <a:ln/>
        </p:spPr>
      </p:sp>
      <p:sp>
        <p:nvSpPr>
          <p:cNvPr id="11" name="Icon Teamsicht Kreis"/>
          <p:cNvSpPr/>
          <p:nvPr/>
        </p:nvSpPr>
        <p:spPr>
          <a:xfrm>
            <a:off x="4612538" y="2377440"/>
            <a:ext cx="640080" cy="640080"/>
          </a:xfrm>
          <a:prstGeom prst="ellipse">
            <a:avLst/>
          </a:prstGeom>
          <a:solidFill>
            <a:schemeClr val="accent1"/>
          </a:solidFill>
          <a:ln/>
        </p:spPr>
      </p:sp>
      <p:pic>
        <p:nvPicPr>
          <p:cNvPr id="12" name="Icon Teamsicht" descr="Users">    </p:cNvPr>
          <p:cNvPicPr>
            <a:picLocks noChangeAspect="1"/>
          </p:cNvPicPr>
          <p:nvPr/>
        </p:nvPicPr>
        <p:blipFill>
          <a:blip r:embed="rId2"/>
          <a:stretch>
            <a:fillRect/>
          </a:stretch>
        </p:blipFill>
        <p:spPr>
          <a:xfrm>
            <a:off x="4772558" y="2537460"/>
            <a:ext cx="320040" cy="320040"/>
          </a:xfrm>
          <a:prstGeom prst="rect">
            <a:avLst/>
          </a:prstGeom>
        </p:spPr>
      </p:pic>
      <p:sp>
        <p:nvSpPr>
          <p:cNvPr id="13" name="Text 9"/>
          <p:cNvSpPr txBox="1"/>
          <p:nvPr/>
        </p:nvSpPr>
        <p:spPr>
          <a:xfrm>
            <a:off x="5435498" y="2377440"/>
            <a:ext cx="2189378" cy="640080"/>
          </a:xfrm>
          <a:prstGeom prst="rect">
            <a:avLst/>
          </a:prstGeom>
          <a:noFill/>
          <a:ln/>
        </p:spPr>
        <p:txBody>
          <a:bodyPr wrap="square" lIns="0" tIns="0" rIns="0" bIns="0" rtlCol="0" anchor="ctr"/>
          <a:lstStyle/>
          <a:p>
            <a:pPr indent="0" marL="0">
              <a:buNone/>
            </a:pPr>
            <a:r>
              <a:rPr lang="en-US" sz="1800" b="1" dirty="0">
                <a:solidFill>
                  <a:schemeClr val="tx1"/>
                </a:solidFill>
              </a:rPr>
              <a:t>Teamsicht</a:t>
            </a:r>
            <a:endParaRPr lang="en-US" sz="1800" dirty="0"/>
          </a:p>
        </p:txBody>
      </p:sp>
      <p:sp>
        <p:nvSpPr>
          <p:cNvPr id="14" name="Text 10"/>
          <p:cNvSpPr txBox="1"/>
          <p:nvPr/>
        </p:nvSpPr>
        <p:spPr>
          <a:xfrm>
            <a:off x="5435498" y="3063240"/>
            <a:ext cx="2189378" cy="640080"/>
          </a:xfrm>
          <a:prstGeom prst="rect">
            <a:avLst/>
          </a:prstGeom>
          <a:noFill/>
          <a:ln/>
        </p:spPr>
        <p:txBody>
          <a:bodyPr wrap="square" lIns="0" tIns="0" rIns="0" bIns="0" rtlCol="0" anchor="t"/>
          <a:lstStyle/>
          <a:p>
            <a:pPr indent="0" marL="0">
              <a:buNone/>
            </a:pPr>
            <a:r>
              <a:rPr lang="en-US" sz="1400" dirty="0">
                <a:solidFill>
                  <a:schemeClr val="tx2"/>
                </a:solidFill>
              </a:rPr>
              <a:t>KuBe sehen Vorgänge anderer – etwa in der Stellvertretung.</a:t>
            </a:r>
            <a:endParaRPr lang="en-US" sz="1400" dirty="0"/>
          </a:p>
        </p:txBody>
      </p:sp>
      <p:sp>
        <p:nvSpPr>
          <p:cNvPr id="15" name="Bedürfnis Korrigieren statt zurückschicken"/>
          <p:cNvSpPr/>
          <p:nvPr/>
        </p:nvSpPr>
        <p:spPr>
          <a:xfrm>
            <a:off x="8127797" y="2057400"/>
            <a:ext cx="3515258" cy="1783080"/>
          </a:xfrm>
          <a:prstGeom prst="roundRect">
            <a:avLst>
              <a:gd name="adj" fmla="val 6154"/>
            </a:avLst>
          </a:prstGeom>
          <a:solidFill>
            <a:schemeClr val="bg2"/>
          </a:solidFill>
          <a:ln/>
        </p:spPr>
      </p:sp>
      <p:sp>
        <p:nvSpPr>
          <p:cNvPr id="16" name="Icon Korrigieren statt zurückschicken Kreis"/>
          <p:cNvSpPr/>
          <p:nvPr/>
        </p:nvSpPr>
        <p:spPr>
          <a:xfrm>
            <a:off x="8402117" y="2377440"/>
            <a:ext cx="640080" cy="640080"/>
          </a:xfrm>
          <a:prstGeom prst="ellipse">
            <a:avLst/>
          </a:prstGeom>
          <a:solidFill>
            <a:schemeClr val="accent1"/>
          </a:solidFill>
          <a:ln/>
        </p:spPr>
      </p:sp>
      <p:pic>
        <p:nvPicPr>
          <p:cNvPr id="17" name="Icon Korrigieren statt zurückschicken" descr="PencilLine">    </p:cNvPr>
          <p:cNvPicPr>
            <a:picLocks noChangeAspect="1"/>
          </p:cNvPicPr>
          <p:nvPr/>
        </p:nvPicPr>
        <p:blipFill>
          <a:blip r:embed="rId3"/>
          <a:stretch>
            <a:fillRect/>
          </a:stretch>
        </p:blipFill>
        <p:spPr>
          <a:xfrm>
            <a:off x="8562137" y="2537460"/>
            <a:ext cx="320040" cy="320040"/>
          </a:xfrm>
          <a:prstGeom prst="rect">
            <a:avLst/>
          </a:prstGeom>
        </p:spPr>
      </p:pic>
      <p:sp>
        <p:nvSpPr>
          <p:cNvPr id="18" name="Text 13"/>
          <p:cNvSpPr txBox="1"/>
          <p:nvPr/>
        </p:nvSpPr>
        <p:spPr>
          <a:xfrm>
            <a:off x="9225077" y="2377440"/>
            <a:ext cx="2189378" cy="640080"/>
          </a:xfrm>
          <a:prstGeom prst="rect">
            <a:avLst/>
          </a:prstGeom>
          <a:noFill/>
          <a:ln/>
        </p:spPr>
        <p:txBody>
          <a:bodyPr wrap="square" lIns="0" tIns="0" rIns="0" bIns="0" rtlCol="0" anchor="ctr"/>
          <a:lstStyle/>
          <a:p>
            <a:pPr indent="0" marL="0">
              <a:buNone/>
            </a:pPr>
            <a:r>
              <a:rPr lang="en-US" sz="1800" b="1" dirty="0">
                <a:solidFill>
                  <a:schemeClr val="tx1"/>
                </a:solidFill>
              </a:rPr>
              <a:t>Korrigieren statt zurückschicken</a:t>
            </a:r>
            <a:endParaRPr lang="en-US" sz="1800" dirty="0"/>
          </a:p>
        </p:txBody>
      </p:sp>
      <p:sp>
        <p:nvSpPr>
          <p:cNvPr id="19" name="Text 14"/>
          <p:cNvSpPr txBox="1"/>
          <p:nvPr/>
        </p:nvSpPr>
        <p:spPr>
          <a:xfrm>
            <a:off x="9225077" y="3063240"/>
            <a:ext cx="2189378" cy="640080"/>
          </a:xfrm>
          <a:prstGeom prst="rect">
            <a:avLst/>
          </a:prstGeom>
          <a:noFill/>
          <a:ln/>
        </p:spPr>
        <p:txBody>
          <a:bodyPr wrap="square" lIns="0" tIns="0" rIns="0" bIns="0" rtlCol="0" anchor="t"/>
          <a:lstStyle/>
          <a:p>
            <a:pPr indent="0" marL="0">
              <a:buNone/>
            </a:pPr>
            <a:r>
              <a:rPr lang="en-US" sz="1400" dirty="0">
                <a:solidFill>
                  <a:schemeClr val="tx2"/>
                </a:solidFill>
              </a:rPr>
              <a:t>Fehler beheben oder Rückfrage auslösen.</a:t>
            </a:r>
            <a:endParaRPr lang="en-US" sz="1400" dirty="0"/>
          </a:p>
        </p:txBody>
      </p:sp>
      <p:sp>
        <p:nvSpPr>
          <p:cNvPr id="20" name="Bedürfnis Digital weiterleiten"/>
          <p:cNvSpPr/>
          <p:nvPr/>
        </p:nvSpPr>
        <p:spPr>
          <a:xfrm>
            <a:off x="548640" y="4114800"/>
            <a:ext cx="3515258" cy="1783080"/>
          </a:xfrm>
          <a:prstGeom prst="roundRect">
            <a:avLst>
              <a:gd name="adj" fmla="val 6154"/>
            </a:avLst>
          </a:prstGeom>
          <a:solidFill>
            <a:schemeClr val="bg2"/>
          </a:solidFill>
          <a:ln/>
        </p:spPr>
      </p:sp>
      <p:sp>
        <p:nvSpPr>
          <p:cNvPr id="21" name="Icon Digital weiterleiten Kreis"/>
          <p:cNvSpPr/>
          <p:nvPr/>
        </p:nvSpPr>
        <p:spPr>
          <a:xfrm>
            <a:off x="822960" y="4434840"/>
            <a:ext cx="640080" cy="640080"/>
          </a:xfrm>
          <a:prstGeom prst="ellipse">
            <a:avLst/>
          </a:prstGeom>
          <a:solidFill>
            <a:schemeClr val="accent1"/>
          </a:solidFill>
          <a:ln/>
        </p:spPr>
      </p:sp>
      <p:pic>
        <p:nvPicPr>
          <p:cNvPr id="22" name="Icon Digital weiterleiten" descr="Send">    </p:cNvPr>
          <p:cNvPicPr>
            <a:picLocks noChangeAspect="1"/>
          </p:cNvPicPr>
          <p:nvPr/>
        </p:nvPicPr>
        <p:blipFill>
          <a:blip r:embed="rId4"/>
          <a:stretch>
            <a:fillRect/>
          </a:stretch>
        </p:blipFill>
        <p:spPr>
          <a:xfrm>
            <a:off x="982980" y="4594860"/>
            <a:ext cx="320040" cy="320040"/>
          </a:xfrm>
          <a:prstGeom prst="rect">
            <a:avLst/>
          </a:prstGeom>
        </p:spPr>
      </p:pic>
      <p:sp>
        <p:nvSpPr>
          <p:cNvPr id="23" name="Text 17"/>
          <p:cNvSpPr txBox="1"/>
          <p:nvPr/>
        </p:nvSpPr>
        <p:spPr>
          <a:xfrm>
            <a:off x="1645920" y="4434840"/>
            <a:ext cx="2189378" cy="640080"/>
          </a:xfrm>
          <a:prstGeom prst="rect">
            <a:avLst/>
          </a:prstGeom>
          <a:noFill/>
          <a:ln/>
        </p:spPr>
        <p:txBody>
          <a:bodyPr wrap="square" lIns="0" tIns="0" rIns="0" bIns="0" rtlCol="0" anchor="ctr"/>
          <a:lstStyle/>
          <a:p>
            <a:pPr indent="0" marL="0">
              <a:buNone/>
            </a:pPr>
            <a:r>
              <a:rPr lang="en-US" sz="1800" b="1" dirty="0">
                <a:solidFill>
                  <a:schemeClr val="tx1"/>
                </a:solidFill>
              </a:rPr>
              <a:t>Digital weiterleiten</a:t>
            </a:r>
            <a:endParaRPr lang="en-US" sz="1800" dirty="0"/>
          </a:p>
        </p:txBody>
      </p:sp>
      <p:sp>
        <p:nvSpPr>
          <p:cNvPr id="24" name="Text 18"/>
          <p:cNvSpPr txBox="1"/>
          <p:nvPr/>
        </p:nvSpPr>
        <p:spPr>
          <a:xfrm>
            <a:off x="1645920" y="5120640"/>
            <a:ext cx="2189378" cy="640080"/>
          </a:xfrm>
          <a:prstGeom prst="rect">
            <a:avLst/>
          </a:prstGeom>
          <a:noFill/>
          <a:ln/>
        </p:spPr>
        <p:txBody>
          <a:bodyPr wrap="square" lIns="0" tIns="0" rIns="0" bIns="0" rtlCol="0" anchor="t"/>
          <a:lstStyle/>
          <a:p>
            <a:pPr indent="0" marL="0">
              <a:buNone/>
            </a:pPr>
            <a:r>
              <a:rPr lang="en-US" sz="1400" dirty="0">
                <a:solidFill>
                  <a:schemeClr val="tx2"/>
                </a:solidFill>
              </a:rPr>
              <a:t>Direkt ans zuständige Backoffice-Team.</a:t>
            </a:r>
            <a:endParaRPr lang="en-US" sz="1400" dirty="0"/>
          </a:p>
        </p:txBody>
      </p:sp>
      <p:sp>
        <p:nvSpPr>
          <p:cNvPr id="25" name="Bedürfnis Status jederzeit"/>
          <p:cNvSpPr/>
          <p:nvPr/>
        </p:nvSpPr>
        <p:spPr>
          <a:xfrm>
            <a:off x="4338218" y="4114800"/>
            <a:ext cx="3515258" cy="1783080"/>
          </a:xfrm>
          <a:prstGeom prst="roundRect">
            <a:avLst>
              <a:gd name="adj" fmla="val 6154"/>
            </a:avLst>
          </a:prstGeom>
          <a:solidFill>
            <a:schemeClr val="bg2"/>
          </a:solidFill>
          <a:ln/>
        </p:spPr>
      </p:sp>
      <p:sp>
        <p:nvSpPr>
          <p:cNvPr id="26" name="Icon Status jederzeit Kreis"/>
          <p:cNvSpPr/>
          <p:nvPr/>
        </p:nvSpPr>
        <p:spPr>
          <a:xfrm>
            <a:off x="4612538" y="4434840"/>
            <a:ext cx="640080" cy="640080"/>
          </a:xfrm>
          <a:prstGeom prst="ellipse">
            <a:avLst/>
          </a:prstGeom>
          <a:solidFill>
            <a:schemeClr val="accent1"/>
          </a:solidFill>
          <a:ln/>
        </p:spPr>
      </p:sp>
      <p:pic>
        <p:nvPicPr>
          <p:cNvPr id="27" name="Icon Status jederzeit" descr="Eye">    </p:cNvPr>
          <p:cNvPicPr>
            <a:picLocks noChangeAspect="1"/>
          </p:cNvPicPr>
          <p:nvPr/>
        </p:nvPicPr>
        <p:blipFill>
          <a:blip r:embed="rId5"/>
          <a:stretch>
            <a:fillRect/>
          </a:stretch>
        </p:blipFill>
        <p:spPr>
          <a:xfrm>
            <a:off x="4772558" y="4594860"/>
            <a:ext cx="320040" cy="320040"/>
          </a:xfrm>
          <a:prstGeom prst="rect">
            <a:avLst/>
          </a:prstGeom>
        </p:spPr>
      </p:pic>
      <p:sp>
        <p:nvSpPr>
          <p:cNvPr id="28" name="Text 21"/>
          <p:cNvSpPr txBox="1"/>
          <p:nvPr/>
        </p:nvSpPr>
        <p:spPr>
          <a:xfrm>
            <a:off x="5435498" y="4434840"/>
            <a:ext cx="2189378" cy="640080"/>
          </a:xfrm>
          <a:prstGeom prst="rect">
            <a:avLst/>
          </a:prstGeom>
          <a:noFill/>
          <a:ln/>
        </p:spPr>
        <p:txBody>
          <a:bodyPr wrap="square" lIns="0" tIns="0" rIns="0" bIns="0" rtlCol="0" anchor="ctr"/>
          <a:lstStyle/>
          <a:p>
            <a:pPr indent="0" marL="0">
              <a:buNone/>
            </a:pPr>
            <a:r>
              <a:rPr lang="en-US" sz="1800" b="1" dirty="0">
                <a:solidFill>
                  <a:schemeClr val="tx1"/>
                </a:solidFill>
              </a:rPr>
              <a:t>Status jederzeit</a:t>
            </a:r>
            <a:endParaRPr lang="en-US" sz="1800" dirty="0"/>
          </a:p>
        </p:txBody>
      </p:sp>
      <p:sp>
        <p:nvSpPr>
          <p:cNvPr id="29" name="Text 22"/>
          <p:cNvSpPr txBox="1"/>
          <p:nvPr/>
        </p:nvSpPr>
        <p:spPr>
          <a:xfrm>
            <a:off x="5435498" y="5120640"/>
            <a:ext cx="2189378" cy="640080"/>
          </a:xfrm>
          <a:prstGeom prst="rect">
            <a:avLst/>
          </a:prstGeom>
          <a:noFill/>
          <a:ln/>
        </p:spPr>
        <p:txBody>
          <a:bodyPr wrap="square" lIns="0" tIns="0" rIns="0" bIns="0" rtlCol="0" anchor="t"/>
          <a:lstStyle/>
          <a:p>
            <a:pPr indent="0" marL="0">
              <a:buNone/>
            </a:pPr>
            <a:r>
              <a:rPr lang="en-US" sz="1400" dirty="0">
                <a:solidFill>
                  <a:schemeClr val="tx2"/>
                </a:solidFill>
              </a:rPr>
              <a:t>Wer hat was, seit wann – und was fehlt noch?</a:t>
            </a:r>
            <a:endParaRPr lang="en-US" sz="1400" dirty="0"/>
          </a:p>
        </p:txBody>
      </p:sp>
      <p:sp>
        <p:nvSpPr>
          <p:cNvPr id="30" name="Bedürfnis Sicher &amp; nachvollziehbar"/>
          <p:cNvSpPr/>
          <p:nvPr/>
        </p:nvSpPr>
        <p:spPr>
          <a:xfrm>
            <a:off x="8127797" y="4114800"/>
            <a:ext cx="3515258" cy="1783080"/>
          </a:xfrm>
          <a:prstGeom prst="roundRect">
            <a:avLst>
              <a:gd name="adj" fmla="val 6154"/>
            </a:avLst>
          </a:prstGeom>
          <a:solidFill>
            <a:schemeClr val="bg2"/>
          </a:solidFill>
          <a:ln/>
        </p:spPr>
      </p:sp>
      <p:sp>
        <p:nvSpPr>
          <p:cNvPr id="31" name="Icon Sicher &amp; nachvollziehbar Kreis"/>
          <p:cNvSpPr/>
          <p:nvPr/>
        </p:nvSpPr>
        <p:spPr>
          <a:xfrm>
            <a:off x="8402117" y="4434840"/>
            <a:ext cx="640080" cy="640080"/>
          </a:xfrm>
          <a:prstGeom prst="ellipse">
            <a:avLst/>
          </a:prstGeom>
          <a:solidFill>
            <a:schemeClr val="accent1"/>
          </a:solidFill>
          <a:ln/>
        </p:spPr>
      </p:sp>
      <p:pic>
        <p:nvPicPr>
          <p:cNvPr id="32" name="Icon Sicher &amp; nachvollziehbar" descr="ShieldCheck">    </p:cNvPr>
          <p:cNvPicPr>
            <a:picLocks noChangeAspect="1"/>
          </p:cNvPicPr>
          <p:nvPr/>
        </p:nvPicPr>
        <p:blipFill>
          <a:blip r:embed="rId6"/>
          <a:stretch>
            <a:fillRect/>
          </a:stretch>
        </p:blipFill>
        <p:spPr>
          <a:xfrm>
            <a:off x="8562137" y="4594860"/>
            <a:ext cx="320040" cy="320040"/>
          </a:xfrm>
          <a:prstGeom prst="rect">
            <a:avLst/>
          </a:prstGeom>
        </p:spPr>
      </p:pic>
      <p:sp>
        <p:nvSpPr>
          <p:cNvPr id="33" name="Text 25"/>
          <p:cNvSpPr txBox="1"/>
          <p:nvPr/>
        </p:nvSpPr>
        <p:spPr>
          <a:xfrm>
            <a:off x="9225077" y="4434840"/>
            <a:ext cx="2189378" cy="640080"/>
          </a:xfrm>
          <a:prstGeom prst="rect">
            <a:avLst/>
          </a:prstGeom>
          <a:noFill/>
          <a:ln/>
        </p:spPr>
        <p:txBody>
          <a:bodyPr wrap="square" lIns="0" tIns="0" rIns="0" bIns="0" rtlCol="0" anchor="ctr"/>
          <a:lstStyle/>
          <a:p>
            <a:pPr indent="0" marL="0">
              <a:buNone/>
            </a:pPr>
            <a:r>
              <a:rPr lang="en-US" sz="1800" b="1" dirty="0">
                <a:solidFill>
                  <a:schemeClr val="tx1"/>
                </a:solidFill>
              </a:rPr>
              <a:t>Sicher &amp; nachvollziehbar</a:t>
            </a:r>
            <a:endParaRPr lang="en-US" sz="1800" dirty="0"/>
          </a:p>
        </p:txBody>
      </p:sp>
      <p:sp>
        <p:nvSpPr>
          <p:cNvPr id="34" name="Text 26"/>
          <p:cNvSpPr txBox="1"/>
          <p:nvPr/>
        </p:nvSpPr>
        <p:spPr>
          <a:xfrm>
            <a:off x="9225077" y="5120640"/>
            <a:ext cx="2189378" cy="640080"/>
          </a:xfrm>
          <a:prstGeom prst="rect">
            <a:avLst/>
          </a:prstGeom>
          <a:noFill/>
          <a:ln/>
        </p:spPr>
        <p:txBody>
          <a:bodyPr wrap="square" lIns="0" tIns="0" rIns="0" bIns="0" rtlCol="0" anchor="t"/>
          <a:lstStyle/>
          <a:p>
            <a:pPr indent="0" marL="0">
              <a:buNone/>
            </a:pPr>
            <a:r>
              <a:rPr lang="en-US" sz="1400" dirty="0">
                <a:solidFill>
                  <a:schemeClr val="tx2"/>
                </a:solidFill>
              </a:rPr>
              <a:t>Rechte nach Rolle, jede Änderung protokolliert.</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MESSBARE ZIELE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Woran wir den Erfolg messen</a:t>
            </a:r>
            <a:endParaRPr lang="en-US" sz="3400" dirty="0"/>
          </a:p>
        </p:txBody>
      </p:sp>
      <p:sp>
        <p:nvSpPr>
          <p:cNvPr id="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r>
              <a:rPr lang="en-US" sz="1700" dirty="0">
                <a:solidFill>
                  <a:schemeClr val="tx2"/>
                </a:solidFill>
              </a:rPr>
              <a:t>Der neue Ablauf muss nachweisbar Zeit sparen.</a:t>
            </a:r>
            <a:endParaRPr lang="en-US" sz="1700" dirty="0"/>
          </a:p>
        </p:txBody>
      </p:sp>
      <p:sp>
        <p:nvSpPr>
          <p:cNvPr id="5" name="Ziel Durchlaufzeit"/>
          <p:cNvSpPr/>
          <p:nvPr/>
        </p:nvSpPr>
        <p:spPr>
          <a:xfrm>
            <a:off x="548640" y="2103120"/>
            <a:ext cx="2567864" cy="3566160"/>
          </a:xfrm>
          <a:prstGeom prst="roundRect">
            <a:avLst>
              <a:gd name="adj" fmla="val 4273"/>
            </a:avLst>
          </a:prstGeom>
          <a:solidFill>
            <a:schemeClr val="accent4"/>
          </a:solidFill>
          <a:ln/>
        </p:spPr>
      </p:sp>
      <p:sp>
        <p:nvSpPr>
          <p:cNvPr id="6" name="Text 4"/>
          <p:cNvSpPr txBox="1"/>
          <p:nvPr/>
        </p:nvSpPr>
        <p:spPr>
          <a:xfrm>
            <a:off x="822960" y="2377440"/>
            <a:ext cx="201922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DURCHLAUFZEIT</a:t>
            </a:r>
            <a:endParaRPr lang="en-US" sz="1200" dirty="0"/>
          </a:p>
        </p:txBody>
      </p:sp>
      <p:sp>
        <p:nvSpPr>
          <p:cNvPr id="7" name="Text 5"/>
          <p:cNvSpPr txBox="1"/>
          <p:nvPr/>
        </p:nvSpPr>
        <p:spPr>
          <a:xfrm>
            <a:off x="822960" y="2788920"/>
            <a:ext cx="2019224" cy="320040"/>
          </a:xfrm>
          <a:prstGeom prst="rect">
            <a:avLst/>
          </a:prstGeom>
          <a:noFill/>
          <a:ln/>
        </p:spPr>
        <p:txBody>
          <a:bodyPr wrap="square" lIns="0" tIns="0" rIns="0" bIns="0" rtlCol="0" anchor="t"/>
          <a:lstStyle/>
          <a:p>
            <a:pPr indent="0" marL="0">
              <a:buNone/>
            </a:pPr>
            <a:r>
              <a:rPr lang="en-US" sz="1500" dirty="0">
                <a:solidFill>
                  <a:schemeClr val="tx2"/>
                </a:solidFill>
              </a:rPr>
              <a:t>heute  </a:t>
            </a:r>
            <a:pPr indent="0" marL="0">
              <a:buNone/>
            </a:pPr>
            <a:r>
              <a:rPr lang="en-US" sz="1500" b="1" dirty="0">
                <a:solidFill>
                  <a:schemeClr val="tx2"/>
                </a:solidFill>
              </a:rPr>
              <a:t>Ø 2,5 AT</a:t>
            </a:r>
            <a:endParaRPr lang="en-US" sz="1500" dirty="0"/>
          </a:p>
        </p:txBody>
      </p:sp>
      <p:sp>
        <p:nvSpPr>
          <p:cNvPr id="8" name="Text 6"/>
          <p:cNvSpPr txBox="1"/>
          <p:nvPr/>
        </p:nvSpPr>
        <p:spPr>
          <a:xfrm>
            <a:off x="822960" y="3246120"/>
            <a:ext cx="2202104" cy="914400"/>
          </a:xfrm>
          <a:prstGeom prst="rect">
            <a:avLst/>
          </a:prstGeom>
          <a:noFill/>
          <a:ln/>
        </p:spPr>
        <p:txBody>
          <a:bodyPr wrap="square" lIns="0" tIns="0" rIns="0" bIns="0" rtlCol="0" anchor="ctr"/>
          <a:lstStyle/>
          <a:p>
            <a:pPr indent="0" marL="0">
              <a:buNone/>
            </a:pPr>
            <a:r>
              <a:rPr lang="en-US" sz="4400" b="1" dirty="0">
                <a:solidFill>
                  <a:schemeClr val="accent1"/>
                </a:solidFill>
              </a:rPr>
              <a:t>≤ 1 AT</a:t>
            </a:r>
            <a:endParaRPr lang="en-US" sz="4400" dirty="0"/>
          </a:p>
        </p:txBody>
      </p:sp>
      <p:sp>
        <p:nvSpPr>
          <p:cNvPr id="9" name="Text 7"/>
          <p:cNvSpPr txBox="1"/>
          <p:nvPr/>
        </p:nvSpPr>
        <p:spPr>
          <a:xfrm>
            <a:off x="822960" y="4343400"/>
            <a:ext cx="2019224" cy="1005840"/>
          </a:xfrm>
          <a:prstGeom prst="rect">
            <a:avLst/>
          </a:prstGeom>
          <a:noFill/>
          <a:ln/>
        </p:spPr>
        <p:txBody>
          <a:bodyPr wrap="square" lIns="0" tIns="0" rIns="0" bIns="0" rtlCol="0" anchor="t"/>
          <a:lstStyle/>
          <a:p>
            <a:pPr indent="0" marL="0">
              <a:buNone/>
            </a:pPr>
            <a:r>
              <a:rPr lang="en-US" sz="1400" dirty="0">
                <a:solidFill>
                  <a:schemeClr val="tx1"/>
                </a:solidFill>
              </a:rPr>
              <a:t>Eingang Bank → Backoffice-Team, für 90 % der Vorgänge</a:t>
            </a:r>
            <a:endParaRPr lang="en-US" sz="1400" dirty="0"/>
          </a:p>
        </p:txBody>
      </p:sp>
      <p:sp>
        <p:nvSpPr>
          <p:cNvPr id="10" name="Ziel Aufwand KuBe"/>
          <p:cNvSpPr/>
          <p:nvPr/>
        </p:nvSpPr>
        <p:spPr>
          <a:xfrm>
            <a:off x="3390824" y="2103120"/>
            <a:ext cx="2567864" cy="3566160"/>
          </a:xfrm>
          <a:prstGeom prst="roundRect">
            <a:avLst>
              <a:gd name="adj" fmla="val 4273"/>
            </a:avLst>
          </a:prstGeom>
          <a:solidFill>
            <a:schemeClr val="accent4"/>
          </a:solidFill>
          <a:ln/>
        </p:spPr>
      </p:sp>
      <p:sp>
        <p:nvSpPr>
          <p:cNvPr id="11" name="Text 9"/>
          <p:cNvSpPr txBox="1"/>
          <p:nvPr/>
        </p:nvSpPr>
        <p:spPr>
          <a:xfrm>
            <a:off x="3665144" y="2377440"/>
            <a:ext cx="201922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AUFWAND KUBE</a:t>
            </a:r>
            <a:endParaRPr lang="en-US" sz="1200" dirty="0"/>
          </a:p>
        </p:txBody>
      </p:sp>
      <p:sp>
        <p:nvSpPr>
          <p:cNvPr id="12" name="Text 10"/>
          <p:cNvSpPr txBox="1"/>
          <p:nvPr/>
        </p:nvSpPr>
        <p:spPr>
          <a:xfrm>
            <a:off x="3665144" y="2788920"/>
            <a:ext cx="2019224" cy="320040"/>
          </a:xfrm>
          <a:prstGeom prst="rect">
            <a:avLst/>
          </a:prstGeom>
          <a:noFill/>
          <a:ln/>
        </p:spPr>
        <p:txBody>
          <a:bodyPr wrap="square" lIns="0" tIns="0" rIns="0" bIns="0" rtlCol="0" anchor="t"/>
          <a:lstStyle/>
          <a:p>
            <a:pPr indent="0" marL="0">
              <a:buNone/>
            </a:pPr>
            <a:r>
              <a:rPr lang="en-US" sz="1500" dirty="0">
                <a:solidFill>
                  <a:schemeClr val="tx2"/>
                </a:solidFill>
              </a:rPr>
              <a:t>heute  </a:t>
            </a:r>
            <a:pPr indent="0" marL="0">
              <a:buNone/>
            </a:pPr>
            <a:r>
              <a:rPr lang="en-US" sz="1500" b="1" dirty="0">
                <a:solidFill>
                  <a:schemeClr val="tx2"/>
                </a:solidFill>
              </a:rPr>
              <a:t>6 Min.</a:t>
            </a:r>
            <a:endParaRPr lang="en-US" sz="1500" dirty="0"/>
          </a:p>
        </p:txBody>
      </p:sp>
      <p:sp>
        <p:nvSpPr>
          <p:cNvPr id="13" name="Text 11"/>
          <p:cNvSpPr txBox="1"/>
          <p:nvPr/>
        </p:nvSpPr>
        <p:spPr>
          <a:xfrm>
            <a:off x="3665144" y="3246120"/>
            <a:ext cx="2202104" cy="914400"/>
          </a:xfrm>
          <a:prstGeom prst="rect">
            <a:avLst/>
          </a:prstGeom>
          <a:noFill/>
          <a:ln/>
        </p:spPr>
        <p:txBody>
          <a:bodyPr wrap="square" lIns="0" tIns="0" rIns="0" bIns="0" rtlCol="0" anchor="ctr"/>
          <a:lstStyle/>
          <a:p>
            <a:pPr indent="0" marL="0">
              <a:buNone/>
            </a:pPr>
            <a:r>
              <a:rPr lang="en-US" sz="4400" b="1" dirty="0">
                <a:solidFill>
                  <a:schemeClr val="accent1"/>
                </a:solidFill>
              </a:rPr>
              <a:t>≤ 3 Min.</a:t>
            </a:r>
            <a:endParaRPr lang="en-US" sz="4400" dirty="0"/>
          </a:p>
        </p:txBody>
      </p:sp>
      <p:sp>
        <p:nvSpPr>
          <p:cNvPr id="14" name="Text 12"/>
          <p:cNvSpPr txBox="1"/>
          <p:nvPr/>
        </p:nvSpPr>
        <p:spPr>
          <a:xfrm>
            <a:off x="3665144" y="4343400"/>
            <a:ext cx="2019224" cy="1005840"/>
          </a:xfrm>
          <a:prstGeom prst="rect">
            <a:avLst/>
          </a:prstGeom>
          <a:noFill/>
          <a:ln/>
        </p:spPr>
        <p:txBody>
          <a:bodyPr wrap="square" lIns="0" tIns="0" rIns="0" bIns="0" rtlCol="0" anchor="t"/>
          <a:lstStyle/>
          <a:p>
            <a:pPr indent="0" marL="0">
              <a:buNone/>
            </a:pPr>
            <a:r>
              <a:rPr lang="en-US" sz="1400" dirty="0">
                <a:solidFill>
                  <a:schemeClr val="tx1"/>
                </a:solidFill>
              </a:rPr>
              <a:t>pro Rücksendung (–50 %)</a:t>
            </a:r>
            <a:endParaRPr lang="en-US" sz="1400" dirty="0"/>
          </a:p>
        </p:txBody>
      </p:sp>
      <p:sp>
        <p:nvSpPr>
          <p:cNvPr id="15" name="Ziel Verlorene Dokumente"/>
          <p:cNvSpPr/>
          <p:nvPr/>
        </p:nvSpPr>
        <p:spPr>
          <a:xfrm>
            <a:off x="6233008" y="2103120"/>
            <a:ext cx="2567864" cy="3566160"/>
          </a:xfrm>
          <a:prstGeom prst="roundRect">
            <a:avLst>
              <a:gd name="adj" fmla="val 4273"/>
            </a:avLst>
          </a:prstGeom>
          <a:solidFill>
            <a:schemeClr val="accent4"/>
          </a:solidFill>
          <a:ln/>
        </p:spPr>
      </p:sp>
      <p:sp>
        <p:nvSpPr>
          <p:cNvPr id="16" name="Text 14"/>
          <p:cNvSpPr txBox="1"/>
          <p:nvPr/>
        </p:nvSpPr>
        <p:spPr>
          <a:xfrm>
            <a:off x="6507328" y="2377440"/>
            <a:ext cx="201922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VERLORENE DOKUMENTE</a:t>
            </a:r>
            <a:endParaRPr lang="en-US" sz="1200" dirty="0"/>
          </a:p>
        </p:txBody>
      </p:sp>
      <p:sp>
        <p:nvSpPr>
          <p:cNvPr id="17" name="Text 15"/>
          <p:cNvSpPr txBox="1"/>
          <p:nvPr/>
        </p:nvSpPr>
        <p:spPr>
          <a:xfrm>
            <a:off x="6507328" y="2788920"/>
            <a:ext cx="2019224" cy="320040"/>
          </a:xfrm>
          <a:prstGeom prst="rect">
            <a:avLst/>
          </a:prstGeom>
          <a:noFill/>
          <a:ln/>
        </p:spPr>
        <p:txBody>
          <a:bodyPr wrap="square" lIns="0" tIns="0" rIns="0" bIns="0" rtlCol="0" anchor="t"/>
          <a:lstStyle/>
          <a:p>
            <a:pPr indent="0" marL="0">
              <a:buNone/>
            </a:pPr>
            <a:r>
              <a:rPr lang="en-US" sz="1500" dirty="0">
                <a:solidFill>
                  <a:schemeClr val="tx2"/>
                </a:solidFill>
              </a:rPr>
              <a:t>heute  </a:t>
            </a:r>
            <a:pPr indent="0" marL="0">
              <a:buNone/>
            </a:pPr>
            <a:r>
              <a:rPr lang="en-US" sz="1500" b="1" dirty="0">
                <a:solidFill>
                  <a:schemeClr val="tx2"/>
                </a:solidFill>
              </a:rPr>
              <a:t>1–2 / Monat</a:t>
            </a:r>
            <a:endParaRPr lang="en-US" sz="1500" dirty="0"/>
          </a:p>
        </p:txBody>
      </p:sp>
      <p:sp>
        <p:nvSpPr>
          <p:cNvPr id="18" name="Text 16"/>
          <p:cNvSpPr txBox="1"/>
          <p:nvPr/>
        </p:nvSpPr>
        <p:spPr>
          <a:xfrm>
            <a:off x="6507328" y="3246120"/>
            <a:ext cx="2202104" cy="914400"/>
          </a:xfrm>
          <a:prstGeom prst="rect">
            <a:avLst/>
          </a:prstGeom>
          <a:noFill/>
          <a:ln/>
        </p:spPr>
        <p:txBody>
          <a:bodyPr wrap="square" lIns="0" tIns="0" rIns="0" bIns="0" rtlCol="0" anchor="ctr"/>
          <a:lstStyle/>
          <a:p>
            <a:pPr indent="0" marL="0">
              <a:buNone/>
            </a:pPr>
            <a:r>
              <a:rPr lang="en-US" sz="4400" b="1" dirty="0">
                <a:solidFill>
                  <a:schemeClr val="accent1"/>
                </a:solidFill>
              </a:rPr>
              <a:t>0</a:t>
            </a:r>
            <a:endParaRPr lang="en-US" sz="4400" dirty="0"/>
          </a:p>
        </p:txBody>
      </p:sp>
      <p:sp>
        <p:nvSpPr>
          <p:cNvPr id="19" name="Text 17"/>
          <p:cNvSpPr txBox="1"/>
          <p:nvPr/>
        </p:nvSpPr>
        <p:spPr>
          <a:xfrm>
            <a:off x="6507328" y="4343400"/>
            <a:ext cx="2019224" cy="1005840"/>
          </a:xfrm>
          <a:prstGeom prst="rect">
            <a:avLst/>
          </a:prstGeom>
          <a:noFill/>
          <a:ln/>
        </p:spPr>
        <p:txBody>
          <a:bodyPr wrap="square" lIns="0" tIns="0" rIns="0" bIns="0" rtlCol="0" anchor="t"/>
          <a:lstStyle/>
          <a:p>
            <a:pPr indent="0" marL="0">
              <a:buNone/>
            </a:pPr>
            <a:r>
              <a:rPr lang="en-US" sz="1400" dirty="0">
                <a:solidFill>
                  <a:schemeClr val="tx1"/>
                </a:solidFill>
              </a:rPr>
              <a:t>jedes Dokument ist auffindbar</a:t>
            </a:r>
            <a:endParaRPr lang="en-US" sz="1400" dirty="0"/>
          </a:p>
        </p:txBody>
      </p:sp>
      <p:sp>
        <p:nvSpPr>
          <p:cNvPr id="20" name="Ziel Stellvertretung"/>
          <p:cNvSpPr/>
          <p:nvPr/>
        </p:nvSpPr>
        <p:spPr>
          <a:xfrm>
            <a:off x="9075191" y="2103120"/>
            <a:ext cx="2567864" cy="3566160"/>
          </a:xfrm>
          <a:prstGeom prst="roundRect">
            <a:avLst>
              <a:gd name="adj" fmla="val 4273"/>
            </a:avLst>
          </a:prstGeom>
          <a:solidFill>
            <a:schemeClr val="accent4"/>
          </a:solidFill>
          <a:ln/>
        </p:spPr>
      </p:sp>
      <p:sp>
        <p:nvSpPr>
          <p:cNvPr id="21" name="Text 19"/>
          <p:cNvSpPr txBox="1"/>
          <p:nvPr/>
        </p:nvSpPr>
        <p:spPr>
          <a:xfrm>
            <a:off x="9349511" y="2377440"/>
            <a:ext cx="2019224"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STELLVERTRETUNG</a:t>
            </a:r>
            <a:endParaRPr lang="en-US" sz="1200" dirty="0"/>
          </a:p>
        </p:txBody>
      </p:sp>
      <p:sp>
        <p:nvSpPr>
          <p:cNvPr id="22" name="Text 20"/>
          <p:cNvSpPr txBox="1"/>
          <p:nvPr/>
        </p:nvSpPr>
        <p:spPr>
          <a:xfrm>
            <a:off x="9349511" y="2788920"/>
            <a:ext cx="2019224" cy="320040"/>
          </a:xfrm>
          <a:prstGeom prst="rect">
            <a:avLst/>
          </a:prstGeom>
          <a:noFill/>
          <a:ln/>
        </p:spPr>
        <p:txBody>
          <a:bodyPr wrap="square" lIns="0" tIns="0" rIns="0" bIns="0" rtlCol="0" anchor="t"/>
          <a:lstStyle/>
          <a:p>
            <a:pPr indent="0" marL="0">
              <a:buNone/>
            </a:pPr>
            <a:r>
              <a:rPr lang="en-US" sz="1500" dirty="0">
                <a:solidFill>
                  <a:schemeClr val="tx2"/>
                </a:solidFill>
              </a:rPr>
              <a:t>heute  </a:t>
            </a:r>
            <a:pPr indent="0" marL="0">
              <a:buNone/>
            </a:pPr>
            <a:r>
              <a:rPr lang="en-US" sz="1500" b="1" dirty="0">
                <a:solidFill>
                  <a:schemeClr val="tx2"/>
                </a:solidFill>
              </a:rPr>
              <a:t>bis 10 AT</a:t>
            </a:r>
            <a:endParaRPr lang="en-US" sz="1500" dirty="0"/>
          </a:p>
        </p:txBody>
      </p:sp>
      <p:sp>
        <p:nvSpPr>
          <p:cNvPr id="23" name="Text 21"/>
          <p:cNvSpPr txBox="1"/>
          <p:nvPr/>
        </p:nvSpPr>
        <p:spPr>
          <a:xfrm>
            <a:off x="9349511" y="3246120"/>
            <a:ext cx="2202104" cy="914400"/>
          </a:xfrm>
          <a:prstGeom prst="rect">
            <a:avLst/>
          </a:prstGeom>
          <a:noFill/>
          <a:ln/>
        </p:spPr>
        <p:txBody>
          <a:bodyPr wrap="square" lIns="0" tIns="0" rIns="0" bIns="0" rtlCol="0" anchor="ctr"/>
          <a:lstStyle/>
          <a:p>
            <a:pPr indent="0" marL="0">
              <a:buNone/>
            </a:pPr>
            <a:r>
              <a:rPr lang="en-US" sz="4400" b="1" dirty="0">
                <a:solidFill>
                  <a:schemeClr val="accent1"/>
                </a:solidFill>
              </a:rPr>
              <a:t>sofort</a:t>
            </a:r>
            <a:endParaRPr lang="en-US" sz="4400" dirty="0"/>
          </a:p>
        </p:txBody>
      </p:sp>
      <p:sp>
        <p:nvSpPr>
          <p:cNvPr id="24" name="Text 22"/>
          <p:cNvSpPr txBox="1"/>
          <p:nvPr/>
        </p:nvSpPr>
        <p:spPr>
          <a:xfrm>
            <a:off x="9349511" y="4343400"/>
            <a:ext cx="2019224" cy="1005840"/>
          </a:xfrm>
          <a:prstGeom prst="rect">
            <a:avLst/>
          </a:prstGeom>
          <a:noFill/>
          <a:ln/>
        </p:spPr>
        <p:txBody>
          <a:bodyPr wrap="square" lIns="0" tIns="0" rIns="0" bIns="0" rtlCol="0" anchor="t"/>
          <a:lstStyle/>
          <a:p>
            <a:pPr indent="0" marL="0">
              <a:buNone/>
            </a:pPr>
            <a:r>
              <a:rPr lang="en-US" sz="1400" dirty="0">
                <a:solidFill>
                  <a:schemeClr val="tx1"/>
                </a:solidFill>
              </a:rPr>
              <a:t>Vorgänge ohne Verzögerung sichtbar</a:t>
            </a:r>
            <a:endParaRPr lang="en-US" sz="1400" dirty="0"/>
          </a:p>
        </p:txBody>
      </p:sp>
      <p:sp>
        <p:nvSpPr>
          <p:cNvPr id="25" name="Text 23"/>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chemeClr val="accent1"/>
                </a:solidFill>
              </a:rPr>
              <a:t>Annahme  </a:t>
            </a:r>
            <a:pPr indent="0" marL="0">
              <a:buNone/>
            </a:pPr>
            <a:r>
              <a:rPr lang="en-US" sz="1100" dirty="0">
                <a:solidFill>
                  <a:schemeClr val="tx2"/>
                </a:solidFill>
              </a:rPr>
              <a:t>Zielwerte sind Wünsche des Auftraggebers; Messmethode und Baseline klärt das RE-Team. AT = Arbeitstage.</a:t>
            </a:r>
            <a:endParaRPr lang="en-US" sz="11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RAHMENBEDINGUNGEN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Was für uns gesetzt ist</a:t>
            </a:r>
            <a:endParaRPr lang="en-US" sz="3400" dirty="0"/>
          </a:p>
        </p:txBody>
      </p:sp>
      <p:sp>
        <p:nvSpPr>
          <p:cNvPr id="4" name="Rahmen Bankkundengeheimnis"/>
          <p:cNvSpPr/>
          <p:nvPr/>
        </p:nvSpPr>
        <p:spPr>
          <a:xfrm>
            <a:off x="548640" y="1600200"/>
            <a:ext cx="3383280" cy="1874520"/>
          </a:xfrm>
          <a:prstGeom prst="roundRect">
            <a:avLst>
              <a:gd name="adj" fmla="val 5854"/>
            </a:avLst>
          </a:prstGeom>
          <a:solidFill>
            <a:schemeClr val="bg2"/>
          </a:solidFill>
          <a:ln/>
        </p:spPr>
      </p:sp>
      <p:sp>
        <p:nvSpPr>
          <p:cNvPr id="5" name="Icon Bankkundengeheimnis Kreis"/>
          <p:cNvSpPr/>
          <p:nvPr/>
        </p:nvSpPr>
        <p:spPr>
          <a:xfrm>
            <a:off x="822960" y="1874520"/>
            <a:ext cx="594360" cy="594360"/>
          </a:xfrm>
          <a:prstGeom prst="ellipse">
            <a:avLst/>
          </a:prstGeom>
          <a:solidFill>
            <a:schemeClr val="tx1"/>
          </a:solidFill>
          <a:ln/>
        </p:spPr>
      </p:sp>
      <p:pic>
        <p:nvPicPr>
          <p:cNvPr id="6" name="Icon Bankkundengeheimnis" descr="Lock">    </p:cNvPr>
          <p:cNvPicPr>
            <a:picLocks noChangeAspect="1"/>
          </p:cNvPicPr>
          <p:nvPr/>
        </p:nvPicPr>
        <p:blipFill>
          <a:blip r:embed="rId1"/>
          <a:stretch>
            <a:fillRect/>
          </a:stretch>
        </p:blipFill>
        <p:spPr>
          <a:xfrm>
            <a:off x="971550" y="2023110"/>
            <a:ext cx="297180" cy="297180"/>
          </a:xfrm>
          <a:prstGeom prst="rect">
            <a:avLst/>
          </a:prstGeom>
        </p:spPr>
      </p:pic>
      <p:sp>
        <p:nvSpPr>
          <p:cNvPr id="7" name="Text 4"/>
          <p:cNvSpPr txBox="1"/>
          <p:nvPr/>
        </p:nvSpPr>
        <p:spPr>
          <a:xfrm>
            <a:off x="1554480" y="1874520"/>
            <a:ext cx="2240280" cy="594360"/>
          </a:xfrm>
          <a:prstGeom prst="rect">
            <a:avLst/>
          </a:prstGeom>
          <a:noFill/>
          <a:ln/>
        </p:spPr>
        <p:txBody>
          <a:bodyPr wrap="square" lIns="0" tIns="0" rIns="0" bIns="0" rtlCol="0" anchor="ctr"/>
          <a:lstStyle/>
          <a:p>
            <a:pPr indent="0" marL="0">
              <a:buNone/>
            </a:pPr>
            <a:r>
              <a:rPr lang="en-US" sz="1700" b="1" dirty="0">
                <a:solidFill>
                  <a:schemeClr val="tx1"/>
                </a:solidFill>
              </a:rPr>
              <a:t>Bankkundengeheimnis</a:t>
            </a:r>
            <a:endParaRPr lang="en-US" sz="1700" dirty="0"/>
          </a:p>
        </p:txBody>
      </p:sp>
      <p:sp>
        <p:nvSpPr>
          <p:cNvPr id="8" name="Text 5"/>
          <p:cNvSpPr txBox="1"/>
          <p:nvPr/>
        </p:nvSpPr>
        <p:spPr>
          <a:xfrm>
            <a:off x="822960" y="2606040"/>
            <a:ext cx="2926080" cy="731520"/>
          </a:xfrm>
          <a:prstGeom prst="rect">
            <a:avLst/>
          </a:prstGeom>
          <a:noFill/>
          <a:ln/>
        </p:spPr>
        <p:txBody>
          <a:bodyPr wrap="square" lIns="0" tIns="0" rIns="0" bIns="0" rtlCol="0" anchor="t"/>
          <a:lstStyle/>
          <a:p>
            <a:pPr indent="0" marL="0">
              <a:buNone/>
            </a:pPr>
            <a:r>
              <a:rPr lang="en-US" sz="1400" dirty="0">
                <a:solidFill>
                  <a:schemeClr val="tx2"/>
                </a:solidFill>
              </a:rPr>
              <a:t>Kundendaten nur für Berechtigte (Art. 47 BankG).</a:t>
            </a:r>
            <a:endParaRPr lang="en-US" sz="1400" dirty="0"/>
          </a:p>
        </p:txBody>
      </p:sp>
      <p:sp>
        <p:nvSpPr>
          <p:cNvPr id="9" name="Rahmen Datenschutz"/>
          <p:cNvSpPr/>
          <p:nvPr/>
        </p:nvSpPr>
        <p:spPr>
          <a:xfrm>
            <a:off x="4206240" y="1600200"/>
            <a:ext cx="3383280" cy="1874520"/>
          </a:xfrm>
          <a:prstGeom prst="roundRect">
            <a:avLst>
              <a:gd name="adj" fmla="val 5854"/>
            </a:avLst>
          </a:prstGeom>
          <a:solidFill>
            <a:schemeClr val="bg2"/>
          </a:solidFill>
          <a:ln/>
        </p:spPr>
      </p:sp>
      <p:sp>
        <p:nvSpPr>
          <p:cNvPr id="10" name="Icon Datenschutz Kreis"/>
          <p:cNvSpPr/>
          <p:nvPr/>
        </p:nvSpPr>
        <p:spPr>
          <a:xfrm>
            <a:off x="4480560" y="1874520"/>
            <a:ext cx="594360" cy="594360"/>
          </a:xfrm>
          <a:prstGeom prst="ellipse">
            <a:avLst/>
          </a:prstGeom>
          <a:solidFill>
            <a:schemeClr val="tx1"/>
          </a:solidFill>
          <a:ln/>
        </p:spPr>
      </p:sp>
      <p:pic>
        <p:nvPicPr>
          <p:cNvPr id="11" name="Icon Datenschutz" descr="ShieldCheck">    </p:cNvPr>
          <p:cNvPicPr>
            <a:picLocks noChangeAspect="1"/>
          </p:cNvPicPr>
          <p:nvPr/>
        </p:nvPicPr>
        <p:blipFill>
          <a:blip r:embed="rId2"/>
          <a:stretch>
            <a:fillRect/>
          </a:stretch>
        </p:blipFill>
        <p:spPr>
          <a:xfrm>
            <a:off x="4629150" y="2023110"/>
            <a:ext cx="297180" cy="297180"/>
          </a:xfrm>
          <a:prstGeom prst="rect">
            <a:avLst/>
          </a:prstGeom>
        </p:spPr>
      </p:pic>
      <p:sp>
        <p:nvSpPr>
          <p:cNvPr id="12" name="Text 8"/>
          <p:cNvSpPr txBox="1"/>
          <p:nvPr/>
        </p:nvSpPr>
        <p:spPr>
          <a:xfrm>
            <a:off x="5212080" y="1874520"/>
            <a:ext cx="2240280" cy="594360"/>
          </a:xfrm>
          <a:prstGeom prst="rect">
            <a:avLst/>
          </a:prstGeom>
          <a:noFill/>
          <a:ln/>
        </p:spPr>
        <p:txBody>
          <a:bodyPr wrap="square" lIns="0" tIns="0" rIns="0" bIns="0" rtlCol="0" anchor="ctr"/>
          <a:lstStyle/>
          <a:p>
            <a:pPr indent="0" marL="0">
              <a:buNone/>
            </a:pPr>
            <a:r>
              <a:rPr lang="en-US" sz="1700" b="1" dirty="0">
                <a:solidFill>
                  <a:schemeClr val="tx1"/>
                </a:solidFill>
              </a:rPr>
              <a:t>Datenschutz</a:t>
            </a:r>
            <a:endParaRPr lang="en-US" sz="1700" dirty="0"/>
          </a:p>
        </p:txBody>
      </p:sp>
      <p:sp>
        <p:nvSpPr>
          <p:cNvPr id="13" name="Text 9"/>
          <p:cNvSpPr txBox="1"/>
          <p:nvPr/>
        </p:nvSpPr>
        <p:spPr>
          <a:xfrm>
            <a:off x="4480560" y="2606040"/>
            <a:ext cx="2926080" cy="731520"/>
          </a:xfrm>
          <a:prstGeom prst="rect">
            <a:avLst/>
          </a:prstGeom>
          <a:noFill/>
          <a:ln/>
        </p:spPr>
        <p:txBody>
          <a:bodyPr wrap="square" lIns="0" tIns="0" rIns="0" bIns="0" rtlCol="0" anchor="t"/>
          <a:lstStyle/>
          <a:p>
            <a:pPr indent="0" marL="0">
              <a:buNone/>
            </a:pPr>
            <a:r>
              <a:rPr lang="en-US" sz="1400" dirty="0">
                <a:solidFill>
                  <a:schemeClr val="tx2"/>
                </a:solidFill>
              </a:rPr>
              <a:t>Bearbeitung nach dem Datenschutzgesetz (DSG).</a:t>
            </a:r>
            <a:endParaRPr lang="en-US" sz="1400" dirty="0"/>
          </a:p>
        </p:txBody>
      </p:sp>
      <p:sp>
        <p:nvSpPr>
          <p:cNvPr id="14" name="Rahmen Aufbewahrung"/>
          <p:cNvSpPr/>
          <p:nvPr/>
        </p:nvSpPr>
        <p:spPr>
          <a:xfrm>
            <a:off x="548640" y="3749040"/>
            <a:ext cx="3383280" cy="1874520"/>
          </a:xfrm>
          <a:prstGeom prst="roundRect">
            <a:avLst>
              <a:gd name="adj" fmla="val 5854"/>
            </a:avLst>
          </a:prstGeom>
          <a:solidFill>
            <a:schemeClr val="bg2"/>
          </a:solidFill>
          <a:ln/>
        </p:spPr>
      </p:sp>
      <p:sp>
        <p:nvSpPr>
          <p:cNvPr id="15" name="Icon Aufbewahrung Kreis"/>
          <p:cNvSpPr/>
          <p:nvPr/>
        </p:nvSpPr>
        <p:spPr>
          <a:xfrm>
            <a:off x="822960" y="4023360"/>
            <a:ext cx="594360" cy="594360"/>
          </a:xfrm>
          <a:prstGeom prst="ellipse">
            <a:avLst/>
          </a:prstGeom>
          <a:solidFill>
            <a:schemeClr val="tx1"/>
          </a:solidFill>
          <a:ln/>
        </p:spPr>
      </p:sp>
      <p:pic>
        <p:nvPicPr>
          <p:cNvPr id="16" name="Icon Aufbewahrung" descr="Archive">    </p:cNvPr>
          <p:cNvPicPr>
            <a:picLocks noChangeAspect="1"/>
          </p:cNvPicPr>
          <p:nvPr/>
        </p:nvPicPr>
        <p:blipFill>
          <a:blip r:embed="rId3"/>
          <a:stretch>
            <a:fillRect/>
          </a:stretch>
        </p:blipFill>
        <p:spPr>
          <a:xfrm>
            <a:off x="971550" y="4171950"/>
            <a:ext cx="297180" cy="297180"/>
          </a:xfrm>
          <a:prstGeom prst="rect">
            <a:avLst/>
          </a:prstGeom>
        </p:spPr>
      </p:pic>
      <p:sp>
        <p:nvSpPr>
          <p:cNvPr id="17" name="Text 12"/>
          <p:cNvSpPr txBox="1"/>
          <p:nvPr/>
        </p:nvSpPr>
        <p:spPr>
          <a:xfrm>
            <a:off x="1554480" y="4023360"/>
            <a:ext cx="2240280" cy="594360"/>
          </a:xfrm>
          <a:prstGeom prst="rect">
            <a:avLst/>
          </a:prstGeom>
          <a:noFill/>
          <a:ln/>
        </p:spPr>
        <p:txBody>
          <a:bodyPr wrap="square" lIns="0" tIns="0" rIns="0" bIns="0" rtlCol="0" anchor="ctr"/>
          <a:lstStyle/>
          <a:p>
            <a:pPr indent="0" marL="0">
              <a:buNone/>
            </a:pPr>
            <a:r>
              <a:rPr lang="en-US" sz="1700" b="1" dirty="0">
                <a:solidFill>
                  <a:schemeClr val="tx1"/>
                </a:solidFill>
              </a:rPr>
              <a:t>Aufbewahrung</a:t>
            </a:r>
            <a:endParaRPr lang="en-US" sz="1700" dirty="0"/>
          </a:p>
        </p:txBody>
      </p:sp>
      <p:sp>
        <p:nvSpPr>
          <p:cNvPr id="18" name="Text 13"/>
          <p:cNvSpPr txBox="1"/>
          <p:nvPr/>
        </p:nvSpPr>
        <p:spPr>
          <a:xfrm>
            <a:off x="822960" y="4754880"/>
            <a:ext cx="2926080" cy="731520"/>
          </a:xfrm>
          <a:prstGeom prst="rect">
            <a:avLst/>
          </a:prstGeom>
          <a:noFill/>
          <a:ln/>
        </p:spPr>
        <p:txBody>
          <a:bodyPr wrap="square" lIns="0" tIns="0" rIns="0" bIns="0" rtlCol="0" anchor="t"/>
          <a:lstStyle/>
          <a:p>
            <a:pPr indent="0" marL="0">
              <a:buNone/>
            </a:pPr>
            <a:r>
              <a:rPr lang="en-US" sz="1400" dirty="0">
                <a:solidFill>
                  <a:schemeClr val="tx2"/>
                </a:solidFill>
              </a:rPr>
              <a:t>Gesetzliche Fristen, z. B. 10 Jahre für Buchungsbelege (Art. 958f OR).</a:t>
            </a:r>
            <a:endParaRPr lang="en-US" sz="1400" dirty="0"/>
          </a:p>
        </p:txBody>
      </p:sp>
      <p:sp>
        <p:nvSpPr>
          <p:cNvPr id="19" name="Rahmen Zugriffsrechte"/>
          <p:cNvSpPr/>
          <p:nvPr/>
        </p:nvSpPr>
        <p:spPr>
          <a:xfrm>
            <a:off x="4206240" y="3749040"/>
            <a:ext cx="3383280" cy="1874520"/>
          </a:xfrm>
          <a:prstGeom prst="roundRect">
            <a:avLst>
              <a:gd name="adj" fmla="val 5854"/>
            </a:avLst>
          </a:prstGeom>
          <a:solidFill>
            <a:schemeClr val="bg2"/>
          </a:solidFill>
          <a:ln/>
        </p:spPr>
      </p:sp>
      <p:sp>
        <p:nvSpPr>
          <p:cNvPr id="20" name="Icon Zugriffsrechte Kreis"/>
          <p:cNvSpPr/>
          <p:nvPr/>
        </p:nvSpPr>
        <p:spPr>
          <a:xfrm>
            <a:off x="4480560" y="4023360"/>
            <a:ext cx="594360" cy="594360"/>
          </a:xfrm>
          <a:prstGeom prst="ellipse">
            <a:avLst/>
          </a:prstGeom>
          <a:solidFill>
            <a:schemeClr val="tx1"/>
          </a:solidFill>
          <a:ln/>
        </p:spPr>
      </p:sp>
      <p:pic>
        <p:nvPicPr>
          <p:cNvPr id="21" name="Icon Zugriffsrechte" descr="KeyRound">    </p:cNvPr>
          <p:cNvPicPr>
            <a:picLocks noChangeAspect="1"/>
          </p:cNvPicPr>
          <p:nvPr/>
        </p:nvPicPr>
        <p:blipFill>
          <a:blip r:embed="rId4"/>
          <a:stretch>
            <a:fillRect/>
          </a:stretch>
        </p:blipFill>
        <p:spPr>
          <a:xfrm>
            <a:off x="4629150" y="4171950"/>
            <a:ext cx="297180" cy="297180"/>
          </a:xfrm>
          <a:prstGeom prst="rect">
            <a:avLst/>
          </a:prstGeom>
        </p:spPr>
      </p:pic>
      <p:sp>
        <p:nvSpPr>
          <p:cNvPr id="22" name="Text 16"/>
          <p:cNvSpPr txBox="1"/>
          <p:nvPr/>
        </p:nvSpPr>
        <p:spPr>
          <a:xfrm>
            <a:off x="5212080" y="4023360"/>
            <a:ext cx="2240280" cy="594360"/>
          </a:xfrm>
          <a:prstGeom prst="rect">
            <a:avLst/>
          </a:prstGeom>
          <a:noFill/>
          <a:ln/>
        </p:spPr>
        <p:txBody>
          <a:bodyPr wrap="square" lIns="0" tIns="0" rIns="0" bIns="0" rtlCol="0" anchor="ctr"/>
          <a:lstStyle/>
          <a:p>
            <a:pPr indent="0" marL="0">
              <a:buNone/>
            </a:pPr>
            <a:r>
              <a:rPr lang="en-US" sz="1700" b="1" dirty="0">
                <a:solidFill>
                  <a:schemeClr val="tx1"/>
                </a:solidFill>
              </a:rPr>
              <a:t>Zugriffsrechte</a:t>
            </a:r>
            <a:endParaRPr lang="en-US" sz="1700" dirty="0"/>
          </a:p>
        </p:txBody>
      </p:sp>
      <p:sp>
        <p:nvSpPr>
          <p:cNvPr id="23" name="Text 17"/>
          <p:cNvSpPr txBox="1"/>
          <p:nvPr/>
        </p:nvSpPr>
        <p:spPr>
          <a:xfrm>
            <a:off x="4480560" y="4754880"/>
            <a:ext cx="2926080" cy="731520"/>
          </a:xfrm>
          <a:prstGeom prst="rect">
            <a:avLst/>
          </a:prstGeom>
          <a:noFill/>
          <a:ln/>
        </p:spPr>
        <p:txBody>
          <a:bodyPr wrap="square" lIns="0" tIns="0" rIns="0" bIns="0" rtlCol="0" anchor="t"/>
          <a:lstStyle/>
          <a:p>
            <a:pPr indent="0" marL="0">
              <a:buNone/>
            </a:pPr>
            <a:r>
              <a:rPr lang="en-US" sz="1400" dirty="0">
                <a:solidFill>
                  <a:schemeClr val="tx2"/>
                </a:solidFill>
              </a:rPr>
              <a:t>Rollenbasiert und protokolliert; FINMA-Rundschreiben 2023/1 (operationelle Risiken).</a:t>
            </a:r>
            <a:endParaRPr lang="en-US" sz="1400" dirty="0"/>
          </a:p>
        </p:txBody>
      </p:sp>
      <p:sp>
        <p:nvSpPr>
          <p:cNvPr id="24" name="Budget und Zeitplan"/>
          <p:cNvSpPr/>
          <p:nvPr/>
        </p:nvSpPr>
        <p:spPr>
          <a:xfrm>
            <a:off x="7955280" y="1600200"/>
            <a:ext cx="3687775" cy="4023360"/>
          </a:xfrm>
          <a:prstGeom prst="roundRect">
            <a:avLst>
              <a:gd name="adj" fmla="val 2975"/>
            </a:avLst>
          </a:prstGeom>
          <a:solidFill>
            <a:schemeClr val="tx1"/>
          </a:solidFill>
          <a:ln/>
        </p:spPr>
      </p:sp>
      <p:sp>
        <p:nvSpPr>
          <p:cNvPr id="25" name="Text 19"/>
          <p:cNvSpPr txBox="1"/>
          <p:nvPr/>
        </p:nvSpPr>
        <p:spPr>
          <a:xfrm>
            <a:off x="8321040" y="1874520"/>
            <a:ext cx="2956255"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BUDGET</a:t>
            </a:r>
            <a:endParaRPr lang="en-US" sz="1200" dirty="0"/>
          </a:p>
        </p:txBody>
      </p:sp>
      <p:sp>
        <p:nvSpPr>
          <p:cNvPr id="26" name="Text 20"/>
          <p:cNvSpPr txBox="1"/>
          <p:nvPr/>
        </p:nvSpPr>
        <p:spPr>
          <a:xfrm>
            <a:off x="8321040" y="2194560"/>
            <a:ext cx="2956255" cy="640080"/>
          </a:xfrm>
          <a:prstGeom prst="rect">
            <a:avLst/>
          </a:prstGeom>
          <a:noFill/>
          <a:ln/>
        </p:spPr>
        <p:txBody>
          <a:bodyPr wrap="square" lIns="0" tIns="0" rIns="0" bIns="0" rtlCol="0" anchor="ctr"/>
          <a:lstStyle/>
          <a:p>
            <a:pPr indent="0" marL="0">
              <a:buNone/>
            </a:pPr>
            <a:r>
              <a:rPr lang="en-US" sz="3600" b="1" dirty="0">
                <a:solidFill>
                  <a:schemeClr val="bg1"/>
                </a:solidFill>
              </a:rPr>
              <a:t>CHF 450’000</a:t>
            </a:r>
            <a:endParaRPr lang="en-US" sz="3600" dirty="0"/>
          </a:p>
        </p:txBody>
      </p:sp>
      <p:sp>
        <p:nvSpPr>
          <p:cNvPr id="27" name="Text 21"/>
          <p:cNvSpPr txBox="1"/>
          <p:nvPr/>
        </p:nvSpPr>
        <p:spPr>
          <a:xfrm>
            <a:off x="8321040" y="2834640"/>
            <a:ext cx="2956255" cy="548640"/>
          </a:xfrm>
          <a:prstGeom prst="rect">
            <a:avLst/>
          </a:prstGeom>
          <a:noFill/>
          <a:ln/>
        </p:spPr>
        <p:txBody>
          <a:bodyPr wrap="square" lIns="0" tIns="0" rIns="0" bIns="0" rtlCol="0" anchor="t"/>
          <a:lstStyle/>
          <a:p>
            <a:pPr indent="0" marL="0">
              <a:buNone/>
            </a:pPr>
            <a:r>
              <a:rPr lang="en-US" sz="1400" dirty="0">
                <a:solidFill>
                  <a:schemeClr val="accent6"/>
                </a:solidFill>
              </a:rPr>
              <a:t>einmalig, plus max. CHF 80’000 pro Jahr Betrieb</a:t>
            </a:r>
            <a:endParaRPr lang="en-US" sz="1400" dirty="0"/>
          </a:p>
        </p:txBody>
      </p:sp>
      <p:sp>
        <p:nvSpPr>
          <p:cNvPr id="28" name="Text 22"/>
          <p:cNvSpPr txBox="1"/>
          <p:nvPr/>
        </p:nvSpPr>
        <p:spPr>
          <a:xfrm>
            <a:off x="8321040" y="3703320"/>
            <a:ext cx="2956255"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ZEITPLAN</a:t>
            </a:r>
            <a:endParaRPr lang="en-US" sz="1200" dirty="0"/>
          </a:p>
        </p:txBody>
      </p:sp>
      <p:sp>
        <p:nvSpPr>
          <p:cNvPr id="29" name="Text 23"/>
          <p:cNvSpPr txBox="1"/>
          <p:nvPr/>
        </p:nvSpPr>
        <p:spPr>
          <a:xfrm>
            <a:off x="8321040" y="4023360"/>
            <a:ext cx="2956255" cy="731520"/>
          </a:xfrm>
          <a:prstGeom prst="rect">
            <a:avLst/>
          </a:prstGeom>
          <a:noFill/>
          <a:ln/>
        </p:spPr>
        <p:txBody>
          <a:bodyPr wrap="square" lIns="0" tIns="0" rIns="0" bIns="0" rtlCol="0" anchor="t"/>
          <a:lstStyle/>
          <a:p>
            <a:pPr indent="0" marL="0">
              <a:spcAft>
                <a:spcPts val="600"/>
              </a:spcAft>
              <a:buNone/>
            </a:pPr>
            <a:r>
              <a:rPr lang="en-US" sz="1500" b="1" dirty="0">
                <a:solidFill>
                  <a:schemeClr val="bg1"/>
                </a:solidFill>
              </a:rPr>
              <a:t>Q2 2027  </a:t>
            </a:r>
            <a:pPr indent="0" marL="0">
              <a:spcAft>
                <a:spcPts val="600"/>
              </a:spcAft>
              <a:buNone/>
            </a:pPr>
            <a:r>
              <a:rPr lang="en-US" sz="1500" dirty="0">
                <a:solidFill>
                  <a:schemeClr val="accent6"/>
                </a:solidFill>
              </a:rPr>
              <a:t>Pilot an 3 Standorten</a:t>
            </a:r>
            <a:endParaRPr lang="en-US" sz="1500" dirty="0"/>
          </a:p>
          <a:p>
            <a:pPr indent="0" marL="0">
              <a:spcAft>
                <a:spcPts val="600"/>
              </a:spcAft>
              <a:buNone/>
            </a:pPr>
            <a:r>
              <a:rPr lang="en-US" sz="1500" b="1" dirty="0">
                <a:solidFill>
                  <a:schemeClr val="bg1"/>
                </a:solidFill>
              </a:rPr>
              <a:t>Ende 2027  </a:t>
            </a:r>
            <a:pPr indent="0" marL="0">
              <a:spcAft>
                <a:spcPts val="600"/>
              </a:spcAft>
              <a:buNone/>
            </a:pPr>
            <a:r>
              <a:rPr lang="en-US" sz="1500" dirty="0">
                <a:solidFill>
                  <a:schemeClr val="accent6"/>
                </a:solidFill>
              </a:rPr>
              <a:t>Rollout in allen Geschäftsstellen</a:t>
            </a:r>
            <a:endParaRPr lang="en-US" sz="1500" dirty="0"/>
          </a:p>
        </p:txBody>
      </p:sp>
      <p:sp>
        <p:nvSpPr>
          <p:cNvPr id="30" name="Text 24"/>
          <p:cNvSpPr txBox="1"/>
          <p:nvPr/>
        </p:nvSpPr>
        <p:spPr>
          <a:xfrm>
            <a:off x="8321040" y="4983480"/>
            <a:ext cx="2956255" cy="411480"/>
          </a:xfrm>
          <a:prstGeom prst="rect">
            <a:avLst/>
          </a:prstGeom>
          <a:noFill/>
          <a:ln/>
        </p:spPr>
        <p:txBody>
          <a:bodyPr wrap="square" lIns="0" tIns="0" rIns="0" bIns="0" rtlCol="0" anchor="t"/>
          <a:lstStyle/>
          <a:p>
            <a:pPr indent="0" marL="0">
              <a:buNone/>
            </a:pPr>
            <a:r>
              <a:rPr lang="en-US" sz="1400" b="1" dirty="0">
                <a:solidFill>
                  <a:schemeClr val="accent3"/>
                </a:solidFill>
              </a:rPr>
              <a:t>Postversand zum Kunden bleibt physisch.</a:t>
            </a:r>
            <a:endParaRPr lang="en-US" sz="1400" dirty="0"/>
          </a:p>
        </p:txBody>
      </p:sp>
      <p:sp>
        <p:nvSpPr>
          <p:cNvPr id="31" name="Text 25"/>
          <p:cNvSpPr txBox="1"/>
          <p:nvPr/>
        </p:nvSpPr>
        <p:spPr>
          <a:xfrm>
            <a:off x="548640" y="5961888"/>
            <a:ext cx="11094415" cy="274320"/>
          </a:xfrm>
          <a:prstGeom prst="rect">
            <a:avLst/>
          </a:prstGeom>
          <a:noFill/>
          <a:ln/>
        </p:spPr>
        <p:txBody>
          <a:bodyPr wrap="square" lIns="0" tIns="0" rIns="0" bIns="0" rtlCol="0" anchor="t"/>
          <a:lstStyle/>
          <a:p>
            <a:pPr indent="0" marL="0">
              <a:buNone/>
            </a:pPr>
            <a:r>
              <a:rPr lang="en-US" sz="1100" b="1" dirty="0">
                <a:solidFill>
                  <a:schemeClr val="accent1"/>
                </a:solidFill>
              </a:rPr>
              <a:t>Annahme  </a:t>
            </a:r>
            <a:pPr indent="0" marL="0">
              <a:buNone/>
            </a:pPr>
            <a:r>
              <a:rPr lang="en-US" sz="1100" dirty="0">
                <a:solidFill>
                  <a:schemeClr val="tx2"/>
                </a:solidFill>
              </a:rPr>
              <a:t>Budget und Termine sind fiktiv. Die rechtliche Einordnung bestätigen Compliance und Rechtsdienst.</a:t>
            </a:r>
            <a:endParaRPr lang="en-US" sz="1100" dirty="0"/>
          </a:p>
        </p:txBody>
      </p:sp>
      <p:sp>
        <p:nvSpPr>
          <p:cNvPr id="33"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nchor="t"/>
          <a:lstStyle/>
          <a:p>
            <a:pPr indent="0" marL="0">
              <a:buNone/>
            </a:pPr>
            <a:r>
              <a:rPr lang="en-US" sz="1200" b="1" spc="300" kern="0" dirty="0">
                <a:solidFill>
                  <a:schemeClr val="accent1"/>
                </a:solidFill>
              </a:rPr>
              <a:t>AUFTRAG</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400" b="1" dirty="0">
                <a:solidFill>
                  <a:schemeClr val="tx1"/>
                </a:solidFill>
              </a:rPr>
              <a:t>Unser Auftrag an Gruppe 3 (RE-Team)</a:t>
            </a:r>
            <a:endParaRPr lang="en-US" sz="3400" dirty="0"/>
          </a:p>
        </p:txBody>
      </p:sp>
      <p:sp>
        <p:nvSpPr>
          <p:cNvPr id="4" name="Auftrag 1"/>
          <p:cNvSpPr/>
          <p:nvPr/>
        </p:nvSpPr>
        <p:spPr>
          <a:xfrm>
            <a:off x="548640" y="1645920"/>
            <a:ext cx="566928" cy="566928"/>
          </a:xfrm>
          <a:prstGeom prst="ellipse">
            <a:avLst/>
          </a:prstGeom>
          <a:solidFill>
            <a:schemeClr val="accent1"/>
          </a:solidFill>
          <a:ln/>
        </p:spPr>
      </p:sp>
      <p:sp>
        <p:nvSpPr>
          <p:cNvPr id="5" name="Text 3"/>
          <p:cNvSpPr txBox="1"/>
          <p:nvPr/>
        </p:nvSpPr>
        <p:spPr>
          <a:xfrm>
            <a:off x="548640" y="1645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1371600" y="1600200"/>
            <a:ext cx="5760720" cy="365760"/>
          </a:xfrm>
          <a:prstGeom prst="rect">
            <a:avLst/>
          </a:prstGeom>
          <a:noFill/>
          <a:ln/>
        </p:spPr>
        <p:txBody>
          <a:bodyPr wrap="square" lIns="0" tIns="0" rIns="0" bIns="0" rtlCol="0" anchor="t"/>
          <a:lstStyle/>
          <a:p>
            <a:pPr indent="0" marL="0">
              <a:buNone/>
            </a:pPr>
            <a:r>
              <a:rPr lang="en-US" sz="1900" b="1" dirty="0">
                <a:solidFill>
                  <a:schemeClr val="tx1"/>
                </a:solidFill>
              </a:rPr>
              <a:t>Bedürfnisse ermitteln</a:t>
            </a:r>
            <a:endParaRPr lang="en-US" sz="1900" dirty="0"/>
          </a:p>
        </p:txBody>
      </p:sp>
      <p:sp>
        <p:nvSpPr>
          <p:cNvPr id="7" name="Text 5"/>
          <p:cNvSpPr txBox="1"/>
          <p:nvPr/>
        </p:nvSpPr>
        <p:spPr>
          <a:xfrm>
            <a:off x="1371600" y="1965960"/>
            <a:ext cx="5760720" cy="320040"/>
          </a:xfrm>
          <a:prstGeom prst="rect">
            <a:avLst/>
          </a:prstGeom>
          <a:noFill/>
          <a:ln/>
        </p:spPr>
        <p:txBody>
          <a:bodyPr wrap="square" lIns="0" tIns="0" rIns="0" bIns="0" rtlCol="0" anchor="t"/>
          <a:lstStyle/>
          <a:p>
            <a:pPr indent="0" marL="0">
              <a:buNone/>
            </a:pPr>
            <a:r>
              <a:rPr lang="en-US" sz="1400" dirty="0">
                <a:solidFill>
                  <a:schemeClr val="tx2"/>
                </a:solidFill>
              </a:rPr>
              <a:t>mit Kundenberatung, Posteingang und Backoffice</a:t>
            </a:r>
            <a:endParaRPr lang="en-US" sz="1400" dirty="0"/>
          </a:p>
        </p:txBody>
      </p:sp>
      <p:sp>
        <p:nvSpPr>
          <p:cNvPr id="8" name="Auftrag 2"/>
          <p:cNvSpPr/>
          <p:nvPr/>
        </p:nvSpPr>
        <p:spPr>
          <a:xfrm>
            <a:off x="548640" y="2606040"/>
            <a:ext cx="566928" cy="566928"/>
          </a:xfrm>
          <a:prstGeom prst="ellipse">
            <a:avLst/>
          </a:prstGeom>
          <a:solidFill>
            <a:schemeClr val="accent1"/>
          </a:solidFill>
          <a:ln/>
        </p:spPr>
      </p:sp>
      <p:sp>
        <p:nvSpPr>
          <p:cNvPr id="9" name="Text 7"/>
          <p:cNvSpPr txBox="1"/>
          <p:nvPr/>
        </p:nvSpPr>
        <p:spPr>
          <a:xfrm>
            <a:off x="548640" y="26060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1371600" y="2560320"/>
            <a:ext cx="5760720" cy="365760"/>
          </a:xfrm>
          <a:prstGeom prst="rect">
            <a:avLst/>
          </a:prstGeom>
          <a:noFill/>
          <a:ln/>
        </p:spPr>
        <p:txBody>
          <a:bodyPr wrap="square" lIns="0" tIns="0" rIns="0" bIns="0" rtlCol="0" anchor="t"/>
          <a:lstStyle/>
          <a:p>
            <a:pPr indent="0" marL="0">
              <a:buNone/>
            </a:pPr>
            <a:r>
              <a:rPr lang="en-US" sz="1900" b="1" dirty="0">
                <a:solidFill>
                  <a:schemeClr val="tx1"/>
                </a:solidFill>
              </a:rPr>
              <a:t>Zugriffsrechte klären</a:t>
            </a:r>
            <a:endParaRPr lang="en-US" sz="1900" dirty="0"/>
          </a:p>
        </p:txBody>
      </p:sp>
      <p:sp>
        <p:nvSpPr>
          <p:cNvPr id="11" name="Text 9"/>
          <p:cNvSpPr txBox="1"/>
          <p:nvPr/>
        </p:nvSpPr>
        <p:spPr>
          <a:xfrm>
            <a:off x="1371600" y="2926080"/>
            <a:ext cx="5760720" cy="320040"/>
          </a:xfrm>
          <a:prstGeom prst="rect">
            <a:avLst/>
          </a:prstGeom>
          <a:noFill/>
          <a:ln/>
        </p:spPr>
        <p:txBody>
          <a:bodyPr wrap="square" lIns="0" tIns="0" rIns="0" bIns="0" rtlCol="0" anchor="t"/>
          <a:lstStyle/>
          <a:p>
            <a:pPr indent="0" marL="0">
              <a:buNone/>
            </a:pPr>
            <a:r>
              <a:rPr lang="en-US" sz="1400" dirty="0">
                <a:solidFill>
                  <a:schemeClr val="tx2"/>
                </a:solidFill>
              </a:rPr>
              <a:t>wer sieht was – Team, Stellvertretung, Backoffice</a:t>
            </a:r>
            <a:endParaRPr lang="en-US" sz="1400" dirty="0"/>
          </a:p>
        </p:txBody>
      </p:sp>
      <p:sp>
        <p:nvSpPr>
          <p:cNvPr id="12" name="Auftrag 3"/>
          <p:cNvSpPr/>
          <p:nvPr/>
        </p:nvSpPr>
        <p:spPr>
          <a:xfrm>
            <a:off x="548640" y="3566160"/>
            <a:ext cx="566928" cy="566928"/>
          </a:xfrm>
          <a:prstGeom prst="ellipse">
            <a:avLst/>
          </a:prstGeom>
          <a:solidFill>
            <a:schemeClr val="accent1"/>
          </a:solidFill>
          <a:ln/>
        </p:spPr>
      </p:sp>
      <p:sp>
        <p:nvSpPr>
          <p:cNvPr id="13" name="Text 11"/>
          <p:cNvSpPr txBox="1"/>
          <p:nvPr/>
        </p:nvSpPr>
        <p:spPr>
          <a:xfrm>
            <a:off x="548640" y="35661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2"/>
          <p:cNvSpPr txBox="1"/>
          <p:nvPr/>
        </p:nvSpPr>
        <p:spPr>
          <a:xfrm>
            <a:off x="1371600" y="3520440"/>
            <a:ext cx="5760720" cy="365760"/>
          </a:xfrm>
          <a:prstGeom prst="rect">
            <a:avLst/>
          </a:prstGeom>
          <a:noFill/>
          <a:ln/>
        </p:spPr>
        <p:txBody>
          <a:bodyPr wrap="square" lIns="0" tIns="0" rIns="0" bIns="0" rtlCol="0" anchor="t"/>
          <a:lstStyle/>
          <a:p>
            <a:pPr indent="0" marL="0">
              <a:buNone/>
            </a:pPr>
            <a:r>
              <a:rPr lang="en-US" sz="1900" b="1" dirty="0">
                <a:solidFill>
                  <a:schemeClr val="tx1"/>
                </a:solidFill>
              </a:rPr>
              <a:t>Abläufe beschreiben</a:t>
            </a:r>
            <a:endParaRPr lang="en-US" sz="1900" dirty="0"/>
          </a:p>
        </p:txBody>
      </p:sp>
      <p:sp>
        <p:nvSpPr>
          <p:cNvPr id="15" name="Text 13"/>
          <p:cNvSpPr txBox="1"/>
          <p:nvPr/>
        </p:nvSpPr>
        <p:spPr>
          <a:xfrm>
            <a:off x="1371600" y="3886200"/>
            <a:ext cx="5760720" cy="320040"/>
          </a:xfrm>
          <a:prstGeom prst="rect">
            <a:avLst/>
          </a:prstGeom>
          <a:noFill/>
          <a:ln/>
        </p:spPr>
        <p:txBody>
          <a:bodyPr wrap="square" lIns="0" tIns="0" rIns="0" bIns="0" rtlCol="0" anchor="t"/>
          <a:lstStyle/>
          <a:p>
            <a:pPr indent="0" marL="0">
              <a:buNone/>
            </a:pPr>
            <a:r>
              <a:rPr lang="en-US" sz="1400" dirty="0">
                <a:solidFill>
                  <a:schemeClr val="tx2"/>
                </a:solidFill>
              </a:rPr>
              <a:t>inklusive Korrektur, Rückfrage und Ausnahmen</a:t>
            </a:r>
            <a:endParaRPr lang="en-US" sz="1400" dirty="0"/>
          </a:p>
        </p:txBody>
      </p:sp>
      <p:sp>
        <p:nvSpPr>
          <p:cNvPr id="16" name="Auftrag 4"/>
          <p:cNvSpPr/>
          <p:nvPr/>
        </p:nvSpPr>
        <p:spPr>
          <a:xfrm>
            <a:off x="548640" y="4526280"/>
            <a:ext cx="566928" cy="566928"/>
          </a:xfrm>
          <a:prstGeom prst="ellipse">
            <a:avLst/>
          </a:prstGeom>
          <a:solidFill>
            <a:schemeClr val="accent1"/>
          </a:solidFill>
          <a:ln/>
        </p:spPr>
      </p:sp>
      <p:sp>
        <p:nvSpPr>
          <p:cNvPr id="17" name="Text 15"/>
          <p:cNvSpPr txBox="1"/>
          <p:nvPr/>
        </p:nvSpPr>
        <p:spPr>
          <a:xfrm>
            <a:off x="548640" y="45262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6"/>
          <p:cNvSpPr txBox="1"/>
          <p:nvPr/>
        </p:nvSpPr>
        <p:spPr>
          <a:xfrm>
            <a:off x="1371600" y="4480560"/>
            <a:ext cx="5760720" cy="365760"/>
          </a:xfrm>
          <a:prstGeom prst="rect">
            <a:avLst/>
          </a:prstGeom>
          <a:noFill/>
          <a:ln/>
        </p:spPr>
        <p:txBody>
          <a:bodyPr wrap="square" lIns="0" tIns="0" rIns="0" bIns="0" rtlCol="0" anchor="t"/>
          <a:lstStyle/>
          <a:p>
            <a:pPr indent="0" marL="0">
              <a:buNone/>
            </a:pPr>
            <a:r>
              <a:rPr lang="en-US" sz="1900" b="1" dirty="0">
                <a:solidFill>
                  <a:schemeClr val="tx1"/>
                </a:solidFill>
              </a:rPr>
              <a:t>Qualitätsziele messbar machen</a:t>
            </a:r>
            <a:endParaRPr lang="en-US" sz="1900" dirty="0"/>
          </a:p>
        </p:txBody>
      </p:sp>
      <p:sp>
        <p:nvSpPr>
          <p:cNvPr id="19" name="Text 17"/>
          <p:cNvSpPr txBox="1"/>
          <p:nvPr/>
        </p:nvSpPr>
        <p:spPr>
          <a:xfrm>
            <a:off x="1371600" y="4846320"/>
            <a:ext cx="5760720" cy="320040"/>
          </a:xfrm>
          <a:prstGeom prst="rect">
            <a:avLst/>
          </a:prstGeom>
          <a:noFill/>
          <a:ln/>
        </p:spPr>
        <p:txBody>
          <a:bodyPr wrap="square" lIns="0" tIns="0" rIns="0" bIns="0" rtlCol="0" anchor="t"/>
          <a:lstStyle/>
          <a:p>
            <a:pPr indent="0" marL="0">
              <a:buNone/>
            </a:pPr>
            <a:r>
              <a:rPr lang="en-US" sz="1400" dirty="0">
                <a:solidFill>
                  <a:schemeClr val="tx2"/>
                </a:solidFill>
              </a:rPr>
              <a:t>Zeit, Fehler, Transparenz – mit Baseline</a:t>
            </a:r>
            <a:endParaRPr lang="en-US" sz="1400" dirty="0"/>
          </a:p>
        </p:txBody>
      </p:sp>
      <p:sp>
        <p:nvSpPr>
          <p:cNvPr id="20" name="Zeitachse"/>
          <p:cNvSpPr/>
          <p:nvPr/>
        </p:nvSpPr>
        <p:spPr>
          <a:xfrm>
            <a:off x="640080" y="5532120"/>
            <a:ext cx="6035040" cy="0"/>
          </a:xfrm>
          <a:prstGeom prst="line">
            <a:avLst/>
          </a:prstGeom>
          <a:noFill/>
          <a:ln w="25400">
            <a:solidFill>
              <a:schemeClr val="accent6"/>
            </a:solidFill>
            <a:prstDash val="solid"/>
          </a:ln>
        </p:spPr>
      </p:sp>
      <p:sp>
        <p:nvSpPr>
          <p:cNvPr id="21" name="Termin PVA 5"/>
          <p:cNvSpPr/>
          <p:nvPr/>
        </p:nvSpPr>
        <p:spPr>
          <a:xfrm>
            <a:off x="548640" y="5440680"/>
            <a:ext cx="182880" cy="182880"/>
          </a:xfrm>
          <a:prstGeom prst="ellipse">
            <a:avLst/>
          </a:prstGeom>
          <a:solidFill>
            <a:schemeClr val="accent1"/>
          </a:solidFill>
          <a:ln w="19050">
            <a:solidFill>
              <a:schemeClr val="bg1"/>
            </a:solidFill>
            <a:prstDash val="solid"/>
          </a:ln>
        </p:spPr>
      </p:sp>
      <p:sp>
        <p:nvSpPr>
          <p:cNvPr id="22" name="Text 20"/>
          <p:cNvSpPr txBox="1"/>
          <p:nvPr/>
        </p:nvSpPr>
        <p:spPr>
          <a:xfrm>
            <a:off x="548640" y="5687568"/>
            <a:ext cx="2011680" cy="320040"/>
          </a:xfrm>
          <a:prstGeom prst="rect">
            <a:avLst/>
          </a:prstGeom>
          <a:noFill/>
          <a:ln/>
        </p:spPr>
        <p:txBody>
          <a:bodyPr wrap="square" lIns="0" tIns="0" rIns="0" bIns="0" rtlCol="0" anchor="t"/>
          <a:lstStyle/>
          <a:p>
            <a:pPr indent="0" marL="0">
              <a:buNone/>
            </a:pPr>
            <a:r>
              <a:rPr lang="en-US" sz="1300" b="1" dirty="0">
                <a:solidFill>
                  <a:schemeClr val="accent1"/>
                </a:solidFill>
              </a:rPr>
              <a:t>PVA 5  </a:t>
            </a:r>
            <a:pPr indent="0" marL="0">
              <a:buNone/>
            </a:pPr>
            <a:r>
              <a:rPr lang="en-US" sz="1300" dirty="0">
                <a:solidFill>
                  <a:schemeClr val="tx1"/>
                </a:solidFill>
              </a:rPr>
              <a:t>Austausch mit uns</a:t>
            </a:r>
            <a:endParaRPr lang="en-US" sz="1300" dirty="0"/>
          </a:p>
        </p:txBody>
      </p:sp>
      <p:sp>
        <p:nvSpPr>
          <p:cNvPr id="23" name="Termin PVA 6"/>
          <p:cNvSpPr/>
          <p:nvPr/>
        </p:nvSpPr>
        <p:spPr>
          <a:xfrm>
            <a:off x="2606040" y="5440680"/>
            <a:ext cx="182880" cy="182880"/>
          </a:xfrm>
          <a:prstGeom prst="ellipse">
            <a:avLst/>
          </a:prstGeom>
          <a:solidFill>
            <a:schemeClr val="accent1"/>
          </a:solidFill>
          <a:ln w="19050">
            <a:solidFill>
              <a:schemeClr val="bg1"/>
            </a:solidFill>
            <a:prstDash val="solid"/>
          </a:ln>
        </p:spPr>
      </p:sp>
      <p:sp>
        <p:nvSpPr>
          <p:cNvPr id="24" name="Text 22"/>
          <p:cNvSpPr txBox="1"/>
          <p:nvPr/>
        </p:nvSpPr>
        <p:spPr>
          <a:xfrm>
            <a:off x="2606040" y="5687568"/>
            <a:ext cx="2011680" cy="320040"/>
          </a:xfrm>
          <a:prstGeom prst="rect">
            <a:avLst/>
          </a:prstGeom>
          <a:noFill/>
          <a:ln/>
        </p:spPr>
        <p:txBody>
          <a:bodyPr wrap="square" lIns="0" tIns="0" rIns="0" bIns="0" rtlCol="0" anchor="t"/>
          <a:lstStyle/>
          <a:p>
            <a:pPr indent="0" marL="0">
              <a:buNone/>
            </a:pPr>
            <a:r>
              <a:rPr lang="en-US" sz="1300" b="1" dirty="0">
                <a:solidFill>
                  <a:schemeClr val="accent1"/>
                </a:solidFill>
              </a:rPr>
              <a:t>PVA 6  </a:t>
            </a:r>
            <a:pPr indent="0" marL="0">
              <a:buNone/>
            </a:pPr>
            <a:r>
              <a:rPr lang="en-US" sz="1300" dirty="0">
                <a:solidFill>
                  <a:schemeClr val="tx1"/>
                </a:solidFill>
              </a:rPr>
              <a:t>Zwischenstand</a:t>
            </a:r>
            <a:endParaRPr lang="en-US" sz="1300" dirty="0"/>
          </a:p>
        </p:txBody>
      </p:sp>
      <p:sp>
        <p:nvSpPr>
          <p:cNvPr id="25" name="Termin PVA 9/10"/>
          <p:cNvSpPr/>
          <p:nvPr/>
        </p:nvSpPr>
        <p:spPr>
          <a:xfrm>
            <a:off x="4663440" y="5440680"/>
            <a:ext cx="182880" cy="182880"/>
          </a:xfrm>
          <a:prstGeom prst="ellipse">
            <a:avLst/>
          </a:prstGeom>
          <a:solidFill>
            <a:schemeClr val="accent1"/>
          </a:solidFill>
          <a:ln w="19050">
            <a:solidFill>
              <a:schemeClr val="bg1"/>
            </a:solidFill>
            <a:prstDash val="solid"/>
          </a:ln>
        </p:spPr>
      </p:sp>
      <p:sp>
        <p:nvSpPr>
          <p:cNvPr id="26" name="Text 24"/>
          <p:cNvSpPr txBox="1"/>
          <p:nvPr/>
        </p:nvSpPr>
        <p:spPr>
          <a:xfrm>
            <a:off x="4663440" y="5687568"/>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PVA 9/10  </a:t>
            </a:r>
            <a:pPr indent="0" marL="0">
              <a:buNone/>
            </a:pPr>
            <a:r>
              <a:rPr lang="en-US" sz="1300" dirty="0">
                <a:solidFill>
                  <a:schemeClr val="tx1"/>
                </a:solidFill>
              </a:rPr>
              <a:t>Präsentation &amp; Spezifikation</a:t>
            </a:r>
            <a:endParaRPr lang="en-US" sz="1300" dirty="0"/>
          </a:p>
        </p:txBody>
      </p:sp>
      <p:sp>
        <p:nvSpPr>
          <p:cNvPr id="27" name="Ansprechpersonen"/>
          <p:cNvSpPr/>
          <p:nvPr/>
        </p:nvSpPr>
        <p:spPr>
          <a:xfrm>
            <a:off x="7589520" y="1600200"/>
            <a:ext cx="4053535" cy="4480560"/>
          </a:xfrm>
          <a:prstGeom prst="roundRect">
            <a:avLst>
              <a:gd name="adj" fmla="val 2707"/>
            </a:avLst>
          </a:prstGeom>
          <a:solidFill>
            <a:schemeClr val="bg2"/>
          </a:solidFill>
          <a:ln/>
        </p:spPr>
      </p:sp>
      <p:sp>
        <p:nvSpPr>
          <p:cNvPr id="28" name="Icon Ansprechpersonen Kreis"/>
          <p:cNvSpPr/>
          <p:nvPr/>
        </p:nvSpPr>
        <p:spPr>
          <a:xfrm>
            <a:off x="7909560" y="1874520"/>
            <a:ext cx="548640" cy="548640"/>
          </a:xfrm>
          <a:prstGeom prst="ellipse">
            <a:avLst/>
          </a:prstGeom>
          <a:solidFill>
            <a:schemeClr val="tx1"/>
          </a:solidFill>
          <a:ln/>
        </p:spPr>
      </p:sp>
      <p:pic>
        <p:nvPicPr>
          <p:cNvPr id="29" name="Icon Ansprechpersonen" descr="Users">    </p:cNvPr>
          <p:cNvPicPr>
            <a:picLocks noChangeAspect="1"/>
          </p:cNvPicPr>
          <p:nvPr/>
        </p:nvPicPr>
        <p:blipFill>
          <a:blip r:embed="rId1"/>
          <a:stretch>
            <a:fillRect/>
          </a:stretch>
        </p:blipFill>
        <p:spPr>
          <a:xfrm>
            <a:off x="8046720" y="2011680"/>
            <a:ext cx="274320" cy="274320"/>
          </a:xfrm>
          <a:prstGeom prst="rect">
            <a:avLst/>
          </a:prstGeom>
        </p:spPr>
      </p:pic>
      <p:sp>
        <p:nvSpPr>
          <p:cNvPr id="30" name="Text 27"/>
          <p:cNvSpPr txBox="1"/>
          <p:nvPr/>
        </p:nvSpPr>
        <p:spPr>
          <a:xfrm>
            <a:off x="8641080" y="1874520"/>
            <a:ext cx="2773375" cy="548640"/>
          </a:xfrm>
          <a:prstGeom prst="rect">
            <a:avLst/>
          </a:prstGeom>
          <a:noFill/>
          <a:ln/>
        </p:spPr>
        <p:txBody>
          <a:bodyPr wrap="square" lIns="0" tIns="0" rIns="0" bIns="0" rtlCol="0" anchor="ctr"/>
          <a:lstStyle/>
          <a:p>
            <a:pPr indent="0" marL="0">
              <a:buNone/>
            </a:pPr>
            <a:r>
              <a:rPr lang="en-US" sz="1800" b="1" dirty="0">
                <a:solidFill>
                  <a:schemeClr val="tx1"/>
                </a:solidFill>
              </a:rPr>
              <a:t>Ansprechpersonen</a:t>
            </a:r>
            <a:endParaRPr lang="en-US" sz="1800" dirty="0"/>
          </a:p>
        </p:txBody>
      </p:sp>
      <p:sp>
        <p:nvSpPr>
          <p:cNvPr id="31" name="Trennlinie"/>
          <p:cNvSpPr/>
          <p:nvPr/>
        </p:nvSpPr>
        <p:spPr>
          <a:xfrm>
            <a:off x="7909560" y="2587752"/>
            <a:ext cx="3413455" cy="0"/>
          </a:xfrm>
          <a:prstGeom prst="line">
            <a:avLst/>
          </a:prstGeom>
          <a:noFill/>
          <a:ln w="9525">
            <a:solidFill>
              <a:schemeClr val="accent6"/>
            </a:solidFill>
            <a:prstDash val="solid"/>
          </a:ln>
        </p:spPr>
      </p:sp>
      <p:sp>
        <p:nvSpPr>
          <p:cNvPr id="32" name="Text 29"/>
          <p:cNvSpPr txBox="1"/>
          <p:nvPr/>
        </p:nvSpPr>
        <p:spPr>
          <a:xfrm>
            <a:off x="7909560" y="2697480"/>
            <a:ext cx="3413455" cy="292608"/>
          </a:xfrm>
          <a:prstGeom prst="rect">
            <a:avLst/>
          </a:prstGeom>
          <a:noFill/>
          <a:ln/>
        </p:spPr>
        <p:txBody>
          <a:bodyPr wrap="square" lIns="0" tIns="0" rIns="0" bIns="0" rtlCol="0" anchor="t"/>
          <a:lstStyle/>
          <a:p>
            <a:pPr indent="0" marL="0">
              <a:buNone/>
            </a:pPr>
            <a:r>
              <a:rPr lang="en-US" sz="1500" b="1" dirty="0">
                <a:solidFill>
                  <a:schemeClr val="tx1"/>
                </a:solidFill>
              </a:rPr>
              <a:t>[Name]</a:t>
            </a:r>
            <a:endParaRPr lang="en-US" sz="1500" dirty="0"/>
          </a:p>
        </p:txBody>
      </p:sp>
      <p:sp>
        <p:nvSpPr>
          <p:cNvPr id="33" name="Text 30"/>
          <p:cNvSpPr txBox="1"/>
          <p:nvPr/>
        </p:nvSpPr>
        <p:spPr>
          <a:xfrm>
            <a:off x="7909560" y="2999232"/>
            <a:ext cx="3413455" cy="274320"/>
          </a:xfrm>
          <a:prstGeom prst="rect">
            <a:avLst/>
          </a:prstGeom>
          <a:noFill/>
          <a:ln/>
        </p:spPr>
        <p:txBody>
          <a:bodyPr wrap="square" lIns="0" tIns="0" rIns="0" bIns="0" rtlCol="0" anchor="t"/>
          <a:lstStyle/>
          <a:p>
            <a:pPr indent="0" marL="0">
              <a:buNone/>
            </a:pPr>
            <a:r>
              <a:rPr lang="en-US" sz="1300" dirty="0">
                <a:solidFill>
                  <a:schemeClr val="tx2"/>
                </a:solidFill>
              </a:rPr>
              <a:t>Auftraggeber:in · Leitung Privatkunden</a:t>
            </a:r>
            <a:endParaRPr lang="en-US" sz="1300" dirty="0"/>
          </a:p>
        </p:txBody>
      </p:sp>
      <p:sp>
        <p:nvSpPr>
          <p:cNvPr id="34" name="Trennlinie"/>
          <p:cNvSpPr/>
          <p:nvPr/>
        </p:nvSpPr>
        <p:spPr>
          <a:xfrm>
            <a:off x="7909560" y="3392424"/>
            <a:ext cx="3413455" cy="0"/>
          </a:xfrm>
          <a:prstGeom prst="line">
            <a:avLst/>
          </a:prstGeom>
          <a:noFill/>
          <a:ln w="9525">
            <a:solidFill>
              <a:schemeClr val="accent6"/>
            </a:solidFill>
            <a:prstDash val="solid"/>
          </a:ln>
        </p:spPr>
      </p:sp>
      <p:sp>
        <p:nvSpPr>
          <p:cNvPr id="35" name="Text 32"/>
          <p:cNvSpPr txBox="1"/>
          <p:nvPr/>
        </p:nvSpPr>
        <p:spPr>
          <a:xfrm>
            <a:off x="7909560" y="3502152"/>
            <a:ext cx="3413455" cy="292608"/>
          </a:xfrm>
          <a:prstGeom prst="rect">
            <a:avLst/>
          </a:prstGeom>
          <a:noFill/>
          <a:ln/>
        </p:spPr>
        <p:txBody>
          <a:bodyPr wrap="square" lIns="0" tIns="0" rIns="0" bIns="0" rtlCol="0" anchor="t"/>
          <a:lstStyle/>
          <a:p>
            <a:pPr indent="0" marL="0">
              <a:buNone/>
            </a:pPr>
            <a:r>
              <a:rPr lang="en-US" sz="1500" b="1" dirty="0">
                <a:solidFill>
                  <a:schemeClr val="tx1"/>
                </a:solidFill>
              </a:rPr>
              <a:t>[Name]</a:t>
            </a:r>
            <a:endParaRPr lang="en-US" sz="1500" dirty="0"/>
          </a:p>
        </p:txBody>
      </p:sp>
      <p:sp>
        <p:nvSpPr>
          <p:cNvPr id="36" name="Text 33"/>
          <p:cNvSpPr txBox="1"/>
          <p:nvPr/>
        </p:nvSpPr>
        <p:spPr>
          <a:xfrm>
            <a:off x="7909560" y="3803904"/>
            <a:ext cx="3413455" cy="274320"/>
          </a:xfrm>
          <a:prstGeom prst="rect">
            <a:avLst/>
          </a:prstGeom>
          <a:noFill/>
          <a:ln/>
        </p:spPr>
        <p:txBody>
          <a:bodyPr wrap="square" lIns="0" tIns="0" rIns="0" bIns="0" rtlCol="0" anchor="t"/>
          <a:lstStyle/>
          <a:p>
            <a:pPr indent="0" marL="0">
              <a:buNone/>
            </a:pPr>
            <a:r>
              <a:rPr lang="en-US" sz="1300" dirty="0">
                <a:solidFill>
                  <a:schemeClr val="tx2"/>
                </a:solidFill>
              </a:rPr>
              <a:t>Kundenberatung · Teamleitung Olten</a:t>
            </a:r>
            <a:endParaRPr lang="en-US" sz="1300" dirty="0"/>
          </a:p>
        </p:txBody>
      </p:sp>
      <p:sp>
        <p:nvSpPr>
          <p:cNvPr id="37" name="Trennlinie"/>
          <p:cNvSpPr/>
          <p:nvPr/>
        </p:nvSpPr>
        <p:spPr>
          <a:xfrm>
            <a:off x="7909560" y="4197096"/>
            <a:ext cx="3413455" cy="0"/>
          </a:xfrm>
          <a:prstGeom prst="line">
            <a:avLst/>
          </a:prstGeom>
          <a:noFill/>
          <a:ln w="9525">
            <a:solidFill>
              <a:schemeClr val="accent6"/>
            </a:solidFill>
            <a:prstDash val="solid"/>
          </a:ln>
        </p:spPr>
      </p:sp>
      <p:sp>
        <p:nvSpPr>
          <p:cNvPr id="38" name="Text 35"/>
          <p:cNvSpPr txBox="1"/>
          <p:nvPr/>
        </p:nvSpPr>
        <p:spPr>
          <a:xfrm>
            <a:off x="7909560" y="4306824"/>
            <a:ext cx="3413455" cy="292608"/>
          </a:xfrm>
          <a:prstGeom prst="rect">
            <a:avLst/>
          </a:prstGeom>
          <a:noFill/>
          <a:ln/>
        </p:spPr>
        <p:txBody>
          <a:bodyPr wrap="square" lIns="0" tIns="0" rIns="0" bIns="0" rtlCol="0" anchor="t"/>
          <a:lstStyle/>
          <a:p>
            <a:pPr indent="0" marL="0">
              <a:buNone/>
            </a:pPr>
            <a:r>
              <a:rPr lang="en-US" sz="1500" b="1" dirty="0">
                <a:solidFill>
                  <a:schemeClr val="tx1"/>
                </a:solidFill>
              </a:rPr>
              <a:t>[Name]</a:t>
            </a:r>
            <a:endParaRPr lang="en-US" sz="1500" dirty="0"/>
          </a:p>
        </p:txBody>
      </p:sp>
      <p:sp>
        <p:nvSpPr>
          <p:cNvPr id="39" name="Text 36"/>
          <p:cNvSpPr txBox="1"/>
          <p:nvPr/>
        </p:nvSpPr>
        <p:spPr>
          <a:xfrm>
            <a:off x="7909560" y="4608576"/>
            <a:ext cx="3413455" cy="274320"/>
          </a:xfrm>
          <a:prstGeom prst="rect">
            <a:avLst/>
          </a:prstGeom>
          <a:noFill/>
          <a:ln/>
        </p:spPr>
        <p:txBody>
          <a:bodyPr wrap="square" lIns="0" tIns="0" rIns="0" bIns="0" rtlCol="0" anchor="t"/>
          <a:lstStyle/>
          <a:p>
            <a:pPr indent="0" marL="0">
              <a:buNone/>
            </a:pPr>
            <a:r>
              <a:rPr lang="en-US" sz="1300" dirty="0">
                <a:solidFill>
                  <a:schemeClr val="tx2"/>
                </a:solidFill>
              </a:rPr>
              <a:t>Backoffice · Leitung Operations</a:t>
            </a:r>
            <a:endParaRPr lang="en-US" sz="1300" dirty="0"/>
          </a:p>
        </p:txBody>
      </p:sp>
      <p:sp>
        <p:nvSpPr>
          <p:cNvPr id="40" name="Trennlinie"/>
          <p:cNvSpPr/>
          <p:nvPr/>
        </p:nvSpPr>
        <p:spPr>
          <a:xfrm>
            <a:off x="7909560" y="5001768"/>
            <a:ext cx="3413455" cy="0"/>
          </a:xfrm>
          <a:prstGeom prst="line">
            <a:avLst/>
          </a:prstGeom>
          <a:noFill/>
          <a:ln w="9525">
            <a:solidFill>
              <a:schemeClr val="accent6"/>
            </a:solidFill>
            <a:prstDash val="solid"/>
          </a:ln>
        </p:spPr>
      </p:sp>
      <p:sp>
        <p:nvSpPr>
          <p:cNvPr id="41" name="Text 38"/>
          <p:cNvSpPr txBox="1"/>
          <p:nvPr/>
        </p:nvSpPr>
        <p:spPr>
          <a:xfrm>
            <a:off x="7909560" y="5111496"/>
            <a:ext cx="3413455" cy="292608"/>
          </a:xfrm>
          <a:prstGeom prst="rect">
            <a:avLst/>
          </a:prstGeom>
          <a:noFill/>
          <a:ln/>
        </p:spPr>
        <p:txBody>
          <a:bodyPr wrap="square" lIns="0" tIns="0" rIns="0" bIns="0" rtlCol="0" anchor="t"/>
          <a:lstStyle/>
          <a:p>
            <a:pPr indent="0" marL="0">
              <a:buNone/>
            </a:pPr>
            <a:r>
              <a:rPr lang="en-US" sz="1500" b="1" dirty="0">
                <a:solidFill>
                  <a:schemeClr val="tx1"/>
                </a:solidFill>
              </a:rPr>
              <a:t>[Name]</a:t>
            </a:r>
            <a:endParaRPr lang="en-US" sz="1500" dirty="0"/>
          </a:p>
        </p:txBody>
      </p:sp>
      <p:sp>
        <p:nvSpPr>
          <p:cNvPr id="42" name="Text 39"/>
          <p:cNvSpPr txBox="1"/>
          <p:nvPr/>
        </p:nvSpPr>
        <p:spPr>
          <a:xfrm>
            <a:off x="7909560" y="5413248"/>
            <a:ext cx="3413455" cy="274320"/>
          </a:xfrm>
          <a:prstGeom prst="rect">
            <a:avLst/>
          </a:prstGeom>
          <a:noFill/>
          <a:ln/>
        </p:spPr>
        <p:txBody>
          <a:bodyPr wrap="square" lIns="0" tIns="0" rIns="0" bIns="0" rtlCol="0" anchor="t"/>
          <a:lstStyle/>
          <a:p>
            <a:pPr indent="0" marL="0">
              <a:buNone/>
            </a:pPr>
            <a:r>
              <a:rPr lang="en-US" sz="1300" dirty="0">
                <a:solidFill>
                  <a:schemeClr val="tx2"/>
                </a:solidFill>
              </a:rPr>
              <a:t>Posteingang &amp; IT · Informationssicherheit</a:t>
            </a:r>
            <a:endParaRPr lang="en-US" sz="1300" dirty="0"/>
          </a:p>
        </p:txBody>
      </p:sp>
      <p:sp>
        <p:nvSpPr>
          <p:cNvPr id="44" name="Text 0"/>
          <p:cNvSpPr/>
          <p:nvPr>
            <p:ph idx="102" type="body" hasCustomPrompt="1"/>
          </p:nvPr>
        </p:nvSpPr>
        <p:spPr>
          <a:xfrm>
            <a:off x="548640" y="1371600"/>
            <a:ext cx="11094415" cy="384048"/>
          </a:xfrm>
          <a:prstGeom prst="rect">
            <a:avLst/>
          </a:prstGeom>
          <a:noFill/>
          <a:ln/>
        </p:spPr>
        <p:txBody>
          <a:bodyPr wrap="square" lIns="0" tIns="0" rIns="0" bIns="0" rtlCol="0" anchor="t"/>
          <a:lstStyle/>
          <a:p>
            <a:pPr indent="0" marL="0">
              <a:buNone/>
            </a:pPr>
            <a:endParaRPr lang="en-US"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1371600"/>
            <a:ext cx="6400800" cy="320040"/>
          </a:xfrm>
          <a:prstGeom prst="rect">
            <a:avLst/>
          </a:prstGeom>
          <a:noFill/>
          <a:ln/>
        </p:spPr>
        <p:txBody>
          <a:bodyPr wrap="square" lIns="0" tIns="0" rIns="0" bIns="0" rtlCol="0" anchor="t"/>
          <a:lstStyle/>
          <a:p>
            <a:pPr indent="0" marL="0">
              <a:buNone/>
            </a:pPr>
            <a:r>
              <a:rPr lang="en-US" sz="1300" b="1" spc="300" kern="0" dirty="0">
                <a:solidFill>
                  <a:schemeClr val="accent3"/>
                </a:solidFill>
              </a:rPr>
              <a:t>KURZ GESAGT</a:t>
            </a:r>
            <a:endParaRPr lang="en-US" sz="1300" dirty="0"/>
          </a:p>
        </p:txBody>
      </p:sp>
      <p:sp>
        <p:nvSpPr>
          <p:cNvPr id="3" name="Text 1"/>
          <p:cNvSpPr txBox="1"/>
          <p:nvPr/>
        </p:nvSpPr>
        <p:spPr>
          <a:xfrm>
            <a:off x="640080" y="1828800"/>
            <a:ext cx="8778240" cy="1828800"/>
          </a:xfrm>
          <a:prstGeom prst="rect">
            <a:avLst/>
          </a:prstGeom>
          <a:noFill/>
          <a:ln/>
        </p:spPr>
        <p:txBody>
          <a:bodyPr wrap="square" lIns="0" tIns="0" rIns="0" bIns="0" rtlCol="0" anchor="t"/>
          <a:lstStyle/>
          <a:p>
            <a:pPr indent="0" marL="0">
              <a:buNone/>
            </a:pPr>
            <a:r>
              <a:rPr lang="en-US" sz="3800" b="1" dirty="0">
                <a:solidFill>
                  <a:schemeClr val="bg1"/>
                </a:solidFill>
              </a:rPr>
              <a:t>«Wir wollen die Software, in der alles reinkommt und bearbeitet wird.»</a:t>
            </a:r>
            <a:endParaRPr lang="en-US" sz="3800" dirty="0"/>
          </a:p>
        </p:txBody>
      </p:sp>
      <p:sp>
        <p:nvSpPr>
          <p:cNvPr id="4" name="Text 2"/>
          <p:cNvSpPr txBox="1"/>
          <p:nvPr/>
        </p:nvSpPr>
        <p:spPr>
          <a:xfrm>
            <a:off x="640080" y="4160520"/>
            <a:ext cx="5486400" cy="822960"/>
          </a:xfrm>
          <a:prstGeom prst="rect">
            <a:avLst/>
          </a:prstGeom>
          <a:noFill/>
          <a:ln/>
        </p:spPr>
        <p:txBody>
          <a:bodyPr wrap="square" lIns="0" tIns="0" rIns="0" bIns="0" rtlCol="0" anchor="t"/>
          <a:lstStyle/>
          <a:p>
            <a:pPr indent="0" marL="0">
              <a:buNone/>
            </a:pPr>
            <a:r>
              <a:rPr lang="en-US" sz="4400" b="1" dirty="0">
                <a:solidFill>
                  <a:schemeClr val="accent3"/>
                </a:solidFill>
              </a:rPr>
              <a:t>Fragen?</a:t>
            </a:r>
            <a:endParaRPr lang="en-US" sz="4400" dirty="0"/>
          </a:p>
        </p:txBody>
      </p:sp>
      <p:sp>
        <p:nvSpPr>
          <p:cNvPr id="5" name="Text 3"/>
          <p:cNvSpPr txBox="1"/>
          <p:nvPr/>
        </p:nvSpPr>
        <p:spPr>
          <a:xfrm>
            <a:off x="640080" y="5989320"/>
            <a:ext cx="8229600" cy="320040"/>
          </a:xfrm>
          <a:prstGeom prst="rect">
            <a:avLst/>
          </a:prstGeom>
          <a:noFill/>
          <a:ln/>
        </p:spPr>
        <p:txBody>
          <a:bodyPr wrap="square" lIns="0" tIns="0" rIns="0" bIns="0" rtlCol="0" anchor="t"/>
          <a:lstStyle/>
          <a:p>
            <a:pPr indent="0" marL="0">
              <a:buNone/>
            </a:pPr>
            <a:r>
              <a:rPr lang="en-US" sz="1200" dirty="0">
                <a:solidFill>
                  <a:schemeClr val="accent6"/>
                </a:solidFill>
              </a:rPr>
              <a:t>Gruppe 9 · [Name 1], [Name 2], [Name 3] · Kontakt: [E-Mail]</a:t>
            </a:r>
            <a:endParaRPr lang="en-US" sz="1200" dirty="0"/>
          </a:p>
        </p:txBody>
      </p:sp>
      <p:sp>
        <p:nvSpPr>
          <p:cNvPr id="6" name="Abschluss Icon Kreis"/>
          <p:cNvSpPr/>
          <p:nvPr/>
        </p:nvSpPr>
        <p:spPr>
          <a:xfrm>
            <a:off x="9784080" y="1920240"/>
            <a:ext cx="1737360" cy="1737360"/>
          </a:xfrm>
          <a:prstGeom prst="ellipse">
            <a:avLst/>
          </a:prstGeom>
          <a:solidFill>
            <a:schemeClr val="accent1"/>
          </a:solidFill>
          <a:ln/>
        </p:spPr>
      </p:sp>
      <p:pic>
        <p:nvPicPr>
          <p:cNvPr id="7" name="Abschluss Icon" descr="Inbox">    </p:cNvPr>
          <p:cNvPicPr>
            <a:picLocks noChangeAspect="1"/>
          </p:cNvPicPr>
          <p:nvPr/>
        </p:nvPicPr>
        <p:blipFill>
          <a:blip r:embed="rId1"/>
          <a:stretch>
            <a:fillRect/>
          </a:stretch>
        </p:blipFill>
        <p:spPr>
          <a:xfrm>
            <a:off x="10218420" y="2354580"/>
            <a:ext cx="868680" cy="868680"/>
          </a:xfrm>
          <a:prstGeom prst="rect">
            <a:avLst/>
          </a:prstGeom>
        </p:spPr>
      </p:pic>
    </p:spTree>
  </p:cSld>
  <p:clrMapOvr>
    <a:masterClrMapping/>
  </p:clrMapOvr>
</p:sld>
</file>

<file path=ppt/theme/theme1.xml><?xml version="1.0" encoding="utf-8"?>
<a:theme xmlns:a="http://schemas.openxmlformats.org/drawingml/2006/main" name="Postverarbeitung">
  <a:themeElements>
    <a:clrScheme name="Postverarbeitung">
      <a:dk1>
        <a:srgbClr val="13293D"/>
      </a:dk1>
      <a:lt1>
        <a:srgbClr val="FFFFFF"/>
      </a:lt1>
      <a:dk2>
        <a:srgbClr val="5A6B7B"/>
      </a:dk2>
      <a:lt2>
        <a:srgbClr val="F3F6F8"/>
      </a:lt2>
      <a:accent1>
        <a:srgbClr val="0A8A7A"/>
      </a:accent1>
      <a:accent2>
        <a:srgbClr val="C4472D"/>
      </a:accent2>
      <a:accent3>
        <a:srgbClr val="6FD1C0"/>
      </a:accent3>
      <a:accent4>
        <a:srgbClr val="E3F3F0"/>
      </a:accent4>
      <a:accent5>
        <a:srgbClr val="FBEAE5"/>
      </a:accent5>
      <a:accent6>
        <a:srgbClr val="D5DDE4"/>
      </a:accent6>
      <a:hlink>
        <a:srgbClr val="0A8A7A"/>
      </a:hlink>
      <a:folHlink>
        <a:srgbClr val="5A6B7B"/>
      </a:folHlink>
    </a:clrScheme>
    <a:fontScheme name="Postverarbeitu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Digitalisierung der internen Postverarbeitung – Projektvorstellung</dc:title>
  <dc:subject>Requirements Engineering HS26, PVA 2, Stakeholder-Rolle</dc:subject>
  <dc:creator>Gruppe 9</dc:creator>
  <cp:lastModifiedBy>Gruppe 9</cp:lastModifiedBy>
  <cp:revision>1</cp:revision>
  <dcterms:created xsi:type="dcterms:W3CDTF">2026-10-18T11:37:32Z</dcterms:created>
  <dcterms:modified xsi:type="dcterms:W3CDTF">2026-10-18T11:37:32Z</dcterms:modified>
</cp:coreProperties>
</file>