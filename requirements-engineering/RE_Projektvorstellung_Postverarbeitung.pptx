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486af42b-f60f-71ac-d5ff-25b5e5111113}">
          <p14:sldIdLst>
            <p14:sldId id="256"/>
          </p14:sldIdLst>
        </p14:section>
        <p14:section name="Ausgangslage" id="{3ceebf98-7a61-4e3c-2be7-2e4e378a9d32}">
          <p14:sldIdLst>
            <p14:sldId id="257"/>
            <p14:sldId id="258"/>
            <p14:sldId id="259"/>
          </p14:sldIdLst>
        </p14:section>
        <p14:section name="Vision" id="{16ed15d6-293b-abac-3014-0803b743efdc}">
          <p14:sldIdLst>
            <p14:sldId id="260"/>
            <p14:sldId id="261"/>
          </p14:sldIdLst>
        </p14:section>
        <p14:section name="Auftrag" id="{b505c8a9-cc81-0183-ce10-2110e37d4377}">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Guten Tag. Wir sind heute in der Rolle des Auftraggebers: die Musterbank Mittelland AG, ein fiktives Fallbeispiel. Unser Projekt heisst «Digitalisierung der internen Postverarbeitung». Die Kernidee steht auf der Folie: ein Posteingang, alles digital. In den nächsten fünf Minuten zeigen wir, wie die Post heute durch die Bank wandert, wo es hakt, wie wir uns die Zukunft grob vorstellen und was wir von euch als RE-Team erwarten.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zu uns: Die Musterbank Mittelland AG ist eine regionale Universalbank mit Hauptsitz in Olten und vierzehn Geschäftsstellen in den Kantonen Solothurn, Aargau und Bern. Für unser Projekt zählen vor allem zwei Gruppen: rund 120 Kundenberaterinnen und Kundenberater in Teams und das zentrale Backoffice «Operations» mit rund 70 Personen. Pro Tag kommen etwa 360 Kundendokumente per Post zurück – Kontoeröffnungen, Vollmachten, Kreditunterlagen. Alle Angaben sind Annahmen unseres Fallbeispiels.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läuft es heute: Die Kundenberaterin schickt dem Kunden Unterlagen per Post. Der Kunde ergänzt, unterschreibt und schickt sie zurück – und zwar direkt an die Kundenberaterin. Sie kontrolliert die Unterlagen und gibt sie in den internen Postlauf. Der Kurier fährt einmal pro Tag, zugestellt wird am Folgetag. Erst dann kann das Backoffice arbeiten. Die roten Punkte zeigen, wo es hakt: Ist die Kundenberaterin abwesend, bleibt die Post liegen. Im Postlauf wird verspätet, falsch zugeordnet oder sogar etwas verloren. Und wenn das Backoffice merkt, dass etwas fehlt, beginnt die Runde per Post von vorne.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bedeutet das für uns? Fünf Probleme spüren wir im Alltag. Erstens Verzögerungen: Bis eine Rücksendung im Backoffice ankommt, vergeht viel Zeit. Zweitens Fehler und Verlust: Dokumente landen beim falschen Team, kommen zu spät oder sind unauffindbar – bei Kundendokumenten einer Bank ist das heikel. Drittens Rückfragen: Fehlt eine Unterschrift oder Beilage, geht alles wieder per Post hin und her. Viertens hängen wir am internen Postlauf und daran, dass die Kundenberaterin da ist. Und fünftens fehlt die Transparenz: Niemand sieht, wo ein Dokument gerade liegt. Wie gross diese Probleme genau sind, möchten wir mit euch zusammen herausfinden.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stellen wir uns die Zukunft vor? Nur grob – die Details sollt ihr mit uns erarbeiten. Am Kundenkontakt ändert sich nichts: Unterlagen gehen weiterhin per Post an den Kunden. Neu kommt die Rücksendung aber nicht mehr zur Kundenberaterin, sondern an einen zentralen Posteingang. Ab dort liegen die Dokumente digital vor – in einer Software, in der alles zusammenkommt. Die Kundenberatung prüft und klärt Fehler, und das Backoffice erhält den Vorgang digital. Der interne Postlauf entfällt. Besonders wichtig ist uns: Auch wenn jemand abwesend ist, darf nichts liegen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wünschen wir uns? Wir formulieren das bewusst als Bedürfnisse, nicht als Anforderungen – die erarbeitet ihr mit unseren Stakeholdern. Wir wollen alles an einem Ort haben und nichts mehr suchen müssen. Es soll nichts liegen bleiben, auch wenn jemand fehlt. Fehler und fehlende Unterlagen sollen früher auffallen und schneller geklärt sein. Die Unterlagen sollen schneller ins Backoffice kommen, ohne den Umweg über den Postlauf. Wir wollen jederzeit wissen, wo etwas steht. Und alles muss sicher und vertraulich sein – wir sind eine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Damit zu unserem Auftrag an euch als RE-Team. Erstens: Ermittelt die Bedürfnisse unserer Stakeholder – Kundenberatung, Posteingang und Backoffice. Zweitens: Klärt die Zugriffsrechte – wer darf welche Vorgänge sehen und bearbeiten, gerade bei Team und Stellvertretung. Drittens: Beschreibt die Abläufe, auch Korrekturen, Rückfragen und Ausnahmen. Viertens: Macht unsere Qualitätsziele messbar – wir haben bisher nur ein Gefühl, keine Messung. Rechts seht ihr unsere Ansprechpersonen. Wir sehen uns in der PVA 5 zum direkten Austausch – dort beantworten wir gerne alle Detailfragen –, in der PVA 6 zum Zwischenstand und in der PVA 9 oder 10 zur Präsentation und Spezifikation.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zusammengefasst: Wir wollen die Software, in der alles reinkommt und bearbeitet wird – ein Posteingang, alles digital, und nichts bleibt mehr liegen. Vielen Dank – wir freuen uns auf eure Fragen und auf die Zusammenarbeit.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rtlCol="0"/>
          <a:lstStyle>
            <a:lvl1pPr indent="0" marL="0">
              <a:buNone/>
              <a:defRPr lang="en-US" sz="1700" dirty="0">
                <a:solidFill>
                  <a:schemeClr val="tx2"/>
                </a:solidFill>
              </a:defRPr>
            </a:lvl1pPr>
          </a:lstStyle>
          <a:p>
            <a:pPr indent="0" marL="0">
              <a:buNone/>
            </a:pPr>
            <a:endParaRPr lang="en-US" sz="1700" dirty="0"/>
          </a:p>
        </p:txBody>
      </p:sp>
      <p:sp>
        <p:nvSpPr>
          <p:cNvPr id="5" name="Text 0"/>
          <p:cNvSpPr/>
          <p:nvPr/>
        </p:nvSpPr>
        <p:spPr>
          <a:xfrm>
            <a:off x="548640" y="6382512"/>
            <a:ext cx="8686800" cy="274320"/>
          </a:xfrm>
          <a:prstGeom prst="rect">
            <a:avLst/>
          </a:prstGeom>
          <a:noFill/>
          <a:ln/>
        </p:spPr>
        <p:txBody>
          <a:bodyPr wrap="square" lIns="0" tIns="0" rIns="0" bIns="0" rtlCol="0" anchor="t"/>
          <a:lstStyle/>
          <a:p>
            <a:pPr indent="0" marL="0">
              <a:buNone/>
            </a:pPr>
            <a:r>
              <a:rPr lang="en-US" sz="1000" dirty="0">
                <a:solidFill>
                  <a:schemeClr val="tx2"/>
                </a:solidFill>
              </a:rPr>
              <a:t>Musterbank Mittelland AG (fiktiv) · Digitalisierung der internen Postverarbeitung · PVA 2</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097280"/>
            <a:ext cx="64008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PROJEKTVORSTELLUNG · AUFTRAGGEBER</a:t>
            </a:r>
            <a:endParaRPr lang="en-US" sz="1300" dirty="0"/>
          </a:p>
        </p:txBody>
      </p:sp>
      <p:sp>
        <p:nvSpPr>
          <p:cNvPr id="3" name="Text 1"/>
          <p:cNvSpPr txBox="1"/>
          <p:nvPr/>
        </p:nvSpPr>
        <p:spPr>
          <a:xfrm>
            <a:off x="640080" y="1600200"/>
            <a:ext cx="6583680" cy="1920240"/>
          </a:xfrm>
          <a:prstGeom prst="rect">
            <a:avLst/>
          </a:prstGeom>
          <a:noFill/>
          <a:ln/>
        </p:spPr>
        <p:txBody>
          <a:bodyPr wrap="square" lIns="0" tIns="0" rIns="0" bIns="0" rtlCol="0" anchor="t"/>
          <a:lstStyle/>
          <a:p>
            <a:pPr indent="0" marL="0">
              <a:lnSpc>
                <a:spcPct val="95000"/>
              </a:lnSpc>
              <a:buNone/>
            </a:pPr>
            <a:r>
              <a:rPr lang="en-US" sz="5400" b="1" dirty="0">
                <a:solidFill>
                  <a:schemeClr val="bg1"/>
                </a:solidFill>
              </a:rPr>
              <a:t>Ein Posteingang.</a:t>
            </a:r>
            <a:endParaRPr lang="en-US" sz="5400" dirty="0"/>
          </a:p>
          <a:p>
            <a:pPr indent="0" marL="0">
              <a:lnSpc>
                <a:spcPct val="95000"/>
              </a:lnSpc>
              <a:buNone/>
            </a:pPr>
            <a:r>
              <a:rPr lang="en-US" sz="5400" b="1" dirty="0">
                <a:solidFill>
                  <a:schemeClr val="bg1"/>
                </a:solidFill>
              </a:rPr>
              <a:t>Alles digital.</a:t>
            </a:r>
            <a:endParaRPr lang="en-US" sz="5400" dirty="0"/>
          </a:p>
        </p:txBody>
      </p:sp>
      <p:sp>
        <p:nvSpPr>
          <p:cNvPr id="4" name="Text 2"/>
          <p:cNvSpPr txBox="1"/>
          <p:nvPr/>
        </p:nvSpPr>
        <p:spPr>
          <a:xfrm>
            <a:off x="640080" y="3657600"/>
            <a:ext cx="6400800" cy="457200"/>
          </a:xfrm>
          <a:prstGeom prst="rect">
            <a:avLst/>
          </a:prstGeom>
          <a:noFill/>
          <a:ln/>
        </p:spPr>
        <p:txBody>
          <a:bodyPr wrap="square" lIns="0" tIns="0" rIns="0" bIns="0" rtlCol="0" anchor="t"/>
          <a:lstStyle/>
          <a:p>
            <a:pPr indent="0" marL="0">
              <a:buNone/>
            </a:pPr>
            <a:r>
              <a:rPr lang="en-US" sz="2200" dirty="0">
                <a:solidFill>
                  <a:schemeClr val="bg1"/>
                </a:solidFill>
              </a:rPr>
              <a:t>Digitalisierung der internen Postverarbeitung</a:t>
            </a:r>
            <a:endParaRPr lang="en-US" sz="2200" dirty="0"/>
          </a:p>
        </p:txBody>
      </p:sp>
      <p:sp>
        <p:nvSpPr>
          <p:cNvPr id="5" name="Text 3"/>
          <p:cNvSpPr txBox="1"/>
          <p:nvPr/>
        </p:nvSpPr>
        <p:spPr>
          <a:xfrm>
            <a:off x="640080" y="4114800"/>
            <a:ext cx="6400800" cy="365760"/>
          </a:xfrm>
          <a:prstGeom prst="rect">
            <a:avLst/>
          </a:prstGeom>
          <a:noFill/>
          <a:ln/>
        </p:spPr>
        <p:txBody>
          <a:bodyPr wrap="square" lIns="0" tIns="0" rIns="0" bIns="0" rtlCol="0" anchor="t"/>
          <a:lstStyle/>
          <a:p>
            <a:pPr indent="0" marL="0">
              <a:buNone/>
            </a:pPr>
            <a:r>
              <a:rPr lang="en-US" sz="1600" dirty="0">
                <a:solidFill>
                  <a:schemeClr val="accent3"/>
                </a:solidFill>
              </a:rPr>
              <a:t>Musterbank Mittelland AG · fiktives Fallbeispiel</a:t>
            </a:r>
            <a:endParaRPr lang="en-US" sz="1600" dirty="0"/>
          </a:p>
        </p:txBody>
      </p:sp>
      <p:sp>
        <p:nvSpPr>
          <p:cNvPr id="6" name="Text 4"/>
          <p:cNvSpPr txBox="1"/>
          <p:nvPr/>
        </p:nvSpPr>
        <p:spPr>
          <a:xfrm>
            <a:off x="640080" y="598932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Requirements Engineering HS26 · PVA 2 · Gruppe 9 · Görkem Taspinar, Ardian Ibrahimaj</a:t>
            </a:r>
            <a:endParaRPr lang="en-US" sz="1200" dirty="0"/>
          </a:p>
        </p:txBody>
      </p:sp>
      <p:sp>
        <p:nvSpPr>
          <p:cNvPr id="7" name="Motiv Linie"/>
          <p:cNvSpPr/>
          <p:nvPr/>
        </p:nvSpPr>
        <p:spPr>
          <a:xfrm>
            <a:off x="9212580" y="1485900"/>
            <a:ext cx="0" cy="3703320"/>
          </a:xfrm>
          <a:prstGeom prst="line">
            <a:avLst/>
          </a:prstGeom>
          <a:noFill/>
          <a:ln w="19050">
            <a:solidFill>
              <a:schemeClr val="accent3"/>
            </a:solidFill>
            <a:prstDash val="dash"/>
          </a:ln>
        </p:spPr>
      </p:sp>
      <p:sp>
        <p:nvSpPr>
          <p:cNvPr id="8" name="Motiv Rücksendung"/>
          <p:cNvSpPr/>
          <p:nvPr/>
        </p:nvSpPr>
        <p:spPr>
          <a:xfrm>
            <a:off x="8778240" y="1051560"/>
            <a:ext cx="868680" cy="868680"/>
          </a:xfrm>
          <a:prstGeom prst="ellipse">
            <a:avLst/>
          </a:prstGeom>
          <a:solidFill>
            <a:schemeClr val="tx1"/>
          </a:solidFill>
          <a:ln w="25400">
            <a:solidFill>
              <a:schemeClr val="accent3"/>
            </a:solidFill>
            <a:prstDash val="solid"/>
          </a:ln>
        </p:spPr>
      </p:sp>
      <p:pic>
        <p:nvPicPr>
          <p:cNvPr id="9" name="Image 0" descr="Rücksendung">    </p:cNvPr>
          <p:cNvPicPr>
            <a:picLocks noChangeAspect="1"/>
          </p:cNvPicPr>
          <p:nvPr/>
        </p:nvPicPr>
        <p:blipFill>
          <a:blip r:embed="rId1"/>
          <a:stretch>
            <a:fillRect/>
          </a:stretch>
        </p:blipFill>
        <p:spPr>
          <a:xfrm>
            <a:off x="9006840" y="1280160"/>
            <a:ext cx="411480" cy="411480"/>
          </a:xfrm>
          <a:prstGeom prst="rect">
            <a:avLst/>
          </a:prstGeom>
        </p:spPr>
      </p:pic>
      <p:sp>
        <p:nvSpPr>
          <p:cNvPr id="10" name="Text 7"/>
          <p:cNvSpPr txBox="1"/>
          <p:nvPr/>
        </p:nvSpPr>
        <p:spPr>
          <a:xfrm>
            <a:off x="9921240" y="1298448"/>
            <a:ext cx="2011680" cy="384048"/>
          </a:xfrm>
          <a:prstGeom prst="rect">
            <a:avLst/>
          </a:prstGeom>
          <a:noFill/>
          <a:ln/>
        </p:spPr>
        <p:txBody>
          <a:bodyPr wrap="square" lIns="0" tIns="0" rIns="0" bIns="0" rtlCol="0" anchor="ctr"/>
          <a:lstStyle/>
          <a:p>
            <a:pPr indent="0" marL="0">
              <a:buNone/>
            </a:pPr>
            <a:r>
              <a:rPr lang="en-US" sz="1600" dirty="0">
                <a:solidFill>
                  <a:schemeClr val="bg1"/>
                </a:solidFill>
              </a:rPr>
              <a:t>Rücksendung</a:t>
            </a:r>
            <a:endParaRPr lang="en-US" sz="1600" dirty="0"/>
          </a:p>
        </p:txBody>
      </p:sp>
      <p:sp>
        <p:nvSpPr>
          <p:cNvPr id="11" name="Motiv Scan"/>
          <p:cNvSpPr/>
          <p:nvPr/>
        </p:nvSpPr>
        <p:spPr>
          <a:xfrm>
            <a:off x="8778240" y="2286000"/>
            <a:ext cx="868680" cy="868680"/>
          </a:xfrm>
          <a:prstGeom prst="ellipse">
            <a:avLst/>
          </a:prstGeom>
          <a:solidFill>
            <a:schemeClr val="tx1"/>
          </a:solidFill>
          <a:ln w="25400">
            <a:solidFill>
              <a:schemeClr val="accent3"/>
            </a:solidFill>
            <a:prstDash val="solid"/>
          </a:ln>
        </p:spPr>
      </p:sp>
      <p:pic>
        <p:nvPicPr>
          <p:cNvPr id="12" name="Image 1" descr="Scan">    </p:cNvPr>
          <p:cNvPicPr>
            <a:picLocks noChangeAspect="1"/>
          </p:cNvPicPr>
          <p:nvPr/>
        </p:nvPicPr>
        <p:blipFill>
          <a:blip r:embed="rId2"/>
          <a:stretch>
            <a:fillRect/>
          </a:stretch>
        </p:blipFill>
        <p:spPr>
          <a:xfrm>
            <a:off x="9006840" y="2514600"/>
            <a:ext cx="411480" cy="411480"/>
          </a:xfrm>
          <a:prstGeom prst="rect">
            <a:avLst/>
          </a:prstGeom>
        </p:spPr>
      </p:pic>
      <p:sp>
        <p:nvSpPr>
          <p:cNvPr id="13" name="Text 9"/>
          <p:cNvSpPr txBox="1"/>
          <p:nvPr/>
        </p:nvSpPr>
        <p:spPr>
          <a:xfrm>
            <a:off x="9921240" y="2532888"/>
            <a:ext cx="2011680" cy="384048"/>
          </a:xfrm>
          <a:prstGeom prst="rect">
            <a:avLst/>
          </a:prstGeom>
          <a:noFill/>
          <a:ln/>
        </p:spPr>
        <p:txBody>
          <a:bodyPr wrap="square" lIns="0" tIns="0" rIns="0" bIns="0" rtlCol="0" anchor="ctr"/>
          <a:lstStyle/>
          <a:p>
            <a:pPr indent="0" marL="0">
              <a:buNone/>
            </a:pPr>
            <a:r>
              <a:rPr lang="en-US" sz="1600" dirty="0">
                <a:solidFill>
                  <a:schemeClr val="bg1"/>
                </a:solidFill>
              </a:rPr>
              <a:t>Scan</a:t>
            </a:r>
            <a:endParaRPr lang="en-US" sz="1600" dirty="0"/>
          </a:p>
        </p:txBody>
      </p:sp>
      <p:sp>
        <p:nvSpPr>
          <p:cNvPr id="14" name="Motiv Inbox"/>
          <p:cNvSpPr/>
          <p:nvPr/>
        </p:nvSpPr>
        <p:spPr>
          <a:xfrm>
            <a:off x="8778240" y="3520440"/>
            <a:ext cx="868680" cy="868680"/>
          </a:xfrm>
          <a:prstGeom prst="ellipse">
            <a:avLst/>
          </a:prstGeom>
          <a:solidFill>
            <a:schemeClr val="tx1"/>
          </a:solidFill>
          <a:ln w="25400">
            <a:solidFill>
              <a:schemeClr val="accent3"/>
            </a:solidFill>
            <a:prstDash val="solid"/>
          </a:ln>
        </p:spPr>
      </p:sp>
      <p:pic>
        <p:nvPicPr>
          <p:cNvPr id="15" name="Image 2" descr="Inbox">    </p:cNvPr>
          <p:cNvPicPr>
            <a:picLocks noChangeAspect="1"/>
          </p:cNvPicPr>
          <p:nvPr/>
        </p:nvPicPr>
        <p:blipFill>
          <a:blip r:embed="rId3"/>
          <a:stretch>
            <a:fillRect/>
          </a:stretch>
        </p:blipFill>
        <p:spPr>
          <a:xfrm>
            <a:off x="9006840" y="3749040"/>
            <a:ext cx="411480" cy="411480"/>
          </a:xfrm>
          <a:prstGeom prst="rect">
            <a:avLst/>
          </a:prstGeom>
        </p:spPr>
      </p:pic>
      <p:sp>
        <p:nvSpPr>
          <p:cNvPr id="16" name="Text 11"/>
          <p:cNvSpPr txBox="1"/>
          <p:nvPr/>
        </p:nvSpPr>
        <p:spPr>
          <a:xfrm>
            <a:off x="9921240" y="3767328"/>
            <a:ext cx="2011680" cy="384048"/>
          </a:xfrm>
          <a:prstGeom prst="rect">
            <a:avLst/>
          </a:prstGeom>
          <a:noFill/>
          <a:ln/>
        </p:spPr>
        <p:txBody>
          <a:bodyPr wrap="square" lIns="0" tIns="0" rIns="0" bIns="0" rtlCol="0" anchor="ctr"/>
          <a:lstStyle/>
          <a:p>
            <a:pPr indent="0" marL="0">
              <a:buNone/>
            </a:pPr>
            <a:r>
              <a:rPr lang="en-US" sz="1600" dirty="0">
                <a:solidFill>
                  <a:schemeClr val="bg1"/>
                </a:solidFill>
              </a:rPr>
              <a:t>Inbox</a:t>
            </a:r>
            <a:endParaRPr lang="en-US" sz="1600" dirty="0"/>
          </a:p>
        </p:txBody>
      </p:sp>
      <p:sp>
        <p:nvSpPr>
          <p:cNvPr id="17" name="Motiv Backoffice"/>
          <p:cNvSpPr/>
          <p:nvPr/>
        </p:nvSpPr>
        <p:spPr>
          <a:xfrm>
            <a:off x="8778240" y="4754880"/>
            <a:ext cx="868680" cy="868680"/>
          </a:xfrm>
          <a:prstGeom prst="ellipse">
            <a:avLst/>
          </a:prstGeom>
          <a:solidFill>
            <a:schemeClr val="tx1"/>
          </a:solidFill>
          <a:ln w="25400">
            <a:solidFill>
              <a:schemeClr val="accent3"/>
            </a:solidFill>
            <a:prstDash val="solid"/>
          </a:ln>
        </p:spPr>
      </p:sp>
      <p:pic>
        <p:nvPicPr>
          <p:cNvPr id="18" name="Image 3" descr="Backoffice">    </p:cNvPr>
          <p:cNvPicPr>
            <a:picLocks noChangeAspect="1"/>
          </p:cNvPicPr>
          <p:nvPr/>
        </p:nvPicPr>
        <p:blipFill>
          <a:blip r:embed="rId4"/>
          <a:stretch>
            <a:fillRect/>
          </a:stretch>
        </p:blipFill>
        <p:spPr>
          <a:xfrm>
            <a:off x="9006840" y="4983480"/>
            <a:ext cx="411480" cy="411480"/>
          </a:xfrm>
          <a:prstGeom prst="rect">
            <a:avLst/>
          </a:prstGeom>
        </p:spPr>
      </p:pic>
      <p:sp>
        <p:nvSpPr>
          <p:cNvPr id="19" name="Text 13"/>
          <p:cNvSpPr txBox="1"/>
          <p:nvPr/>
        </p:nvSpPr>
        <p:spPr>
          <a:xfrm>
            <a:off x="9921240" y="5001768"/>
            <a:ext cx="2011680" cy="384048"/>
          </a:xfrm>
          <a:prstGeom prst="rect">
            <a:avLst/>
          </a:prstGeom>
          <a:noFill/>
          <a:ln/>
        </p:spPr>
        <p:txBody>
          <a:bodyPr wrap="square" lIns="0" tIns="0" rIns="0" bIns="0" rtlCol="0" anchor="ctr"/>
          <a:lstStyle/>
          <a:p>
            <a:pPr indent="0" marL="0">
              <a:buNone/>
            </a:pPr>
            <a:r>
              <a:rPr lang="en-US" sz="1600" dirty="0">
                <a:solidFill>
                  <a:schemeClr val="bg1"/>
                </a:solidFill>
              </a:rPr>
              <a:t>Backoffice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WER WIR SIND</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Musterbank Mittelland AG</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Regionale Universalbank mit Hauptsitz in Olten – ein fiktives Fallbeispiel.</a:t>
            </a:r>
            <a:endParaRPr lang="en-US" sz="1700" dirty="0"/>
          </a:p>
        </p:txBody>
      </p:sp>
      <p:sp>
        <p:nvSpPr>
          <p:cNvPr id="5" name="Kennzahl Geschäftsstellen"/>
          <p:cNvSpPr/>
          <p:nvPr/>
        </p:nvSpPr>
        <p:spPr>
          <a:xfrm>
            <a:off x="548640" y="2148840"/>
            <a:ext cx="2567864" cy="3383280"/>
          </a:xfrm>
          <a:prstGeom prst="roundRect">
            <a:avLst>
              <a:gd name="adj" fmla="val 4273"/>
            </a:avLst>
          </a:prstGeom>
          <a:solidFill>
            <a:schemeClr val="bg2"/>
          </a:solidFill>
          <a:ln/>
        </p:spPr>
      </p:sp>
      <p:sp>
        <p:nvSpPr>
          <p:cNvPr id="6" name="Icon Geschäftsstellen Kreis"/>
          <p:cNvSpPr/>
          <p:nvPr/>
        </p:nvSpPr>
        <p:spPr>
          <a:xfrm>
            <a:off x="868680" y="2514600"/>
            <a:ext cx="685800" cy="685800"/>
          </a:xfrm>
          <a:prstGeom prst="ellipse">
            <a:avLst/>
          </a:prstGeom>
          <a:solidFill>
            <a:schemeClr val="accent1"/>
          </a:solidFill>
          <a:ln/>
        </p:spPr>
      </p:sp>
      <p:pic>
        <p:nvPicPr>
          <p:cNvPr id="7" name="Icon Geschäftsstellen" descr="MapPin">    </p:cNvPr>
          <p:cNvPicPr>
            <a:picLocks noChangeAspect="1"/>
          </p:cNvPicPr>
          <p:nvPr/>
        </p:nvPicPr>
        <p:blipFill>
          <a:blip r:embed="rId1"/>
          <a:stretch>
            <a:fillRect/>
          </a:stretch>
        </p:blipFill>
        <p:spPr>
          <a:xfrm>
            <a:off x="1040130" y="2686050"/>
            <a:ext cx="342900" cy="342900"/>
          </a:xfrm>
          <a:prstGeom prst="rect">
            <a:avLst/>
          </a:prstGeom>
        </p:spPr>
      </p:pic>
      <p:sp>
        <p:nvSpPr>
          <p:cNvPr id="8" name="Text 5"/>
          <p:cNvSpPr txBox="1"/>
          <p:nvPr/>
        </p:nvSpPr>
        <p:spPr>
          <a:xfrm>
            <a:off x="868680"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14</a:t>
            </a:r>
            <a:endParaRPr lang="en-US" sz="4800" dirty="0"/>
          </a:p>
        </p:txBody>
      </p:sp>
      <p:sp>
        <p:nvSpPr>
          <p:cNvPr id="9" name="Text 6"/>
          <p:cNvSpPr txBox="1"/>
          <p:nvPr/>
        </p:nvSpPr>
        <p:spPr>
          <a:xfrm>
            <a:off x="868680"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Geschäftsstellen</a:t>
            </a:r>
            <a:endParaRPr lang="en-US" sz="1600" dirty="0"/>
          </a:p>
        </p:txBody>
      </p:sp>
      <p:sp>
        <p:nvSpPr>
          <p:cNvPr id="10" name="Text 7"/>
          <p:cNvSpPr txBox="1"/>
          <p:nvPr/>
        </p:nvSpPr>
        <p:spPr>
          <a:xfrm>
            <a:off x="868680"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SO, AG, BE</a:t>
            </a:r>
            <a:endParaRPr lang="en-US" sz="1400" dirty="0"/>
          </a:p>
        </p:txBody>
      </p:sp>
      <p:sp>
        <p:nvSpPr>
          <p:cNvPr id="11" name="Kennzahl Kundenberater:innen"/>
          <p:cNvSpPr/>
          <p:nvPr/>
        </p:nvSpPr>
        <p:spPr>
          <a:xfrm>
            <a:off x="3390824" y="2148840"/>
            <a:ext cx="2567864" cy="3383280"/>
          </a:xfrm>
          <a:prstGeom prst="roundRect">
            <a:avLst>
              <a:gd name="adj" fmla="val 4273"/>
            </a:avLst>
          </a:prstGeom>
          <a:solidFill>
            <a:schemeClr val="bg2"/>
          </a:solidFill>
          <a:ln/>
        </p:spPr>
      </p:sp>
      <p:sp>
        <p:nvSpPr>
          <p:cNvPr id="12" name="Icon Kundenberater:innen Kreis"/>
          <p:cNvSpPr/>
          <p:nvPr/>
        </p:nvSpPr>
        <p:spPr>
          <a:xfrm>
            <a:off x="3710864" y="2514600"/>
            <a:ext cx="685800" cy="685800"/>
          </a:xfrm>
          <a:prstGeom prst="ellipse">
            <a:avLst/>
          </a:prstGeom>
          <a:solidFill>
            <a:schemeClr val="accent1"/>
          </a:solidFill>
          <a:ln/>
        </p:spPr>
      </p:sp>
      <p:pic>
        <p:nvPicPr>
          <p:cNvPr id="13" name="Icon Kundenberater:innen" descr="Users">    </p:cNvPr>
          <p:cNvPicPr>
            <a:picLocks noChangeAspect="1"/>
          </p:cNvPicPr>
          <p:nvPr/>
        </p:nvPicPr>
        <p:blipFill>
          <a:blip r:embed="rId2"/>
          <a:stretch>
            <a:fillRect/>
          </a:stretch>
        </p:blipFill>
        <p:spPr>
          <a:xfrm>
            <a:off x="3882314" y="2686050"/>
            <a:ext cx="342900" cy="342900"/>
          </a:xfrm>
          <a:prstGeom prst="rect">
            <a:avLst/>
          </a:prstGeom>
        </p:spPr>
      </p:pic>
      <p:sp>
        <p:nvSpPr>
          <p:cNvPr id="14" name="Text 10"/>
          <p:cNvSpPr txBox="1"/>
          <p:nvPr/>
        </p:nvSpPr>
        <p:spPr>
          <a:xfrm>
            <a:off x="3710864"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~120</a:t>
            </a:r>
            <a:endParaRPr lang="en-US" sz="4800" dirty="0"/>
          </a:p>
        </p:txBody>
      </p:sp>
      <p:sp>
        <p:nvSpPr>
          <p:cNvPr id="15" name="Text 11"/>
          <p:cNvSpPr txBox="1"/>
          <p:nvPr/>
        </p:nvSpPr>
        <p:spPr>
          <a:xfrm>
            <a:off x="3710864"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Kundenberater:innen</a:t>
            </a:r>
            <a:endParaRPr lang="en-US" sz="1600" dirty="0"/>
          </a:p>
        </p:txBody>
      </p:sp>
      <p:sp>
        <p:nvSpPr>
          <p:cNvPr id="16" name="Text 12"/>
          <p:cNvSpPr txBox="1"/>
          <p:nvPr/>
        </p:nvSpPr>
        <p:spPr>
          <a:xfrm>
            <a:off x="3710864"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in Teams à 6–10</a:t>
            </a:r>
            <a:endParaRPr lang="en-US" sz="1400" dirty="0"/>
          </a:p>
        </p:txBody>
      </p:sp>
      <p:sp>
        <p:nvSpPr>
          <p:cNvPr id="17" name="Kennzahl Mitarbeitende im Backoffice"/>
          <p:cNvSpPr/>
          <p:nvPr/>
        </p:nvSpPr>
        <p:spPr>
          <a:xfrm>
            <a:off x="6233008" y="2148840"/>
            <a:ext cx="2567864" cy="3383280"/>
          </a:xfrm>
          <a:prstGeom prst="roundRect">
            <a:avLst>
              <a:gd name="adj" fmla="val 4273"/>
            </a:avLst>
          </a:prstGeom>
          <a:solidFill>
            <a:schemeClr val="bg2"/>
          </a:solidFill>
          <a:ln/>
        </p:spPr>
      </p:sp>
      <p:sp>
        <p:nvSpPr>
          <p:cNvPr id="18" name="Icon Mitarbeitende im Backoffice Kreis"/>
          <p:cNvSpPr/>
          <p:nvPr/>
        </p:nvSpPr>
        <p:spPr>
          <a:xfrm>
            <a:off x="6553048" y="2514600"/>
            <a:ext cx="685800" cy="685800"/>
          </a:xfrm>
          <a:prstGeom prst="ellipse">
            <a:avLst/>
          </a:prstGeom>
          <a:solidFill>
            <a:schemeClr val="accent1"/>
          </a:solidFill>
          <a:ln/>
        </p:spPr>
      </p:sp>
      <p:pic>
        <p:nvPicPr>
          <p:cNvPr id="19" name="Icon Mitarbeitende im Backoffice" descr="Building2">    </p:cNvPr>
          <p:cNvPicPr>
            <a:picLocks noChangeAspect="1"/>
          </p:cNvPicPr>
          <p:nvPr/>
        </p:nvPicPr>
        <p:blipFill>
          <a:blip r:embed="rId3"/>
          <a:stretch>
            <a:fillRect/>
          </a:stretch>
        </p:blipFill>
        <p:spPr>
          <a:xfrm>
            <a:off x="6724498" y="2686050"/>
            <a:ext cx="342900" cy="342900"/>
          </a:xfrm>
          <a:prstGeom prst="rect">
            <a:avLst/>
          </a:prstGeom>
        </p:spPr>
      </p:pic>
      <p:sp>
        <p:nvSpPr>
          <p:cNvPr id="20" name="Text 15"/>
          <p:cNvSpPr txBox="1"/>
          <p:nvPr/>
        </p:nvSpPr>
        <p:spPr>
          <a:xfrm>
            <a:off x="6553048"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~70</a:t>
            </a:r>
            <a:endParaRPr lang="en-US" sz="4800" dirty="0"/>
          </a:p>
        </p:txBody>
      </p:sp>
      <p:sp>
        <p:nvSpPr>
          <p:cNvPr id="21" name="Text 16"/>
          <p:cNvSpPr txBox="1"/>
          <p:nvPr/>
        </p:nvSpPr>
        <p:spPr>
          <a:xfrm>
            <a:off x="6553048"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Mitarbeitende im Backoffice</a:t>
            </a:r>
            <a:endParaRPr lang="en-US" sz="1600" dirty="0"/>
          </a:p>
        </p:txBody>
      </p:sp>
      <p:sp>
        <p:nvSpPr>
          <p:cNvPr id="22" name="Text 17"/>
          <p:cNvSpPr txBox="1"/>
          <p:nvPr/>
        </p:nvSpPr>
        <p:spPr>
          <a:xfrm>
            <a:off x="6553048"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«Operations», Olten</a:t>
            </a:r>
            <a:endParaRPr lang="en-US" sz="1400" dirty="0"/>
          </a:p>
        </p:txBody>
      </p:sp>
      <p:sp>
        <p:nvSpPr>
          <p:cNvPr id="23" name="Kennzahl Rücksendungen pro Arbeitstag"/>
          <p:cNvSpPr/>
          <p:nvPr/>
        </p:nvSpPr>
        <p:spPr>
          <a:xfrm>
            <a:off x="9075191" y="2148840"/>
            <a:ext cx="2567864" cy="3383280"/>
          </a:xfrm>
          <a:prstGeom prst="roundRect">
            <a:avLst>
              <a:gd name="adj" fmla="val 4273"/>
            </a:avLst>
          </a:prstGeom>
          <a:solidFill>
            <a:schemeClr val="bg2"/>
          </a:solidFill>
          <a:ln/>
        </p:spPr>
      </p:sp>
      <p:sp>
        <p:nvSpPr>
          <p:cNvPr id="24" name="Icon Rücksendungen pro Arbeitstag Kreis"/>
          <p:cNvSpPr/>
          <p:nvPr/>
        </p:nvSpPr>
        <p:spPr>
          <a:xfrm>
            <a:off x="9395231" y="2514600"/>
            <a:ext cx="685800" cy="685800"/>
          </a:xfrm>
          <a:prstGeom prst="ellipse">
            <a:avLst/>
          </a:prstGeom>
          <a:solidFill>
            <a:schemeClr val="accent1"/>
          </a:solidFill>
          <a:ln/>
        </p:spPr>
      </p:sp>
      <p:pic>
        <p:nvPicPr>
          <p:cNvPr id="25" name="Icon Rücksendungen pro Arbeitstag" descr="Mail">    </p:cNvPr>
          <p:cNvPicPr>
            <a:picLocks noChangeAspect="1"/>
          </p:cNvPicPr>
          <p:nvPr/>
        </p:nvPicPr>
        <p:blipFill>
          <a:blip r:embed="rId4"/>
          <a:stretch>
            <a:fillRect/>
          </a:stretch>
        </p:blipFill>
        <p:spPr>
          <a:xfrm>
            <a:off x="9566681" y="2686050"/>
            <a:ext cx="342900" cy="342900"/>
          </a:xfrm>
          <a:prstGeom prst="rect">
            <a:avLst/>
          </a:prstGeom>
        </p:spPr>
      </p:pic>
      <p:sp>
        <p:nvSpPr>
          <p:cNvPr id="26" name="Text 20"/>
          <p:cNvSpPr txBox="1"/>
          <p:nvPr/>
        </p:nvSpPr>
        <p:spPr>
          <a:xfrm>
            <a:off x="9395231" y="3429000"/>
            <a:ext cx="1927784" cy="868680"/>
          </a:xfrm>
          <a:prstGeom prst="rect">
            <a:avLst/>
          </a:prstGeom>
          <a:noFill/>
          <a:ln/>
        </p:spPr>
        <p:txBody>
          <a:bodyPr wrap="square" lIns="0" tIns="0" rIns="0" bIns="0" rtlCol="0" anchor="ctr"/>
          <a:lstStyle/>
          <a:p>
            <a:pPr indent="0" marL="0">
              <a:buNone/>
            </a:pPr>
            <a:r>
              <a:rPr lang="en-US" sz="4800" b="1" dirty="0">
                <a:solidFill>
                  <a:schemeClr val="tx1"/>
                </a:solidFill>
              </a:rPr>
              <a:t>~360</a:t>
            </a:r>
            <a:endParaRPr lang="en-US" sz="4800" dirty="0"/>
          </a:p>
        </p:txBody>
      </p:sp>
      <p:sp>
        <p:nvSpPr>
          <p:cNvPr id="27" name="Text 21"/>
          <p:cNvSpPr txBox="1"/>
          <p:nvPr/>
        </p:nvSpPr>
        <p:spPr>
          <a:xfrm>
            <a:off x="9395231" y="4343400"/>
            <a:ext cx="2019224" cy="640080"/>
          </a:xfrm>
          <a:prstGeom prst="rect">
            <a:avLst/>
          </a:prstGeom>
          <a:noFill/>
          <a:ln/>
        </p:spPr>
        <p:txBody>
          <a:bodyPr wrap="square" lIns="0" tIns="0" rIns="0" bIns="0" rtlCol="0" anchor="t"/>
          <a:lstStyle/>
          <a:p>
            <a:pPr indent="0" marL="0">
              <a:buNone/>
            </a:pPr>
            <a:r>
              <a:rPr lang="en-US" sz="1600" b="1" dirty="0">
                <a:solidFill>
                  <a:schemeClr val="tx1"/>
                </a:solidFill>
              </a:rPr>
              <a:t>Rücksendungen pro Arbeitstag</a:t>
            </a:r>
            <a:endParaRPr lang="en-US" sz="1600" dirty="0"/>
          </a:p>
        </p:txBody>
      </p:sp>
      <p:sp>
        <p:nvSpPr>
          <p:cNvPr id="28" name="Text 22"/>
          <p:cNvSpPr txBox="1"/>
          <p:nvPr/>
        </p:nvSpPr>
        <p:spPr>
          <a:xfrm>
            <a:off x="9395231" y="4983480"/>
            <a:ext cx="2019224" cy="320040"/>
          </a:xfrm>
          <a:prstGeom prst="rect">
            <a:avLst/>
          </a:prstGeom>
          <a:noFill/>
          <a:ln/>
        </p:spPr>
        <p:txBody>
          <a:bodyPr wrap="square" lIns="0" tIns="0" rIns="0" bIns="0" rtlCol="0" anchor="t"/>
          <a:lstStyle/>
          <a:p>
            <a:pPr indent="0" marL="0">
              <a:buNone/>
            </a:pPr>
            <a:r>
              <a:rPr lang="en-US" sz="1400" dirty="0">
                <a:solidFill>
                  <a:schemeClr val="tx2"/>
                </a:solidFill>
              </a:rPr>
              <a:t>ca. 1’800 pro Woche</a:t>
            </a:r>
            <a:endParaRPr lang="en-US" sz="1400" dirty="0"/>
          </a:p>
        </p:txBody>
      </p:sp>
      <p:sp>
        <p:nvSpPr>
          <p:cNvPr id="29" name="Text 2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chemeClr val="accent1"/>
                </a:solidFill>
              </a:rPr>
              <a:t>Annahme  </a:t>
            </a:r>
            <a:pPr indent="0" marL="0">
              <a:buNone/>
            </a:pPr>
            <a:r>
              <a:rPr lang="en-US" sz="1100" dirty="0">
                <a:solidFill>
                  <a:schemeClr val="tx2"/>
                </a:solidFill>
              </a:rPr>
              <a:t>Alle Angaben zur Bank sind fiktive Annahmen der Stakeholder-Rolle.</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IST-PROZESS</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Heute wandert Papier durchs Haus</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Rücksendungen landen beim Kundenberater und gehen per internem Postlauf weiter.</a:t>
            </a:r>
            <a:endParaRPr lang="en-US" sz="1700" dirty="0"/>
          </a:p>
        </p:txBody>
      </p:sp>
      <p:sp>
        <p:nvSpPr>
          <p:cNvPr id="5" name="Pfeil 1"/>
          <p:cNvSpPr/>
          <p:nvPr/>
        </p:nvSpPr>
        <p:spPr>
          <a:xfrm>
            <a:off x="2225010" y="2606040"/>
            <a:ext cx="1085027" cy="0"/>
          </a:xfrm>
          <a:prstGeom prst="line">
            <a:avLst/>
          </a:prstGeom>
          <a:noFill/>
          <a:ln w="25400">
            <a:solidFill>
              <a:schemeClr val="tx2"/>
            </a:solidFill>
            <a:prstDash val="solid"/>
            <a:tailEnd type="triangle"/>
          </a:ln>
        </p:spPr>
      </p:sp>
      <p:sp>
        <p:nvSpPr>
          <p:cNvPr id="6" name="Schritt 1 Kreis"/>
          <p:cNvSpPr/>
          <p:nvPr/>
        </p:nvSpPr>
        <p:spPr>
          <a:xfrm>
            <a:off x="1200882" y="2148840"/>
            <a:ext cx="914400" cy="914400"/>
          </a:xfrm>
          <a:prstGeom prst="ellipse">
            <a:avLst/>
          </a:prstGeom>
          <a:solidFill>
            <a:schemeClr val="tx1"/>
          </a:solidFill>
          <a:ln/>
        </p:spPr>
      </p:sp>
      <p:pic>
        <p:nvPicPr>
          <p:cNvPr id="7" name="Schritt 1" descr="User">    </p:cNvPr>
          <p:cNvPicPr>
            <a:picLocks noChangeAspect="1"/>
          </p:cNvPicPr>
          <p:nvPr/>
        </p:nvPicPr>
        <p:blipFill>
          <a:blip r:embed="rId1"/>
          <a:stretch>
            <a:fillRect/>
          </a:stretch>
        </p:blipFill>
        <p:spPr>
          <a:xfrm>
            <a:off x="1429482" y="2377440"/>
            <a:ext cx="457200" cy="457200"/>
          </a:xfrm>
          <a:prstGeom prst="rect">
            <a:avLst/>
          </a:prstGeom>
        </p:spPr>
      </p:pic>
      <p:sp>
        <p:nvSpPr>
          <p:cNvPr id="8" name="Text 5"/>
          <p:cNvSpPr txBox="1"/>
          <p:nvPr/>
        </p:nvSpPr>
        <p:spPr>
          <a:xfrm>
            <a:off x="640080"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Kundenberater:in</a:t>
            </a:r>
            <a:endParaRPr lang="en-US" sz="1600" dirty="0"/>
          </a:p>
        </p:txBody>
      </p:sp>
      <p:sp>
        <p:nvSpPr>
          <p:cNvPr id="9" name="Text 6"/>
          <p:cNvSpPr txBox="1"/>
          <p:nvPr/>
        </p:nvSpPr>
        <p:spPr>
          <a:xfrm>
            <a:off x="685800"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versendet Unterlagen</a:t>
            </a:r>
            <a:endParaRPr lang="en-US" sz="1300" dirty="0"/>
          </a:p>
        </p:txBody>
      </p:sp>
      <p:sp>
        <p:nvSpPr>
          <p:cNvPr id="10" name="Pfeil 2"/>
          <p:cNvSpPr/>
          <p:nvPr/>
        </p:nvSpPr>
        <p:spPr>
          <a:xfrm>
            <a:off x="4443893" y="2606040"/>
            <a:ext cx="1085027" cy="0"/>
          </a:xfrm>
          <a:prstGeom prst="line">
            <a:avLst/>
          </a:prstGeom>
          <a:noFill/>
          <a:ln w="25400">
            <a:solidFill>
              <a:schemeClr val="tx2"/>
            </a:solidFill>
            <a:prstDash val="solid"/>
            <a:tailEnd type="triangle"/>
          </a:ln>
        </p:spPr>
      </p:sp>
      <p:sp>
        <p:nvSpPr>
          <p:cNvPr id="11" name="Schritt 2 Kreis"/>
          <p:cNvSpPr/>
          <p:nvPr/>
        </p:nvSpPr>
        <p:spPr>
          <a:xfrm>
            <a:off x="3419765" y="2148840"/>
            <a:ext cx="914400" cy="914400"/>
          </a:xfrm>
          <a:prstGeom prst="ellipse">
            <a:avLst/>
          </a:prstGeom>
          <a:solidFill>
            <a:schemeClr val="tx1"/>
          </a:solidFill>
          <a:ln/>
        </p:spPr>
      </p:sp>
      <p:pic>
        <p:nvPicPr>
          <p:cNvPr id="12" name="Schritt 2" descr="MailOpen">    </p:cNvPr>
          <p:cNvPicPr>
            <a:picLocks noChangeAspect="1"/>
          </p:cNvPicPr>
          <p:nvPr/>
        </p:nvPicPr>
        <p:blipFill>
          <a:blip r:embed="rId2"/>
          <a:stretch>
            <a:fillRect/>
          </a:stretch>
        </p:blipFill>
        <p:spPr>
          <a:xfrm>
            <a:off x="3648365" y="2377440"/>
            <a:ext cx="457200" cy="457200"/>
          </a:xfrm>
          <a:prstGeom prst="rect">
            <a:avLst/>
          </a:prstGeom>
        </p:spPr>
      </p:pic>
      <p:sp>
        <p:nvSpPr>
          <p:cNvPr id="13" name="Text 9"/>
          <p:cNvSpPr txBox="1"/>
          <p:nvPr/>
        </p:nvSpPr>
        <p:spPr>
          <a:xfrm>
            <a:off x="2858963"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a:t>
            </a:r>
            <a:endParaRPr lang="en-US" sz="1600" dirty="0"/>
          </a:p>
        </p:txBody>
      </p:sp>
      <p:sp>
        <p:nvSpPr>
          <p:cNvPr id="14" name="Text 10"/>
          <p:cNvSpPr txBox="1"/>
          <p:nvPr/>
        </p:nvSpPr>
        <p:spPr>
          <a:xfrm>
            <a:off x="2904683"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ergänzt, unterschreibt, schickt zurück</a:t>
            </a:r>
            <a:endParaRPr lang="en-US" sz="1300" dirty="0"/>
          </a:p>
        </p:txBody>
      </p:sp>
      <p:sp>
        <p:nvSpPr>
          <p:cNvPr id="15" name="Pfeil 3"/>
          <p:cNvSpPr/>
          <p:nvPr/>
        </p:nvSpPr>
        <p:spPr>
          <a:xfrm>
            <a:off x="6662776" y="2606040"/>
            <a:ext cx="1085027" cy="0"/>
          </a:xfrm>
          <a:prstGeom prst="line">
            <a:avLst/>
          </a:prstGeom>
          <a:noFill/>
          <a:ln w="25400">
            <a:solidFill>
              <a:schemeClr val="tx2"/>
            </a:solidFill>
            <a:prstDash val="solid"/>
            <a:tailEnd type="triangle"/>
          </a:ln>
        </p:spPr>
      </p:sp>
      <p:sp>
        <p:nvSpPr>
          <p:cNvPr id="16" name="Schritt 3 Kreis"/>
          <p:cNvSpPr/>
          <p:nvPr/>
        </p:nvSpPr>
        <p:spPr>
          <a:xfrm>
            <a:off x="5638648" y="2148840"/>
            <a:ext cx="914400" cy="914400"/>
          </a:xfrm>
          <a:prstGeom prst="ellipse">
            <a:avLst/>
          </a:prstGeom>
          <a:solidFill>
            <a:schemeClr val="tx1"/>
          </a:solidFill>
          <a:ln/>
        </p:spPr>
      </p:sp>
      <p:pic>
        <p:nvPicPr>
          <p:cNvPr id="17" name="Schritt 3" descr="Inbox">    </p:cNvPr>
          <p:cNvPicPr>
            <a:picLocks noChangeAspect="1"/>
          </p:cNvPicPr>
          <p:nvPr/>
        </p:nvPicPr>
        <p:blipFill>
          <a:blip r:embed="rId3"/>
          <a:stretch>
            <a:fillRect/>
          </a:stretch>
        </p:blipFill>
        <p:spPr>
          <a:xfrm>
            <a:off x="5867248" y="2377440"/>
            <a:ext cx="457200" cy="457200"/>
          </a:xfrm>
          <a:prstGeom prst="rect">
            <a:avLst/>
          </a:prstGeom>
        </p:spPr>
      </p:pic>
      <p:sp>
        <p:nvSpPr>
          <p:cNvPr id="18" name="Text 13"/>
          <p:cNvSpPr txBox="1"/>
          <p:nvPr/>
        </p:nvSpPr>
        <p:spPr>
          <a:xfrm>
            <a:off x="5077846"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Kundenberater:in</a:t>
            </a:r>
            <a:endParaRPr lang="en-US" sz="1600" dirty="0"/>
          </a:p>
        </p:txBody>
      </p:sp>
      <p:sp>
        <p:nvSpPr>
          <p:cNvPr id="19" name="Text 14"/>
          <p:cNvSpPr txBox="1"/>
          <p:nvPr/>
        </p:nvSpPr>
        <p:spPr>
          <a:xfrm>
            <a:off x="5123566"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empfängt und kontrolliert</a:t>
            </a:r>
            <a:endParaRPr lang="en-US" sz="1300" dirty="0"/>
          </a:p>
        </p:txBody>
      </p:sp>
      <p:sp>
        <p:nvSpPr>
          <p:cNvPr id="20" name="Pfeil 4"/>
          <p:cNvSpPr/>
          <p:nvPr/>
        </p:nvSpPr>
        <p:spPr>
          <a:xfrm>
            <a:off x="8881659" y="2606040"/>
            <a:ext cx="1085027" cy="0"/>
          </a:xfrm>
          <a:prstGeom prst="line">
            <a:avLst/>
          </a:prstGeom>
          <a:noFill/>
          <a:ln w="25400">
            <a:solidFill>
              <a:schemeClr val="tx2"/>
            </a:solidFill>
            <a:prstDash val="solid"/>
            <a:tailEnd type="triangle"/>
          </a:ln>
        </p:spPr>
      </p:sp>
      <p:sp>
        <p:nvSpPr>
          <p:cNvPr id="21" name="Schritt 4 Kreis"/>
          <p:cNvSpPr/>
          <p:nvPr/>
        </p:nvSpPr>
        <p:spPr>
          <a:xfrm>
            <a:off x="7857531" y="2148840"/>
            <a:ext cx="914400" cy="914400"/>
          </a:xfrm>
          <a:prstGeom prst="ellipse">
            <a:avLst/>
          </a:prstGeom>
          <a:solidFill>
            <a:schemeClr val="tx1"/>
          </a:solidFill>
          <a:ln/>
        </p:spPr>
      </p:sp>
      <p:pic>
        <p:nvPicPr>
          <p:cNvPr id="22" name="Schritt 4" descr="Truck">    </p:cNvPr>
          <p:cNvPicPr>
            <a:picLocks noChangeAspect="1"/>
          </p:cNvPicPr>
          <p:nvPr/>
        </p:nvPicPr>
        <p:blipFill>
          <a:blip r:embed="rId4"/>
          <a:stretch>
            <a:fillRect/>
          </a:stretch>
        </p:blipFill>
        <p:spPr>
          <a:xfrm>
            <a:off x="8086131" y="2377440"/>
            <a:ext cx="457200" cy="457200"/>
          </a:xfrm>
          <a:prstGeom prst="rect">
            <a:avLst/>
          </a:prstGeom>
        </p:spPr>
      </p:pic>
      <p:sp>
        <p:nvSpPr>
          <p:cNvPr id="23" name="Text 17"/>
          <p:cNvSpPr txBox="1"/>
          <p:nvPr/>
        </p:nvSpPr>
        <p:spPr>
          <a:xfrm>
            <a:off x="7296729"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Interner Postlauf</a:t>
            </a:r>
            <a:endParaRPr lang="en-US" sz="1600" dirty="0"/>
          </a:p>
        </p:txBody>
      </p:sp>
      <p:sp>
        <p:nvSpPr>
          <p:cNvPr id="24" name="Text 18"/>
          <p:cNvSpPr txBox="1"/>
          <p:nvPr/>
        </p:nvSpPr>
        <p:spPr>
          <a:xfrm>
            <a:off x="7342449"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1× pro Tag, Zustellung am Folgetag</a:t>
            </a:r>
            <a:endParaRPr lang="en-US" sz="1300" dirty="0"/>
          </a:p>
        </p:txBody>
      </p:sp>
      <p:sp>
        <p:nvSpPr>
          <p:cNvPr id="25" name="Schritt 5 Kreis"/>
          <p:cNvSpPr/>
          <p:nvPr/>
        </p:nvSpPr>
        <p:spPr>
          <a:xfrm>
            <a:off x="10076414" y="2148840"/>
            <a:ext cx="914400" cy="914400"/>
          </a:xfrm>
          <a:prstGeom prst="ellipse">
            <a:avLst/>
          </a:prstGeom>
          <a:solidFill>
            <a:schemeClr val="tx1"/>
          </a:solidFill>
          <a:ln/>
        </p:spPr>
      </p:sp>
      <p:pic>
        <p:nvPicPr>
          <p:cNvPr id="26" name="Schritt 5" descr="Landmark">    </p:cNvPr>
          <p:cNvPicPr>
            <a:picLocks noChangeAspect="1"/>
          </p:cNvPicPr>
          <p:nvPr/>
        </p:nvPicPr>
        <p:blipFill>
          <a:blip r:embed="rId5"/>
          <a:stretch>
            <a:fillRect/>
          </a:stretch>
        </p:blipFill>
        <p:spPr>
          <a:xfrm>
            <a:off x="10305014" y="2377440"/>
            <a:ext cx="457200" cy="457200"/>
          </a:xfrm>
          <a:prstGeom prst="rect">
            <a:avLst/>
          </a:prstGeom>
        </p:spPr>
      </p:pic>
      <p:sp>
        <p:nvSpPr>
          <p:cNvPr id="27" name="Text 20"/>
          <p:cNvSpPr txBox="1"/>
          <p:nvPr/>
        </p:nvSpPr>
        <p:spPr>
          <a:xfrm>
            <a:off x="9515612" y="324612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Backoffice</a:t>
            </a:r>
            <a:endParaRPr lang="en-US" sz="1600" dirty="0"/>
          </a:p>
        </p:txBody>
      </p:sp>
      <p:sp>
        <p:nvSpPr>
          <p:cNvPr id="28" name="Text 21"/>
          <p:cNvSpPr txBox="1"/>
          <p:nvPr/>
        </p:nvSpPr>
        <p:spPr>
          <a:xfrm>
            <a:off x="9561332" y="3566160"/>
            <a:ext cx="1944563" cy="548640"/>
          </a:xfrm>
          <a:prstGeom prst="rect">
            <a:avLst/>
          </a:prstGeom>
          <a:noFill/>
          <a:ln/>
        </p:spPr>
        <p:txBody>
          <a:bodyPr wrap="square" lIns="0" tIns="0" rIns="0" bIns="0" rtlCol="0" anchor="t"/>
          <a:lstStyle/>
          <a:p>
            <a:pPr algn="ctr" indent="0" marL="0">
              <a:buNone/>
            </a:pPr>
            <a:r>
              <a:rPr lang="en-US" sz="1300" dirty="0">
                <a:solidFill>
                  <a:schemeClr val="tx2"/>
                </a:solidFill>
              </a:rPr>
              <a:t>erfasst und verarbeitet</a:t>
            </a:r>
            <a:endParaRPr lang="en-US" sz="1300" dirty="0"/>
          </a:p>
        </p:txBody>
      </p:sp>
      <p:sp>
        <p:nvSpPr>
          <p:cNvPr id="29" name="Schmerzpunkt 3"/>
          <p:cNvSpPr/>
          <p:nvPr/>
        </p:nvSpPr>
        <p:spPr>
          <a:xfrm>
            <a:off x="6370168" y="2057400"/>
            <a:ext cx="329184" cy="329184"/>
          </a:xfrm>
          <a:prstGeom prst="ellipse">
            <a:avLst/>
          </a:prstGeom>
          <a:solidFill>
            <a:schemeClr val="accent2"/>
          </a:solidFill>
          <a:ln w="25400">
            <a:solidFill>
              <a:schemeClr val="bg1"/>
            </a:solidFill>
            <a:prstDash val="solid"/>
          </a:ln>
        </p:spPr>
      </p:sp>
      <p:sp>
        <p:nvSpPr>
          <p:cNvPr id="30" name="Text 23"/>
          <p:cNvSpPr txBox="1"/>
          <p:nvPr/>
        </p:nvSpPr>
        <p:spPr>
          <a:xfrm>
            <a:off x="6370168" y="205740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1" name="Schmerzpunkt Text 3"/>
          <p:cNvSpPr/>
          <p:nvPr/>
        </p:nvSpPr>
        <p:spPr>
          <a:xfrm>
            <a:off x="5077846" y="4343400"/>
            <a:ext cx="2036003" cy="1097280"/>
          </a:xfrm>
          <a:prstGeom prst="roundRect">
            <a:avLst>
              <a:gd name="adj" fmla="val 10000"/>
            </a:avLst>
          </a:prstGeom>
          <a:solidFill>
            <a:schemeClr val="accent5"/>
          </a:solidFill>
          <a:ln/>
        </p:spPr>
      </p:sp>
      <p:sp>
        <p:nvSpPr>
          <p:cNvPr id="32" name="Text 25"/>
          <p:cNvSpPr txBox="1"/>
          <p:nvPr/>
        </p:nvSpPr>
        <p:spPr>
          <a:xfrm>
            <a:off x="5260726" y="4480560"/>
            <a:ext cx="1670243" cy="822960"/>
          </a:xfrm>
          <a:prstGeom prst="rect">
            <a:avLst/>
          </a:prstGeom>
          <a:noFill/>
          <a:ln/>
        </p:spPr>
        <p:txBody>
          <a:bodyPr wrap="square" lIns="0" tIns="0" rIns="0" bIns="0" rtlCol="0" anchor="ctr"/>
          <a:lstStyle/>
          <a:p>
            <a:pPr algn="ctr" indent="0" marL="0">
              <a:buNone/>
            </a:pPr>
            <a:r>
              <a:rPr lang="en-US" sz="1400" dirty="0">
                <a:solidFill>
                  <a:schemeClr val="tx1"/>
                </a:solidFill>
              </a:rPr>
              <a:t>Bleibt bei Abwesenheit liegen</a:t>
            </a:r>
            <a:endParaRPr lang="en-US" sz="1400" dirty="0"/>
          </a:p>
        </p:txBody>
      </p:sp>
      <p:sp>
        <p:nvSpPr>
          <p:cNvPr id="33" name="Verbinder 3"/>
          <p:cNvSpPr/>
          <p:nvPr/>
        </p:nvSpPr>
        <p:spPr>
          <a:xfrm>
            <a:off x="6095848" y="4114800"/>
            <a:ext cx="0" cy="228600"/>
          </a:xfrm>
          <a:prstGeom prst="line">
            <a:avLst/>
          </a:prstGeom>
          <a:noFill/>
          <a:ln w="19050">
            <a:solidFill>
              <a:schemeClr val="accent2"/>
            </a:solidFill>
            <a:prstDash val="dash"/>
          </a:ln>
        </p:spPr>
      </p:sp>
      <p:sp>
        <p:nvSpPr>
          <p:cNvPr id="34" name="Schmerzpunkt 4"/>
          <p:cNvSpPr/>
          <p:nvPr/>
        </p:nvSpPr>
        <p:spPr>
          <a:xfrm>
            <a:off x="8589051" y="2057400"/>
            <a:ext cx="329184" cy="329184"/>
          </a:xfrm>
          <a:prstGeom prst="ellipse">
            <a:avLst/>
          </a:prstGeom>
          <a:solidFill>
            <a:schemeClr val="accent2"/>
          </a:solidFill>
          <a:ln w="25400">
            <a:solidFill>
              <a:schemeClr val="bg1"/>
            </a:solidFill>
            <a:prstDash val="solid"/>
          </a:ln>
        </p:spPr>
      </p:sp>
      <p:sp>
        <p:nvSpPr>
          <p:cNvPr id="35" name="Text 28"/>
          <p:cNvSpPr txBox="1"/>
          <p:nvPr/>
        </p:nvSpPr>
        <p:spPr>
          <a:xfrm>
            <a:off x="8589051" y="205740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6" name="Schmerzpunkt Text 4"/>
          <p:cNvSpPr/>
          <p:nvPr/>
        </p:nvSpPr>
        <p:spPr>
          <a:xfrm>
            <a:off x="7296729" y="4343400"/>
            <a:ext cx="2036003" cy="1097280"/>
          </a:xfrm>
          <a:prstGeom prst="roundRect">
            <a:avLst>
              <a:gd name="adj" fmla="val 10000"/>
            </a:avLst>
          </a:prstGeom>
          <a:solidFill>
            <a:schemeClr val="accent5"/>
          </a:solidFill>
          <a:ln/>
        </p:spPr>
      </p:sp>
      <p:sp>
        <p:nvSpPr>
          <p:cNvPr id="37" name="Text 30"/>
          <p:cNvSpPr txBox="1"/>
          <p:nvPr/>
        </p:nvSpPr>
        <p:spPr>
          <a:xfrm>
            <a:off x="7479609" y="4480560"/>
            <a:ext cx="1670243" cy="822960"/>
          </a:xfrm>
          <a:prstGeom prst="rect">
            <a:avLst/>
          </a:prstGeom>
          <a:noFill/>
          <a:ln/>
        </p:spPr>
        <p:txBody>
          <a:bodyPr wrap="square" lIns="0" tIns="0" rIns="0" bIns="0" rtlCol="0" anchor="ctr"/>
          <a:lstStyle/>
          <a:p>
            <a:pPr algn="ctr" indent="0" marL="0">
              <a:buNone/>
            </a:pPr>
            <a:r>
              <a:rPr lang="en-US" sz="1400" dirty="0">
                <a:solidFill>
                  <a:schemeClr val="tx1"/>
                </a:solidFill>
              </a:rPr>
              <a:t>Verspätet, falsch zugeordnet, im Extremfall verloren</a:t>
            </a:r>
            <a:endParaRPr lang="en-US" sz="1400" dirty="0"/>
          </a:p>
        </p:txBody>
      </p:sp>
      <p:sp>
        <p:nvSpPr>
          <p:cNvPr id="38" name="Verbinder 4"/>
          <p:cNvSpPr/>
          <p:nvPr/>
        </p:nvSpPr>
        <p:spPr>
          <a:xfrm>
            <a:off x="8314731" y="4114800"/>
            <a:ext cx="0" cy="228600"/>
          </a:xfrm>
          <a:prstGeom prst="line">
            <a:avLst/>
          </a:prstGeom>
          <a:noFill/>
          <a:ln w="19050">
            <a:solidFill>
              <a:schemeClr val="accent2"/>
            </a:solidFill>
            <a:prstDash val="dash"/>
          </a:ln>
        </p:spPr>
      </p:sp>
      <p:sp>
        <p:nvSpPr>
          <p:cNvPr id="39" name="Schmerzpunkt 5"/>
          <p:cNvSpPr/>
          <p:nvPr/>
        </p:nvSpPr>
        <p:spPr>
          <a:xfrm>
            <a:off x="10807934" y="2057400"/>
            <a:ext cx="329184" cy="329184"/>
          </a:xfrm>
          <a:prstGeom prst="ellipse">
            <a:avLst/>
          </a:prstGeom>
          <a:solidFill>
            <a:schemeClr val="accent2"/>
          </a:solidFill>
          <a:ln w="25400">
            <a:solidFill>
              <a:schemeClr val="bg1"/>
            </a:solidFill>
            <a:prstDash val="solid"/>
          </a:ln>
        </p:spPr>
      </p:sp>
      <p:sp>
        <p:nvSpPr>
          <p:cNvPr id="40" name="Text 33"/>
          <p:cNvSpPr txBox="1"/>
          <p:nvPr/>
        </p:nvSpPr>
        <p:spPr>
          <a:xfrm>
            <a:off x="10807934" y="205740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41" name="Schmerzpunkt Text 5"/>
          <p:cNvSpPr/>
          <p:nvPr/>
        </p:nvSpPr>
        <p:spPr>
          <a:xfrm>
            <a:off x="9515612" y="4343400"/>
            <a:ext cx="2036003" cy="1097280"/>
          </a:xfrm>
          <a:prstGeom prst="roundRect">
            <a:avLst>
              <a:gd name="adj" fmla="val 10000"/>
            </a:avLst>
          </a:prstGeom>
          <a:solidFill>
            <a:schemeClr val="accent5"/>
          </a:solidFill>
          <a:ln/>
        </p:spPr>
      </p:sp>
      <p:sp>
        <p:nvSpPr>
          <p:cNvPr id="42" name="Text 35"/>
          <p:cNvSpPr txBox="1"/>
          <p:nvPr/>
        </p:nvSpPr>
        <p:spPr>
          <a:xfrm>
            <a:off x="9698492" y="4480560"/>
            <a:ext cx="1670243" cy="822960"/>
          </a:xfrm>
          <a:prstGeom prst="rect">
            <a:avLst/>
          </a:prstGeom>
          <a:noFill/>
          <a:ln/>
        </p:spPr>
        <p:txBody>
          <a:bodyPr wrap="square" lIns="0" tIns="0" rIns="0" bIns="0" rtlCol="0" anchor="ctr"/>
          <a:lstStyle/>
          <a:p>
            <a:pPr algn="ctr" indent="0" marL="0">
              <a:buNone/>
            </a:pPr>
            <a:r>
              <a:rPr lang="en-US" sz="1400" dirty="0">
                <a:solidFill>
                  <a:schemeClr val="tx1"/>
                </a:solidFill>
              </a:rPr>
              <a:t>Unvollständig – Rückfrage wieder per Post</a:t>
            </a:r>
            <a:endParaRPr lang="en-US" sz="1400" dirty="0"/>
          </a:p>
        </p:txBody>
      </p:sp>
      <p:sp>
        <p:nvSpPr>
          <p:cNvPr id="43" name="Verbinder 5"/>
          <p:cNvSpPr/>
          <p:nvPr/>
        </p:nvSpPr>
        <p:spPr>
          <a:xfrm>
            <a:off x="10533614" y="4114800"/>
            <a:ext cx="0" cy="228600"/>
          </a:xfrm>
          <a:prstGeom prst="line">
            <a:avLst/>
          </a:prstGeom>
          <a:noFill/>
          <a:ln w="19050">
            <a:solidFill>
              <a:schemeClr val="accent2"/>
            </a:solidFill>
            <a:prstDash val="dash"/>
          </a:ln>
        </p:spPr>
      </p:sp>
      <p:sp>
        <p:nvSpPr>
          <p:cNvPr id="44" name="Text 37"/>
          <p:cNvSpPr txBox="1"/>
          <p:nvPr/>
        </p:nvSpPr>
        <p:spPr>
          <a:xfrm>
            <a:off x="548640" y="4800600"/>
            <a:ext cx="4163446" cy="640080"/>
          </a:xfrm>
          <a:prstGeom prst="rect">
            <a:avLst/>
          </a:prstGeom>
          <a:noFill/>
          <a:ln/>
        </p:spPr>
        <p:txBody>
          <a:bodyPr wrap="square" lIns="0" tIns="0" rIns="0" bIns="0" rtlCol="0" anchor="ctr"/>
          <a:lstStyle/>
          <a:p>
            <a:pPr indent="0" marL="0">
              <a:buNone/>
            </a:pPr>
            <a:r>
              <a:rPr lang="en-US" sz="1400" b="1" dirty="0">
                <a:solidFill>
                  <a:schemeClr val="tx1"/>
                </a:solidFill>
              </a:rPr>
              <a:t>Alles physisch: </a:t>
            </a:r>
            <a:pPr indent="0" marL="0">
              <a:buNone/>
            </a:pPr>
            <a:r>
              <a:rPr lang="en-US" sz="1400" dirty="0">
                <a:solidFill>
                  <a:schemeClr val="tx2"/>
                </a:solidFill>
              </a:rPr>
              <a:t>Abhängig von Logistik und Anwesenheit einzelner Personen.</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PROBLEME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Probleme im aktuellen Ablauf</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Was uns im Alltag bremst – so erleben wir es als Auftraggeber.</a:t>
            </a:r>
            <a:endParaRPr lang="en-US" sz="1700" dirty="0"/>
          </a:p>
        </p:txBody>
      </p:sp>
      <p:sp>
        <p:nvSpPr>
          <p:cNvPr id="5" name="Problem Verzögerungen"/>
          <p:cNvSpPr/>
          <p:nvPr/>
        </p:nvSpPr>
        <p:spPr>
          <a:xfrm>
            <a:off x="548640" y="2148840"/>
            <a:ext cx="1999427" cy="3291840"/>
          </a:xfrm>
          <a:prstGeom prst="roundRect">
            <a:avLst>
              <a:gd name="adj" fmla="val 5488"/>
            </a:avLst>
          </a:prstGeom>
          <a:solidFill>
            <a:schemeClr val="accent5"/>
          </a:solidFill>
          <a:ln/>
        </p:spPr>
      </p:sp>
      <p:sp>
        <p:nvSpPr>
          <p:cNvPr id="6" name="Icon Verzögerungen Kreis"/>
          <p:cNvSpPr/>
          <p:nvPr/>
        </p:nvSpPr>
        <p:spPr>
          <a:xfrm>
            <a:off x="822960" y="2514600"/>
            <a:ext cx="685800" cy="685800"/>
          </a:xfrm>
          <a:prstGeom prst="ellipse">
            <a:avLst/>
          </a:prstGeom>
          <a:solidFill>
            <a:schemeClr val="accent2"/>
          </a:solidFill>
          <a:ln/>
        </p:spPr>
      </p:sp>
      <p:pic>
        <p:nvPicPr>
          <p:cNvPr id="7" name="Icon Verzögerungen" descr="Clock">    </p:cNvPr>
          <p:cNvPicPr>
            <a:picLocks noChangeAspect="1"/>
          </p:cNvPicPr>
          <p:nvPr/>
        </p:nvPicPr>
        <p:blipFill>
          <a:blip r:embed="rId1"/>
          <a:stretch>
            <a:fillRect/>
          </a:stretch>
        </p:blipFill>
        <p:spPr>
          <a:xfrm>
            <a:off x="994410" y="2686050"/>
            <a:ext cx="342900" cy="342900"/>
          </a:xfrm>
          <a:prstGeom prst="rect">
            <a:avLst/>
          </a:prstGeom>
        </p:spPr>
      </p:pic>
      <p:sp>
        <p:nvSpPr>
          <p:cNvPr id="8" name="Text 5"/>
          <p:cNvSpPr txBox="1"/>
          <p:nvPr/>
        </p:nvSpPr>
        <p:spPr>
          <a:xfrm>
            <a:off x="822960"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Verzögerungen</a:t>
            </a:r>
            <a:endParaRPr lang="en-US" sz="1800" dirty="0"/>
          </a:p>
        </p:txBody>
      </p:sp>
      <p:sp>
        <p:nvSpPr>
          <p:cNvPr id="9" name="Text 6"/>
          <p:cNvSpPr txBox="1"/>
          <p:nvPr/>
        </p:nvSpPr>
        <p:spPr>
          <a:xfrm>
            <a:off x="822960"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Unterlagen sind lange unterwegs, bis das Backoffice sie bearbeiten kann.</a:t>
            </a:r>
            <a:endParaRPr lang="en-US" sz="1400" dirty="0"/>
          </a:p>
        </p:txBody>
      </p:sp>
      <p:sp>
        <p:nvSpPr>
          <p:cNvPr id="10" name="Problem Fehler und Verlust"/>
          <p:cNvSpPr/>
          <p:nvPr/>
        </p:nvSpPr>
        <p:spPr>
          <a:xfrm>
            <a:off x="2822387" y="2148840"/>
            <a:ext cx="1999427" cy="3291840"/>
          </a:xfrm>
          <a:prstGeom prst="roundRect">
            <a:avLst>
              <a:gd name="adj" fmla="val 5488"/>
            </a:avLst>
          </a:prstGeom>
          <a:solidFill>
            <a:schemeClr val="accent5"/>
          </a:solidFill>
          <a:ln/>
        </p:spPr>
      </p:sp>
      <p:sp>
        <p:nvSpPr>
          <p:cNvPr id="11" name="Icon Fehler und Verlust Kreis"/>
          <p:cNvSpPr/>
          <p:nvPr/>
        </p:nvSpPr>
        <p:spPr>
          <a:xfrm>
            <a:off x="3096707" y="2514600"/>
            <a:ext cx="685800" cy="685800"/>
          </a:xfrm>
          <a:prstGeom prst="ellipse">
            <a:avLst/>
          </a:prstGeom>
          <a:solidFill>
            <a:schemeClr val="accent2"/>
          </a:solidFill>
          <a:ln/>
        </p:spPr>
      </p:sp>
      <p:pic>
        <p:nvPicPr>
          <p:cNvPr id="12" name="Icon Fehler und Verlust" descr="Search">    </p:cNvPr>
          <p:cNvPicPr>
            <a:picLocks noChangeAspect="1"/>
          </p:cNvPicPr>
          <p:nvPr/>
        </p:nvPicPr>
        <p:blipFill>
          <a:blip r:embed="rId2"/>
          <a:stretch>
            <a:fillRect/>
          </a:stretch>
        </p:blipFill>
        <p:spPr>
          <a:xfrm>
            <a:off x="3268157" y="2686050"/>
            <a:ext cx="342900" cy="342900"/>
          </a:xfrm>
          <a:prstGeom prst="rect">
            <a:avLst/>
          </a:prstGeom>
        </p:spPr>
      </p:pic>
      <p:sp>
        <p:nvSpPr>
          <p:cNvPr id="13" name="Text 9"/>
          <p:cNvSpPr txBox="1"/>
          <p:nvPr/>
        </p:nvSpPr>
        <p:spPr>
          <a:xfrm>
            <a:off x="3096707"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Fehler und Verlust</a:t>
            </a:r>
            <a:endParaRPr lang="en-US" sz="1800" dirty="0"/>
          </a:p>
        </p:txBody>
      </p:sp>
      <p:sp>
        <p:nvSpPr>
          <p:cNvPr id="14" name="Text 10"/>
          <p:cNvSpPr txBox="1"/>
          <p:nvPr/>
        </p:nvSpPr>
        <p:spPr>
          <a:xfrm>
            <a:off x="3096707"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Dokumente werden falsch zugeordnet, kommen zu spät an oder gehen verloren.</a:t>
            </a:r>
            <a:endParaRPr lang="en-US" sz="1400" dirty="0"/>
          </a:p>
        </p:txBody>
      </p:sp>
      <p:sp>
        <p:nvSpPr>
          <p:cNvPr id="15" name="Problem Rückfragen"/>
          <p:cNvSpPr/>
          <p:nvPr/>
        </p:nvSpPr>
        <p:spPr>
          <a:xfrm>
            <a:off x="5096134" y="2148840"/>
            <a:ext cx="1999427" cy="3291840"/>
          </a:xfrm>
          <a:prstGeom prst="roundRect">
            <a:avLst>
              <a:gd name="adj" fmla="val 5488"/>
            </a:avLst>
          </a:prstGeom>
          <a:solidFill>
            <a:schemeClr val="accent5"/>
          </a:solidFill>
          <a:ln/>
        </p:spPr>
      </p:sp>
      <p:sp>
        <p:nvSpPr>
          <p:cNvPr id="16" name="Icon Rückfragen Kreis"/>
          <p:cNvSpPr/>
          <p:nvPr/>
        </p:nvSpPr>
        <p:spPr>
          <a:xfrm>
            <a:off x="5370454" y="2514600"/>
            <a:ext cx="685800" cy="685800"/>
          </a:xfrm>
          <a:prstGeom prst="ellipse">
            <a:avLst/>
          </a:prstGeom>
          <a:solidFill>
            <a:schemeClr val="accent2"/>
          </a:solidFill>
          <a:ln/>
        </p:spPr>
      </p:sp>
      <p:pic>
        <p:nvPicPr>
          <p:cNvPr id="17" name="Icon Rückfragen" descr="MessagesSquare">    </p:cNvPr>
          <p:cNvPicPr>
            <a:picLocks noChangeAspect="1"/>
          </p:cNvPicPr>
          <p:nvPr/>
        </p:nvPicPr>
        <p:blipFill>
          <a:blip r:embed="rId3"/>
          <a:stretch>
            <a:fillRect/>
          </a:stretch>
        </p:blipFill>
        <p:spPr>
          <a:xfrm>
            <a:off x="5541904" y="2686050"/>
            <a:ext cx="342900" cy="342900"/>
          </a:xfrm>
          <a:prstGeom prst="rect">
            <a:avLst/>
          </a:prstGeom>
        </p:spPr>
      </p:pic>
      <p:sp>
        <p:nvSpPr>
          <p:cNvPr id="18" name="Text 13"/>
          <p:cNvSpPr txBox="1"/>
          <p:nvPr/>
        </p:nvSpPr>
        <p:spPr>
          <a:xfrm>
            <a:off x="5370454"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Rückfragen</a:t>
            </a:r>
            <a:endParaRPr lang="en-US" sz="1800" dirty="0"/>
          </a:p>
        </p:txBody>
      </p:sp>
      <p:sp>
        <p:nvSpPr>
          <p:cNvPr id="19" name="Text 14"/>
          <p:cNvSpPr txBox="1"/>
          <p:nvPr/>
        </p:nvSpPr>
        <p:spPr>
          <a:xfrm>
            <a:off x="5370454"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Unvollständige Unterlagen lösen eine neue Runde per Post aus.</a:t>
            </a:r>
            <a:endParaRPr lang="en-US" sz="1400" dirty="0"/>
          </a:p>
        </p:txBody>
      </p:sp>
      <p:sp>
        <p:nvSpPr>
          <p:cNvPr id="20" name="Problem Abhängig von interner Logistik"/>
          <p:cNvSpPr/>
          <p:nvPr/>
        </p:nvSpPr>
        <p:spPr>
          <a:xfrm>
            <a:off x="7369881" y="2148840"/>
            <a:ext cx="1999427" cy="3291840"/>
          </a:xfrm>
          <a:prstGeom prst="roundRect">
            <a:avLst>
              <a:gd name="adj" fmla="val 5488"/>
            </a:avLst>
          </a:prstGeom>
          <a:solidFill>
            <a:schemeClr val="accent5"/>
          </a:solidFill>
          <a:ln/>
        </p:spPr>
      </p:sp>
      <p:sp>
        <p:nvSpPr>
          <p:cNvPr id="21" name="Icon Abhängig von interner Logistik Kreis"/>
          <p:cNvSpPr/>
          <p:nvPr/>
        </p:nvSpPr>
        <p:spPr>
          <a:xfrm>
            <a:off x="7644201" y="2514600"/>
            <a:ext cx="685800" cy="685800"/>
          </a:xfrm>
          <a:prstGeom prst="ellipse">
            <a:avLst/>
          </a:prstGeom>
          <a:solidFill>
            <a:schemeClr val="accent2"/>
          </a:solidFill>
          <a:ln/>
        </p:spPr>
      </p:sp>
      <p:pic>
        <p:nvPicPr>
          <p:cNvPr id="22" name="Icon Abhängig von interner Logistik" descr="Truck">    </p:cNvPr>
          <p:cNvPicPr>
            <a:picLocks noChangeAspect="1"/>
          </p:cNvPicPr>
          <p:nvPr/>
        </p:nvPicPr>
        <p:blipFill>
          <a:blip r:embed="rId4"/>
          <a:stretch>
            <a:fillRect/>
          </a:stretch>
        </p:blipFill>
        <p:spPr>
          <a:xfrm>
            <a:off x="7815651" y="2686050"/>
            <a:ext cx="342900" cy="342900"/>
          </a:xfrm>
          <a:prstGeom prst="rect">
            <a:avLst/>
          </a:prstGeom>
        </p:spPr>
      </p:pic>
      <p:sp>
        <p:nvSpPr>
          <p:cNvPr id="23" name="Text 17"/>
          <p:cNvSpPr txBox="1"/>
          <p:nvPr/>
        </p:nvSpPr>
        <p:spPr>
          <a:xfrm>
            <a:off x="7644201"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Abhängig von interner Logistik</a:t>
            </a:r>
            <a:endParaRPr lang="en-US" sz="1800" dirty="0"/>
          </a:p>
        </p:txBody>
      </p:sp>
      <p:sp>
        <p:nvSpPr>
          <p:cNvPr id="24" name="Text 18"/>
          <p:cNvSpPr txBox="1"/>
          <p:nvPr/>
        </p:nvSpPr>
        <p:spPr>
          <a:xfrm>
            <a:off x="7644201"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Ohne Postlauf und anwesende Kundenberatung geht nichts weiter.</a:t>
            </a:r>
            <a:endParaRPr lang="en-US" sz="1400" dirty="0"/>
          </a:p>
        </p:txBody>
      </p:sp>
      <p:sp>
        <p:nvSpPr>
          <p:cNvPr id="25" name="Problem Keine Transparenz"/>
          <p:cNvSpPr/>
          <p:nvPr/>
        </p:nvSpPr>
        <p:spPr>
          <a:xfrm>
            <a:off x="9643628" y="2148840"/>
            <a:ext cx="1999427" cy="3291840"/>
          </a:xfrm>
          <a:prstGeom prst="roundRect">
            <a:avLst>
              <a:gd name="adj" fmla="val 5488"/>
            </a:avLst>
          </a:prstGeom>
          <a:solidFill>
            <a:schemeClr val="accent5"/>
          </a:solidFill>
          <a:ln/>
        </p:spPr>
      </p:sp>
      <p:sp>
        <p:nvSpPr>
          <p:cNvPr id="26" name="Icon Keine Transparenz Kreis"/>
          <p:cNvSpPr/>
          <p:nvPr/>
        </p:nvSpPr>
        <p:spPr>
          <a:xfrm>
            <a:off x="9917948" y="2514600"/>
            <a:ext cx="685800" cy="685800"/>
          </a:xfrm>
          <a:prstGeom prst="ellipse">
            <a:avLst/>
          </a:prstGeom>
          <a:solidFill>
            <a:schemeClr val="accent2"/>
          </a:solidFill>
          <a:ln/>
        </p:spPr>
      </p:sp>
      <p:pic>
        <p:nvPicPr>
          <p:cNvPr id="27" name="Icon Keine Transparenz" descr="Eye">    </p:cNvPr>
          <p:cNvPicPr>
            <a:picLocks noChangeAspect="1"/>
          </p:cNvPicPr>
          <p:nvPr/>
        </p:nvPicPr>
        <p:blipFill>
          <a:blip r:embed="rId5"/>
          <a:stretch>
            <a:fillRect/>
          </a:stretch>
        </p:blipFill>
        <p:spPr>
          <a:xfrm>
            <a:off x="10089398" y="2686050"/>
            <a:ext cx="342900" cy="342900"/>
          </a:xfrm>
          <a:prstGeom prst="rect">
            <a:avLst/>
          </a:prstGeom>
        </p:spPr>
      </p:pic>
      <p:sp>
        <p:nvSpPr>
          <p:cNvPr id="28" name="Text 21"/>
          <p:cNvSpPr txBox="1"/>
          <p:nvPr/>
        </p:nvSpPr>
        <p:spPr>
          <a:xfrm>
            <a:off x="9917948" y="3383280"/>
            <a:ext cx="1542227" cy="731520"/>
          </a:xfrm>
          <a:prstGeom prst="rect">
            <a:avLst/>
          </a:prstGeom>
          <a:noFill/>
          <a:ln/>
        </p:spPr>
        <p:txBody>
          <a:bodyPr wrap="square" lIns="0" tIns="0" rIns="0" bIns="0" rtlCol="0" anchor="b"/>
          <a:lstStyle/>
          <a:p>
            <a:pPr indent="0" marL="0">
              <a:buNone/>
            </a:pPr>
            <a:r>
              <a:rPr lang="en-US" sz="1800" b="1" dirty="0">
                <a:solidFill>
                  <a:schemeClr val="tx1"/>
                </a:solidFill>
              </a:rPr>
              <a:t>Keine Transparenz</a:t>
            </a:r>
            <a:endParaRPr lang="en-US" sz="1800" dirty="0"/>
          </a:p>
        </p:txBody>
      </p:sp>
      <p:sp>
        <p:nvSpPr>
          <p:cNvPr id="29" name="Text 22"/>
          <p:cNvSpPr txBox="1"/>
          <p:nvPr/>
        </p:nvSpPr>
        <p:spPr>
          <a:xfrm>
            <a:off x="9917948" y="4206240"/>
            <a:ext cx="1542227" cy="1097280"/>
          </a:xfrm>
          <a:prstGeom prst="rect">
            <a:avLst/>
          </a:prstGeom>
          <a:noFill/>
          <a:ln/>
        </p:spPr>
        <p:txBody>
          <a:bodyPr wrap="square" lIns="0" tIns="0" rIns="0" bIns="0" rtlCol="0" anchor="t"/>
          <a:lstStyle/>
          <a:p>
            <a:pPr indent="0" marL="0">
              <a:buNone/>
            </a:pPr>
            <a:r>
              <a:rPr lang="en-US" sz="1400" dirty="0">
                <a:solidFill>
                  <a:schemeClr val="tx2"/>
                </a:solidFill>
              </a:rPr>
              <a:t>Niemand sieht, wo ein Dokument gerade liegt und was noch fehlt.</a:t>
            </a:r>
            <a:endParaRPr lang="en-US" sz="1400" dirty="0"/>
          </a:p>
        </p:txBody>
      </p:sp>
      <p:sp>
        <p:nvSpPr>
          <p:cNvPr id="30" name="Text 2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chemeClr val="accent1"/>
                </a:solidFill>
              </a:rPr>
              <a:t>Offen  </a:t>
            </a:r>
            <a:pPr indent="0" marL="0">
              <a:buNone/>
            </a:pPr>
            <a:r>
              <a:rPr lang="en-US" sz="1100" dirty="0">
                <a:solidFill>
                  <a:schemeClr val="tx2"/>
                </a:solidFill>
              </a:rPr>
              <a:t>Wie gross die Probleme genau sind, möchten wir gemeinsam mit dem RE-Team herausfinden.</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SOLL-PROZESS</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Gewünschter Soll-Prozess</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Unser grobes Zielbild – wie die Lösung im Detail aussieht, erarbeitet das RE-Team.</a:t>
            </a:r>
            <a:endParaRPr lang="en-US" sz="1700" dirty="0"/>
          </a:p>
        </p:txBody>
      </p:sp>
      <p:sp>
        <p:nvSpPr>
          <p:cNvPr id="5" name="Zone physisch"/>
          <p:cNvSpPr/>
          <p:nvPr/>
        </p:nvSpPr>
        <p:spPr>
          <a:xfrm>
            <a:off x="548640" y="2011680"/>
            <a:ext cx="2127443" cy="2788920"/>
          </a:xfrm>
          <a:prstGeom prst="roundRect">
            <a:avLst>
              <a:gd name="adj" fmla="val 5158"/>
            </a:avLst>
          </a:prstGeom>
          <a:solidFill>
            <a:schemeClr val="bg2"/>
          </a:solidFill>
          <a:ln/>
        </p:spPr>
      </p:sp>
      <p:sp>
        <p:nvSpPr>
          <p:cNvPr id="6" name="Zone digital"/>
          <p:cNvSpPr/>
          <p:nvPr/>
        </p:nvSpPr>
        <p:spPr>
          <a:xfrm>
            <a:off x="2858963" y="2011680"/>
            <a:ext cx="8784092" cy="2788920"/>
          </a:xfrm>
          <a:prstGeom prst="roundRect">
            <a:avLst>
              <a:gd name="adj" fmla="val 3934"/>
            </a:avLst>
          </a:prstGeom>
          <a:solidFill>
            <a:schemeClr val="accent4"/>
          </a:solidFill>
          <a:ln/>
        </p:spPr>
      </p:sp>
      <p:sp>
        <p:nvSpPr>
          <p:cNvPr id="7" name="Text 5"/>
          <p:cNvSpPr txBox="1"/>
          <p:nvPr/>
        </p:nvSpPr>
        <p:spPr>
          <a:xfrm>
            <a:off x="731520" y="2121408"/>
            <a:ext cx="1828800" cy="274320"/>
          </a:xfrm>
          <a:prstGeom prst="rect">
            <a:avLst/>
          </a:prstGeom>
          <a:noFill/>
          <a:ln/>
        </p:spPr>
        <p:txBody>
          <a:bodyPr wrap="square" lIns="0" tIns="0" rIns="0" bIns="0" rtlCol="0" anchor="t"/>
          <a:lstStyle/>
          <a:p>
            <a:pPr indent="0" marL="0">
              <a:buNone/>
            </a:pPr>
            <a:r>
              <a:rPr lang="en-US" sz="1100" b="1" spc="200" kern="0" dirty="0">
                <a:solidFill>
                  <a:schemeClr val="tx2"/>
                </a:solidFill>
              </a:rPr>
              <a:t>PHYSISCH</a:t>
            </a:r>
            <a:endParaRPr lang="en-US" sz="1100" dirty="0"/>
          </a:p>
        </p:txBody>
      </p:sp>
      <p:sp>
        <p:nvSpPr>
          <p:cNvPr id="8" name="Text 6"/>
          <p:cNvSpPr txBox="1"/>
          <p:nvPr/>
        </p:nvSpPr>
        <p:spPr>
          <a:xfrm>
            <a:off x="3041843" y="2121408"/>
            <a:ext cx="45720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DIGITAL – IN EINER SOFTWARE</a:t>
            </a:r>
            <a:endParaRPr lang="en-US" sz="1100" dirty="0"/>
          </a:p>
        </p:txBody>
      </p:sp>
      <p:sp>
        <p:nvSpPr>
          <p:cNvPr id="9" name="Pfeil 1"/>
          <p:cNvSpPr/>
          <p:nvPr/>
        </p:nvSpPr>
        <p:spPr>
          <a:xfrm>
            <a:off x="2225010" y="2971800"/>
            <a:ext cx="1085027" cy="0"/>
          </a:xfrm>
          <a:prstGeom prst="line">
            <a:avLst/>
          </a:prstGeom>
          <a:noFill/>
          <a:ln w="25400">
            <a:solidFill>
              <a:schemeClr val="tx2"/>
            </a:solidFill>
            <a:prstDash val="solid"/>
            <a:tailEnd type="triangle"/>
          </a:ln>
        </p:spPr>
      </p:sp>
      <p:sp>
        <p:nvSpPr>
          <p:cNvPr id="10" name="Schritt 1 Kreis"/>
          <p:cNvSpPr/>
          <p:nvPr/>
        </p:nvSpPr>
        <p:spPr>
          <a:xfrm>
            <a:off x="1200882" y="2514600"/>
            <a:ext cx="914400" cy="914400"/>
          </a:xfrm>
          <a:prstGeom prst="ellipse">
            <a:avLst/>
          </a:prstGeom>
          <a:solidFill>
            <a:schemeClr val="tx1"/>
          </a:solidFill>
          <a:ln/>
        </p:spPr>
      </p:sp>
      <p:pic>
        <p:nvPicPr>
          <p:cNvPr id="11" name="Schritt 1" descr="Mail">    </p:cNvPr>
          <p:cNvPicPr>
            <a:picLocks noChangeAspect="1"/>
          </p:cNvPicPr>
          <p:nvPr/>
        </p:nvPicPr>
        <p:blipFill>
          <a:blip r:embed="rId1"/>
          <a:stretch>
            <a:fillRect/>
          </a:stretch>
        </p:blipFill>
        <p:spPr>
          <a:xfrm>
            <a:off x="1429482" y="2743200"/>
            <a:ext cx="457200" cy="457200"/>
          </a:xfrm>
          <a:prstGeom prst="rect">
            <a:avLst/>
          </a:prstGeom>
        </p:spPr>
      </p:pic>
      <p:sp>
        <p:nvSpPr>
          <p:cNvPr id="12" name="Text 9"/>
          <p:cNvSpPr txBox="1"/>
          <p:nvPr/>
        </p:nvSpPr>
        <p:spPr>
          <a:xfrm>
            <a:off x="640080"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a:t>
            </a:r>
            <a:endParaRPr lang="en-US" sz="1600" dirty="0"/>
          </a:p>
        </p:txBody>
      </p:sp>
      <p:sp>
        <p:nvSpPr>
          <p:cNvPr id="13" name="Text 10"/>
          <p:cNvSpPr txBox="1"/>
          <p:nvPr/>
        </p:nvSpPr>
        <p:spPr>
          <a:xfrm>
            <a:off x="731520"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schickt Unterlagen zurück</a:t>
            </a:r>
            <a:endParaRPr lang="en-US" sz="1300" dirty="0"/>
          </a:p>
        </p:txBody>
      </p:sp>
      <p:sp>
        <p:nvSpPr>
          <p:cNvPr id="14" name="Pfeil 2"/>
          <p:cNvSpPr/>
          <p:nvPr/>
        </p:nvSpPr>
        <p:spPr>
          <a:xfrm>
            <a:off x="4443893" y="2971800"/>
            <a:ext cx="1085027" cy="0"/>
          </a:xfrm>
          <a:prstGeom prst="line">
            <a:avLst/>
          </a:prstGeom>
          <a:noFill/>
          <a:ln w="25400">
            <a:solidFill>
              <a:schemeClr val="accent1"/>
            </a:solidFill>
            <a:prstDash val="solid"/>
            <a:tailEnd type="triangle"/>
          </a:ln>
        </p:spPr>
      </p:sp>
      <p:sp>
        <p:nvSpPr>
          <p:cNvPr id="15" name="Schritt 2 Kreis"/>
          <p:cNvSpPr/>
          <p:nvPr/>
        </p:nvSpPr>
        <p:spPr>
          <a:xfrm>
            <a:off x="3419765" y="2514600"/>
            <a:ext cx="914400" cy="914400"/>
          </a:xfrm>
          <a:prstGeom prst="ellipse">
            <a:avLst/>
          </a:prstGeom>
          <a:solidFill>
            <a:schemeClr val="accent1"/>
          </a:solidFill>
          <a:ln/>
        </p:spPr>
      </p:sp>
      <p:pic>
        <p:nvPicPr>
          <p:cNvPr id="16" name="Schritt 2" descr="Building2">    </p:cNvPr>
          <p:cNvPicPr>
            <a:picLocks noChangeAspect="1"/>
          </p:cNvPicPr>
          <p:nvPr/>
        </p:nvPicPr>
        <p:blipFill>
          <a:blip r:embed="rId2"/>
          <a:stretch>
            <a:fillRect/>
          </a:stretch>
        </p:blipFill>
        <p:spPr>
          <a:xfrm>
            <a:off x="3648365" y="2743200"/>
            <a:ext cx="457200" cy="457200"/>
          </a:xfrm>
          <a:prstGeom prst="rect">
            <a:avLst/>
          </a:prstGeom>
        </p:spPr>
      </p:pic>
      <p:sp>
        <p:nvSpPr>
          <p:cNvPr id="17" name="Text 13"/>
          <p:cNvSpPr txBox="1"/>
          <p:nvPr/>
        </p:nvSpPr>
        <p:spPr>
          <a:xfrm>
            <a:off x="2858963"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Ein Posteingang</a:t>
            </a:r>
            <a:endParaRPr lang="en-US" sz="1600" dirty="0"/>
          </a:p>
        </p:txBody>
      </p:sp>
      <p:sp>
        <p:nvSpPr>
          <p:cNvPr id="18" name="Text 14"/>
          <p:cNvSpPr txBox="1"/>
          <p:nvPr/>
        </p:nvSpPr>
        <p:spPr>
          <a:xfrm>
            <a:off x="2950403"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zentral für alle Teams</a:t>
            </a:r>
            <a:endParaRPr lang="en-US" sz="1300" dirty="0"/>
          </a:p>
        </p:txBody>
      </p:sp>
      <p:sp>
        <p:nvSpPr>
          <p:cNvPr id="19" name="Pfeil 3"/>
          <p:cNvSpPr/>
          <p:nvPr/>
        </p:nvSpPr>
        <p:spPr>
          <a:xfrm>
            <a:off x="6662776" y="2971800"/>
            <a:ext cx="1085027" cy="0"/>
          </a:xfrm>
          <a:prstGeom prst="line">
            <a:avLst/>
          </a:prstGeom>
          <a:noFill/>
          <a:ln w="25400">
            <a:solidFill>
              <a:schemeClr val="accent1"/>
            </a:solidFill>
            <a:prstDash val="solid"/>
            <a:tailEnd type="triangle"/>
          </a:ln>
        </p:spPr>
      </p:sp>
      <p:sp>
        <p:nvSpPr>
          <p:cNvPr id="20" name="Schritt 3 Kreis"/>
          <p:cNvSpPr/>
          <p:nvPr/>
        </p:nvSpPr>
        <p:spPr>
          <a:xfrm>
            <a:off x="5638648" y="2514600"/>
            <a:ext cx="914400" cy="914400"/>
          </a:xfrm>
          <a:prstGeom prst="ellipse">
            <a:avLst/>
          </a:prstGeom>
          <a:solidFill>
            <a:schemeClr val="accent1"/>
          </a:solidFill>
          <a:ln/>
        </p:spPr>
      </p:sp>
      <p:pic>
        <p:nvPicPr>
          <p:cNvPr id="21" name="Schritt 3" descr="ScanLine">    </p:cNvPr>
          <p:cNvPicPr>
            <a:picLocks noChangeAspect="1"/>
          </p:cNvPicPr>
          <p:nvPr/>
        </p:nvPicPr>
        <p:blipFill>
          <a:blip r:embed="rId3"/>
          <a:stretch>
            <a:fillRect/>
          </a:stretch>
        </p:blipFill>
        <p:spPr>
          <a:xfrm>
            <a:off x="5867248" y="2743200"/>
            <a:ext cx="457200" cy="457200"/>
          </a:xfrm>
          <a:prstGeom prst="rect">
            <a:avLst/>
          </a:prstGeom>
        </p:spPr>
      </p:pic>
      <p:sp>
        <p:nvSpPr>
          <p:cNvPr id="22" name="Text 17"/>
          <p:cNvSpPr txBox="1"/>
          <p:nvPr/>
        </p:nvSpPr>
        <p:spPr>
          <a:xfrm>
            <a:off x="5077846"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Digital erfasst</a:t>
            </a:r>
            <a:endParaRPr lang="en-US" sz="1600" dirty="0"/>
          </a:p>
        </p:txBody>
      </p:sp>
      <p:sp>
        <p:nvSpPr>
          <p:cNvPr id="23" name="Text 18"/>
          <p:cNvSpPr txBox="1"/>
          <p:nvPr/>
        </p:nvSpPr>
        <p:spPr>
          <a:xfrm>
            <a:off x="5169286"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gescannt und zugeordnet</a:t>
            </a:r>
            <a:endParaRPr lang="en-US" sz="1300" dirty="0"/>
          </a:p>
        </p:txBody>
      </p:sp>
      <p:sp>
        <p:nvSpPr>
          <p:cNvPr id="24" name="Pfeil 4"/>
          <p:cNvSpPr/>
          <p:nvPr/>
        </p:nvSpPr>
        <p:spPr>
          <a:xfrm>
            <a:off x="8881659" y="2971800"/>
            <a:ext cx="1085027" cy="0"/>
          </a:xfrm>
          <a:prstGeom prst="line">
            <a:avLst/>
          </a:prstGeom>
          <a:noFill/>
          <a:ln w="25400">
            <a:solidFill>
              <a:schemeClr val="accent1"/>
            </a:solidFill>
            <a:prstDash val="solid"/>
            <a:tailEnd type="triangle"/>
          </a:ln>
        </p:spPr>
      </p:sp>
      <p:sp>
        <p:nvSpPr>
          <p:cNvPr id="25" name="Schritt 4 Kreis"/>
          <p:cNvSpPr/>
          <p:nvPr/>
        </p:nvSpPr>
        <p:spPr>
          <a:xfrm>
            <a:off x="7857531" y="2514600"/>
            <a:ext cx="914400" cy="914400"/>
          </a:xfrm>
          <a:prstGeom prst="ellipse">
            <a:avLst/>
          </a:prstGeom>
          <a:solidFill>
            <a:schemeClr val="accent1"/>
          </a:solidFill>
          <a:ln/>
        </p:spPr>
      </p:sp>
      <p:pic>
        <p:nvPicPr>
          <p:cNvPr id="26" name="Schritt 4" descr="User">    </p:cNvPr>
          <p:cNvPicPr>
            <a:picLocks noChangeAspect="1"/>
          </p:cNvPicPr>
          <p:nvPr/>
        </p:nvPicPr>
        <p:blipFill>
          <a:blip r:embed="rId4"/>
          <a:stretch>
            <a:fillRect/>
          </a:stretch>
        </p:blipFill>
        <p:spPr>
          <a:xfrm>
            <a:off x="8086131" y="2743200"/>
            <a:ext cx="457200" cy="457200"/>
          </a:xfrm>
          <a:prstGeom prst="rect">
            <a:avLst/>
          </a:prstGeom>
        </p:spPr>
      </p:pic>
      <p:sp>
        <p:nvSpPr>
          <p:cNvPr id="27" name="Text 21"/>
          <p:cNvSpPr txBox="1"/>
          <p:nvPr/>
        </p:nvSpPr>
        <p:spPr>
          <a:xfrm>
            <a:off x="7296729"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Kundenberatung</a:t>
            </a:r>
            <a:endParaRPr lang="en-US" sz="1600" dirty="0"/>
          </a:p>
        </p:txBody>
      </p:sp>
      <p:sp>
        <p:nvSpPr>
          <p:cNvPr id="28" name="Text 22"/>
          <p:cNvSpPr txBox="1"/>
          <p:nvPr/>
        </p:nvSpPr>
        <p:spPr>
          <a:xfrm>
            <a:off x="7388169"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prüft und klärt Fehler</a:t>
            </a:r>
            <a:endParaRPr lang="en-US" sz="1300" dirty="0"/>
          </a:p>
        </p:txBody>
      </p:sp>
      <p:sp>
        <p:nvSpPr>
          <p:cNvPr id="29" name="Schritt 5 Kreis"/>
          <p:cNvSpPr/>
          <p:nvPr/>
        </p:nvSpPr>
        <p:spPr>
          <a:xfrm>
            <a:off x="10076414" y="2514600"/>
            <a:ext cx="914400" cy="914400"/>
          </a:xfrm>
          <a:prstGeom prst="ellipse">
            <a:avLst/>
          </a:prstGeom>
          <a:solidFill>
            <a:schemeClr val="accent1"/>
          </a:solidFill>
          <a:ln/>
        </p:spPr>
      </p:sp>
      <p:pic>
        <p:nvPicPr>
          <p:cNvPr id="30" name="Schritt 5" descr="Landmark">    </p:cNvPr>
          <p:cNvPicPr>
            <a:picLocks noChangeAspect="1"/>
          </p:cNvPicPr>
          <p:nvPr/>
        </p:nvPicPr>
        <p:blipFill>
          <a:blip r:embed="rId5"/>
          <a:stretch>
            <a:fillRect/>
          </a:stretch>
        </p:blipFill>
        <p:spPr>
          <a:xfrm>
            <a:off x="10305014" y="2743200"/>
            <a:ext cx="457200" cy="457200"/>
          </a:xfrm>
          <a:prstGeom prst="rect">
            <a:avLst/>
          </a:prstGeom>
        </p:spPr>
      </p:pic>
      <p:sp>
        <p:nvSpPr>
          <p:cNvPr id="31" name="Text 24"/>
          <p:cNvSpPr txBox="1"/>
          <p:nvPr/>
        </p:nvSpPr>
        <p:spPr>
          <a:xfrm>
            <a:off x="9515612" y="3611880"/>
            <a:ext cx="2036003" cy="320040"/>
          </a:xfrm>
          <a:prstGeom prst="rect">
            <a:avLst/>
          </a:prstGeom>
          <a:noFill/>
          <a:ln/>
        </p:spPr>
        <p:txBody>
          <a:bodyPr wrap="square" lIns="0" tIns="0" rIns="0" bIns="0" rtlCol="0" anchor="t"/>
          <a:lstStyle/>
          <a:p>
            <a:pPr algn="ctr" indent="0" marL="0">
              <a:buNone/>
            </a:pPr>
            <a:r>
              <a:rPr lang="en-US" sz="1600" b="1" dirty="0">
                <a:solidFill>
                  <a:schemeClr val="tx1"/>
                </a:solidFill>
              </a:rPr>
              <a:t>Backoffice</a:t>
            </a:r>
            <a:endParaRPr lang="en-US" sz="1600" dirty="0"/>
          </a:p>
        </p:txBody>
      </p:sp>
      <p:sp>
        <p:nvSpPr>
          <p:cNvPr id="32" name="Text 25"/>
          <p:cNvSpPr txBox="1"/>
          <p:nvPr/>
        </p:nvSpPr>
        <p:spPr>
          <a:xfrm>
            <a:off x="9607052" y="3931920"/>
            <a:ext cx="1853123" cy="548640"/>
          </a:xfrm>
          <a:prstGeom prst="rect">
            <a:avLst/>
          </a:prstGeom>
          <a:noFill/>
          <a:ln/>
        </p:spPr>
        <p:txBody>
          <a:bodyPr wrap="square" lIns="0" tIns="0" rIns="0" bIns="0" rtlCol="0" anchor="t"/>
          <a:lstStyle/>
          <a:p>
            <a:pPr algn="ctr" indent="0" marL="0">
              <a:buNone/>
            </a:pPr>
            <a:r>
              <a:rPr lang="en-US" sz="1300" dirty="0">
                <a:solidFill>
                  <a:schemeClr val="tx2"/>
                </a:solidFill>
              </a:rPr>
              <a:t>erhält den Vorgang digital</a:t>
            </a:r>
            <a:endParaRPr lang="en-US" sz="1300" dirty="0"/>
          </a:p>
        </p:txBody>
      </p:sp>
      <p:sp>
        <p:nvSpPr>
          <p:cNvPr id="33" name="Wichtig für uns"/>
          <p:cNvSpPr/>
          <p:nvPr/>
        </p:nvSpPr>
        <p:spPr>
          <a:xfrm>
            <a:off x="5215006" y="5074920"/>
            <a:ext cx="6428049" cy="777240"/>
          </a:xfrm>
          <a:prstGeom prst="roundRect">
            <a:avLst>
              <a:gd name="adj" fmla="val 14118"/>
            </a:avLst>
          </a:prstGeom>
          <a:solidFill>
            <a:schemeClr val="bg1"/>
          </a:solidFill>
          <a:ln/>
        </p:spPr>
      </p:sp>
      <p:sp>
        <p:nvSpPr>
          <p:cNvPr id="34" name="Wichtig für uns Rahmen"/>
          <p:cNvSpPr/>
          <p:nvPr/>
        </p:nvSpPr>
        <p:spPr>
          <a:xfrm>
            <a:off x="5215006" y="5074920"/>
            <a:ext cx="6428049" cy="777240"/>
          </a:xfrm>
          <a:prstGeom prst="roundRect">
            <a:avLst>
              <a:gd name="adj" fmla="val 14118"/>
            </a:avLst>
          </a:prstGeom>
          <a:ln w="15875">
            <a:solidFill>
              <a:schemeClr val="accent1"/>
            </a:solidFill>
            <a:prstDash val="solid"/>
          </a:ln>
        </p:spPr>
      </p:sp>
      <p:pic>
        <p:nvPicPr>
          <p:cNvPr id="35" name="Image 5" descr="Team">    </p:cNvPr>
          <p:cNvPicPr>
            <a:picLocks noChangeAspect="1"/>
          </p:cNvPicPr>
          <p:nvPr/>
        </p:nvPicPr>
        <p:blipFill>
          <a:blip r:embed="rId6"/>
          <a:stretch>
            <a:fillRect/>
          </a:stretch>
        </p:blipFill>
        <p:spPr>
          <a:xfrm>
            <a:off x="5443606" y="5257800"/>
            <a:ext cx="411480" cy="411480"/>
          </a:xfrm>
          <a:prstGeom prst="rect">
            <a:avLst/>
          </a:prstGeom>
        </p:spPr>
      </p:pic>
      <p:sp>
        <p:nvSpPr>
          <p:cNvPr id="36" name="Text 28"/>
          <p:cNvSpPr txBox="1"/>
          <p:nvPr/>
        </p:nvSpPr>
        <p:spPr>
          <a:xfrm>
            <a:off x="6037966" y="5120640"/>
            <a:ext cx="5513649" cy="685800"/>
          </a:xfrm>
          <a:prstGeom prst="rect">
            <a:avLst/>
          </a:prstGeom>
          <a:noFill/>
          <a:ln/>
        </p:spPr>
        <p:txBody>
          <a:bodyPr wrap="square" lIns="0" tIns="0" rIns="0" bIns="0" rtlCol="0" anchor="ctr"/>
          <a:lstStyle/>
          <a:p>
            <a:pPr indent="0" marL="0">
              <a:buNone/>
            </a:pPr>
            <a:r>
              <a:rPr lang="en-US" sz="1600" b="1" dirty="0">
                <a:solidFill>
                  <a:schemeClr val="tx1"/>
                </a:solidFill>
              </a:rPr>
              <a:t>Wichtig für uns: </a:t>
            </a:r>
            <a:pPr indent="0" marL="0">
              <a:buNone/>
            </a:pPr>
            <a:r>
              <a:rPr lang="en-US" sz="1600" dirty="0">
                <a:solidFill>
                  <a:schemeClr val="tx2"/>
                </a:solidFill>
              </a:rPr>
              <a:t>Auch bei Abwesenheit bleibt nichts liegen.</a:t>
            </a:r>
            <a:endParaRPr lang="en-US" sz="1600" dirty="0"/>
          </a:p>
        </p:txBody>
      </p:sp>
      <p:sp>
        <p:nvSpPr>
          <p:cNvPr id="37" name="Text 29"/>
          <p:cNvSpPr txBox="1"/>
          <p:nvPr/>
        </p:nvSpPr>
        <p:spPr>
          <a:xfrm>
            <a:off x="548640" y="5120640"/>
            <a:ext cx="4346326" cy="685800"/>
          </a:xfrm>
          <a:prstGeom prst="rect">
            <a:avLst/>
          </a:prstGeom>
          <a:noFill/>
          <a:ln/>
        </p:spPr>
        <p:txBody>
          <a:bodyPr wrap="square" lIns="0" tIns="0" rIns="0" bIns="0" rtlCol="0" anchor="ctr"/>
          <a:lstStyle/>
          <a:p>
            <a:pPr indent="0" marL="0">
              <a:buNone/>
            </a:pPr>
            <a:r>
              <a:rPr lang="en-US" sz="1500" b="1" dirty="0">
                <a:solidFill>
                  <a:schemeClr val="accent1"/>
                </a:solidFill>
              </a:rPr>
              <a:t>Ergebnis: </a:t>
            </a:r>
            <a:pPr indent="0" marL="0">
              <a:buNone/>
            </a:pPr>
            <a:r>
              <a:rPr lang="en-US" sz="1500" dirty="0">
                <a:solidFill>
                  <a:schemeClr val="tx1"/>
                </a:solidFill>
              </a:rPr>
              <a:t>kein interner Postlauf mehr.</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WAS WIR UNS WÜNSCHEN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Unsere Bedürfnisse</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Wünsche des Auftraggebers – die konkreten Anforderungen erarbeitet das RE-Team mit uns.</a:t>
            </a:r>
            <a:endParaRPr lang="en-US" sz="1700" dirty="0"/>
          </a:p>
        </p:txBody>
      </p:sp>
      <p:sp>
        <p:nvSpPr>
          <p:cNvPr id="5" name="Bedürfnis Alles an einem Ort"/>
          <p:cNvSpPr/>
          <p:nvPr/>
        </p:nvSpPr>
        <p:spPr>
          <a:xfrm>
            <a:off x="548640" y="2057400"/>
            <a:ext cx="3515258" cy="1783080"/>
          </a:xfrm>
          <a:prstGeom prst="roundRect">
            <a:avLst>
              <a:gd name="adj" fmla="val 6154"/>
            </a:avLst>
          </a:prstGeom>
          <a:solidFill>
            <a:schemeClr val="bg2"/>
          </a:solidFill>
          <a:ln/>
        </p:spPr>
      </p:sp>
      <p:sp>
        <p:nvSpPr>
          <p:cNvPr id="6" name="Icon Alles an einem Ort Kreis"/>
          <p:cNvSpPr/>
          <p:nvPr/>
        </p:nvSpPr>
        <p:spPr>
          <a:xfrm>
            <a:off x="822960" y="2377440"/>
            <a:ext cx="640080" cy="640080"/>
          </a:xfrm>
          <a:prstGeom prst="ellipse">
            <a:avLst/>
          </a:prstGeom>
          <a:solidFill>
            <a:schemeClr val="accent1"/>
          </a:solidFill>
          <a:ln/>
        </p:spPr>
      </p:sp>
      <p:pic>
        <p:nvPicPr>
          <p:cNvPr id="7" name="Icon Alles an einem Ort" descr="Inbox">    </p:cNvPr>
          <p:cNvPicPr>
            <a:picLocks noChangeAspect="1"/>
          </p:cNvPicPr>
          <p:nvPr/>
        </p:nvPicPr>
        <p:blipFill>
          <a:blip r:embed="rId1"/>
          <a:stretch>
            <a:fillRect/>
          </a:stretch>
        </p:blipFill>
        <p:spPr>
          <a:xfrm>
            <a:off x="982980" y="2537460"/>
            <a:ext cx="320040" cy="320040"/>
          </a:xfrm>
          <a:prstGeom prst="rect">
            <a:avLst/>
          </a:prstGeom>
        </p:spPr>
      </p:pic>
      <p:sp>
        <p:nvSpPr>
          <p:cNvPr id="8" name="Text 5"/>
          <p:cNvSpPr txBox="1"/>
          <p:nvPr/>
        </p:nvSpPr>
        <p:spPr>
          <a:xfrm>
            <a:off x="1645920" y="23774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Alles an einem Ort</a:t>
            </a:r>
            <a:endParaRPr lang="en-US" sz="1800" dirty="0"/>
          </a:p>
        </p:txBody>
      </p:sp>
      <p:sp>
        <p:nvSpPr>
          <p:cNvPr id="9" name="Text 6"/>
          <p:cNvSpPr txBox="1"/>
          <p:nvPr/>
        </p:nvSpPr>
        <p:spPr>
          <a:xfrm>
            <a:off x="1645920" y="3063240"/>
            <a:ext cx="2189378" cy="640080"/>
          </a:xfrm>
          <a:prstGeom prst="rect">
            <a:avLst/>
          </a:prstGeom>
          <a:noFill/>
          <a:ln/>
        </p:spPr>
        <p:txBody>
          <a:bodyPr wrap="square" lIns="0" tIns="0" rIns="0" bIns="0" rtlCol="0" anchor="t"/>
          <a:lstStyle/>
          <a:p>
            <a:pPr indent="0" marL="0">
              <a:buNone/>
            </a:pPr>
            <a:r>
              <a:rPr lang="en-US" sz="1400" dirty="0">
                <a:solidFill>
                  <a:schemeClr val="tx2"/>
                </a:solidFill>
              </a:rPr>
              <a:t>Wir wollen Rücksendungen nicht mehr suchen müssen.</a:t>
            </a:r>
            <a:endParaRPr lang="en-US" sz="1400" dirty="0"/>
          </a:p>
        </p:txBody>
      </p:sp>
      <p:sp>
        <p:nvSpPr>
          <p:cNvPr id="10" name="Bedürfnis Nichts bleibt liegen"/>
          <p:cNvSpPr/>
          <p:nvPr/>
        </p:nvSpPr>
        <p:spPr>
          <a:xfrm>
            <a:off x="4338218" y="2057400"/>
            <a:ext cx="3515258" cy="1783080"/>
          </a:xfrm>
          <a:prstGeom prst="roundRect">
            <a:avLst>
              <a:gd name="adj" fmla="val 6154"/>
            </a:avLst>
          </a:prstGeom>
          <a:solidFill>
            <a:schemeClr val="bg2"/>
          </a:solidFill>
          <a:ln/>
        </p:spPr>
      </p:sp>
      <p:sp>
        <p:nvSpPr>
          <p:cNvPr id="11" name="Icon Nichts bleibt liegen Kreis"/>
          <p:cNvSpPr/>
          <p:nvPr/>
        </p:nvSpPr>
        <p:spPr>
          <a:xfrm>
            <a:off x="4612538" y="2377440"/>
            <a:ext cx="640080" cy="640080"/>
          </a:xfrm>
          <a:prstGeom prst="ellipse">
            <a:avLst/>
          </a:prstGeom>
          <a:solidFill>
            <a:schemeClr val="accent1"/>
          </a:solidFill>
          <a:ln/>
        </p:spPr>
      </p:sp>
      <p:pic>
        <p:nvPicPr>
          <p:cNvPr id="12" name="Icon Nichts bleibt liegen" descr="Users">    </p:cNvPr>
          <p:cNvPicPr>
            <a:picLocks noChangeAspect="1"/>
          </p:cNvPicPr>
          <p:nvPr/>
        </p:nvPicPr>
        <p:blipFill>
          <a:blip r:embed="rId2"/>
          <a:stretch>
            <a:fillRect/>
          </a:stretch>
        </p:blipFill>
        <p:spPr>
          <a:xfrm>
            <a:off x="4772558" y="2537460"/>
            <a:ext cx="320040" cy="320040"/>
          </a:xfrm>
          <a:prstGeom prst="rect">
            <a:avLst/>
          </a:prstGeom>
        </p:spPr>
      </p:pic>
      <p:sp>
        <p:nvSpPr>
          <p:cNvPr id="13" name="Text 9"/>
          <p:cNvSpPr txBox="1"/>
          <p:nvPr/>
        </p:nvSpPr>
        <p:spPr>
          <a:xfrm>
            <a:off x="5435498" y="23774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Nichts bleibt liegen</a:t>
            </a:r>
            <a:endParaRPr lang="en-US" sz="1800" dirty="0"/>
          </a:p>
        </p:txBody>
      </p:sp>
      <p:sp>
        <p:nvSpPr>
          <p:cNvPr id="14" name="Text 10"/>
          <p:cNvSpPr txBox="1"/>
          <p:nvPr/>
        </p:nvSpPr>
        <p:spPr>
          <a:xfrm>
            <a:off x="5435498" y="3063240"/>
            <a:ext cx="2189378" cy="640080"/>
          </a:xfrm>
          <a:prstGeom prst="rect">
            <a:avLst/>
          </a:prstGeom>
          <a:noFill/>
          <a:ln/>
        </p:spPr>
        <p:txBody>
          <a:bodyPr wrap="square" lIns="0" tIns="0" rIns="0" bIns="0" rtlCol="0" anchor="t"/>
          <a:lstStyle/>
          <a:p>
            <a:pPr indent="0" marL="0">
              <a:buNone/>
            </a:pPr>
            <a:r>
              <a:rPr lang="en-US" sz="1400" dirty="0">
                <a:solidFill>
                  <a:schemeClr val="tx2"/>
                </a:solidFill>
              </a:rPr>
              <a:t>Auch wenn jemand fehlt, soll die Arbeit weitergehen.</a:t>
            </a:r>
            <a:endParaRPr lang="en-US" sz="1400" dirty="0"/>
          </a:p>
        </p:txBody>
      </p:sp>
      <p:sp>
        <p:nvSpPr>
          <p:cNvPr id="15" name="Bedürfnis Fehler früh klären"/>
          <p:cNvSpPr/>
          <p:nvPr/>
        </p:nvSpPr>
        <p:spPr>
          <a:xfrm>
            <a:off x="8127797" y="2057400"/>
            <a:ext cx="3515258" cy="1783080"/>
          </a:xfrm>
          <a:prstGeom prst="roundRect">
            <a:avLst>
              <a:gd name="adj" fmla="val 6154"/>
            </a:avLst>
          </a:prstGeom>
          <a:solidFill>
            <a:schemeClr val="bg2"/>
          </a:solidFill>
          <a:ln/>
        </p:spPr>
      </p:sp>
      <p:sp>
        <p:nvSpPr>
          <p:cNvPr id="16" name="Icon Fehler früh klären Kreis"/>
          <p:cNvSpPr/>
          <p:nvPr/>
        </p:nvSpPr>
        <p:spPr>
          <a:xfrm>
            <a:off x="8402117" y="2377440"/>
            <a:ext cx="640080" cy="640080"/>
          </a:xfrm>
          <a:prstGeom prst="ellipse">
            <a:avLst/>
          </a:prstGeom>
          <a:solidFill>
            <a:schemeClr val="accent1"/>
          </a:solidFill>
          <a:ln/>
        </p:spPr>
      </p:sp>
      <p:pic>
        <p:nvPicPr>
          <p:cNvPr id="17" name="Icon Fehler früh klären" descr="PencilLine">    </p:cNvPr>
          <p:cNvPicPr>
            <a:picLocks noChangeAspect="1"/>
          </p:cNvPicPr>
          <p:nvPr/>
        </p:nvPicPr>
        <p:blipFill>
          <a:blip r:embed="rId3"/>
          <a:stretch>
            <a:fillRect/>
          </a:stretch>
        </p:blipFill>
        <p:spPr>
          <a:xfrm>
            <a:off x="8562137" y="2537460"/>
            <a:ext cx="320040" cy="320040"/>
          </a:xfrm>
          <a:prstGeom prst="rect">
            <a:avLst/>
          </a:prstGeom>
        </p:spPr>
      </p:pic>
      <p:sp>
        <p:nvSpPr>
          <p:cNvPr id="18" name="Text 13"/>
          <p:cNvSpPr txBox="1"/>
          <p:nvPr/>
        </p:nvSpPr>
        <p:spPr>
          <a:xfrm>
            <a:off x="9225077" y="23774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Fehler früh klären</a:t>
            </a:r>
            <a:endParaRPr lang="en-US" sz="1800" dirty="0"/>
          </a:p>
        </p:txBody>
      </p:sp>
      <p:sp>
        <p:nvSpPr>
          <p:cNvPr id="19" name="Text 14"/>
          <p:cNvSpPr txBox="1"/>
          <p:nvPr/>
        </p:nvSpPr>
        <p:spPr>
          <a:xfrm>
            <a:off x="9225077" y="3063240"/>
            <a:ext cx="2189378" cy="640080"/>
          </a:xfrm>
          <a:prstGeom prst="rect">
            <a:avLst/>
          </a:prstGeom>
          <a:noFill/>
          <a:ln/>
        </p:spPr>
        <p:txBody>
          <a:bodyPr wrap="square" lIns="0" tIns="0" rIns="0" bIns="0" rtlCol="0" anchor="t"/>
          <a:lstStyle/>
          <a:p>
            <a:pPr indent="0" marL="0">
              <a:buNone/>
            </a:pPr>
            <a:r>
              <a:rPr lang="en-US" sz="1400" dirty="0">
                <a:solidFill>
                  <a:schemeClr val="tx2"/>
                </a:solidFill>
              </a:rPr>
              <a:t>Unvollständiges soll schneller auffallen und geklärt sein.</a:t>
            </a:r>
            <a:endParaRPr lang="en-US" sz="1400" dirty="0"/>
          </a:p>
        </p:txBody>
      </p:sp>
      <p:sp>
        <p:nvSpPr>
          <p:cNvPr id="20" name="Bedürfnis Schneller ins Backoffice"/>
          <p:cNvSpPr/>
          <p:nvPr/>
        </p:nvSpPr>
        <p:spPr>
          <a:xfrm>
            <a:off x="548640" y="4114800"/>
            <a:ext cx="3515258" cy="1783080"/>
          </a:xfrm>
          <a:prstGeom prst="roundRect">
            <a:avLst>
              <a:gd name="adj" fmla="val 6154"/>
            </a:avLst>
          </a:prstGeom>
          <a:solidFill>
            <a:schemeClr val="bg2"/>
          </a:solidFill>
          <a:ln/>
        </p:spPr>
      </p:sp>
      <p:sp>
        <p:nvSpPr>
          <p:cNvPr id="21" name="Icon Schneller ins Backoffice Kreis"/>
          <p:cNvSpPr/>
          <p:nvPr/>
        </p:nvSpPr>
        <p:spPr>
          <a:xfrm>
            <a:off x="822960" y="4434840"/>
            <a:ext cx="640080" cy="640080"/>
          </a:xfrm>
          <a:prstGeom prst="ellipse">
            <a:avLst/>
          </a:prstGeom>
          <a:solidFill>
            <a:schemeClr val="accent1"/>
          </a:solidFill>
          <a:ln/>
        </p:spPr>
      </p:sp>
      <p:pic>
        <p:nvPicPr>
          <p:cNvPr id="22" name="Icon Schneller ins Backoffice" descr="Send">    </p:cNvPr>
          <p:cNvPicPr>
            <a:picLocks noChangeAspect="1"/>
          </p:cNvPicPr>
          <p:nvPr/>
        </p:nvPicPr>
        <p:blipFill>
          <a:blip r:embed="rId4"/>
          <a:stretch>
            <a:fillRect/>
          </a:stretch>
        </p:blipFill>
        <p:spPr>
          <a:xfrm>
            <a:off x="982980" y="4594860"/>
            <a:ext cx="320040" cy="320040"/>
          </a:xfrm>
          <a:prstGeom prst="rect">
            <a:avLst/>
          </a:prstGeom>
        </p:spPr>
      </p:pic>
      <p:sp>
        <p:nvSpPr>
          <p:cNvPr id="23" name="Text 17"/>
          <p:cNvSpPr txBox="1"/>
          <p:nvPr/>
        </p:nvSpPr>
        <p:spPr>
          <a:xfrm>
            <a:off x="1645920" y="44348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Schneller ins Backoffice</a:t>
            </a:r>
            <a:endParaRPr lang="en-US" sz="1800" dirty="0"/>
          </a:p>
        </p:txBody>
      </p:sp>
      <p:sp>
        <p:nvSpPr>
          <p:cNvPr id="24" name="Text 18"/>
          <p:cNvSpPr txBox="1"/>
          <p:nvPr/>
        </p:nvSpPr>
        <p:spPr>
          <a:xfrm>
            <a:off x="1645920" y="5120640"/>
            <a:ext cx="2189378" cy="640080"/>
          </a:xfrm>
          <a:prstGeom prst="rect">
            <a:avLst/>
          </a:prstGeom>
          <a:noFill/>
          <a:ln/>
        </p:spPr>
        <p:txBody>
          <a:bodyPr wrap="square" lIns="0" tIns="0" rIns="0" bIns="0" rtlCol="0" anchor="t"/>
          <a:lstStyle/>
          <a:p>
            <a:pPr indent="0" marL="0">
              <a:buNone/>
            </a:pPr>
            <a:r>
              <a:rPr lang="en-US" sz="1400" dirty="0">
                <a:solidFill>
                  <a:schemeClr val="tx2"/>
                </a:solidFill>
              </a:rPr>
              <a:t>Ohne Umweg über den internen Postlauf.</a:t>
            </a:r>
            <a:endParaRPr lang="en-US" sz="1400" dirty="0"/>
          </a:p>
        </p:txBody>
      </p:sp>
      <p:sp>
        <p:nvSpPr>
          <p:cNvPr id="25" name="Bedürfnis Wissen, wo etwas steht"/>
          <p:cNvSpPr/>
          <p:nvPr/>
        </p:nvSpPr>
        <p:spPr>
          <a:xfrm>
            <a:off x="4338218" y="4114800"/>
            <a:ext cx="3515258" cy="1783080"/>
          </a:xfrm>
          <a:prstGeom prst="roundRect">
            <a:avLst>
              <a:gd name="adj" fmla="val 6154"/>
            </a:avLst>
          </a:prstGeom>
          <a:solidFill>
            <a:schemeClr val="bg2"/>
          </a:solidFill>
          <a:ln/>
        </p:spPr>
      </p:sp>
      <p:sp>
        <p:nvSpPr>
          <p:cNvPr id="26" name="Icon Wissen, wo etwas steht Kreis"/>
          <p:cNvSpPr/>
          <p:nvPr/>
        </p:nvSpPr>
        <p:spPr>
          <a:xfrm>
            <a:off x="4612538" y="4434840"/>
            <a:ext cx="640080" cy="640080"/>
          </a:xfrm>
          <a:prstGeom prst="ellipse">
            <a:avLst/>
          </a:prstGeom>
          <a:solidFill>
            <a:schemeClr val="accent1"/>
          </a:solidFill>
          <a:ln/>
        </p:spPr>
      </p:sp>
      <p:pic>
        <p:nvPicPr>
          <p:cNvPr id="27" name="Icon Wissen, wo etwas steht" descr="Eye">    </p:cNvPr>
          <p:cNvPicPr>
            <a:picLocks noChangeAspect="1"/>
          </p:cNvPicPr>
          <p:nvPr/>
        </p:nvPicPr>
        <p:blipFill>
          <a:blip r:embed="rId5"/>
          <a:stretch>
            <a:fillRect/>
          </a:stretch>
        </p:blipFill>
        <p:spPr>
          <a:xfrm>
            <a:off x="4772558" y="4594860"/>
            <a:ext cx="320040" cy="320040"/>
          </a:xfrm>
          <a:prstGeom prst="rect">
            <a:avLst/>
          </a:prstGeom>
        </p:spPr>
      </p:pic>
      <p:sp>
        <p:nvSpPr>
          <p:cNvPr id="28" name="Text 21"/>
          <p:cNvSpPr txBox="1"/>
          <p:nvPr/>
        </p:nvSpPr>
        <p:spPr>
          <a:xfrm>
            <a:off x="5435498" y="44348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Wissen, wo etwas steht</a:t>
            </a:r>
            <a:endParaRPr lang="en-US" sz="1800" dirty="0"/>
          </a:p>
        </p:txBody>
      </p:sp>
      <p:sp>
        <p:nvSpPr>
          <p:cNvPr id="29" name="Text 22"/>
          <p:cNvSpPr txBox="1"/>
          <p:nvPr/>
        </p:nvSpPr>
        <p:spPr>
          <a:xfrm>
            <a:off x="5435498" y="5120640"/>
            <a:ext cx="2189378" cy="640080"/>
          </a:xfrm>
          <a:prstGeom prst="rect">
            <a:avLst/>
          </a:prstGeom>
          <a:noFill/>
          <a:ln/>
        </p:spPr>
        <p:txBody>
          <a:bodyPr wrap="square" lIns="0" tIns="0" rIns="0" bIns="0" rtlCol="0" anchor="t"/>
          <a:lstStyle/>
          <a:p>
            <a:pPr indent="0" marL="0">
              <a:buNone/>
            </a:pPr>
            <a:r>
              <a:rPr lang="en-US" sz="1400" dirty="0">
                <a:solidFill>
                  <a:schemeClr val="tx2"/>
                </a:solidFill>
              </a:rPr>
              <a:t>Wer hat was, seit wann – und was fehlt noch?</a:t>
            </a:r>
            <a:endParaRPr lang="en-US" sz="1400" dirty="0"/>
          </a:p>
        </p:txBody>
      </p:sp>
      <p:sp>
        <p:nvSpPr>
          <p:cNvPr id="30" name="Bedürfnis Sicher und vertraulich"/>
          <p:cNvSpPr/>
          <p:nvPr/>
        </p:nvSpPr>
        <p:spPr>
          <a:xfrm>
            <a:off x="8127797" y="4114800"/>
            <a:ext cx="3515258" cy="1783080"/>
          </a:xfrm>
          <a:prstGeom prst="roundRect">
            <a:avLst>
              <a:gd name="adj" fmla="val 6154"/>
            </a:avLst>
          </a:prstGeom>
          <a:solidFill>
            <a:schemeClr val="bg2"/>
          </a:solidFill>
          <a:ln/>
        </p:spPr>
      </p:sp>
      <p:sp>
        <p:nvSpPr>
          <p:cNvPr id="31" name="Icon Sicher und vertraulich Kreis"/>
          <p:cNvSpPr/>
          <p:nvPr/>
        </p:nvSpPr>
        <p:spPr>
          <a:xfrm>
            <a:off x="8402117" y="4434840"/>
            <a:ext cx="640080" cy="640080"/>
          </a:xfrm>
          <a:prstGeom prst="ellipse">
            <a:avLst/>
          </a:prstGeom>
          <a:solidFill>
            <a:schemeClr val="accent1"/>
          </a:solidFill>
          <a:ln/>
        </p:spPr>
      </p:sp>
      <p:pic>
        <p:nvPicPr>
          <p:cNvPr id="32" name="Icon Sicher und vertraulich" descr="ShieldCheck">    </p:cNvPr>
          <p:cNvPicPr>
            <a:picLocks noChangeAspect="1"/>
          </p:cNvPicPr>
          <p:nvPr/>
        </p:nvPicPr>
        <p:blipFill>
          <a:blip r:embed="rId6"/>
          <a:stretch>
            <a:fillRect/>
          </a:stretch>
        </p:blipFill>
        <p:spPr>
          <a:xfrm>
            <a:off x="8562137" y="4594860"/>
            <a:ext cx="320040" cy="320040"/>
          </a:xfrm>
          <a:prstGeom prst="rect">
            <a:avLst/>
          </a:prstGeom>
        </p:spPr>
      </p:pic>
      <p:sp>
        <p:nvSpPr>
          <p:cNvPr id="33" name="Text 25"/>
          <p:cNvSpPr txBox="1"/>
          <p:nvPr/>
        </p:nvSpPr>
        <p:spPr>
          <a:xfrm>
            <a:off x="9225077" y="4434840"/>
            <a:ext cx="2189378" cy="640080"/>
          </a:xfrm>
          <a:prstGeom prst="rect">
            <a:avLst/>
          </a:prstGeom>
          <a:noFill/>
          <a:ln/>
        </p:spPr>
        <p:txBody>
          <a:bodyPr wrap="square" lIns="0" tIns="0" rIns="0" bIns="0" rtlCol="0" anchor="ctr"/>
          <a:lstStyle/>
          <a:p>
            <a:pPr indent="0" marL="0">
              <a:buNone/>
            </a:pPr>
            <a:r>
              <a:rPr lang="en-US" sz="1800" b="1" dirty="0">
                <a:solidFill>
                  <a:schemeClr val="tx1"/>
                </a:solidFill>
              </a:rPr>
              <a:t>Sicher und vertraulich</a:t>
            </a:r>
            <a:endParaRPr lang="en-US" sz="1800" dirty="0"/>
          </a:p>
        </p:txBody>
      </p:sp>
      <p:sp>
        <p:nvSpPr>
          <p:cNvPr id="34" name="Text 26"/>
          <p:cNvSpPr txBox="1"/>
          <p:nvPr/>
        </p:nvSpPr>
        <p:spPr>
          <a:xfrm>
            <a:off x="9225077" y="5120640"/>
            <a:ext cx="2189378" cy="640080"/>
          </a:xfrm>
          <a:prstGeom prst="rect">
            <a:avLst/>
          </a:prstGeom>
          <a:noFill/>
          <a:ln/>
        </p:spPr>
        <p:txBody>
          <a:bodyPr wrap="square" lIns="0" tIns="0" rIns="0" bIns="0" rtlCol="0" anchor="t"/>
          <a:lstStyle/>
          <a:p>
            <a:pPr indent="0" marL="0">
              <a:buNone/>
            </a:pPr>
            <a:r>
              <a:rPr lang="en-US" sz="1400" dirty="0">
                <a:solidFill>
                  <a:schemeClr val="tx2"/>
                </a:solidFill>
              </a:rPr>
              <a:t>Nur Berechtigte sehen Kundendaten.</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AUFTRAG</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Unser Auftrag an Gruppe 3 (RE-Team)</a:t>
            </a:r>
            <a:endParaRPr lang="en-US" sz="3400" dirty="0"/>
          </a:p>
        </p:txBody>
      </p:sp>
      <p:sp>
        <p:nvSpPr>
          <p:cNvPr id="4" name="Auftrag 1"/>
          <p:cNvSpPr/>
          <p:nvPr/>
        </p:nvSpPr>
        <p:spPr>
          <a:xfrm>
            <a:off x="548640" y="1645920"/>
            <a:ext cx="566928" cy="566928"/>
          </a:xfrm>
          <a:prstGeom prst="ellipse">
            <a:avLst/>
          </a:prstGeom>
          <a:solidFill>
            <a:schemeClr val="accent1"/>
          </a:solidFill>
          <a:ln/>
        </p:spPr>
      </p:sp>
      <p:sp>
        <p:nvSpPr>
          <p:cNvPr id="5" name="Text 3"/>
          <p:cNvSpPr txBox="1"/>
          <p:nvPr/>
        </p:nvSpPr>
        <p:spPr>
          <a:xfrm>
            <a:off x="54864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371600" y="1600200"/>
            <a:ext cx="5760720" cy="365760"/>
          </a:xfrm>
          <a:prstGeom prst="rect">
            <a:avLst/>
          </a:prstGeom>
          <a:noFill/>
          <a:ln/>
        </p:spPr>
        <p:txBody>
          <a:bodyPr wrap="square" lIns="0" tIns="0" rIns="0" bIns="0" rtlCol="0" anchor="t"/>
          <a:lstStyle/>
          <a:p>
            <a:pPr indent="0" marL="0">
              <a:buNone/>
            </a:pPr>
            <a:r>
              <a:rPr lang="en-US" sz="1900" b="1" dirty="0">
                <a:solidFill>
                  <a:schemeClr val="tx1"/>
                </a:solidFill>
              </a:rPr>
              <a:t>Bedürfnisse ermitteln</a:t>
            </a:r>
            <a:endParaRPr lang="en-US" sz="1900" dirty="0"/>
          </a:p>
        </p:txBody>
      </p:sp>
      <p:sp>
        <p:nvSpPr>
          <p:cNvPr id="7" name="Text 5"/>
          <p:cNvSpPr txBox="1"/>
          <p:nvPr/>
        </p:nvSpPr>
        <p:spPr>
          <a:xfrm>
            <a:off x="1371600" y="1965960"/>
            <a:ext cx="5760720" cy="320040"/>
          </a:xfrm>
          <a:prstGeom prst="rect">
            <a:avLst/>
          </a:prstGeom>
          <a:noFill/>
          <a:ln/>
        </p:spPr>
        <p:txBody>
          <a:bodyPr wrap="square" lIns="0" tIns="0" rIns="0" bIns="0" rtlCol="0" anchor="t"/>
          <a:lstStyle/>
          <a:p>
            <a:pPr indent="0" marL="0">
              <a:buNone/>
            </a:pPr>
            <a:r>
              <a:rPr lang="en-US" sz="1400" dirty="0">
                <a:solidFill>
                  <a:schemeClr val="tx2"/>
                </a:solidFill>
              </a:rPr>
              <a:t>mit Kundenberatung, Posteingang und Backoffice</a:t>
            </a:r>
            <a:endParaRPr lang="en-US" sz="1400" dirty="0"/>
          </a:p>
        </p:txBody>
      </p:sp>
      <p:sp>
        <p:nvSpPr>
          <p:cNvPr id="8" name="Auftrag 2"/>
          <p:cNvSpPr/>
          <p:nvPr/>
        </p:nvSpPr>
        <p:spPr>
          <a:xfrm>
            <a:off x="548640" y="2606040"/>
            <a:ext cx="566928" cy="566928"/>
          </a:xfrm>
          <a:prstGeom prst="ellipse">
            <a:avLst/>
          </a:prstGeom>
          <a:solidFill>
            <a:schemeClr val="accent1"/>
          </a:solidFill>
          <a:ln/>
        </p:spPr>
      </p:sp>
      <p:sp>
        <p:nvSpPr>
          <p:cNvPr id="9" name="Text 7"/>
          <p:cNvSpPr txBox="1"/>
          <p:nvPr/>
        </p:nvSpPr>
        <p:spPr>
          <a:xfrm>
            <a:off x="548640" y="2606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371600" y="2560320"/>
            <a:ext cx="5760720" cy="365760"/>
          </a:xfrm>
          <a:prstGeom prst="rect">
            <a:avLst/>
          </a:prstGeom>
          <a:noFill/>
          <a:ln/>
        </p:spPr>
        <p:txBody>
          <a:bodyPr wrap="square" lIns="0" tIns="0" rIns="0" bIns="0" rtlCol="0" anchor="t"/>
          <a:lstStyle/>
          <a:p>
            <a:pPr indent="0" marL="0">
              <a:buNone/>
            </a:pPr>
            <a:r>
              <a:rPr lang="en-US" sz="1900" b="1" dirty="0">
                <a:solidFill>
                  <a:schemeClr val="tx1"/>
                </a:solidFill>
              </a:rPr>
              <a:t>Zugriffsrechte klären</a:t>
            </a:r>
            <a:endParaRPr lang="en-US" sz="1900" dirty="0"/>
          </a:p>
        </p:txBody>
      </p:sp>
      <p:sp>
        <p:nvSpPr>
          <p:cNvPr id="11" name="Text 9"/>
          <p:cNvSpPr txBox="1"/>
          <p:nvPr/>
        </p:nvSpPr>
        <p:spPr>
          <a:xfrm>
            <a:off x="1371600" y="2926080"/>
            <a:ext cx="5760720" cy="320040"/>
          </a:xfrm>
          <a:prstGeom prst="rect">
            <a:avLst/>
          </a:prstGeom>
          <a:noFill/>
          <a:ln/>
        </p:spPr>
        <p:txBody>
          <a:bodyPr wrap="square" lIns="0" tIns="0" rIns="0" bIns="0" rtlCol="0" anchor="t"/>
          <a:lstStyle/>
          <a:p>
            <a:pPr indent="0" marL="0">
              <a:buNone/>
            </a:pPr>
            <a:r>
              <a:rPr lang="en-US" sz="1400" dirty="0">
                <a:solidFill>
                  <a:schemeClr val="tx2"/>
                </a:solidFill>
              </a:rPr>
              <a:t>wer sieht was – Team, Stellvertretung, Backoffice</a:t>
            </a:r>
            <a:endParaRPr lang="en-US" sz="1400" dirty="0"/>
          </a:p>
        </p:txBody>
      </p:sp>
      <p:sp>
        <p:nvSpPr>
          <p:cNvPr id="12" name="Auftrag 3"/>
          <p:cNvSpPr/>
          <p:nvPr/>
        </p:nvSpPr>
        <p:spPr>
          <a:xfrm>
            <a:off x="548640" y="3566160"/>
            <a:ext cx="566928" cy="566928"/>
          </a:xfrm>
          <a:prstGeom prst="ellipse">
            <a:avLst/>
          </a:prstGeom>
          <a:solidFill>
            <a:schemeClr val="accent1"/>
          </a:solidFill>
          <a:ln/>
        </p:spPr>
      </p:sp>
      <p:sp>
        <p:nvSpPr>
          <p:cNvPr id="13" name="Text 11"/>
          <p:cNvSpPr txBox="1"/>
          <p:nvPr/>
        </p:nvSpPr>
        <p:spPr>
          <a:xfrm>
            <a:off x="548640" y="35661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371600" y="3520440"/>
            <a:ext cx="5760720" cy="365760"/>
          </a:xfrm>
          <a:prstGeom prst="rect">
            <a:avLst/>
          </a:prstGeom>
          <a:noFill/>
          <a:ln/>
        </p:spPr>
        <p:txBody>
          <a:bodyPr wrap="square" lIns="0" tIns="0" rIns="0" bIns="0" rtlCol="0" anchor="t"/>
          <a:lstStyle/>
          <a:p>
            <a:pPr indent="0" marL="0">
              <a:buNone/>
            </a:pPr>
            <a:r>
              <a:rPr lang="en-US" sz="1900" b="1" dirty="0">
                <a:solidFill>
                  <a:schemeClr val="tx1"/>
                </a:solidFill>
              </a:rPr>
              <a:t>Abläufe beschreiben</a:t>
            </a:r>
            <a:endParaRPr lang="en-US" sz="1900" dirty="0"/>
          </a:p>
        </p:txBody>
      </p:sp>
      <p:sp>
        <p:nvSpPr>
          <p:cNvPr id="15" name="Text 13"/>
          <p:cNvSpPr txBox="1"/>
          <p:nvPr/>
        </p:nvSpPr>
        <p:spPr>
          <a:xfrm>
            <a:off x="1371600" y="3886200"/>
            <a:ext cx="5760720" cy="320040"/>
          </a:xfrm>
          <a:prstGeom prst="rect">
            <a:avLst/>
          </a:prstGeom>
          <a:noFill/>
          <a:ln/>
        </p:spPr>
        <p:txBody>
          <a:bodyPr wrap="square" lIns="0" tIns="0" rIns="0" bIns="0" rtlCol="0" anchor="t"/>
          <a:lstStyle/>
          <a:p>
            <a:pPr indent="0" marL="0">
              <a:buNone/>
            </a:pPr>
            <a:r>
              <a:rPr lang="en-US" sz="1400" dirty="0">
                <a:solidFill>
                  <a:schemeClr val="tx2"/>
                </a:solidFill>
              </a:rPr>
              <a:t>inklusive Korrektur, Rückfrage und Ausnahmen</a:t>
            </a:r>
            <a:endParaRPr lang="en-US" sz="1400" dirty="0"/>
          </a:p>
        </p:txBody>
      </p:sp>
      <p:sp>
        <p:nvSpPr>
          <p:cNvPr id="16" name="Auftrag 4"/>
          <p:cNvSpPr/>
          <p:nvPr/>
        </p:nvSpPr>
        <p:spPr>
          <a:xfrm>
            <a:off x="548640" y="4526280"/>
            <a:ext cx="566928" cy="566928"/>
          </a:xfrm>
          <a:prstGeom prst="ellipse">
            <a:avLst/>
          </a:prstGeom>
          <a:solidFill>
            <a:schemeClr val="accent1"/>
          </a:solidFill>
          <a:ln/>
        </p:spPr>
      </p:sp>
      <p:sp>
        <p:nvSpPr>
          <p:cNvPr id="17" name="Text 15"/>
          <p:cNvSpPr txBox="1"/>
          <p:nvPr/>
        </p:nvSpPr>
        <p:spPr>
          <a:xfrm>
            <a:off x="548640" y="45262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371600" y="4480560"/>
            <a:ext cx="5760720" cy="365760"/>
          </a:xfrm>
          <a:prstGeom prst="rect">
            <a:avLst/>
          </a:prstGeom>
          <a:noFill/>
          <a:ln/>
        </p:spPr>
        <p:txBody>
          <a:bodyPr wrap="square" lIns="0" tIns="0" rIns="0" bIns="0" rtlCol="0" anchor="t"/>
          <a:lstStyle/>
          <a:p>
            <a:pPr indent="0" marL="0">
              <a:buNone/>
            </a:pPr>
            <a:r>
              <a:rPr lang="en-US" sz="1900" b="1" dirty="0">
                <a:solidFill>
                  <a:schemeClr val="tx1"/>
                </a:solidFill>
              </a:rPr>
              <a:t>Qualitätsziele messbar machen</a:t>
            </a:r>
            <a:endParaRPr lang="en-US" sz="1900" dirty="0"/>
          </a:p>
        </p:txBody>
      </p:sp>
      <p:sp>
        <p:nvSpPr>
          <p:cNvPr id="19" name="Text 17"/>
          <p:cNvSpPr txBox="1"/>
          <p:nvPr/>
        </p:nvSpPr>
        <p:spPr>
          <a:xfrm>
            <a:off x="1371600" y="4846320"/>
            <a:ext cx="5760720" cy="320040"/>
          </a:xfrm>
          <a:prstGeom prst="rect">
            <a:avLst/>
          </a:prstGeom>
          <a:noFill/>
          <a:ln/>
        </p:spPr>
        <p:txBody>
          <a:bodyPr wrap="square" lIns="0" tIns="0" rIns="0" bIns="0" rtlCol="0" anchor="t"/>
          <a:lstStyle/>
          <a:p>
            <a:pPr indent="0" marL="0">
              <a:buNone/>
            </a:pPr>
            <a:r>
              <a:rPr lang="en-US" sz="1400" dirty="0">
                <a:solidFill>
                  <a:schemeClr val="tx2"/>
                </a:solidFill>
              </a:rPr>
              <a:t>Zeit, Fehler, Transparenz – mit Baseline</a:t>
            </a:r>
            <a:endParaRPr lang="en-US" sz="1400" dirty="0"/>
          </a:p>
        </p:txBody>
      </p:sp>
      <p:sp>
        <p:nvSpPr>
          <p:cNvPr id="20" name="Zeitachse"/>
          <p:cNvSpPr/>
          <p:nvPr/>
        </p:nvSpPr>
        <p:spPr>
          <a:xfrm>
            <a:off x="640080" y="5532120"/>
            <a:ext cx="6035040" cy="0"/>
          </a:xfrm>
          <a:prstGeom prst="line">
            <a:avLst/>
          </a:prstGeom>
          <a:noFill/>
          <a:ln w="25400">
            <a:solidFill>
              <a:schemeClr val="accent6"/>
            </a:solidFill>
            <a:prstDash val="solid"/>
          </a:ln>
        </p:spPr>
      </p:sp>
      <p:sp>
        <p:nvSpPr>
          <p:cNvPr id="21" name="Termin PVA 5"/>
          <p:cNvSpPr/>
          <p:nvPr/>
        </p:nvSpPr>
        <p:spPr>
          <a:xfrm>
            <a:off x="548640" y="5440680"/>
            <a:ext cx="182880" cy="182880"/>
          </a:xfrm>
          <a:prstGeom prst="ellipse">
            <a:avLst/>
          </a:prstGeom>
          <a:solidFill>
            <a:schemeClr val="accent1"/>
          </a:solidFill>
          <a:ln w="19050">
            <a:solidFill>
              <a:schemeClr val="bg1"/>
            </a:solidFill>
            <a:prstDash val="solid"/>
          </a:ln>
        </p:spPr>
      </p:sp>
      <p:sp>
        <p:nvSpPr>
          <p:cNvPr id="22" name="Text 20"/>
          <p:cNvSpPr txBox="1"/>
          <p:nvPr/>
        </p:nvSpPr>
        <p:spPr>
          <a:xfrm>
            <a:off x="548640" y="5687568"/>
            <a:ext cx="2011680" cy="320040"/>
          </a:xfrm>
          <a:prstGeom prst="rect">
            <a:avLst/>
          </a:prstGeom>
          <a:noFill/>
          <a:ln/>
        </p:spPr>
        <p:txBody>
          <a:bodyPr wrap="square" lIns="0" tIns="0" rIns="0" bIns="0" rtlCol="0" anchor="t"/>
          <a:lstStyle/>
          <a:p>
            <a:pPr indent="0" marL="0">
              <a:buNone/>
            </a:pPr>
            <a:r>
              <a:rPr lang="en-US" sz="1300" b="1" dirty="0">
                <a:solidFill>
                  <a:schemeClr val="accent1"/>
                </a:solidFill>
              </a:rPr>
              <a:t>PVA 5  </a:t>
            </a:r>
            <a:pPr indent="0" marL="0">
              <a:buNone/>
            </a:pPr>
            <a:r>
              <a:rPr lang="en-US" sz="1300" dirty="0">
                <a:solidFill>
                  <a:schemeClr val="tx1"/>
                </a:solidFill>
              </a:rPr>
              <a:t>Austausch mit uns</a:t>
            </a:r>
            <a:endParaRPr lang="en-US" sz="1300" dirty="0"/>
          </a:p>
        </p:txBody>
      </p:sp>
      <p:sp>
        <p:nvSpPr>
          <p:cNvPr id="23" name="Termin PVA 6"/>
          <p:cNvSpPr/>
          <p:nvPr/>
        </p:nvSpPr>
        <p:spPr>
          <a:xfrm>
            <a:off x="2606040" y="5440680"/>
            <a:ext cx="182880" cy="182880"/>
          </a:xfrm>
          <a:prstGeom prst="ellipse">
            <a:avLst/>
          </a:prstGeom>
          <a:solidFill>
            <a:schemeClr val="accent1"/>
          </a:solidFill>
          <a:ln w="19050">
            <a:solidFill>
              <a:schemeClr val="bg1"/>
            </a:solidFill>
            <a:prstDash val="solid"/>
          </a:ln>
        </p:spPr>
      </p:sp>
      <p:sp>
        <p:nvSpPr>
          <p:cNvPr id="24" name="Text 22"/>
          <p:cNvSpPr txBox="1"/>
          <p:nvPr/>
        </p:nvSpPr>
        <p:spPr>
          <a:xfrm>
            <a:off x="2606040" y="5687568"/>
            <a:ext cx="2011680" cy="320040"/>
          </a:xfrm>
          <a:prstGeom prst="rect">
            <a:avLst/>
          </a:prstGeom>
          <a:noFill/>
          <a:ln/>
        </p:spPr>
        <p:txBody>
          <a:bodyPr wrap="square" lIns="0" tIns="0" rIns="0" bIns="0" rtlCol="0" anchor="t"/>
          <a:lstStyle/>
          <a:p>
            <a:pPr indent="0" marL="0">
              <a:buNone/>
            </a:pPr>
            <a:r>
              <a:rPr lang="en-US" sz="1300" b="1" dirty="0">
                <a:solidFill>
                  <a:schemeClr val="accent1"/>
                </a:solidFill>
              </a:rPr>
              <a:t>PVA 6  </a:t>
            </a:r>
            <a:pPr indent="0" marL="0">
              <a:buNone/>
            </a:pPr>
            <a:r>
              <a:rPr lang="en-US" sz="1300" dirty="0">
                <a:solidFill>
                  <a:schemeClr val="tx1"/>
                </a:solidFill>
              </a:rPr>
              <a:t>Zwischenstand</a:t>
            </a:r>
            <a:endParaRPr lang="en-US" sz="1300" dirty="0"/>
          </a:p>
        </p:txBody>
      </p:sp>
      <p:sp>
        <p:nvSpPr>
          <p:cNvPr id="25" name="Termin PVA 9/10"/>
          <p:cNvSpPr/>
          <p:nvPr/>
        </p:nvSpPr>
        <p:spPr>
          <a:xfrm>
            <a:off x="4663440" y="5440680"/>
            <a:ext cx="182880" cy="182880"/>
          </a:xfrm>
          <a:prstGeom prst="ellipse">
            <a:avLst/>
          </a:prstGeom>
          <a:solidFill>
            <a:schemeClr val="accent1"/>
          </a:solidFill>
          <a:ln w="19050">
            <a:solidFill>
              <a:schemeClr val="bg1"/>
            </a:solidFill>
            <a:prstDash val="solid"/>
          </a:ln>
        </p:spPr>
      </p:sp>
      <p:sp>
        <p:nvSpPr>
          <p:cNvPr id="26" name="Text 24"/>
          <p:cNvSpPr txBox="1"/>
          <p:nvPr/>
        </p:nvSpPr>
        <p:spPr>
          <a:xfrm>
            <a:off x="4663440" y="5687568"/>
            <a:ext cx="2926080" cy="320040"/>
          </a:xfrm>
          <a:prstGeom prst="rect">
            <a:avLst/>
          </a:prstGeom>
          <a:noFill/>
          <a:ln/>
        </p:spPr>
        <p:txBody>
          <a:bodyPr wrap="square" lIns="0" tIns="0" rIns="0" bIns="0" rtlCol="0" anchor="t"/>
          <a:lstStyle/>
          <a:p>
            <a:pPr indent="0" marL="0">
              <a:buNone/>
            </a:pPr>
            <a:r>
              <a:rPr lang="en-US" sz="1300" b="1" dirty="0">
                <a:solidFill>
                  <a:schemeClr val="accent1"/>
                </a:solidFill>
              </a:rPr>
              <a:t>PVA 9/10  </a:t>
            </a:r>
            <a:pPr indent="0" marL="0">
              <a:buNone/>
            </a:pPr>
            <a:r>
              <a:rPr lang="en-US" sz="1300" dirty="0">
                <a:solidFill>
                  <a:schemeClr val="tx1"/>
                </a:solidFill>
              </a:rPr>
              <a:t>Präsentation &amp; Spezifikation</a:t>
            </a:r>
            <a:endParaRPr lang="en-US" sz="1300" dirty="0"/>
          </a:p>
        </p:txBody>
      </p:sp>
      <p:sp>
        <p:nvSpPr>
          <p:cNvPr id="27" name="Ansprechpersonen"/>
          <p:cNvSpPr/>
          <p:nvPr/>
        </p:nvSpPr>
        <p:spPr>
          <a:xfrm>
            <a:off x="7589520" y="1600200"/>
            <a:ext cx="4053535" cy="4480560"/>
          </a:xfrm>
          <a:prstGeom prst="roundRect">
            <a:avLst>
              <a:gd name="adj" fmla="val 2707"/>
            </a:avLst>
          </a:prstGeom>
          <a:solidFill>
            <a:schemeClr val="bg2"/>
          </a:solidFill>
          <a:ln/>
        </p:spPr>
      </p:sp>
      <p:sp>
        <p:nvSpPr>
          <p:cNvPr id="28" name="Icon Ansprechpersonen Kreis"/>
          <p:cNvSpPr/>
          <p:nvPr/>
        </p:nvSpPr>
        <p:spPr>
          <a:xfrm>
            <a:off x="7909560" y="1874520"/>
            <a:ext cx="548640" cy="548640"/>
          </a:xfrm>
          <a:prstGeom prst="ellipse">
            <a:avLst/>
          </a:prstGeom>
          <a:solidFill>
            <a:schemeClr val="tx1"/>
          </a:solidFill>
          <a:ln/>
        </p:spPr>
      </p:sp>
      <p:pic>
        <p:nvPicPr>
          <p:cNvPr id="29" name="Icon Ansprechpersonen" descr="Users">    </p:cNvPr>
          <p:cNvPicPr>
            <a:picLocks noChangeAspect="1"/>
          </p:cNvPicPr>
          <p:nvPr/>
        </p:nvPicPr>
        <p:blipFill>
          <a:blip r:embed="rId1"/>
          <a:stretch>
            <a:fillRect/>
          </a:stretch>
        </p:blipFill>
        <p:spPr>
          <a:xfrm>
            <a:off x="8046720" y="2011680"/>
            <a:ext cx="274320" cy="274320"/>
          </a:xfrm>
          <a:prstGeom prst="rect">
            <a:avLst/>
          </a:prstGeom>
        </p:spPr>
      </p:pic>
      <p:sp>
        <p:nvSpPr>
          <p:cNvPr id="30" name="Text 27"/>
          <p:cNvSpPr txBox="1"/>
          <p:nvPr/>
        </p:nvSpPr>
        <p:spPr>
          <a:xfrm>
            <a:off x="8641080" y="1874520"/>
            <a:ext cx="2773375" cy="548640"/>
          </a:xfrm>
          <a:prstGeom prst="rect">
            <a:avLst/>
          </a:prstGeom>
          <a:noFill/>
          <a:ln/>
        </p:spPr>
        <p:txBody>
          <a:bodyPr wrap="square" lIns="0" tIns="0" rIns="0" bIns="0" rtlCol="0" anchor="ctr"/>
          <a:lstStyle/>
          <a:p>
            <a:pPr indent="0" marL="0">
              <a:buNone/>
            </a:pPr>
            <a:r>
              <a:rPr lang="en-US" sz="1800" b="1" dirty="0">
                <a:solidFill>
                  <a:schemeClr val="tx1"/>
                </a:solidFill>
              </a:rPr>
              <a:t>Ansprechpersonen</a:t>
            </a:r>
            <a:endParaRPr lang="en-US" sz="1800" dirty="0"/>
          </a:p>
        </p:txBody>
      </p:sp>
      <p:sp>
        <p:nvSpPr>
          <p:cNvPr id="31" name="Trennlinie"/>
          <p:cNvSpPr/>
          <p:nvPr/>
        </p:nvSpPr>
        <p:spPr>
          <a:xfrm>
            <a:off x="7909560" y="2587752"/>
            <a:ext cx="3413455" cy="0"/>
          </a:xfrm>
          <a:prstGeom prst="line">
            <a:avLst/>
          </a:prstGeom>
          <a:noFill/>
          <a:ln w="9525">
            <a:solidFill>
              <a:schemeClr val="accent6"/>
            </a:solidFill>
            <a:prstDash val="solid"/>
          </a:ln>
        </p:spPr>
      </p:sp>
      <p:sp>
        <p:nvSpPr>
          <p:cNvPr id="32" name="Text 29"/>
          <p:cNvSpPr txBox="1"/>
          <p:nvPr/>
        </p:nvSpPr>
        <p:spPr>
          <a:xfrm>
            <a:off x="7909560" y="2697480"/>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33" name="Text 30"/>
          <p:cNvSpPr txBox="1"/>
          <p:nvPr/>
        </p:nvSpPr>
        <p:spPr>
          <a:xfrm>
            <a:off x="7909560" y="2999232"/>
            <a:ext cx="3413455" cy="274320"/>
          </a:xfrm>
          <a:prstGeom prst="rect">
            <a:avLst/>
          </a:prstGeom>
          <a:noFill/>
          <a:ln/>
        </p:spPr>
        <p:txBody>
          <a:bodyPr wrap="square" lIns="0" tIns="0" rIns="0" bIns="0" rtlCol="0" anchor="t"/>
          <a:lstStyle/>
          <a:p>
            <a:pPr indent="0" marL="0">
              <a:buNone/>
            </a:pPr>
            <a:r>
              <a:rPr lang="en-US" sz="1300" dirty="0">
                <a:solidFill>
                  <a:schemeClr val="tx2"/>
                </a:solidFill>
              </a:rPr>
              <a:t>Auftraggeber:in · Leitung Privatkunden</a:t>
            </a:r>
            <a:endParaRPr lang="en-US" sz="1300" dirty="0"/>
          </a:p>
        </p:txBody>
      </p:sp>
      <p:sp>
        <p:nvSpPr>
          <p:cNvPr id="34" name="Trennlinie"/>
          <p:cNvSpPr/>
          <p:nvPr/>
        </p:nvSpPr>
        <p:spPr>
          <a:xfrm>
            <a:off x="7909560" y="3392424"/>
            <a:ext cx="3413455" cy="0"/>
          </a:xfrm>
          <a:prstGeom prst="line">
            <a:avLst/>
          </a:prstGeom>
          <a:noFill/>
          <a:ln w="9525">
            <a:solidFill>
              <a:schemeClr val="accent6"/>
            </a:solidFill>
            <a:prstDash val="solid"/>
          </a:ln>
        </p:spPr>
      </p:sp>
      <p:sp>
        <p:nvSpPr>
          <p:cNvPr id="35" name="Text 32"/>
          <p:cNvSpPr txBox="1"/>
          <p:nvPr/>
        </p:nvSpPr>
        <p:spPr>
          <a:xfrm>
            <a:off x="7909560" y="3502152"/>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36" name="Text 33"/>
          <p:cNvSpPr txBox="1"/>
          <p:nvPr/>
        </p:nvSpPr>
        <p:spPr>
          <a:xfrm>
            <a:off x="7909560" y="3803904"/>
            <a:ext cx="3413455" cy="274320"/>
          </a:xfrm>
          <a:prstGeom prst="rect">
            <a:avLst/>
          </a:prstGeom>
          <a:noFill/>
          <a:ln/>
        </p:spPr>
        <p:txBody>
          <a:bodyPr wrap="square" lIns="0" tIns="0" rIns="0" bIns="0" rtlCol="0" anchor="t"/>
          <a:lstStyle/>
          <a:p>
            <a:pPr indent="0" marL="0">
              <a:buNone/>
            </a:pPr>
            <a:r>
              <a:rPr lang="en-US" sz="1300" dirty="0">
                <a:solidFill>
                  <a:schemeClr val="tx2"/>
                </a:solidFill>
              </a:rPr>
              <a:t>Kundenberatung · Teamleitung Olten</a:t>
            </a:r>
            <a:endParaRPr lang="en-US" sz="1300" dirty="0"/>
          </a:p>
        </p:txBody>
      </p:sp>
      <p:sp>
        <p:nvSpPr>
          <p:cNvPr id="37" name="Trennlinie"/>
          <p:cNvSpPr/>
          <p:nvPr/>
        </p:nvSpPr>
        <p:spPr>
          <a:xfrm>
            <a:off x="7909560" y="4197096"/>
            <a:ext cx="3413455" cy="0"/>
          </a:xfrm>
          <a:prstGeom prst="line">
            <a:avLst/>
          </a:prstGeom>
          <a:noFill/>
          <a:ln w="9525">
            <a:solidFill>
              <a:schemeClr val="accent6"/>
            </a:solidFill>
            <a:prstDash val="solid"/>
          </a:ln>
        </p:spPr>
      </p:sp>
      <p:sp>
        <p:nvSpPr>
          <p:cNvPr id="38" name="Text 35"/>
          <p:cNvSpPr txBox="1"/>
          <p:nvPr/>
        </p:nvSpPr>
        <p:spPr>
          <a:xfrm>
            <a:off x="7909560" y="4306824"/>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39" name="Text 36"/>
          <p:cNvSpPr txBox="1"/>
          <p:nvPr/>
        </p:nvSpPr>
        <p:spPr>
          <a:xfrm>
            <a:off x="7909560" y="4608576"/>
            <a:ext cx="3413455" cy="274320"/>
          </a:xfrm>
          <a:prstGeom prst="rect">
            <a:avLst/>
          </a:prstGeom>
          <a:noFill/>
          <a:ln/>
        </p:spPr>
        <p:txBody>
          <a:bodyPr wrap="square" lIns="0" tIns="0" rIns="0" bIns="0" rtlCol="0" anchor="t"/>
          <a:lstStyle/>
          <a:p>
            <a:pPr indent="0" marL="0">
              <a:buNone/>
            </a:pPr>
            <a:r>
              <a:rPr lang="en-US" sz="1300" dirty="0">
                <a:solidFill>
                  <a:schemeClr val="tx2"/>
                </a:solidFill>
              </a:rPr>
              <a:t>Backoffice · Leitung Operations</a:t>
            </a:r>
            <a:endParaRPr lang="en-US" sz="1300" dirty="0"/>
          </a:p>
        </p:txBody>
      </p:sp>
      <p:sp>
        <p:nvSpPr>
          <p:cNvPr id="40" name="Trennlinie"/>
          <p:cNvSpPr/>
          <p:nvPr/>
        </p:nvSpPr>
        <p:spPr>
          <a:xfrm>
            <a:off x="7909560" y="5001768"/>
            <a:ext cx="3413455" cy="0"/>
          </a:xfrm>
          <a:prstGeom prst="line">
            <a:avLst/>
          </a:prstGeom>
          <a:noFill/>
          <a:ln w="9525">
            <a:solidFill>
              <a:schemeClr val="accent6"/>
            </a:solidFill>
            <a:prstDash val="solid"/>
          </a:ln>
        </p:spPr>
      </p:sp>
      <p:sp>
        <p:nvSpPr>
          <p:cNvPr id="41" name="Text 38"/>
          <p:cNvSpPr txBox="1"/>
          <p:nvPr/>
        </p:nvSpPr>
        <p:spPr>
          <a:xfrm>
            <a:off x="7909560" y="5111496"/>
            <a:ext cx="3413455" cy="292608"/>
          </a:xfrm>
          <a:prstGeom prst="rect">
            <a:avLst/>
          </a:prstGeom>
          <a:noFill/>
          <a:ln/>
        </p:spPr>
        <p:txBody>
          <a:bodyPr wrap="square" lIns="0" tIns="0" rIns="0" bIns="0" rtlCol="0" anchor="t"/>
          <a:lstStyle/>
          <a:p>
            <a:pPr indent="0" marL="0">
              <a:buNone/>
            </a:pPr>
            <a:r>
              <a:rPr lang="en-US" sz="1500" b="1" dirty="0">
                <a:solidFill>
                  <a:schemeClr val="tx1"/>
                </a:solidFill>
              </a:rPr>
              <a:t>[Name]</a:t>
            </a:r>
            <a:endParaRPr lang="en-US" sz="1500" dirty="0"/>
          </a:p>
        </p:txBody>
      </p:sp>
      <p:sp>
        <p:nvSpPr>
          <p:cNvPr id="42" name="Text 39"/>
          <p:cNvSpPr txBox="1"/>
          <p:nvPr/>
        </p:nvSpPr>
        <p:spPr>
          <a:xfrm>
            <a:off x="7909560" y="5413248"/>
            <a:ext cx="3413455" cy="274320"/>
          </a:xfrm>
          <a:prstGeom prst="rect">
            <a:avLst/>
          </a:prstGeom>
          <a:noFill/>
          <a:ln/>
        </p:spPr>
        <p:txBody>
          <a:bodyPr wrap="square" lIns="0" tIns="0" rIns="0" bIns="0" rtlCol="0" anchor="t"/>
          <a:lstStyle/>
          <a:p>
            <a:pPr indent="0" marL="0">
              <a:buNone/>
            </a:pPr>
            <a:r>
              <a:rPr lang="en-US" sz="1300" dirty="0">
                <a:solidFill>
                  <a:schemeClr val="tx2"/>
                </a:solidFill>
              </a:rPr>
              <a:t>Posteingang &amp; IT · Informationssicherheit</a:t>
            </a:r>
            <a:endParaRPr lang="en-US" sz="1300" dirty="0"/>
          </a:p>
        </p:txBody>
      </p:sp>
      <p:sp>
        <p:nvSpPr>
          <p:cNvPr id="4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7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371600"/>
            <a:ext cx="64008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KURZ GESAGT</a:t>
            </a:r>
            <a:endParaRPr lang="en-US" sz="1300" dirty="0"/>
          </a:p>
        </p:txBody>
      </p:sp>
      <p:sp>
        <p:nvSpPr>
          <p:cNvPr id="3" name="Text 1"/>
          <p:cNvSpPr txBox="1"/>
          <p:nvPr/>
        </p:nvSpPr>
        <p:spPr>
          <a:xfrm>
            <a:off x="640080" y="1828800"/>
            <a:ext cx="8778240" cy="1828800"/>
          </a:xfrm>
          <a:prstGeom prst="rect">
            <a:avLst/>
          </a:prstGeom>
          <a:noFill/>
          <a:ln/>
        </p:spPr>
        <p:txBody>
          <a:bodyPr wrap="square" lIns="0" tIns="0" rIns="0" bIns="0" rtlCol="0" anchor="t"/>
          <a:lstStyle/>
          <a:p>
            <a:pPr indent="0" marL="0">
              <a:buNone/>
            </a:pPr>
            <a:r>
              <a:rPr lang="en-US" sz="3800" b="1" dirty="0">
                <a:solidFill>
                  <a:schemeClr val="bg1"/>
                </a:solidFill>
              </a:rPr>
              <a:t>«Wir wollen die Software, in der alles reinkommt und bearbeitet wird.»</a:t>
            </a:r>
            <a:endParaRPr lang="en-US" sz="3800" dirty="0"/>
          </a:p>
        </p:txBody>
      </p:sp>
      <p:sp>
        <p:nvSpPr>
          <p:cNvPr id="4" name="Text 2"/>
          <p:cNvSpPr txBox="1"/>
          <p:nvPr/>
        </p:nvSpPr>
        <p:spPr>
          <a:xfrm>
            <a:off x="640080" y="4160520"/>
            <a:ext cx="5486400" cy="822960"/>
          </a:xfrm>
          <a:prstGeom prst="rect">
            <a:avLst/>
          </a:prstGeom>
          <a:noFill/>
          <a:ln/>
        </p:spPr>
        <p:txBody>
          <a:bodyPr wrap="square" lIns="0" tIns="0" rIns="0" bIns="0" rtlCol="0" anchor="t"/>
          <a:lstStyle/>
          <a:p>
            <a:pPr indent="0" marL="0">
              <a:buNone/>
            </a:pPr>
            <a:r>
              <a:rPr lang="en-US" sz="4400" b="1" dirty="0">
                <a:solidFill>
                  <a:schemeClr val="accent3"/>
                </a:solidFill>
              </a:rPr>
              <a:t>Fragen?</a:t>
            </a:r>
            <a:endParaRPr lang="en-US" sz="4400" dirty="0"/>
          </a:p>
        </p:txBody>
      </p:sp>
      <p:sp>
        <p:nvSpPr>
          <p:cNvPr id="5" name="Text 3"/>
          <p:cNvSpPr txBox="1"/>
          <p:nvPr/>
        </p:nvSpPr>
        <p:spPr>
          <a:xfrm>
            <a:off x="640080" y="598932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Gruppe 9 · Görkem Taspinar, Ardian Ibrahimaj · Kontakt: [E-Mail]</a:t>
            </a:r>
            <a:endParaRPr lang="en-US" sz="1200" dirty="0"/>
          </a:p>
        </p:txBody>
      </p:sp>
      <p:sp>
        <p:nvSpPr>
          <p:cNvPr id="6" name="Abschluss Icon Kreis"/>
          <p:cNvSpPr/>
          <p:nvPr/>
        </p:nvSpPr>
        <p:spPr>
          <a:xfrm>
            <a:off x="9784080" y="1920240"/>
            <a:ext cx="1737360" cy="1737360"/>
          </a:xfrm>
          <a:prstGeom prst="ellipse">
            <a:avLst/>
          </a:prstGeom>
          <a:solidFill>
            <a:schemeClr val="accent1"/>
          </a:solidFill>
          <a:ln/>
        </p:spPr>
      </p:sp>
      <p:pic>
        <p:nvPicPr>
          <p:cNvPr id="7" name="Abschluss Icon" descr="Inbox">    </p:cNvPr>
          <p:cNvPicPr>
            <a:picLocks noChangeAspect="1"/>
          </p:cNvPicPr>
          <p:nvPr/>
        </p:nvPicPr>
        <p:blipFill>
          <a:blip r:embed="rId1"/>
          <a:stretch>
            <a:fillRect/>
          </a:stretch>
        </p:blipFill>
        <p:spPr>
          <a:xfrm>
            <a:off x="10218420" y="2354580"/>
            <a:ext cx="868680" cy="868680"/>
          </a:xfrm>
          <a:prstGeom prst="rect">
            <a:avLst/>
          </a:prstGeom>
        </p:spPr>
      </p:pic>
    </p:spTree>
  </p:cSld>
  <p:clrMapOvr>
    <a:masterClrMapping/>
  </p:clrMapOvr>
</p:sld>
</file>

<file path=ppt/theme/theme1.xml><?xml version="1.0" encoding="utf-8"?>
<a:theme xmlns:a="http://schemas.openxmlformats.org/drawingml/2006/main" name="Postverarbeitung">
  <a:themeElements>
    <a:clrScheme name="Postverarbeitung">
      <a:dk1>
        <a:srgbClr val="13293D"/>
      </a:dk1>
      <a:lt1>
        <a:srgbClr val="FFFFFF"/>
      </a:lt1>
      <a:dk2>
        <a:srgbClr val="5A6B7B"/>
      </a:dk2>
      <a:lt2>
        <a:srgbClr val="F3F6F8"/>
      </a:lt2>
      <a:accent1>
        <a:srgbClr val="0A8A7A"/>
      </a:accent1>
      <a:accent2>
        <a:srgbClr val="C4472D"/>
      </a:accent2>
      <a:accent3>
        <a:srgbClr val="6FD1C0"/>
      </a:accent3>
      <a:accent4>
        <a:srgbClr val="E3F3F0"/>
      </a:accent4>
      <a:accent5>
        <a:srgbClr val="FBEAE5"/>
      </a:accent5>
      <a:accent6>
        <a:srgbClr val="D5DDE4"/>
      </a:accent6>
      <a:hlink>
        <a:srgbClr val="0A8A7A"/>
      </a:hlink>
      <a:folHlink>
        <a:srgbClr val="5A6B7B"/>
      </a:folHlink>
    </a:clrScheme>
    <a:fontScheme name="Postverarbeitu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Digitalisierung der internen Postverarbeitung – Projektvorstellung</dc:title>
  <dc:subject>Requirements Engineering HS26, PVA 2, Stakeholder-Rolle</dc:subject>
  <dc:creator>Gruppe 9</dc:creator>
  <cp:lastModifiedBy>Gruppe 9</cp:lastModifiedBy>
  <cp:revision>1</cp:revision>
  <dcterms:created xsi:type="dcterms:W3CDTF">2026-10-25T14:27:11Z</dcterms:created>
  <dcterms:modified xsi:type="dcterms:W3CDTF">2026-10-25T14:27:11Z</dcterms:modified>
</cp:coreProperties>
</file>