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eserve" id="{d9c8b8e2-1cba-71b8-9364-df82ff6f1c56}">
          <p14:sldIdLst>
            <p14:sldId id="256"/>
            <p14:sldId id="257"/>
            <p14:sldId id="258"/>
          </p14:sldIdLst>
        </p14:section>
        <p14:section name="Ziele und Rahmen" id="{d407ec99-c74e-9f60-2001-46897c9824bb}">
          <p14:sldIdLst>
            <p14:sldId id="259"/>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Reserve-Deck der Stakeholder-Rolle. Nicht vorführen, sondern nur zeigen, wenn Gruppe 3 in PVA 5 gezielt nachfragt – etwa nach Zahlen, Zielwerten, Budget oder rechtlichen Vorgaben. Antworten gemäss Antwortkatalog; die Folien sind nur eine Stütze. Alle Werte offen als Annahmen und Schätzungen bezeichnen.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Nur auf Nachfrage, zum Beispiel «Wie lange dauert es heute?» oder «Wie oft passieren Fehler?». Wir schätzen: im Schnitt zweieinhalb Arbeitstage vom Eingang bis ins Backoffice, bei Abwesenheit bis zehn. Rund zwölf Prozent der Rücksendungen sind unvollständig. Pro Rücksendung braucht die Kundenberatung etwa sechs Minuten. Ein bis zwei Dokumente pro Monat sind unauffindbar. Immer dazusagen: Das sind Schätzungen, keine Messungen.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Nur auf Nachfrage, etwa «Haben Sie schon eine Vorstellung, wie das aussehen soll?». Bewusst nur eine Skizze, keine Designvorgabe – im Gespräch beim Bedürfnis bleiben. Links wechselt man zwischen den eigenen Eingängen, dem Team, der Stellvertretung und offenen Rückfragen. Jeder Eingang zeigt Uhrzeit, Kundennummer, Dokumenttyp, wer zuständig ist und den Status. Korrekturen und Rückfragen passieren direkt im Vorgang.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Nur auf Nachfrage, etwa «Woran messen Sie den Erfolg?». Vier Wunschziele: Durchlaufzeit bei 90 Prozent der Vorgänge höchstens ein Arbeitstag – heute geschätzt zweieinhalb. Der Aufwand pro Rücksendung soll sich halbieren, auf höchstens drei Minuten. Kein Dokument darf mehr verloren gehen. Und bei Abwesenheit soll die Stellvertretung sofort übernehmen können. Wie genau gemessen wird, soll das RE-Team mit uns festlegen.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Nur auf Nachfrage, etwa nach Budget, Terminen oder rechtlichen Vorgaben. Als Bank unterstehen wir dem Bankkundengeheimnis nach Artikel 47 Bankengesetz – Kundendokumente dürfen nur Berechtigte sehen. Wir bearbeiten Personendaten nach dem Datenschutzgesetz, es gelten Aufbewahrungsfristen, zum Beispiel zehn Jahre für Buchungsbelege nach Artikel 958f OR, und Zugriffe müssen rollenbasiert und nachvollziehbar sein. Die genaue Einordnung machen Compliance und Rechtsdienst. Budget, angenommen: rund 450’000 Franken einmalig und höchstens 80’000 pro Jahr für den Betrieb. Pilot im zweiten Quartal 2027 am Hauptsitz und in zwei Geschäftsstellen, Rollout bis Ende 2027.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el dunkel">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hal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rtlCol="0"/>
          <a:lstStyle>
            <a:lvl1pPr indent="0" marL="0">
              <a:buNone/>
              <a:defRPr lang="en-US" sz="1200" b="1" spc="3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4" name="Text 0"/>
          <p:cNvSpPr/>
          <p:nvPr>
            <p:ph idx="102" type="body" hasCustomPrompt="1"/>
          </p:nvPr>
        </p:nvSpPr>
        <p:spPr>
          <a:xfrm>
            <a:off x="548640" y="1371600"/>
            <a:ext cx="11094415" cy="384048"/>
          </a:xfrm>
          <a:prstGeom prst="rect">
            <a:avLst/>
          </a:prstGeom>
          <a:noFill/>
          <a:ln/>
        </p:spPr>
        <p:txBody>
          <a:bodyPr wrap="square" rtlCol="0"/>
          <a:lstStyle>
            <a:lvl1pPr indent="0" marL="0">
              <a:buNone/>
              <a:defRPr lang="en-US" sz="1700" dirty="0">
                <a:solidFill>
                  <a:schemeClr val="tx2"/>
                </a:solidFill>
              </a:defRPr>
            </a:lvl1pPr>
          </a:lstStyle>
          <a:p>
            <a:pPr indent="0" marL="0">
              <a:buNone/>
            </a:pPr>
            <a:endParaRPr lang="en-US" sz="1700" dirty="0"/>
          </a:p>
        </p:txBody>
      </p:sp>
      <p:sp>
        <p:nvSpPr>
          <p:cNvPr id="5" name="Text 0"/>
          <p:cNvSpPr/>
          <p:nvPr/>
        </p:nvSpPr>
        <p:spPr>
          <a:xfrm>
            <a:off x="548640" y="6382512"/>
            <a:ext cx="8686800" cy="274320"/>
          </a:xfrm>
          <a:prstGeom prst="rect">
            <a:avLst/>
          </a:prstGeom>
          <a:noFill/>
          <a:ln/>
        </p:spPr>
        <p:txBody>
          <a:bodyPr wrap="square" lIns="0" tIns="0" rIns="0" bIns="0" rtlCol="0" anchor="t"/>
          <a:lstStyle/>
          <a:p>
            <a:pPr indent="0" marL="0">
              <a:buNone/>
            </a:pPr>
            <a:r>
              <a:rPr lang="en-US" sz="1000" dirty="0">
                <a:solidFill>
                  <a:schemeClr val="tx2"/>
                </a:solidFill>
              </a:rPr>
              <a:t>Musterbank Mittelland AG (fiktiv) · Reserve – nur auf Nachfrage in PVA 5 · Annahmen und Schätzungen</a:t>
            </a:r>
            <a:endParaRPr lang="en-US" sz="10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097280"/>
            <a:ext cx="6400800" cy="320040"/>
          </a:xfrm>
          <a:prstGeom prst="rect">
            <a:avLst/>
          </a:prstGeom>
          <a:noFill/>
          <a:ln/>
        </p:spPr>
        <p:txBody>
          <a:bodyPr wrap="square" lIns="0" tIns="0" rIns="0" bIns="0" rtlCol="0" anchor="t"/>
          <a:lstStyle/>
          <a:p>
            <a:pPr indent="0" marL="0">
              <a:buNone/>
            </a:pPr>
            <a:r>
              <a:rPr lang="en-US" sz="1300" b="1" spc="300" kern="0" dirty="0">
                <a:solidFill>
                  <a:schemeClr val="accent3"/>
                </a:solidFill>
              </a:rPr>
              <a:t>RESERVE · STAKEHOLDER-ROLLE</a:t>
            </a:r>
            <a:endParaRPr lang="en-US" sz="1300" dirty="0"/>
          </a:p>
        </p:txBody>
      </p:sp>
      <p:sp>
        <p:nvSpPr>
          <p:cNvPr id="3" name="Text 1"/>
          <p:cNvSpPr txBox="1"/>
          <p:nvPr/>
        </p:nvSpPr>
        <p:spPr>
          <a:xfrm>
            <a:off x="640080" y="1600200"/>
            <a:ext cx="6949440" cy="1920240"/>
          </a:xfrm>
          <a:prstGeom prst="rect">
            <a:avLst/>
          </a:prstGeom>
          <a:noFill/>
          <a:ln/>
        </p:spPr>
        <p:txBody>
          <a:bodyPr wrap="square" lIns="0" tIns="0" rIns="0" bIns="0" rtlCol="0" anchor="t"/>
          <a:lstStyle/>
          <a:p>
            <a:pPr indent="0" marL="0">
              <a:lnSpc>
                <a:spcPct val="95000"/>
              </a:lnSpc>
              <a:buNone/>
            </a:pPr>
            <a:r>
              <a:rPr lang="en-US" sz="4800" b="1" dirty="0">
                <a:solidFill>
                  <a:schemeClr val="bg1"/>
                </a:solidFill>
              </a:rPr>
              <a:t>Reserve – nur auf Nachfrage in PVA 5</a:t>
            </a:r>
            <a:endParaRPr lang="en-US" sz="4800" dirty="0"/>
          </a:p>
        </p:txBody>
      </p:sp>
      <p:sp>
        <p:nvSpPr>
          <p:cNvPr id="4" name="Text 2"/>
          <p:cNvSpPr txBox="1"/>
          <p:nvPr/>
        </p:nvSpPr>
        <p:spPr>
          <a:xfrm>
            <a:off x="640080" y="3657600"/>
            <a:ext cx="6400800" cy="457200"/>
          </a:xfrm>
          <a:prstGeom prst="rect">
            <a:avLst/>
          </a:prstGeom>
          <a:noFill/>
          <a:ln/>
        </p:spPr>
        <p:txBody>
          <a:bodyPr wrap="square" lIns="0" tIns="0" rIns="0" bIns="0" rtlCol="0" anchor="t"/>
          <a:lstStyle/>
          <a:p>
            <a:pPr indent="0" marL="0">
              <a:buNone/>
            </a:pPr>
            <a:r>
              <a:rPr lang="en-US" sz="2200" dirty="0">
                <a:solidFill>
                  <a:schemeClr val="bg1"/>
                </a:solidFill>
              </a:rPr>
              <a:t>Digitalisierung der internen Postverarbeitung</a:t>
            </a:r>
            <a:endParaRPr lang="en-US" sz="2200" dirty="0"/>
          </a:p>
        </p:txBody>
      </p:sp>
      <p:sp>
        <p:nvSpPr>
          <p:cNvPr id="5" name="Text 3"/>
          <p:cNvSpPr txBox="1"/>
          <p:nvPr/>
        </p:nvSpPr>
        <p:spPr>
          <a:xfrm>
            <a:off x="640080" y="4114800"/>
            <a:ext cx="6949440" cy="365760"/>
          </a:xfrm>
          <a:prstGeom prst="rect">
            <a:avLst/>
          </a:prstGeom>
          <a:noFill/>
          <a:ln/>
        </p:spPr>
        <p:txBody>
          <a:bodyPr wrap="square" lIns="0" tIns="0" rIns="0" bIns="0" rtlCol="0" anchor="t"/>
          <a:lstStyle/>
          <a:p>
            <a:pPr indent="0" marL="0">
              <a:buNone/>
            </a:pPr>
            <a:r>
              <a:rPr lang="en-US" sz="1600" dirty="0">
                <a:solidFill>
                  <a:schemeClr val="accent3"/>
                </a:solidFill>
              </a:rPr>
              <a:t>Alle Zahlen sind Annahmen und Schätzungen – keine Messwerte.</a:t>
            </a:r>
            <a:endParaRPr lang="en-US" sz="1600" dirty="0"/>
          </a:p>
        </p:txBody>
      </p:sp>
      <p:sp>
        <p:nvSpPr>
          <p:cNvPr id="6" name="Text 4"/>
          <p:cNvSpPr txBox="1"/>
          <p:nvPr/>
        </p:nvSpPr>
        <p:spPr>
          <a:xfrm>
            <a:off x="640080" y="5989320"/>
            <a:ext cx="8229600" cy="320040"/>
          </a:xfrm>
          <a:prstGeom prst="rect">
            <a:avLst/>
          </a:prstGeom>
          <a:noFill/>
          <a:ln/>
        </p:spPr>
        <p:txBody>
          <a:bodyPr wrap="square" lIns="0" tIns="0" rIns="0" bIns="0" rtlCol="0" anchor="t"/>
          <a:lstStyle/>
          <a:p>
            <a:pPr indent="0" marL="0">
              <a:buNone/>
            </a:pPr>
            <a:r>
              <a:rPr lang="en-US" sz="1200" dirty="0">
                <a:solidFill>
                  <a:schemeClr val="accent6"/>
                </a:solidFill>
              </a:rPr>
              <a:t>Requirements Engineering HS26 · Gruppe 9 · Görkem Taspinar, Ardian Ibrahimaj</a:t>
            </a:r>
            <a:endParaRPr lang="en-US" sz="1200" dirty="0"/>
          </a:p>
        </p:txBody>
      </p:sp>
      <p:sp>
        <p:nvSpPr>
          <p:cNvPr id="7" name="Motiv Linie"/>
          <p:cNvSpPr/>
          <p:nvPr/>
        </p:nvSpPr>
        <p:spPr>
          <a:xfrm>
            <a:off x="8755380" y="1485900"/>
            <a:ext cx="0" cy="3703320"/>
          </a:xfrm>
          <a:prstGeom prst="line">
            <a:avLst/>
          </a:prstGeom>
          <a:noFill/>
          <a:ln w="19050">
            <a:solidFill>
              <a:schemeClr val="accent3"/>
            </a:solidFill>
            <a:prstDash val="dash"/>
          </a:ln>
        </p:spPr>
      </p:sp>
      <p:sp>
        <p:nvSpPr>
          <p:cNvPr id="8" name="Motiv Probleme in Zahlen"/>
          <p:cNvSpPr/>
          <p:nvPr/>
        </p:nvSpPr>
        <p:spPr>
          <a:xfrm>
            <a:off x="8321040" y="1051560"/>
            <a:ext cx="868680" cy="868680"/>
          </a:xfrm>
          <a:prstGeom prst="ellipse">
            <a:avLst/>
          </a:prstGeom>
          <a:solidFill>
            <a:schemeClr val="tx1"/>
          </a:solidFill>
          <a:ln w="25400">
            <a:solidFill>
              <a:schemeClr val="accent3"/>
            </a:solidFill>
            <a:prstDash val="solid"/>
          </a:ln>
        </p:spPr>
      </p:sp>
      <p:pic>
        <p:nvPicPr>
          <p:cNvPr id="9" name="Image 0" descr="Probleme in Zahlen">    </p:cNvPr>
          <p:cNvPicPr>
            <a:picLocks noChangeAspect="1"/>
          </p:cNvPicPr>
          <p:nvPr/>
        </p:nvPicPr>
        <p:blipFill>
          <a:blip r:embed="rId1"/>
          <a:stretch>
            <a:fillRect/>
          </a:stretch>
        </p:blipFill>
        <p:spPr>
          <a:xfrm>
            <a:off x="8549640" y="1280160"/>
            <a:ext cx="411480" cy="411480"/>
          </a:xfrm>
          <a:prstGeom prst="rect">
            <a:avLst/>
          </a:prstGeom>
        </p:spPr>
      </p:pic>
      <p:sp>
        <p:nvSpPr>
          <p:cNvPr id="10" name="Text 7"/>
          <p:cNvSpPr txBox="1"/>
          <p:nvPr/>
        </p:nvSpPr>
        <p:spPr>
          <a:xfrm>
            <a:off x="9464040" y="1298448"/>
            <a:ext cx="2286000" cy="384048"/>
          </a:xfrm>
          <a:prstGeom prst="rect">
            <a:avLst/>
          </a:prstGeom>
          <a:noFill/>
          <a:ln/>
        </p:spPr>
        <p:txBody>
          <a:bodyPr wrap="square" lIns="0" tIns="0" rIns="0" bIns="0" rtlCol="0" anchor="ctr"/>
          <a:lstStyle/>
          <a:p>
            <a:pPr indent="0" marL="0">
              <a:buNone/>
            </a:pPr>
            <a:r>
              <a:rPr lang="en-US" sz="1600" dirty="0">
                <a:solidFill>
                  <a:schemeClr val="bg1"/>
                </a:solidFill>
              </a:rPr>
              <a:t>Probleme in Zahlen</a:t>
            </a:r>
            <a:endParaRPr lang="en-US" sz="1600" dirty="0"/>
          </a:p>
        </p:txBody>
      </p:sp>
      <p:sp>
        <p:nvSpPr>
          <p:cNvPr id="11" name="Motiv Inbox-Skizze"/>
          <p:cNvSpPr/>
          <p:nvPr/>
        </p:nvSpPr>
        <p:spPr>
          <a:xfrm>
            <a:off x="8321040" y="2286000"/>
            <a:ext cx="868680" cy="868680"/>
          </a:xfrm>
          <a:prstGeom prst="ellipse">
            <a:avLst/>
          </a:prstGeom>
          <a:solidFill>
            <a:schemeClr val="tx1"/>
          </a:solidFill>
          <a:ln w="25400">
            <a:solidFill>
              <a:schemeClr val="accent3"/>
            </a:solidFill>
            <a:prstDash val="solid"/>
          </a:ln>
        </p:spPr>
      </p:sp>
      <p:pic>
        <p:nvPicPr>
          <p:cNvPr id="12" name="Image 1" descr="Inbox-Skizze">    </p:cNvPr>
          <p:cNvPicPr>
            <a:picLocks noChangeAspect="1"/>
          </p:cNvPicPr>
          <p:nvPr/>
        </p:nvPicPr>
        <p:blipFill>
          <a:blip r:embed="rId2"/>
          <a:stretch>
            <a:fillRect/>
          </a:stretch>
        </p:blipFill>
        <p:spPr>
          <a:xfrm>
            <a:off x="8549640" y="2514600"/>
            <a:ext cx="411480" cy="411480"/>
          </a:xfrm>
          <a:prstGeom prst="rect">
            <a:avLst/>
          </a:prstGeom>
        </p:spPr>
      </p:pic>
      <p:sp>
        <p:nvSpPr>
          <p:cNvPr id="13" name="Text 9"/>
          <p:cNvSpPr txBox="1"/>
          <p:nvPr/>
        </p:nvSpPr>
        <p:spPr>
          <a:xfrm>
            <a:off x="9464040" y="2532888"/>
            <a:ext cx="2286000" cy="384048"/>
          </a:xfrm>
          <a:prstGeom prst="rect">
            <a:avLst/>
          </a:prstGeom>
          <a:noFill/>
          <a:ln/>
        </p:spPr>
        <p:txBody>
          <a:bodyPr wrap="square" lIns="0" tIns="0" rIns="0" bIns="0" rtlCol="0" anchor="ctr"/>
          <a:lstStyle/>
          <a:p>
            <a:pPr indent="0" marL="0">
              <a:buNone/>
            </a:pPr>
            <a:r>
              <a:rPr lang="en-US" sz="1600" dirty="0">
                <a:solidFill>
                  <a:schemeClr val="bg1"/>
                </a:solidFill>
              </a:rPr>
              <a:t>Inbox-Skizze</a:t>
            </a:r>
            <a:endParaRPr lang="en-US" sz="1600" dirty="0"/>
          </a:p>
        </p:txBody>
      </p:sp>
      <p:sp>
        <p:nvSpPr>
          <p:cNvPr id="14" name="Motiv Messbare Ziele"/>
          <p:cNvSpPr/>
          <p:nvPr/>
        </p:nvSpPr>
        <p:spPr>
          <a:xfrm>
            <a:off x="8321040" y="3520440"/>
            <a:ext cx="868680" cy="868680"/>
          </a:xfrm>
          <a:prstGeom prst="ellipse">
            <a:avLst/>
          </a:prstGeom>
          <a:solidFill>
            <a:schemeClr val="tx1"/>
          </a:solidFill>
          <a:ln w="25400">
            <a:solidFill>
              <a:schemeClr val="accent3"/>
            </a:solidFill>
            <a:prstDash val="solid"/>
          </a:ln>
        </p:spPr>
      </p:sp>
      <p:pic>
        <p:nvPicPr>
          <p:cNvPr id="15" name="Image 2" descr="Messbare Ziele">    </p:cNvPr>
          <p:cNvPicPr>
            <a:picLocks noChangeAspect="1"/>
          </p:cNvPicPr>
          <p:nvPr/>
        </p:nvPicPr>
        <p:blipFill>
          <a:blip r:embed="rId3"/>
          <a:stretch>
            <a:fillRect/>
          </a:stretch>
        </p:blipFill>
        <p:spPr>
          <a:xfrm>
            <a:off x="8549640" y="3749040"/>
            <a:ext cx="411480" cy="411480"/>
          </a:xfrm>
          <a:prstGeom prst="rect">
            <a:avLst/>
          </a:prstGeom>
        </p:spPr>
      </p:pic>
      <p:sp>
        <p:nvSpPr>
          <p:cNvPr id="16" name="Text 11"/>
          <p:cNvSpPr txBox="1"/>
          <p:nvPr/>
        </p:nvSpPr>
        <p:spPr>
          <a:xfrm>
            <a:off x="9464040" y="3767328"/>
            <a:ext cx="2286000" cy="384048"/>
          </a:xfrm>
          <a:prstGeom prst="rect">
            <a:avLst/>
          </a:prstGeom>
          <a:noFill/>
          <a:ln/>
        </p:spPr>
        <p:txBody>
          <a:bodyPr wrap="square" lIns="0" tIns="0" rIns="0" bIns="0" rtlCol="0" anchor="ctr"/>
          <a:lstStyle/>
          <a:p>
            <a:pPr indent="0" marL="0">
              <a:buNone/>
            </a:pPr>
            <a:r>
              <a:rPr lang="en-US" sz="1600" dirty="0">
                <a:solidFill>
                  <a:schemeClr val="bg1"/>
                </a:solidFill>
              </a:rPr>
              <a:t>Messbare Ziele</a:t>
            </a:r>
            <a:endParaRPr lang="en-US" sz="1600" dirty="0"/>
          </a:p>
        </p:txBody>
      </p:sp>
      <p:sp>
        <p:nvSpPr>
          <p:cNvPr id="17" name="Motiv Rahmenbedingungen"/>
          <p:cNvSpPr/>
          <p:nvPr/>
        </p:nvSpPr>
        <p:spPr>
          <a:xfrm>
            <a:off x="8321040" y="4754880"/>
            <a:ext cx="868680" cy="868680"/>
          </a:xfrm>
          <a:prstGeom prst="ellipse">
            <a:avLst/>
          </a:prstGeom>
          <a:solidFill>
            <a:schemeClr val="tx1"/>
          </a:solidFill>
          <a:ln w="25400">
            <a:solidFill>
              <a:schemeClr val="accent3"/>
            </a:solidFill>
            <a:prstDash val="solid"/>
          </a:ln>
        </p:spPr>
      </p:sp>
      <p:pic>
        <p:nvPicPr>
          <p:cNvPr id="18" name="Image 3" descr="Rahmenbedingungen">    </p:cNvPr>
          <p:cNvPicPr>
            <a:picLocks noChangeAspect="1"/>
          </p:cNvPicPr>
          <p:nvPr/>
        </p:nvPicPr>
        <p:blipFill>
          <a:blip r:embed="rId4"/>
          <a:stretch>
            <a:fillRect/>
          </a:stretch>
        </p:blipFill>
        <p:spPr>
          <a:xfrm>
            <a:off x="8549640" y="4983480"/>
            <a:ext cx="411480" cy="411480"/>
          </a:xfrm>
          <a:prstGeom prst="rect">
            <a:avLst/>
          </a:prstGeom>
        </p:spPr>
      </p:pic>
      <p:sp>
        <p:nvSpPr>
          <p:cNvPr id="19" name="Text 13"/>
          <p:cNvSpPr txBox="1"/>
          <p:nvPr/>
        </p:nvSpPr>
        <p:spPr>
          <a:xfrm>
            <a:off x="9464040" y="5001768"/>
            <a:ext cx="2286000" cy="384048"/>
          </a:xfrm>
          <a:prstGeom prst="rect">
            <a:avLst/>
          </a:prstGeom>
          <a:noFill/>
          <a:ln/>
        </p:spPr>
        <p:txBody>
          <a:bodyPr wrap="square" lIns="0" tIns="0" rIns="0" bIns="0" rtlCol="0" anchor="ctr"/>
          <a:lstStyle/>
          <a:p>
            <a:pPr indent="0" marL="0">
              <a:buNone/>
            </a:pPr>
            <a:r>
              <a:rPr lang="en-US" sz="1600" dirty="0">
                <a:solidFill>
                  <a:schemeClr val="bg1"/>
                </a:solidFill>
              </a:rPr>
              <a:t>Rahmenbedingungen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nchor="t"/>
          <a:lstStyle/>
          <a:p>
            <a:pPr indent="0" marL="0">
              <a:buNone/>
            </a:pPr>
            <a:r>
              <a:rPr lang="en-US" sz="1200" b="1" spc="300" kern="0" dirty="0">
                <a:solidFill>
                  <a:schemeClr val="accent1"/>
                </a:solidFill>
              </a:rPr>
              <a:t>RESERVE · SCHÄTZUNGEN</a:t>
            </a: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400" b="1" dirty="0">
                <a:solidFill>
                  <a:schemeClr val="tx1"/>
                </a:solidFill>
              </a:rPr>
              <a:t>Probleme in Zahlen</a:t>
            </a:r>
            <a:endParaRPr lang="en-US" sz="3400" dirty="0"/>
          </a:p>
        </p:txBody>
      </p:sp>
      <p:sp>
        <p:nvSpPr>
          <p:cNvPr id="4" name="Text 0"/>
          <p:cNvSpPr/>
          <p:nvPr>
            <p:ph idx="102" type="body" hasCustomPrompt="1"/>
          </p:nvPr>
        </p:nvSpPr>
        <p:spPr>
          <a:xfrm>
            <a:off x="548640" y="1371600"/>
            <a:ext cx="11094415" cy="384048"/>
          </a:xfrm>
          <a:prstGeom prst="rect">
            <a:avLst/>
          </a:prstGeom>
          <a:noFill/>
          <a:ln/>
        </p:spPr>
        <p:txBody>
          <a:bodyPr wrap="square" lIns="0" tIns="0" rIns="0" bIns="0" rtlCol="0" anchor="t"/>
          <a:lstStyle/>
          <a:p>
            <a:pPr indent="0" marL="0">
              <a:buNone/>
            </a:pPr>
            <a:r>
              <a:rPr lang="en-US" sz="1700" dirty="0">
                <a:solidFill>
                  <a:schemeClr val="tx2"/>
                </a:solidFill>
              </a:rPr>
              <a:t>Geschätzte Werte der Teamleitungen – gemessen hat das niemand.</a:t>
            </a:r>
            <a:endParaRPr lang="en-US" sz="1700" dirty="0"/>
          </a:p>
        </p:txBody>
      </p:sp>
      <p:sp>
        <p:nvSpPr>
          <p:cNvPr id="5" name="Problem Arbeitstage"/>
          <p:cNvSpPr/>
          <p:nvPr/>
        </p:nvSpPr>
        <p:spPr>
          <a:xfrm>
            <a:off x="548640" y="2148840"/>
            <a:ext cx="2567864" cy="3520440"/>
          </a:xfrm>
          <a:prstGeom prst="roundRect">
            <a:avLst>
              <a:gd name="adj" fmla="val 4273"/>
            </a:avLst>
          </a:prstGeom>
          <a:solidFill>
            <a:schemeClr val="accent5"/>
          </a:solidFill>
          <a:ln/>
        </p:spPr>
      </p:sp>
      <p:sp>
        <p:nvSpPr>
          <p:cNvPr id="6" name="Icon Arbeitstage Kreis"/>
          <p:cNvSpPr/>
          <p:nvPr/>
        </p:nvSpPr>
        <p:spPr>
          <a:xfrm>
            <a:off x="868680" y="2514600"/>
            <a:ext cx="640080" cy="640080"/>
          </a:xfrm>
          <a:prstGeom prst="ellipse">
            <a:avLst/>
          </a:prstGeom>
          <a:solidFill>
            <a:schemeClr val="accent2"/>
          </a:solidFill>
          <a:ln/>
        </p:spPr>
      </p:sp>
      <p:pic>
        <p:nvPicPr>
          <p:cNvPr id="7" name="Icon Arbeitstage" descr="Clock">    </p:cNvPr>
          <p:cNvPicPr>
            <a:picLocks noChangeAspect="1"/>
          </p:cNvPicPr>
          <p:nvPr/>
        </p:nvPicPr>
        <p:blipFill>
          <a:blip r:embed="rId1"/>
          <a:stretch>
            <a:fillRect/>
          </a:stretch>
        </p:blipFill>
        <p:spPr>
          <a:xfrm>
            <a:off x="1028700" y="2674620"/>
            <a:ext cx="320040" cy="320040"/>
          </a:xfrm>
          <a:prstGeom prst="rect">
            <a:avLst/>
          </a:prstGeom>
        </p:spPr>
      </p:pic>
      <p:sp>
        <p:nvSpPr>
          <p:cNvPr id="8" name="Text 5"/>
          <p:cNvSpPr txBox="1"/>
          <p:nvPr/>
        </p:nvSpPr>
        <p:spPr>
          <a:xfrm>
            <a:off x="868680" y="3337560"/>
            <a:ext cx="2110664" cy="914400"/>
          </a:xfrm>
          <a:prstGeom prst="rect">
            <a:avLst/>
          </a:prstGeom>
          <a:noFill/>
          <a:ln/>
        </p:spPr>
        <p:txBody>
          <a:bodyPr wrap="square" lIns="0" tIns="0" rIns="0" bIns="0" rtlCol="0" anchor="ctr"/>
          <a:lstStyle/>
          <a:p>
            <a:pPr indent="0" marL="0">
              <a:buNone/>
            </a:pPr>
            <a:r>
              <a:rPr lang="en-US" sz="4600" b="1" dirty="0">
                <a:solidFill>
                  <a:schemeClr val="accent2"/>
                </a:solidFill>
              </a:rPr>
              <a:t>~2,5</a:t>
            </a:r>
            <a:endParaRPr lang="en-US" sz="4600" dirty="0"/>
          </a:p>
        </p:txBody>
      </p:sp>
      <p:sp>
        <p:nvSpPr>
          <p:cNvPr id="9" name="Text 6"/>
          <p:cNvSpPr txBox="1"/>
          <p:nvPr/>
        </p:nvSpPr>
        <p:spPr>
          <a:xfrm>
            <a:off x="868680" y="4297680"/>
            <a:ext cx="1927784" cy="365760"/>
          </a:xfrm>
          <a:prstGeom prst="rect">
            <a:avLst/>
          </a:prstGeom>
          <a:noFill/>
          <a:ln/>
        </p:spPr>
        <p:txBody>
          <a:bodyPr wrap="square" lIns="0" tIns="0" rIns="0" bIns="0" rtlCol="0" anchor="t"/>
          <a:lstStyle/>
          <a:p>
            <a:pPr indent="0" marL="0">
              <a:buNone/>
            </a:pPr>
            <a:r>
              <a:rPr lang="en-US" sz="1700" b="1" dirty="0">
                <a:solidFill>
                  <a:schemeClr val="tx1"/>
                </a:solidFill>
              </a:rPr>
              <a:t>Arbeitstage</a:t>
            </a:r>
            <a:endParaRPr lang="en-US" sz="1700" dirty="0"/>
          </a:p>
        </p:txBody>
      </p:sp>
      <p:sp>
        <p:nvSpPr>
          <p:cNvPr id="10" name="Text 7"/>
          <p:cNvSpPr txBox="1"/>
          <p:nvPr/>
        </p:nvSpPr>
        <p:spPr>
          <a:xfrm>
            <a:off x="868680" y="4709160"/>
            <a:ext cx="2019224" cy="822960"/>
          </a:xfrm>
          <a:prstGeom prst="rect">
            <a:avLst/>
          </a:prstGeom>
          <a:noFill/>
          <a:ln/>
        </p:spPr>
        <p:txBody>
          <a:bodyPr wrap="square" lIns="0" tIns="0" rIns="0" bIns="0" rtlCol="0" anchor="t"/>
          <a:lstStyle/>
          <a:p>
            <a:pPr indent="0" marL="0">
              <a:buNone/>
            </a:pPr>
            <a:r>
              <a:rPr lang="en-US" sz="1400" dirty="0">
                <a:solidFill>
                  <a:schemeClr val="tx2"/>
                </a:solidFill>
              </a:rPr>
              <a:t>Ø vom Eingang beim KuBe bis ins Backoffice; bei Abwesenheit bis 10</a:t>
            </a:r>
            <a:endParaRPr lang="en-US" sz="1400" dirty="0"/>
          </a:p>
        </p:txBody>
      </p:sp>
      <p:sp>
        <p:nvSpPr>
          <p:cNvPr id="11" name="Problem Rückfragen"/>
          <p:cNvSpPr/>
          <p:nvPr/>
        </p:nvSpPr>
        <p:spPr>
          <a:xfrm>
            <a:off x="3390824" y="2148840"/>
            <a:ext cx="2567864" cy="3520440"/>
          </a:xfrm>
          <a:prstGeom prst="roundRect">
            <a:avLst>
              <a:gd name="adj" fmla="val 4273"/>
            </a:avLst>
          </a:prstGeom>
          <a:solidFill>
            <a:schemeClr val="accent5"/>
          </a:solidFill>
          <a:ln/>
        </p:spPr>
      </p:sp>
      <p:sp>
        <p:nvSpPr>
          <p:cNvPr id="12" name="Icon Rückfragen Kreis"/>
          <p:cNvSpPr/>
          <p:nvPr/>
        </p:nvSpPr>
        <p:spPr>
          <a:xfrm>
            <a:off x="3710864" y="2514600"/>
            <a:ext cx="640080" cy="640080"/>
          </a:xfrm>
          <a:prstGeom prst="ellipse">
            <a:avLst/>
          </a:prstGeom>
          <a:solidFill>
            <a:schemeClr val="accent2"/>
          </a:solidFill>
          <a:ln/>
        </p:spPr>
      </p:sp>
      <p:pic>
        <p:nvPicPr>
          <p:cNvPr id="13" name="Icon Rückfragen" descr="MessagesSquare">    </p:cNvPr>
          <p:cNvPicPr>
            <a:picLocks noChangeAspect="1"/>
          </p:cNvPicPr>
          <p:nvPr/>
        </p:nvPicPr>
        <p:blipFill>
          <a:blip r:embed="rId2"/>
          <a:stretch>
            <a:fillRect/>
          </a:stretch>
        </p:blipFill>
        <p:spPr>
          <a:xfrm>
            <a:off x="3870884" y="2674620"/>
            <a:ext cx="320040" cy="320040"/>
          </a:xfrm>
          <a:prstGeom prst="rect">
            <a:avLst/>
          </a:prstGeom>
        </p:spPr>
      </p:pic>
      <p:sp>
        <p:nvSpPr>
          <p:cNvPr id="14" name="Text 10"/>
          <p:cNvSpPr txBox="1"/>
          <p:nvPr/>
        </p:nvSpPr>
        <p:spPr>
          <a:xfrm>
            <a:off x="3710864" y="3337560"/>
            <a:ext cx="2110664" cy="914400"/>
          </a:xfrm>
          <a:prstGeom prst="rect">
            <a:avLst/>
          </a:prstGeom>
          <a:noFill/>
          <a:ln/>
        </p:spPr>
        <p:txBody>
          <a:bodyPr wrap="square" lIns="0" tIns="0" rIns="0" bIns="0" rtlCol="0" anchor="ctr"/>
          <a:lstStyle/>
          <a:p>
            <a:pPr indent="0" marL="0">
              <a:buNone/>
            </a:pPr>
            <a:r>
              <a:rPr lang="en-US" sz="4600" b="1" dirty="0">
                <a:solidFill>
                  <a:schemeClr val="accent2"/>
                </a:solidFill>
              </a:rPr>
              <a:t>~12 %</a:t>
            </a:r>
            <a:endParaRPr lang="en-US" sz="4600" dirty="0"/>
          </a:p>
        </p:txBody>
      </p:sp>
      <p:sp>
        <p:nvSpPr>
          <p:cNvPr id="15" name="Text 11"/>
          <p:cNvSpPr txBox="1"/>
          <p:nvPr/>
        </p:nvSpPr>
        <p:spPr>
          <a:xfrm>
            <a:off x="3710864" y="4297680"/>
            <a:ext cx="1927784" cy="365760"/>
          </a:xfrm>
          <a:prstGeom prst="rect">
            <a:avLst/>
          </a:prstGeom>
          <a:noFill/>
          <a:ln/>
        </p:spPr>
        <p:txBody>
          <a:bodyPr wrap="square" lIns="0" tIns="0" rIns="0" bIns="0" rtlCol="0" anchor="t"/>
          <a:lstStyle/>
          <a:p>
            <a:pPr indent="0" marL="0">
              <a:buNone/>
            </a:pPr>
            <a:r>
              <a:rPr lang="en-US" sz="1700" b="1" dirty="0">
                <a:solidFill>
                  <a:schemeClr val="tx1"/>
                </a:solidFill>
              </a:rPr>
              <a:t>Rückfragen</a:t>
            </a:r>
            <a:endParaRPr lang="en-US" sz="1700" dirty="0"/>
          </a:p>
        </p:txBody>
      </p:sp>
      <p:sp>
        <p:nvSpPr>
          <p:cNvPr id="16" name="Text 12"/>
          <p:cNvSpPr txBox="1"/>
          <p:nvPr/>
        </p:nvSpPr>
        <p:spPr>
          <a:xfrm>
            <a:off x="3710864" y="4709160"/>
            <a:ext cx="2019224" cy="822960"/>
          </a:xfrm>
          <a:prstGeom prst="rect">
            <a:avLst/>
          </a:prstGeom>
          <a:noFill/>
          <a:ln/>
        </p:spPr>
        <p:txBody>
          <a:bodyPr wrap="square" lIns="0" tIns="0" rIns="0" bIns="0" rtlCol="0" anchor="t"/>
          <a:lstStyle/>
          <a:p>
            <a:pPr indent="0" marL="0">
              <a:buNone/>
            </a:pPr>
            <a:r>
              <a:rPr lang="en-US" sz="1400" dirty="0">
                <a:solidFill>
                  <a:schemeClr val="tx2"/>
                </a:solidFill>
              </a:rPr>
              <a:t>unvollständig oder fehlerhaft ausgefüllt</a:t>
            </a:r>
            <a:endParaRPr lang="en-US" sz="1400" dirty="0"/>
          </a:p>
        </p:txBody>
      </p:sp>
      <p:sp>
        <p:nvSpPr>
          <p:cNvPr id="17" name="Problem Aufwand KuBe"/>
          <p:cNvSpPr/>
          <p:nvPr/>
        </p:nvSpPr>
        <p:spPr>
          <a:xfrm>
            <a:off x="6233008" y="2148840"/>
            <a:ext cx="2567864" cy="3520440"/>
          </a:xfrm>
          <a:prstGeom prst="roundRect">
            <a:avLst>
              <a:gd name="adj" fmla="val 4273"/>
            </a:avLst>
          </a:prstGeom>
          <a:solidFill>
            <a:schemeClr val="accent5"/>
          </a:solidFill>
          <a:ln/>
        </p:spPr>
      </p:sp>
      <p:sp>
        <p:nvSpPr>
          <p:cNvPr id="18" name="Icon Aufwand KuBe Kreis"/>
          <p:cNvSpPr/>
          <p:nvPr/>
        </p:nvSpPr>
        <p:spPr>
          <a:xfrm>
            <a:off x="6553048" y="2514600"/>
            <a:ext cx="640080" cy="640080"/>
          </a:xfrm>
          <a:prstGeom prst="ellipse">
            <a:avLst/>
          </a:prstGeom>
          <a:solidFill>
            <a:schemeClr val="accent2"/>
          </a:solidFill>
          <a:ln/>
        </p:spPr>
      </p:sp>
      <p:pic>
        <p:nvPicPr>
          <p:cNvPr id="19" name="Icon Aufwand KuBe" descr="Gauge">    </p:cNvPr>
          <p:cNvPicPr>
            <a:picLocks noChangeAspect="1"/>
          </p:cNvPicPr>
          <p:nvPr/>
        </p:nvPicPr>
        <p:blipFill>
          <a:blip r:embed="rId3"/>
          <a:stretch>
            <a:fillRect/>
          </a:stretch>
        </p:blipFill>
        <p:spPr>
          <a:xfrm>
            <a:off x="6713068" y="2674620"/>
            <a:ext cx="320040" cy="320040"/>
          </a:xfrm>
          <a:prstGeom prst="rect">
            <a:avLst/>
          </a:prstGeom>
        </p:spPr>
      </p:pic>
      <p:sp>
        <p:nvSpPr>
          <p:cNvPr id="20" name="Text 15"/>
          <p:cNvSpPr txBox="1"/>
          <p:nvPr/>
        </p:nvSpPr>
        <p:spPr>
          <a:xfrm>
            <a:off x="6553048" y="3337560"/>
            <a:ext cx="2110664" cy="914400"/>
          </a:xfrm>
          <a:prstGeom prst="rect">
            <a:avLst/>
          </a:prstGeom>
          <a:noFill/>
          <a:ln/>
        </p:spPr>
        <p:txBody>
          <a:bodyPr wrap="square" lIns="0" tIns="0" rIns="0" bIns="0" rtlCol="0" anchor="ctr"/>
          <a:lstStyle/>
          <a:p>
            <a:pPr indent="0" marL="0">
              <a:buNone/>
            </a:pPr>
            <a:r>
              <a:rPr lang="en-US" sz="4600" b="1" dirty="0">
                <a:solidFill>
                  <a:schemeClr val="accent2"/>
                </a:solidFill>
              </a:rPr>
              <a:t>~6 Min.</a:t>
            </a:r>
            <a:endParaRPr lang="en-US" sz="4600" dirty="0"/>
          </a:p>
        </p:txBody>
      </p:sp>
      <p:sp>
        <p:nvSpPr>
          <p:cNvPr id="21" name="Text 16"/>
          <p:cNvSpPr txBox="1"/>
          <p:nvPr/>
        </p:nvSpPr>
        <p:spPr>
          <a:xfrm>
            <a:off x="6553048" y="4297680"/>
            <a:ext cx="1927784" cy="365760"/>
          </a:xfrm>
          <a:prstGeom prst="rect">
            <a:avLst/>
          </a:prstGeom>
          <a:noFill/>
          <a:ln/>
        </p:spPr>
        <p:txBody>
          <a:bodyPr wrap="square" lIns="0" tIns="0" rIns="0" bIns="0" rtlCol="0" anchor="t"/>
          <a:lstStyle/>
          <a:p>
            <a:pPr indent="0" marL="0">
              <a:buNone/>
            </a:pPr>
            <a:r>
              <a:rPr lang="en-US" sz="1700" b="1" dirty="0">
                <a:solidFill>
                  <a:schemeClr val="tx1"/>
                </a:solidFill>
              </a:rPr>
              <a:t>Aufwand KuBe</a:t>
            </a:r>
            <a:endParaRPr lang="en-US" sz="1700" dirty="0"/>
          </a:p>
        </p:txBody>
      </p:sp>
      <p:sp>
        <p:nvSpPr>
          <p:cNvPr id="22" name="Text 17"/>
          <p:cNvSpPr txBox="1"/>
          <p:nvPr/>
        </p:nvSpPr>
        <p:spPr>
          <a:xfrm>
            <a:off x="6553048" y="4709160"/>
            <a:ext cx="2019224" cy="822960"/>
          </a:xfrm>
          <a:prstGeom prst="rect">
            <a:avLst/>
          </a:prstGeom>
          <a:noFill/>
          <a:ln/>
        </p:spPr>
        <p:txBody>
          <a:bodyPr wrap="square" lIns="0" tIns="0" rIns="0" bIns="0" rtlCol="0" anchor="t"/>
          <a:lstStyle/>
          <a:p>
            <a:pPr indent="0" marL="0">
              <a:buNone/>
            </a:pPr>
            <a:r>
              <a:rPr lang="en-US" sz="1400" dirty="0">
                <a:solidFill>
                  <a:schemeClr val="tx2"/>
                </a:solidFill>
              </a:rPr>
              <a:t>pro Rücksendung – kontrollieren, verpacken, weiterleiten</a:t>
            </a:r>
            <a:endParaRPr lang="en-US" sz="1400" dirty="0"/>
          </a:p>
        </p:txBody>
      </p:sp>
      <p:sp>
        <p:nvSpPr>
          <p:cNvPr id="23" name="Problem Dokumente/Monat"/>
          <p:cNvSpPr/>
          <p:nvPr/>
        </p:nvSpPr>
        <p:spPr>
          <a:xfrm>
            <a:off x="9075191" y="2148840"/>
            <a:ext cx="2567864" cy="3520440"/>
          </a:xfrm>
          <a:prstGeom prst="roundRect">
            <a:avLst>
              <a:gd name="adj" fmla="val 4273"/>
            </a:avLst>
          </a:prstGeom>
          <a:solidFill>
            <a:schemeClr val="accent5"/>
          </a:solidFill>
          <a:ln/>
        </p:spPr>
      </p:sp>
      <p:sp>
        <p:nvSpPr>
          <p:cNvPr id="24" name="Icon Dokumente/Monat Kreis"/>
          <p:cNvSpPr/>
          <p:nvPr/>
        </p:nvSpPr>
        <p:spPr>
          <a:xfrm>
            <a:off x="9395231" y="2514600"/>
            <a:ext cx="640080" cy="640080"/>
          </a:xfrm>
          <a:prstGeom prst="ellipse">
            <a:avLst/>
          </a:prstGeom>
          <a:solidFill>
            <a:schemeClr val="accent2"/>
          </a:solidFill>
          <a:ln/>
        </p:spPr>
      </p:sp>
      <p:pic>
        <p:nvPicPr>
          <p:cNvPr id="25" name="Icon Dokumente/Monat" descr="Search">    </p:cNvPr>
          <p:cNvPicPr>
            <a:picLocks noChangeAspect="1"/>
          </p:cNvPicPr>
          <p:nvPr/>
        </p:nvPicPr>
        <p:blipFill>
          <a:blip r:embed="rId4"/>
          <a:stretch>
            <a:fillRect/>
          </a:stretch>
        </p:blipFill>
        <p:spPr>
          <a:xfrm>
            <a:off x="9555251" y="2674620"/>
            <a:ext cx="320040" cy="320040"/>
          </a:xfrm>
          <a:prstGeom prst="rect">
            <a:avLst/>
          </a:prstGeom>
        </p:spPr>
      </p:pic>
      <p:sp>
        <p:nvSpPr>
          <p:cNvPr id="26" name="Text 20"/>
          <p:cNvSpPr txBox="1"/>
          <p:nvPr/>
        </p:nvSpPr>
        <p:spPr>
          <a:xfrm>
            <a:off x="9395231" y="3337560"/>
            <a:ext cx="2110664" cy="914400"/>
          </a:xfrm>
          <a:prstGeom prst="rect">
            <a:avLst/>
          </a:prstGeom>
          <a:noFill/>
          <a:ln/>
        </p:spPr>
        <p:txBody>
          <a:bodyPr wrap="square" lIns="0" tIns="0" rIns="0" bIns="0" rtlCol="0" anchor="ctr"/>
          <a:lstStyle/>
          <a:p>
            <a:pPr indent="0" marL="0">
              <a:buNone/>
            </a:pPr>
            <a:r>
              <a:rPr lang="en-US" sz="4600" b="1" dirty="0">
                <a:solidFill>
                  <a:schemeClr val="accent2"/>
                </a:solidFill>
              </a:rPr>
              <a:t>1–2</a:t>
            </a:r>
            <a:endParaRPr lang="en-US" sz="4600" dirty="0"/>
          </a:p>
        </p:txBody>
      </p:sp>
      <p:sp>
        <p:nvSpPr>
          <p:cNvPr id="27" name="Text 21"/>
          <p:cNvSpPr txBox="1"/>
          <p:nvPr/>
        </p:nvSpPr>
        <p:spPr>
          <a:xfrm>
            <a:off x="9395231" y="4297680"/>
            <a:ext cx="1927784" cy="365760"/>
          </a:xfrm>
          <a:prstGeom prst="rect">
            <a:avLst/>
          </a:prstGeom>
          <a:noFill/>
          <a:ln/>
        </p:spPr>
        <p:txBody>
          <a:bodyPr wrap="square" lIns="0" tIns="0" rIns="0" bIns="0" rtlCol="0" anchor="t"/>
          <a:lstStyle/>
          <a:p>
            <a:pPr indent="0" marL="0">
              <a:buNone/>
            </a:pPr>
            <a:r>
              <a:rPr lang="en-US" sz="1700" b="1" dirty="0">
                <a:solidFill>
                  <a:schemeClr val="tx1"/>
                </a:solidFill>
              </a:rPr>
              <a:t>Dokumente/Monat</a:t>
            </a:r>
            <a:endParaRPr lang="en-US" sz="1700" dirty="0"/>
          </a:p>
        </p:txBody>
      </p:sp>
      <p:sp>
        <p:nvSpPr>
          <p:cNvPr id="28" name="Text 22"/>
          <p:cNvSpPr txBox="1"/>
          <p:nvPr/>
        </p:nvSpPr>
        <p:spPr>
          <a:xfrm>
            <a:off x="9395231" y="4709160"/>
            <a:ext cx="2019224" cy="822960"/>
          </a:xfrm>
          <a:prstGeom prst="rect">
            <a:avLst/>
          </a:prstGeom>
          <a:noFill/>
          <a:ln/>
        </p:spPr>
        <p:txBody>
          <a:bodyPr wrap="square" lIns="0" tIns="0" rIns="0" bIns="0" rtlCol="0" anchor="t"/>
          <a:lstStyle/>
          <a:p>
            <a:pPr indent="0" marL="0">
              <a:buNone/>
            </a:pPr>
            <a:r>
              <a:rPr lang="en-US" sz="1400" dirty="0">
                <a:solidFill>
                  <a:schemeClr val="tx2"/>
                </a:solidFill>
              </a:rPr>
              <a:t>unauffindbar, ca. 3 % falsch zugeordnet oder verspätet</a:t>
            </a:r>
            <a:endParaRPr lang="en-US" sz="1400" dirty="0"/>
          </a:p>
        </p:txBody>
      </p:sp>
      <p:sp>
        <p:nvSpPr>
          <p:cNvPr id="29" name="Text 23"/>
          <p:cNvSpPr txBox="1"/>
          <p:nvPr/>
        </p:nvSpPr>
        <p:spPr>
          <a:xfrm>
            <a:off x="548640" y="5961888"/>
            <a:ext cx="11094415" cy="274320"/>
          </a:xfrm>
          <a:prstGeom prst="rect">
            <a:avLst/>
          </a:prstGeom>
          <a:noFill/>
          <a:ln/>
        </p:spPr>
        <p:txBody>
          <a:bodyPr wrap="square" lIns="0" tIns="0" rIns="0" bIns="0" rtlCol="0" anchor="t"/>
          <a:lstStyle/>
          <a:p>
            <a:pPr indent="0" marL="0">
              <a:buNone/>
            </a:pPr>
            <a:r>
              <a:rPr lang="en-US" sz="1100" b="1" dirty="0">
                <a:solidFill>
                  <a:schemeClr val="accent1"/>
                </a:solidFill>
              </a:rPr>
              <a:t>Schätzung  </a:t>
            </a:r>
            <a:pPr indent="0" marL="0">
              <a:buNone/>
            </a:pPr>
            <a:r>
              <a:rPr lang="en-US" sz="1100" dirty="0">
                <a:solidFill>
                  <a:schemeClr val="tx2"/>
                </a:solidFill>
              </a:rPr>
              <a:t>Schätzwerte der Stakeholder-Rolle (Fallbeispiel), nicht gemessen. Die Baseline soll das RE-Team mit uns festlegen.</a:t>
            </a:r>
            <a:endParaRPr lang="en-US" sz="11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nchor="t"/>
          <a:lstStyle/>
          <a:p>
            <a:pPr indent="0" marL="0">
              <a:buNone/>
            </a:pPr>
            <a:r>
              <a:rPr lang="en-US" sz="1200" b="1" spc="300" kern="0" dirty="0">
                <a:solidFill>
                  <a:schemeClr val="accent1"/>
                </a:solidFill>
              </a:rPr>
              <a:t>RESERVE · SKIZZE</a:t>
            </a: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400" b="1" dirty="0">
                <a:solidFill>
                  <a:schemeClr val="tx1"/>
                </a:solidFill>
              </a:rPr>
              <a:t>So könnte die Inbox aussehen</a:t>
            </a:r>
            <a:endParaRPr lang="en-US" sz="3400" dirty="0"/>
          </a:p>
        </p:txBody>
      </p:sp>
      <p:sp>
        <p:nvSpPr>
          <p:cNvPr id="4" name="Skizze Fenster"/>
          <p:cNvSpPr/>
          <p:nvPr/>
        </p:nvSpPr>
        <p:spPr>
          <a:xfrm>
            <a:off x="548640" y="1508760"/>
            <a:ext cx="7818120" cy="4526280"/>
          </a:xfrm>
          <a:prstGeom prst="roundRect">
            <a:avLst>
              <a:gd name="adj" fmla="val 2020"/>
            </a:avLst>
          </a:prstGeom>
          <a:solidFill>
            <a:schemeClr val="bg1"/>
          </a:solidFill>
          <a:ln w="12700">
            <a:solidFill>
              <a:schemeClr val="accent6"/>
            </a:solidFill>
            <a:prstDash val="solid"/>
          </a:ln>
          <a:effectLst>
            <a:outerShdw sx="100000" sy="100000" kx="0" ky="0" algn="bl" rotWithShape="0" blurRad="152400" dist="38100" dir="5400000">
              <a:srgbClr val="13293D">
                <a:alpha val="12000"/>
              </a:srgbClr>
            </a:outerShdw>
          </a:effectLst>
        </p:spPr>
      </p:sp>
      <p:sp>
        <p:nvSpPr>
          <p:cNvPr id="5" name="Skizze Titelleiste"/>
          <p:cNvSpPr/>
          <p:nvPr/>
        </p:nvSpPr>
        <p:spPr>
          <a:xfrm>
            <a:off x="566928" y="1581912"/>
            <a:ext cx="7781544" cy="384048"/>
          </a:xfrm>
          <a:prstGeom prst="rect">
            <a:avLst/>
          </a:prstGeom>
          <a:solidFill>
            <a:schemeClr val="bg2"/>
          </a:solidFill>
          <a:ln/>
        </p:spPr>
      </p:sp>
      <p:sp>
        <p:nvSpPr>
          <p:cNvPr id="6" name="Skizze Punkt"/>
          <p:cNvSpPr/>
          <p:nvPr/>
        </p:nvSpPr>
        <p:spPr>
          <a:xfrm>
            <a:off x="731520" y="1709928"/>
            <a:ext cx="118872" cy="118872"/>
          </a:xfrm>
          <a:prstGeom prst="ellipse">
            <a:avLst/>
          </a:prstGeom>
          <a:solidFill>
            <a:schemeClr val="accent6"/>
          </a:solidFill>
          <a:ln/>
        </p:spPr>
      </p:sp>
      <p:sp>
        <p:nvSpPr>
          <p:cNvPr id="7" name="Skizze Punkt"/>
          <p:cNvSpPr/>
          <p:nvPr/>
        </p:nvSpPr>
        <p:spPr>
          <a:xfrm>
            <a:off x="932688" y="1709928"/>
            <a:ext cx="118872" cy="118872"/>
          </a:xfrm>
          <a:prstGeom prst="ellipse">
            <a:avLst/>
          </a:prstGeom>
          <a:solidFill>
            <a:schemeClr val="accent6"/>
          </a:solidFill>
          <a:ln/>
        </p:spPr>
      </p:sp>
      <p:sp>
        <p:nvSpPr>
          <p:cNvPr id="8" name="Skizze Punkt"/>
          <p:cNvSpPr/>
          <p:nvPr/>
        </p:nvSpPr>
        <p:spPr>
          <a:xfrm>
            <a:off x="1133856" y="1709928"/>
            <a:ext cx="118872" cy="118872"/>
          </a:xfrm>
          <a:prstGeom prst="ellipse">
            <a:avLst/>
          </a:prstGeom>
          <a:solidFill>
            <a:schemeClr val="accent6"/>
          </a:solidFill>
          <a:ln/>
        </p:spPr>
      </p:sp>
      <p:sp>
        <p:nvSpPr>
          <p:cNvPr id="9" name="Text 7"/>
          <p:cNvSpPr txBox="1"/>
          <p:nvPr/>
        </p:nvSpPr>
        <p:spPr>
          <a:xfrm>
            <a:off x="1463040" y="1618488"/>
            <a:ext cx="4572000" cy="310896"/>
          </a:xfrm>
          <a:prstGeom prst="rect">
            <a:avLst/>
          </a:prstGeom>
          <a:noFill/>
          <a:ln/>
        </p:spPr>
        <p:txBody>
          <a:bodyPr wrap="square" lIns="0" tIns="0" rIns="0" bIns="0" rtlCol="0" anchor="ctr"/>
          <a:lstStyle/>
          <a:p>
            <a:pPr indent="0" marL="0">
              <a:buNone/>
            </a:pPr>
            <a:r>
              <a:rPr lang="en-US" sz="1200" b="1" dirty="0">
                <a:solidFill>
                  <a:schemeClr val="tx2"/>
                </a:solidFill>
              </a:rPr>
              <a:t>Posteingang · Team Olten Privatkunden</a:t>
            </a:r>
            <a:endParaRPr lang="en-US" sz="1200" dirty="0"/>
          </a:p>
        </p:txBody>
      </p:sp>
      <p:sp>
        <p:nvSpPr>
          <p:cNvPr id="10" name="Skizze Navigation aktiv"/>
          <p:cNvSpPr/>
          <p:nvPr/>
        </p:nvSpPr>
        <p:spPr>
          <a:xfrm>
            <a:off x="731520" y="2194560"/>
            <a:ext cx="1783080" cy="384048"/>
          </a:xfrm>
          <a:prstGeom prst="roundRect">
            <a:avLst>
              <a:gd name="adj" fmla="val 19048"/>
            </a:avLst>
          </a:prstGeom>
          <a:solidFill>
            <a:schemeClr val="accent4"/>
          </a:solidFill>
          <a:ln/>
        </p:spPr>
      </p:sp>
      <p:sp>
        <p:nvSpPr>
          <p:cNvPr id="11" name="Text 9"/>
          <p:cNvSpPr txBox="1"/>
          <p:nvPr/>
        </p:nvSpPr>
        <p:spPr>
          <a:xfrm>
            <a:off x="841248" y="2194560"/>
            <a:ext cx="1280160" cy="384048"/>
          </a:xfrm>
          <a:prstGeom prst="rect">
            <a:avLst/>
          </a:prstGeom>
          <a:noFill/>
          <a:ln/>
        </p:spPr>
        <p:txBody>
          <a:bodyPr wrap="square" lIns="0" tIns="0" rIns="0" bIns="0" rtlCol="0" anchor="ctr"/>
          <a:lstStyle/>
          <a:p>
            <a:pPr indent="0" marL="0">
              <a:buNone/>
            </a:pPr>
            <a:r>
              <a:rPr lang="en-US" sz="1200" b="1" dirty="0">
                <a:solidFill>
                  <a:schemeClr val="accent1"/>
                </a:solidFill>
              </a:rPr>
              <a:t>Meine Eingänge</a:t>
            </a:r>
            <a:endParaRPr lang="en-US" sz="1200" dirty="0"/>
          </a:p>
        </p:txBody>
      </p:sp>
      <p:sp>
        <p:nvSpPr>
          <p:cNvPr id="12" name="Text 10"/>
          <p:cNvSpPr txBox="1"/>
          <p:nvPr/>
        </p:nvSpPr>
        <p:spPr>
          <a:xfrm>
            <a:off x="2057400" y="2194560"/>
            <a:ext cx="347472" cy="384048"/>
          </a:xfrm>
          <a:prstGeom prst="rect">
            <a:avLst/>
          </a:prstGeom>
          <a:noFill/>
          <a:ln/>
        </p:spPr>
        <p:txBody>
          <a:bodyPr wrap="square" lIns="0" tIns="0" rIns="0" bIns="0" rtlCol="0" anchor="ctr"/>
          <a:lstStyle/>
          <a:p>
            <a:pPr algn="r" indent="0" marL="0">
              <a:buNone/>
            </a:pPr>
            <a:r>
              <a:rPr lang="en-US" sz="1200" b="1" dirty="0">
                <a:solidFill>
                  <a:schemeClr val="accent1"/>
                </a:solidFill>
              </a:rPr>
              <a:t>12</a:t>
            </a:r>
            <a:endParaRPr lang="en-US" sz="1200" dirty="0"/>
          </a:p>
        </p:txBody>
      </p:sp>
      <p:sp>
        <p:nvSpPr>
          <p:cNvPr id="13" name="Text 11"/>
          <p:cNvSpPr txBox="1"/>
          <p:nvPr/>
        </p:nvSpPr>
        <p:spPr>
          <a:xfrm>
            <a:off x="841248" y="2670048"/>
            <a:ext cx="1280160" cy="384048"/>
          </a:xfrm>
          <a:prstGeom prst="rect">
            <a:avLst/>
          </a:prstGeom>
          <a:noFill/>
          <a:ln/>
        </p:spPr>
        <p:txBody>
          <a:bodyPr wrap="square" lIns="0" tIns="0" rIns="0" bIns="0" rtlCol="0" anchor="ctr"/>
          <a:lstStyle/>
          <a:p>
            <a:pPr indent="0" marL="0">
              <a:buNone/>
            </a:pPr>
            <a:r>
              <a:rPr lang="en-US" sz="1200" dirty="0">
                <a:solidFill>
                  <a:schemeClr val="tx1"/>
                </a:solidFill>
              </a:rPr>
              <a:t>Team</a:t>
            </a:r>
            <a:endParaRPr lang="en-US" sz="1200" dirty="0"/>
          </a:p>
        </p:txBody>
      </p:sp>
      <p:sp>
        <p:nvSpPr>
          <p:cNvPr id="14" name="Text 12"/>
          <p:cNvSpPr txBox="1"/>
          <p:nvPr/>
        </p:nvSpPr>
        <p:spPr>
          <a:xfrm>
            <a:off x="2057400" y="2670048"/>
            <a:ext cx="347472" cy="384048"/>
          </a:xfrm>
          <a:prstGeom prst="rect">
            <a:avLst/>
          </a:prstGeom>
          <a:noFill/>
          <a:ln/>
        </p:spPr>
        <p:txBody>
          <a:bodyPr wrap="square" lIns="0" tIns="0" rIns="0" bIns="0" rtlCol="0" anchor="ctr"/>
          <a:lstStyle/>
          <a:p>
            <a:pPr algn="r" indent="0" marL="0">
              <a:buNone/>
            </a:pPr>
            <a:r>
              <a:rPr lang="en-US" sz="1200" b="1" dirty="0">
                <a:solidFill>
                  <a:schemeClr val="tx2"/>
                </a:solidFill>
              </a:rPr>
              <a:t>47</a:t>
            </a:r>
            <a:endParaRPr lang="en-US" sz="1200" dirty="0"/>
          </a:p>
        </p:txBody>
      </p:sp>
      <p:sp>
        <p:nvSpPr>
          <p:cNvPr id="15" name="Text 13"/>
          <p:cNvSpPr txBox="1"/>
          <p:nvPr/>
        </p:nvSpPr>
        <p:spPr>
          <a:xfrm>
            <a:off x="841248" y="3145536"/>
            <a:ext cx="1280160" cy="384048"/>
          </a:xfrm>
          <a:prstGeom prst="rect">
            <a:avLst/>
          </a:prstGeom>
          <a:noFill/>
          <a:ln/>
        </p:spPr>
        <p:txBody>
          <a:bodyPr wrap="square" lIns="0" tIns="0" rIns="0" bIns="0" rtlCol="0" anchor="ctr"/>
          <a:lstStyle/>
          <a:p>
            <a:pPr indent="0" marL="0">
              <a:buNone/>
            </a:pPr>
            <a:r>
              <a:rPr lang="en-US" sz="1200" dirty="0">
                <a:solidFill>
                  <a:schemeClr val="tx1"/>
                </a:solidFill>
              </a:rPr>
              <a:t>Stellvertretung</a:t>
            </a:r>
            <a:endParaRPr lang="en-US" sz="1200" dirty="0"/>
          </a:p>
        </p:txBody>
      </p:sp>
      <p:sp>
        <p:nvSpPr>
          <p:cNvPr id="16" name="Text 14"/>
          <p:cNvSpPr txBox="1"/>
          <p:nvPr/>
        </p:nvSpPr>
        <p:spPr>
          <a:xfrm>
            <a:off x="2057400" y="3145536"/>
            <a:ext cx="347472" cy="384048"/>
          </a:xfrm>
          <a:prstGeom prst="rect">
            <a:avLst/>
          </a:prstGeom>
          <a:noFill/>
          <a:ln/>
        </p:spPr>
        <p:txBody>
          <a:bodyPr wrap="square" lIns="0" tIns="0" rIns="0" bIns="0" rtlCol="0" anchor="ctr"/>
          <a:lstStyle/>
          <a:p>
            <a:pPr algn="r" indent="0" marL="0">
              <a:buNone/>
            </a:pPr>
            <a:r>
              <a:rPr lang="en-US" sz="1200" b="1" dirty="0">
                <a:solidFill>
                  <a:schemeClr val="tx2"/>
                </a:solidFill>
              </a:rPr>
              <a:t>5</a:t>
            </a:r>
            <a:endParaRPr lang="en-US" sz="1200" dirty="0"/>
          </a:p>
        </p:txBody>
      </p:sp>
      <p:sp>
        <p:nvSpPr>
          <p:cNvPr id="17" name="Text 15"/>
          <p:cNvSpPr txBox="1"/>
          <p:nvPr/>
        </p:nvSpPr>
        <p:spPr>
          <a:xfrm>
            <a:off x="841248" y="3621024"/>
            <a:ext cx="1280160" cy="384048"/>
          </a:xfrm>
          <a:prstGeom prst="rect">
            <a:avLst/>
          </a:prstGeom>
          <a:noFill/>
          <a:ln/>
        </p:spPr>
        <p:txBody>
          <a:bodyPr wrap="square" lIns="0" tIns="0" rIns="0" bIns="0" rtlCol="0" anchor="ctr"/>
          <a:lstStyle/>
          <a:p>
            <a:pPr indent="0" marL="0">
              <a:buNone/>
            </a:pPr>
            <a:r>
              <a:rPr lang="en-US" sz="1200" dirty="0">
                <a:solidFill>
                  <a:schemeClr val="tx1"/>
                </a:solidFill>
              </a:rPr>
              <a:t>Rückfragen</a:t>
            </a:r>
            <a:endParaRPr lang="en-US" sz="1200" dirty="0"/>
          </a:p>
        </p:txBody>
      </p:sp>
      <p:sp>
        <p:nvSpPr>
          <p:cNvPr id="18" name="Text 16"/>
          <p:cNvSpPr txBox="1"/>
          <p:nvPr/>
        </p:nvSpPr>
        <p:spPr>
          <a:xfrm>
            <a:off x="2057400" y="3621024"/>
            <a:ext cx="347472" cy="384048"/>
          </a:xfrm>
          <a:prstGeom prst="rect">
            <a:avLst/>
          </a:prstGeom>
          <a:noFill/>
          <a:ln/>
        </p:spPr>
        <p:txBody>
          <a:bodyPr wrap="square" lIns="0" tIns="0" rIns="0" bIns="0" rtlCol="0" anchor="ctr"/>
          <a:lstStyle/>
          <a:p>
            <a:pPr algn="r" indent="0" marL="0">
              <a:buNone/>
            </a:pPr>
            <a:r>
              <a:rPr lang="en-US" sz="1200" b="1" dirty="0">
                <a:solidFill>
                  <a:schemeClr val="tx2"/>
                </a:solidFill>
              </a:rPr>
              <a:t>3</a:t>
            </a:r>
            <a:endParaRPr lang="en-US" sz="1200" dirty="0"/>
          </a:p>
        </p:txBody>
      </p:sp>
      <p:sp>
        <p:nvSpPr>
          <p:cNvPr id="19" name="Text 17"/>
          <p:cNvSpPr txBox="1"/>
          <p:nvPr/>
        </p:nvSpPr>
        <p:spPr>
          <a:xfrm>
            <a:off x="2834640" y="2194560"/>
            <a:ext cx="960120" cy="320040"/>
          </a:xfrm>
          <a:prstGeom prst="rect">
            <a:avLst/>
          </a:prstGeom>
          <a:noFill/>
          <a:ln/>
        </p:spPr>
        <p:txBody>
          <a:bodyPr wrap="square" lIns="0" tIns="0" rIns="0" bIns="0" rtlCol="0" anchor="ctr"/>
          <a:lstStyle/>
          <a:p>
            <a:pPr indent="0" marL="0">
              <a:buNone/>
            </a:pPr>
            <a:r>
              <a:rPr lang="en-US" sz="1000" b="1" spc="100" kern="0" dirty="0">
                <a:solidFill>
                  <a:schemeClr val="tx2"/>
                </a:solidFill>
              </a:rPr>
              <a:t>EINGANG</a:t>
            </a:r>
            <a:endParaRPr lang="en-US" sz="1000" dirty="0"/>
          </a:p>
        </p:txBody>
      </p:sp>
      <p:sp>
        <p:nvSpPr>
          <p:cNvPr id="20" name="Text 18"/>
          <p:cNvSpPr txBox="1"/>
          <p:nvPr/>
        </p:nvSpPr>
        <p:spPr>
          <a:xfrm>
            <a:off x="3794760" y="2194560"/>
            <a:ext cx="868680" cy="320040"/>
          </a:xfrm>
          <a:prstGeom prst="rect">
            <a:avLst/>
          </a:prstGeom>
          <a:noFill/>
          <a:ln/>
        </p:spPr>
        <p:txBody>
          <a:bodyPr wrap="square" lIns="0" tIns="0" rIns="0" bIns="0" rtlCol="0" anchor="ctr"/>
          <a:lstStyle/>
          <a:p>
            <a:pPr indent="0" marL="0">
              <a:buNone/>
            </a:pPr>
            <a:r>
              <a:rPr lang="en-US" sz="1000" b="1" spc="100" kern="0" dirty="0">
                <a:solidFill>
                  <a:schemeClr val="tx2"/>
                </a:solidFill>
              </a:rPr>
              <a:t>KUNDE</a:t>
            </a:r>
            <a:endParaRPr lang="en-US" sz="1000" dirty="0"/>
          </a:p>
        </p:txBody>
      </p:sp>
      <p:sp>
        <p:nvSpPr>
          <p:cNvPr id="21" name="Text 19"/>
          <p:cNvSpPr txBox="1"/>
          <p:nvPr/>
        </p:nvSpPr>
        <p:spPr>
          <a:xfrm>
            <a:off x="4663440" y="2194560"/>
            <a:ext cx="1554480" cy="320040"/>
          </a:xfrm>
          <a:prstGeom prst="rect">
            <a:avLst/>
          </a:prstGeom>
          <a:noFill/>
          <a:ln/>
        </p:spPr>
        <p:txBody>
          <a:bodyPr wrap="square" lIns="0" tIns="0" rIns="0" bIns="0" rtlCol="0" anchor="ctr"/>
          <a:lstStyle/>
          <a:p>
            <a:pPr indent="0" marL="0">
              <a:buNone/>
            </a:pPr>
            <a:r>
              <a:rPr lang="en-US" sz="1000" b="1" spc="100" kern="0" dirty="0">
                <a:solidFill>
                  <a:schemeClr val="tx2"/>
                </a:solidFill>
              </a:rPr>
              <a:t>DOKUMENT</a:t>
            </a:r>
            <a:endParaRPr lang="en-US" sz="1000" dirty="0"/>
          </a:p>
        </p:txBody>
      </p:sp>
      <p:sp>
        <p:nvSpPr>
          <p:cNvPr id="22" name="Text 20"/>
          <p:cNvSpPr txBox="1"/>
          <p:nvPr/>
        </p:nvSpPr>
        <p:spPr>
          <a:xfrm>
            <a:off x="6217920" y="2194560"/>
            <a:ext cx="914400" cy="320040"/>
          </a:xfrm>
          <a:prstGeom prst="rect">
            <a:avLst/>
          </a:prstGeom>
          <a:noFill/>
          <a:ln/>
        </p:spPr>
        <p:txBody>
          <a:bodyPr wrap="square" lIns="0" tIns="0" rIns="0" bIns="0" rtlCol="0" anchor="ctr"/>
          <a:lstStyle/>
          <a:p>
            <a:pPr indent="0" marL="0">
              <a:buNone/>
            </a:pPr>
            <a:r>
              <a:rPr lang="en-US" sz="1000" b="1" spc="100" kern="0" dirty="0">
                <a:solidFill>
                  <a:schemeClr val="tx2"/>
                </a:solidFill>
              </a:rPr>
              <a:t>ZUSTÄNDIG</a:t>
            </a:r>
            <a:endParaRPr lang="en-US" sz="1000" dirty="0"/>
          </a:p>
        </p:txBody>
      </p:sp>
      <p:sp>
        <p:nvSpPr>
          <p:cNvPr id="23" name="Text 21"/>
          <p:cNvSpPr txBox="1"/>
          <p:nvPr/>
        </p:nvSpPr>
        <p:spPr>
          <a:xfrm>
            <a:off x="7132320" y="2194560"/>
            <a:ext cx="1143000" cy="320040"/>
          </a:xfrm>
          <a:prstGeom prst="rect">
            <a:avLst/>
          </a:prstGeom>
          <a:noFill/>
          <a:ln/>
        </p:spPr>
        <p:txBody>
          <a:bodyPr wrap="square" lIns="0" tIns="0" rIns="0" bIns="0" rtlCol="0" anchor="ctr"/>
          <a:lstStyle/>
          <a:p>
            <a:pPr indent="0" marL="0">
              <a:buNone/>
            </a:pPr>
            <a:r>
              <a:rPr lang="en-US" sz="1000" b="1" spc="100" kern="0" dirty="0">
                <a:solidFill>
                  <a:schemeClr val="tx2"/>
                </a:solidFill>
              </a:rPr>
              <a:t>STATUS</a:t>
            </a:r>
            <a:endParaRPr lang="en-US" sz="1000" dirty="0"/>
          </a:p>
        </p:txBody>
      </p:sp>
      <p:sp>
        <p:nvSpPr>
          <p:cNvPr id="24" name="Skizze Zeilenlinie"/>
          <p:cNvSpPr/>
          <p:nvPr/>
        </p:nvSpPr>
        <p:spPr>
          <a:xfrm>
            <a:off x="2743200" y="2606040"/>
            <a:ext cx="5440680" cy="0"/>
          </a:xfrm>
          <a:prstGeom prst="line">
            <a:avLst/>
          </a:prstGeom>
          <a:noFill/>
          <a:ln w="9525">
            <a:solidFill>
              <a:schemeClr val="accent6"/>
            </a:solidFill>
            <a:prstDash val="solid"/>
          </a:ln>
        </p:spPr>
      </p:sp>
      <p:sp>
        <p:nvSpPr>
          <p:cNvPr id="25" name="Text 23"/>
          <p:cNvSpPr txBox="1"/>
          <p:nvPr/>
        </p:nvSpPr>
        <p:spPr>
          <a:xfrm>
            <a:off x="2834640" y="2706624"/>
            <a:ext cx="914400" cy="402336"/>
          </a:xfrm>
          <a:prstGeom prst="rect">
            <a:avLst/>
          </a:prstGeom>
          <a:noFill/>
          <a:ln/>
        </p:spPr>
        <p:txBody>
          <a:bodyPr wrap="square" lIns="0" tIns="0" rIns="0" bIns="0" rtlCol="0" anchor="ctr"/>
          <a:lstStyle/>
          <a:p>
            <a:pPr indent="0" marL="0">
              <a:buNone/>
            </a:pPr>
            <a:r>
              <a:rPr lang="en-US" sz="1200" dirty="0">
                <a:solidFill>
                  <a:schemeClr val="tx1"/>
                </a:solidFill>
              </a:rPr>
              <a:t>08:12</a:t>
            </a:r>
            <a:endParaRPr lang="en-US" sz="1200" dirty="0"/>
          </a:p>
        </p:txBody>
      </p:sp>
      <p:sp>
        <p:nvSpPr>
          <p:cNvPr id="26" name="Text 24"/>
          <p:cNvSpPr txBox="1"/>
          <p:nvPr/>
        </p:nvSpPr>
        <p:spPr>
          <a:xfrm>
            <a:off x="3794760" y="2706624"/>
            <a:ext cx="822960" cy="402336"/>
          </a:xfrm>
          <a:prstGeom prst="rect">
            <a:avLst/>
          </a:prstGeom>
          <a:noFill/>
          <a:ln/>
        </p:spPr>
        <p:txBody>
          <a:bodyPr wrap="square" lIns="0" tIns="0" rIns="0" bIns="0" rtlCol="0" anchor="ctr"/>
          <a:lstStyle/>
          <a:p>
            <a:pPr indent="0" marL="0">
              <a:buNone/>
            </a:pPr>
            <a:r>
              <a:rPr lang="en-US" sz="1200" b="1" dirty="0">
                <a:solidFill>
                  <a:schemeClr val="tx1"/>
                </a:solidFill>
              </a:rPr>
              <a:t>K-10482</a:t>
            </a:r>
            <a:endParaRPr lang="en-US" sz="1200" dirty="0"/>
          </a:p>
        </p:txBody>
      </p:sp>
      <p:sp>
        <p:nvSpPr>
          <p:cNvPr id="27" name="Text 25"/>
          <p:cNvSpPr txBox="1"/>
          <p:nvPr/>
        </p:nvSpPr>
        <p:spPr>
          <a:xfrm>
            <a:off x="4663440" y="2706624"/>
            <a:ext cx="1508760" cy="402336"/>
          </a:xfrm>
          <a:prstGeom prst="rect">
            <a:avLst/>
          </a:prstGeom>
          <a:noFill/>
          <a:ln/>
        </p:spPr>
        <p:txBody>
          <a:bodyPr wrap="square" lIns="0" tIns="0" rIns="0" bIns="0" rtlCol="0" anchor="ctr"/>
          <a:lstStyle/>
          <a:p>
            <a:pPr indent="0" marL="0">
              <a:buNone/>
            </a:pPr>
            <a:r>
              <a:rPr lang="en-US" sz="1200" dirty="0">
                <a:solidFill>
                  <a:schemeClr val="tx1"/>
                </a:solidFill>
              </a:rPr>
              <a:t>Kontoeröffnung</a:t>
            </a:r>
            <a:endParaRPr lang="en-US" sz="1200" dirty="0"/>
          </a:p>
        </p:txBody>
      </p:sp>
      <p:sp>
        <p:nvSpPr>
          <p:cNvPr id="28" name="Text 26"/>
          <p:cNvSpPr txBox="1"/>
          <p:nvPr/>
        </p:nvSpPr>
        <p:spPr>
          <a:xfrm>
            <a:off x="6217920" y="2706624"/>
            <a:ext cx="868680" cy="402336"/>
          </a:xfrm>
          <a:prstGeom prst="rect">
            <a:avLst/>
          </a:prstGeom>
          <a:noFill/>
          <a:ln/>
        </p:spPr>
        <p:txBody>
          <a:bodyPr wrap="square" lIns="0" tIns="0" rIns="0" bIns="0" rtlCol="0" anchor="ctr"/>
          <a:lstStyle/>
          <a:p>
            <a:pPr indent="0" marL="0">
              <a:buNone/>
            </a:pPr>
            <a:r>
              <a:rPr lang="en-US" sz="1200" dirty="0">
                <a:solidFill>
                  <a:schemeClr val="tx1"/>
                </a:solidFill>
              </a:rPr>
              <a:t>A. Keller</a:t>
            </a:r>
            <a:endParaRPr lang="en-US" sz="1200" dirty="0"/>
          </a:p>
        </p:txBody>
      </p:sp>
      <p:sp>
        <p:nvSpPr>
          <p:cNvPr id="29" name="Skizze Status Neu"/>
          <p:cNvSpPr/>
          <p:nvPr/>
        </p:nvSpPr>
        <p:spPr>
          <a:xfrm>
            <a:off x="7132320" y="2770632"/>
            <a:ext cx="1051560" cy="274320"/>
          </a:xfrm>
          <a:prstGeom prst="roundRect">
            <a:avLst>
              <a:gd name="adj" fmla="val 50000"/>
            </a:avLst>
          </a:prstGeom>
          <a:solidFill>
            <a:schemeClr val="accent4"/>
          </a:solidFill>
          <a:ln/>
        </p:spPr>
      </p:sp>
      <p:sp>
        <p:nvSpPr>
          <p:cNvPr id="30" name="Text 28"/>
          <p:cNvSpPr txBox="1"/>
          <p:nvPr/>
        </p:nvSpPr>
        <p:spPr>
          <a:xfrm>
            <a:off x="7132320" y="2770632"/>
            <a:ext cx="1051560" cy="274320"/>
          </a:xfrm>
          <a:prstGeom prst="rect">
            <a:avLst/>
          </a:prstGeom>
          <a:noFill/>
          <a:ln/>
        </p:spPr>
        <p:txBody>
          <a:bodyPr wrap="square" lIns="0" tIns="0" rIns="0" bIns="0" rtlCol="0" anchor="ctr"/>
          <a:lstStyle/>
          <a:p>
            <a:pPr algn="ctr" indent="0" marL="0">
              <a:buNone/>
            </a:pPr>
            <a:r>
              <a:rPr lang="en-US" sz="1000" b="1" dirty="0">
                <a:solidFill>
                  <a:schemeClr val="accent1"/>
                </a:solidFill>
              </a:rPr>
              <a:t>Neu</a:t>
            </a:r>
            <a:endParaRPr lang="en-US" sz="1000" dirty="0"/>
          </a:p>
        </p:txBody>
      </p:sp>
      <p:sp>
        <p:nvSpPr>
          <p:cNvPr id="31" name="Skizze Zeilenlinie"/>
          <p:cNvSpPr/>
          <p:nvPr/>
        </p:nvSpPr>
        <p:spPr>
          <a:xfrm>
            <a:off x="2743200" y="3209544"/>
            <a:ext cx="5440680" cy="0"/>
          </a:xfrm>
          <a:prstGeom prst="line">
            <a:avLst/>
          </a:prstGeom>
          <a:noFill/>
          <a:ln w="9525">
            <a:solidFill>
              <a:schemeClr val="accent6"/>
            </a:solidFill>
            <a:prstDash val="solid"/>
          </a:ln>
        </p:spPr>
      </p:sp>
      <p:sp>
        <p:nvSpPr>
          <p:cNvPr id="32" name="Text 30"/>
          <p:cNvSpPr txBox="1"/>
          <p:nvPr/>
        </p:nvSpPr>
        <p:spPr>
          <a:xfrm>
            <a:off x="2834640" y="3310128"/>
            <a:ext cx="914400" cy="402336"/>
          </a:xfrm>
          <a:prstGeom prst="rect">
            <a:avLst/>
          </a:prstGeom>
          <a:noFill/>
          <a:ln/>
        </p:spPr>
        <p:txBody>
          <a:bodyPr wrap="square" lIns="0" tIns="0" rIns="0" bIns="0" rtlCol="0" anchor="ctr"/>
          <a:lstStyle/>
          <a:p>
            <a:pPr indent="0" marL="0">
              <a:buNone/>
            </a:pPr>
            <a:r>
              <a:rPr lang="en-US" sz="1200" dirty="0">
                <a:solidFill>
                  <a:schemeClr val="tx1"/>
                </a:solidFill>
              </a:rPr>
              <a:t>08:14</a:t>
            </a:r>
            <a:endParaRPr lang="en-US" sz="1200" dirty="0"/>
          </a:p>
        </p:txBody>
      </p:sp>
      <p:sp>
        <p:nvSpPr>
          <p:cNvPr id="33" name="Text 31"/>
          <p:cNvSpPr txBox="1"/>
          <p:nvPr/>
        </p:nvSpPr>
        <p:spPr>
          <a:xfrm>
            <a:off x="3794760" y="3310128"/>
            <a:ext cx="822960" cy="402336"/>
          </a:xfrm>
          <a:prstGeom prst="rect">
            <a:avLst/>
          </a:prstGeom>
          <a:noFill/>
          <a:ln/>
        </p:spPr>
        <p:txBody>
          <a:bodyPr wrap="square" lIns="0" tIns="0" rIns="0" bIns="0" rtlCol="0" anchor="ctr"/>
          <a:lstStyle/>
          <a:p>
            <a:pPr indent="0" marL="0">
              <a:buNone/>
            </a:pPr>
            <a:r>
              <a:rPr lang="en-US" sz="1200" b="1" dirty="0">
                <a:solidFill>
                  <a:schemeClr val="tx1"/>
                </a:solidFill>
              </a:rPr>
              <a:t>K-20931</a:t>
            </a:r>
            <a:endParaRPr lang="en-US" sz="1200" dirty="0"/>
          </a:p>
        </p:txBody>
      </p:sp>
      <p:sp>
        <p:nvSpPr>
          <p:cNvPr id="34" name="Text 32"/>
          <p:cNvSpPr txBox="1"/>
          <p:nvPr/>
        </p:nvSpPr>
        <p:spPr>
          <a:xfrm>
            <a:off x="4663440" y="3310128"/>
            <a:ext cx="1508760" cy="402336"/>
          </a:xfrm>
          <a:prstGeom prst="rect">
            <a:avLst/>
          </a:prstGeom>
          <a:noFill/>
          <a:ln/>
        </p:spPr>
        <p:txBody>
          <a:bodyPr wrap="square" lIns="0" tIns="0" rIns="0" bIns="0" rtlCol="0" anchor="ctr"/>
          <a:lstStyle/>
          <a:p>
            <a:pPr indent="0" marL="0">
              <a:buNone/>
            </a:pPr>
            <a:r>
              <a:rPr lang="en-US" sz="1200" dirty="0">
                <a:solidFill>
                  <a:schemeClr val="tx1"/>
                </a:solidFill>
              </a:rPr>
              <a:t>Vollmacht</a:t>
            </a:r>
            <a:endParaRPr lang="en-US" sz="1200" dirty="0"/>
          </a:p>
        </p:txBody>
      </p:sp>
      <p:sp>
        <p:nvSpPr>
          <p:cNvPr id="35" name="Text 33"/>
          <p:cNvSpPr txBox="1"/>
          <p:nvPr/>
        </p:nvSpPr>
        <p:spPr>
          <a:xfrm>
            <a:off x="6217920" y="3310128"/>
            <a:ext cx="868680" cy="402336"/>
          </a:xfrm>
          <a:prstGeom prst="rect">
            <a:avLst/>
          </a:prstGeom>
          <a:noFill/>
          <a:ln/>
        </p:spPr>
        <p:txBody>
          <a:bodyPr wrap="square" lIns="0" tIns="0" rIns="0" bIns="0" rtlCol="0" anchor="ctr"/>
          <a:lstStyle/>
          <a:p>
            <a:pPr indent="0" marL="0">
              <a:buNone/>
            </a:pPr>
            <a:r>
              <a:rPr lang="en-US" sz="1200" dirty="0">
                <a:solidFill>
                  <a:schemeClr val="tx1"/>
                </a:solidFill>
              </a:rPr>
              <a:t>M. Rossi</a:t>
            </a:r>
            <a:endParaRPr lang="en-US" sz="1200" dirty="0"/>
          </a:p>
        </p:txBody>
      </p:sp>
      <p:sp>
        <p:nvSpPr>
          <p:cNvPr id="36" name="Skizze Status Rückfrage"/>
          <p:cNvSpPr/>
          <p:nvPr/>
        </p:nvSpPr>
        <p:spPr>
          <a:xfrm>
            <a:off x="7132320" y="3374136"/>
            <a:ext cx="1051560" cy="274320"/>
          </a:xfrm>
          <a:prstGeom prst="roundRect">
            <a:avLst>
              <a:gd name="adj" fmla="val 50000"/>
            </a:avLst>
          </a:prstGeom>
          <a:solidFill>
            <a:schemeClr val="accent5"/>
          </a:solidFill>
          <a:ln/>
        </p:spPr>
      </p:sp>
      <p:sp>
        <p:nvSpPr>
          <p:cNvPr id="37" name="Text 35"/>
          <p:cNvSpPr txBox="1"/>
          <p:nvPr/>
        </p:nvSpPr>
        <p:spPr>
          <a:xfrm>
            <a:off x="7132320" y="3374136"/>
            <a:ext cx="1051560" cy="274320"/>
          </a:xfrm>
          <a:prstGeom prst="rect">
            <a:avLst/>
          </a:prstGeom>
          <a:noFill/>
          <a:ln/>
        </p:spPr>
        <p:txBody>
          <a:bodyPr wrap="square" lIns="0" tIns="0" rIns="0" bIns="0" rtlCol="0" anchor="ctr"/>
          <a:lstStyle/>
          <a:p>
            <a:pPr algn="ctr" indent="0" marL="0">
              <a:buNone/>
            </a:pPr>
            <a:r>
              <a:rPr lang="en-US" sz="1000" b="1" dirty="0">
                <a:solidFill>
                  <a:schemeClr val="accent2"/>
                </a:solidFill>
              </a:rPr>
              <a:t>Rückfrage</a:t>
            </a:r>
            <a:endParaRPr lang="en-US" sz="1000" dirty="0"/>
          </a:p>
        </p:txBody>
      </p:sp>
      <p:sp>
        <p:nvSpPr>
          <p:cNvPr id="38" name="Skizze Zeilenlinie"/>
          <p:cNvSpPr/>
          <p:nvPr/>
        </p:nvSpPr>
        <p:spPr>
          <a:xfrm>
            <a:off x="2743200" y="3813048"/>
            <a:ext cx="5440680" cy="0"/>
          </a:xfrm>
          <a:prstGeom prst="line">
            <a:avLst/>
          </a:prstGeom>
          <a:noFill/>
          <a:ln w="9525">
            <a:solidFill>
              <a:schemeClr val="accent6"/>
            </a:solidFill>
            <a:prstDash val="solid"/>
          </a:ln>
        </p:spPr>
      </p:sp>
      <p:sp>
        <p:nvSpPr>
          <p:cNvPr id="39" name="Text 37"/>
          <p:cNvSpPr txBox="1"/>
          <p:nvPr/>
        </p:nvSpPr>
        <p:spPr>
          <a:xfrm>
            <a:off x="2834640" y="3913632"/>
            <a:ext cx="914400" cy="402336"/>
          </a:xfrm>
          <a:prstGeom prst="rect">
            <a:avLst/>
          </a:prstGeom>
          <a:noFill/>
          <a:ln/>
        </p:spPr>
        <p:txBody>
          <a:bodyPr wrap="square" lIns="0" tIns="0" rIns="0" bIns="0" rtlCol="0" anchor="ctr"/>
          <a:lstStyle/>
          <a:p>
            <a:pPr indent="0" marL="0">
              <a:buNone/>
            </a:pPr>
            <a:r>
              <a:rPr lang="en-US" sz="1200" dirty="0">
                <a:solidFill>
                  <a:schemeClr val="tx1"/>
                </a:solidFill>
              </a:rPr>
              <a:t>08:20</a:t>
            </a:r>
            <a:endParaRPr lang="en-US" sz="1200" dirty="0"/>
          </a:p>
        </p:txBody>
      </p:sp>
      <p:sp>
        <p:nvSpPr>
          <p:cNvPr id="40" name="Text 38"/>
          <p:cNvSpPr txBox="1"/>
          <p:nvPr/>
        </p:nvSpPr>
        <p:spPr>
          <a:xfrm>
            <a:off x="3794760" y="3913632"/>
            <a:ext cx="822960" cy="402336"/>
          </a:xfrm>
          <a:prstGeom prst="rect">
            <a:avLst/>
          </a:prstGeom>
          <a:noFill/>
          <a:ln/>
        </p:spPr>
        <p:txBody>
          <a:bodyPr wrap="square" lIns="0" tIns="0" rIns="0" bIns="0" rtlCol="0" anchor="ctr"/>
          <a:lstStyle/>
          <a:p>
            <a:pPr indent="0" marL="0">
              <a:buNone/>
            </a:pPr>
            <a:r>
              <a:rPr lang="en-US" sz="1200" b="1" dirty="0">
                <a:solidFill>
                  <a:schemeClr val="tx1"/>
                </a:solidFill>
              </a:rPr>
              <a:t>K-11807</a:t>
            </a:r>
            <a:endParaRPr lang="en-US" sz="1200" dirty="0"/>
          </a:p>
        </p:txBody>
      </p:sp>
      <p:sp>
        <p:nvSpPr>
          <p:cNvPr id="41" name="Text 39"/>
          <p:cNvSpPr txBox="1"/>
          <p:nvPr/>
        </p:nvSpPr>
        <p:spPr>
          <a:xfrm>
            <a:off x="4663440" y="3913632"/>
            <a:ext cx="1508760" cy="402336"/>
          </a:xfrm>
          <a:prstGeom prst="rect">
            <a:avLst/>
          </a:prstGeom>
          <a:noFill/>
          <a:ln/>
        </p:spPr>
        <p:txBody>
          <a:bodyPr wrap="square" lIns="0" tIns="0" rIns="0" bIns="0" rtlCol="0" anchor="ctr"/>
          <a:lstStyle/>
          <a:p>
            <a:pPr indent="0" marL="0">
              <a:buNone/>
            </a:pPr>
            <a:r>
              <a:rPr lang="en-US" sz="1200" dirty="0">
                <a:solidFill>
                  <a:schemeClr val="tx1"/>
                </a:solidFill>
              </a:rPr>
              <a:t>Hypothekarvertrag</a:t>
            </a:r>
            <a:endParaRPr lang="en-US" sz="1200" dirty="0"/>
          </a:p>
        </p:txBody>
      </p:sp>
      <p:sp>
        <p:nvSpPr>
          <p:cNvPr id="42" name="Text 40"/>
          <p:cNvSpPr txBox="1"/>
          <p:nvPr/>
        </p:nvSpPr>
        <p:spPr>
          <a:xfrm>
            <a:off x="6217920" y="3913632"/>
            <a:ext cx="868680" cy="402336"/>
          </a:xfrm>
          <a:prstGeom prst="rect">
            <a:avLst/>
          </a:prstGeom>
          <a:noFill/>
          <a:ln/>
        </p:spPr>
        <p:txBody>
          <a:bodyPr wrap="square" lIns="0" tIns="0" rIns="0" bIns="0" rtlCol="0" anchor="ctr"/>
          <a:lstStyle/>
          <a:p>
            <a:pPr indent="0" marL="0">
              <a:buNone/>
            </a:pPr>
            <a:r>
              <a:rPr lang="en-US" sz="1200" dirty="0">
                <a:solidFill>
                  <a:schemeClr val="tx1"/>
                </a:solidFill>
              </a:rPr>
              <a:t>A. Keller</a:t>
            </a:r>
            <a:endParaRPr lang="en-US" sz="1200" dirty="0"/>
          </a:p>
        </p:txBody>
      </p:sp>
      <p:sp>
        <p:nvSpPr>
          <p:cNvPr id="43" name="Skizze Status In Prüfung"/>
          <p:cNvSpPr/>
          <p:nvPr/>
        </p:nvSpPr>
        <p:spPr>
          <a:xfrm>
            <a:off x="7132320" y="3977640"/>
            <a:ext cx="1051560" cy="274320"/>
          </a:xfrm>
          <a:prstGeom prst="roundRect">
            <a:avLst>
              <a:gd name="adj" fmla="val 50000"/>
            </a:avLst>
          </a:prstGeom>
          <a:solidFill>
            <a:schemeClr val="bg2"/>
          </a:solidFill>
          <a:ln/>
        </p:spPr>
      </p:sp>
      <p:sp>
        <p:nvSpPr>
          <p:cNvPr id="44" name="Text 42"/>
          <p:cNvSpPr txBox="1"/>
          <p:nvPr/>
        </p:nvSpPr>
        <p:spPr>
          <a:xfrm>
            <a:off x="7132320" y="3977640"/>
            <a:ext cx="1051560" cy="274320"/>
          </a:xfrm>
          <a:prstGeom prst="rect">
            <a:avLst/>
          </a:prstGeom>
          <a:noFill/>
          <a:ln/>
        </p:spPr>
        <p:txBody>
          <a:bodyPr wrap="square" lIns="0" tIns="0" rIns="0" bIns="0" rtlCol="0" anchor="ctr"/>
          <a:lstStyle/>
          <a:p>
            <a:pPr algn="ctr" indent="0" marL="0">
              <a:buNone/>
            </a:pPr>
            <a:r>
              <a:rPr lang="en-US" sz="1000" b="1" dirty="0">
                <a:solidFill>
                  <a:schemeClr val="tx1"/>
                </a:solidFill>
              </a:rPr>
              <a:t>In Prüfung</a:t>
            </a:r>
            <a:endParaRPr lang="en-US" sz="1000" dirty="0"/>
          </a:p>
        </p:txBody>
      </p:sp>
      <p:sp>
        <p:nvSpPr>
          <p:cNvPr id="45" name="Skizze Zeilenlinie"/>
          <p:cNvSpPr/>
          <p:nvPr/>
        </p:nvSpPr>
        <p:spPr>
          <a:xfrm>
            <a:off x="2743200" y="4416552"/>
            <a:ext cx="5440680" cy="0"/>
          </a:xfrm>
          <a:prstGeom prst="line">
            <a:avLst/>
          </a:prstGeom>
          <a:noFill/>
          <a:ln w="9525">
            <a:solidFill>
              <a:schemeClr val="accent6"/>
            </a:solidFill>
            <a:prstDash val="solid"/>
          </a:ln>
        </p:spPr>
      </p:sp>
      <p:sp>
        <p:nvSpPr>
          <p:cNvPr id="46" name="Text 44"/>
          <p:cNvSpPr txBox="1"/>
          <p:nvPr/>
        </p:nvSpPr>
        <p:spPr>
          <a:xfrm>
            <a:off x="2834640" y="4517136"/>
            <a:ext cx="914400" cy="402336"/>
          </a:xfrm>
          <a:prstGeom prst="rect">
            <a:avLst/>
          </a:prstGeom>
          <a:noFill/>
          <a:ln/>
        </p:spPr>
        <p:txBody>
          <a:bodyPr wrap="square" lIns="0" tIns="0" rIns="0" bIns="0" rtlCol="0" anchor="ctr"/>
          <a:lstStyle/>
          <a:p>
            <a:pPr indent="0" marL="0">
              <a:buNone/>
            </a:pPr>
            <a:r>
              <a:rPr lang="en-US" sz="1200" dirty="0">
                <a:solidFill>
                  <a:schemeClr val="tx1"/>
                </a:solidFill>
              </a:rPr>
              <a:t>08:31</a:t>
            </a:r>
            <a:endParaRPr lang="en-US" sz="1200" dirty="0"/>
          </a:p>
        </p:txBody>
      </p:sp>
      <p:sp>
        <p:nvSpPr>
          <p:cNvPr id="47" name="Text 45"/>
          <p:cNvSpPr txBox="1"/>
          <p:nvPr/>
        </p:nvSpPr>
        <p:spPr>
          <a:xfrm>
            <a:off x="3794760" y="4517136"/>
            <a:ext cx="822960" cy="402336"/>
          </a:xfrm>
          <a:prstGeom prst="rect">
            <a:avLst/>
          </a:prstGeom>
          <a:noFill/>
          <a:ln/>
        </p:spPr>
        <p:txBody>
          <a:bodyPr wrap="square" lIns="0" tIns="0" rIns="0" bIns="0" rtlCol="0" anchor="ctr"/>
          <a:lstStyle/>
          <a:p>
            <a:pPr indent="0" marL="0">
              <a:buNone/>
            </a:pPr>
            <a:r>
              <a:rPr lang="en-US" sz="1200" b="1" dirty="0">
                <a:solidFill>
                  <a:schemeClr val="tx1"/>
                </a:solidFill>
              </a:rPr>
              <a:t>K-30544</a:t>
            </a:r>
            <a:endParaRPr lang="en-US" sz="1200" dirty="0"/>
          </a:p>
        </p:txBody>
      </p:sp>
      <p:sp>
        <p:nvSpPr>
          <p:cNvPr id="48" name="Text 46"/>
          <p:cNvSpPr txBox="1"/>
          <p:nvPr/>
        </p:nvSpPr>
        <p:spPr>
          <a:xfrm>
            <a:off x="4663440" y="4517136"/>
            <a:ext cx="1508760" cy="402336"/>
          </a:xfrm>
          <a:prstGeom prst="rect">
            <a:avLst/>
          </a:prstGeom>
          <a:noFill/>
          <a:ln/>
        </p:spPr>
        <p:txBody>
          <a:bodyPr wrap="square" lIns="0" tIns="0" rIns="0" bIns="0" rtlCol="0" anchor="ctr"/>
          <a:lstStyle/>
          <a:p>
            <a:pPr indent="0" marL="0">
              <a:buNone/>
            </a:pPr>
            <a:r>
              <a:rPr lang="en-US" sz="1200" dirty="0">
                <a:solidFill>
                  <a:schemeClr val="tx1"/>
                </a:solidFill>
              </a:rPr>
              <a:t>Adressänderung</a:t>
            </a:r>
            <a:endParaRPr lang="en-US" sz="1200" dirty="0"/>
          </a:p>
        </p:txBody>
      </p:sp>
      <p:sp>
        <p:nvSpPr>
          <p:cNvPr id="49" name="Text 47"/>
          <p:cNvSpPr txBox="1"/>
          <p:nvPr/>
        </p:nvSpPr>
        <p:spPr>
          <a:xfrm>
            <a:off x="6217920" y="4517136"/>
            <a:ext cx="868680" cy="402336"/>
          </a:xfrm>
          <a:prstGeom prst="rect">
            <a:avLst/>
          </a:prstGeom>
          <a:noFill/>
          <a:ln/>
        </p:spPr>
        <p:txBody>
          <a:bodyPr wrap="square" lIns="0" tIns="0" rIns="0" bIns="0" rtlCol="0" anchor="ctr"/>
          <a:lstStyle/>
          <a:p>
            <a:pPr indent="0" marL="0">
              <a:buNone/>
            </a:pPr>
            <a:r>
              <a:rPr lang="en-US" sz="1200" dirty="0">
                <a:solidFill>
                  <a:schemeClr val="tx1"/>
                </a:solidFill>
              </a:rPr>
              <a:t>S. Baumann</a:t>
            </a:r>
            <a:endParaRPr lang="en-US" sz="1200" dirty="0"/>
          </a:p>
        </p:txBody>
      </p:sp>
      <p:sp>
        <p:nvSpPr>
          <p:cNvPr id="50" name="Skizze Status Weitergeleitet"/>
          <p:cNvSpPr/>
          <p:nvPr/>
        </p:nvSpPr>
        <p:spPr>
          <a:xfrm>
            <a:off x="7132320" y="4581144"/>
            <a:ext cx="1051560" cy="274320"/>
          </a:xfrm>
          <a:prstGeom prst="roundRect">
            <a:avLst>
              <a:gd name="adj" fmla="val 50000"/>
            </a:avLst>
          </a:prstGeom>
          <a:solidFill>
            <a:schemeClr val="accent1"/>
          </a:solidFill>
          <a:ln/>
        </p:spPr>
      </p:sp>
      <p:sp>
        <p:nvSpPr>
          <p:cNvPr id="51" name="Text 49"/>
          <p:cNvSpPr txBox="1"/>
          <p:nvPr/>
        </p:nvSpPr>
        <p:spPr>
          <a:xfrm>
            <a:off x="7132320" y="4581144"/>
            <a:ext cx="1051560" cy="274320"/>
          </a:xfrm>
          <a:prstGeom prst="rect">
            <a:avLst/>
          </a:prstGeom>
          <a:noFill/>
          <a:ln/>
        </p:spPr>
        <p:txBody>
          <a:bodyPr wrap="square" lIns="0" tIns="0" rIns="0" bIns="0" rtlCol="0" anchor="ctr"/>
          <a:lstStyle/>
          <a:p>
            <a:pPr algn="ctr" indent="0" marL="0">
              <a:buNone/>
            </a:pPr>
            <a:r>
              <a:rPr lang="en-US" sz="1000" b="1" dirty="0">
                <a:solidFill>
                  <a:schemeClr val="bg1"/>
                </a:solidFill>
              </a:rPr>
              <a:t>Weitergeleitet</a:t>
            </a:r>
            <a:endParaRPr lang="en-US" sz="1000" dirty="0"/>
          </a:p>
        </p:txBody>
      </p:sp>
      <p:sp>
        <p:nvSpPr>
          <p:cNvPr id="52" name="Skizze Zeilenlinie"/>
          <p:cNvSpPr/>
          <p:nvPr/>
        </p:nvSpPr>
        <p:spPr>
          <a:xfrm>
            <a:off x="2743200" y="5020056"/>
            <a:ext cx="5440680" cy="0"/>
          </a:xfrm>
          <a:prstGeom prst="line">
            <a:avLst/>
          </a:prstGeom>
          <a:noFill/>
          <a:ln w="9525">
            <a:solidFill>
              <a:schemeClr val="accent6"/>
            </a:solidFill>
            <a:prstDash val="solid"/>
          </a:ln>
        </p:spPr>
      </p:sp>
      <p:sp>
        <p:nvSpPr>
          <p:cNvPr id="53" name="Text 51"/>
          <p:cNvSpPr txBox="1"/>
          <p:nvPr/>
        </p:nvSpPr>
        <p:spPr>
          <a:xfrm>
            <a:off x="2834640" y="5120640"/>
            <a:ext cx="914400" cy="402336"/>
          </a:xfrm>
          <a:prstGeom prst="rect">
            <a:avLst/>
          </a:prstGeom>
          <a:noFill/>
          <a:ln/>
        </p:spPr>
        <p:txBody>
          <a:bodyPr wrap="square" lIns="0" tIns="0" rIns="0" bIns="0" rtlCol="0" anchor="ctr"/>
          <a:lstStyle/>
          <a:p>
            <a:pPr indent="0" marL="0">
              <a:buNone/>
            </a:pPr>
            <a:r>
              <a:rPr lang="en-US" sz="1200" dirty="0">
                <a:solidFill>
                  <a:schemeClr val="tx1"/>
                </a:solidFill>
              </a:rPr>
              <a:t>08:47</a:t>
            </a:r>
            <a:endParaRPr lang="en-US" sz="1200" dirty="0"/>
          </a:p>
        </p:txBody>
      </p:sp>
      <p:sp>
        <p:nvSpPr>
          <p:cNvPr id="54" name="Text 52"/>
          <p:cNvSpPr txBox="1"/>
          <p:nvPr/>
        </p:nvSpPr>
        <p:spPr>
          <a:xfrm>
            <a:off x="3794760" y="5120640"/>
            <a:ext cx="822960" cy="402336"/>
          </a:xfrm>
          <a:prstGeom prst="rect">
            <a:avLst/>
          </a:prstGeom>
          <a:noFill/>
          <a:ln/>
        </p:spPr>
        <p:txBody>
          <a:bodyPr wrap="square" lIns="0" tIns="0" rIns="0" bIns="0" rtlCol="0" anchor="ctr"/>
          <a:lstStyle/>
          <a:p>
            <a:pPr indent="0" marL="0">
              <a:buNone/>
            </a:pPr>
            <a:r>
              <a:rPr lang="en-US" sz="1200" b="1" dirty="0">
                <a:solidFill>
                  <a:schemeClr val="tx1"/>
                </a:solidFill>
              </a:rPr>
              <a:t>K-18260</a:t>
            </a:r>
            <a:endParaRPr lang="en-US" sz="1200" dirty="0"/>
          </a:p>
        </p:txBody>
      </p:sp>
      <p:sp>
        <p:nvSpPr>
          <p:cNvPr id="55" name="Text 53"/>
          <p:cNvSpPr txBox="1"/>
          <p:nvPr/>
        </p:nvSpPr>
        <p:spPr>
          <a:xfrm>
            <a:off x="4663440" y="5120640"/>
            <a:ext cx="1508760" cy="402336"/>
          </a:xfrm>
          <a:prstGeom prst="rect">
            <a:avLst/>
          </a:prstGeom>
          <a:noFill/>
          <a:ln/>
        </p:spPr>
        <p:txBody>
          <a:bodyPr wrap="square" lIns="0" tIns="0" rIns="0" bIns="0" rtlCol="0" anchor="ctr"/>
          <a:lstStyle/>
          <a:p>
            <a:pPr indent="0" marL="0">
              <a:buNone/>
            </a:pPr>
            <a:r>
              <a:rPr lang="en-US" sz="1200" dirty="0">
                <a:solidFill>
                  <a:schemeClr val="tx1"/>
                </a:solidFill>
              </a:rPr>
              <a:t>Depoteröffnung</a:t>
            </a:r>
            <a:endParaRPr lang="en-US" sz="1200" dirty="0"/>
          </a:p>
        </p:txBody>
      </p:sp>
      <p:sp>
        <p:nvSpPr>
          <p:cNvPr id="56" name="Text 54"/>
          <p:cNvSpPr txBox="1"/>
          <p:nvPr/>
        </p:nvSpPr>
        <p:spPr>
          <a:xfrm>
            <a:off x="6217920" y="5120640"/>
            <a:ext cx="868680" cy="402336"/>
          </a:xfrm>
          <a:prstGeom prst="rect">
            <a:avLst/>
          </a:prstGeom>
          <a:noFill/>
          <a:ln/>
        </p:spPr>
        <p:txBody>
          <a:bodyPr wrap="square" lIns="0" tIns="0" rIns="0" bIns="0" rtlCol="0" anchor="ctr"/>
          <a:lstStyle/>
          <a:p>
            <a:pPr indent="0" marL="0">
              <a:buNone/>
            </a:pPr>
            <a:r>
              <a:rPr lang="en-US" sz="1200" dirty="0">
                <a:solidFill>
                  <a:schemeClr val="tx1"/>
                </a:solidFill>
              </a:rPr>
              <a:t>M. Rossi</a:t>
            </a:r>
            <a:endParaRPr lang="en-US" sz="1200" dirty="0"/>
          </a:p>
        </p:txBody>
      </p:sp>
      <p:sp>
        <p:nvSpPr>
          <p:cNvPr id="57" name="Skizze Status Neu"/>
          <p:cNvSpPr/>
          <p:nvPr/>
        </p:nvSpPr>
        <p:spPr>
          <a:xfrm>
            <a:off x="7132320" y="5184648"/>
            <a:ext cx="1051560" cy="274320"/>
          </a:xfrm>
          <a:prstGeom prst="roundRect">
            <a:avLst>
              <a:gd name="adj" fmla="val 50000"/>
            </a:avLst>
          </a:prstGeom>
          <a:solidFill>
            <a:schemeClr val="accent4"/>
          </a:solidFill>
          <a:ln/>
        </p:spPr>
      </p:sp>
      <p:sp>
        <p:nvSpPr>
          <p:cNvPr id="58" name="Text 56"/>
          <p:cNvSpPr txBox="1"/>
          <p:nvPr/>
        </p:nvSpPr>
        <p:spPr>
          <a:xfrm>
            <a:off x="7132320" y="5184648"/>
            <a:ext cx="1051560" cy="274320"/>
          </a:xfrm>
          <a:prstGeom prst="rect">
            <a:avLst/>
          </a:prstGeom>
          <a:noFill/>
          <a:ln/>
        </p:spPr>
        <p:txBody>
          <a:bodyPr wrap="square" lIns="0" tIns="0" rIns="0" bIns="0" rtlCol="0" anchor="ctr"/>
          <a:lstStyle/>
          <a:p>
            <a:pPr algn="ctr" indent="0" marL="0">
              <a:buNone/>
            </a:pPr>
            <a:r>
              <a:rPr lang="en-US" sz="1000" b="1" dirty="0">
                <a:solidFill>
                  <a:schemeClr val="accent1"/>
                </a:solidFill>
              </a:rPr>
              <a:t>Neu</a:t>
            </a:r>
            <a:endParaRPr lang="en-US" sz="1000" dirty="0"/>
          </a:p>
        </p:txBody>
      </p:sp>
      <p:sp>
        <p:nvSpPr>
          <p:cNvPr id="59" name="Erklärung 1"/>
          <p:cNvSpPr/>
          <p:nvPr/>
        </p:nvSpPr>
        <p:spPr>
          <a:xfrm>
            <a:off x="8778240" y="1691640"/>
            <a:ext cx="438912" cy="438912"/>
          </a:xfrm>
          <a:prstGeom prst="ellipse">
            <a:avLst/>
          </a:prstGeom>
          <a:solidFill>
            <a:schemeClr val="accent1"/>
          </a:solidFill>
          <a:ln/>
        </p:spPr>
      </p:sp>
      <p:sp>
        <p:nvSpPr>
          <p:cNvPr id="60" name="Text 58"/>
          <p:cNvSpPr txBox="1"/>
          <p:nvPr/>
        </p:nvSpPr>
        <p:spPr>
          <a:xfrm>
            <a:off x="8778240" y="169164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1" name="Text 59"/>
          <p:cNvSpPr txBox="1"/>
          <p:nvPr/>
        </p:nvSpPr>
        <p:spPr>
          <a:xfrm>
            <a:off x="9418320" y="1691640"/>
            <a:ext cx="2224735" cy="438912"/>
          </a:xfrm>
          <a:prstGeom prst="rect">
            <a:avLst/>
          </a:prstGeom>
          <a:noFill/>
          <a:ln/>
        </p:spPr>
        <p:txBody>
          <a:bodyPr wrap="square" lIns="0" tIns="0" rIns="0" bIns="0" rtlCol="0" anchor="ctr"/>
          <a:lstStyle/>
          <a:p>
            <a:pPr indent="0" marL="0">
              <a:buNone/>
            </a:pPr>
            <a:r>
              <a:rPr lang="en-US" sz="1600" b="1" dirty="0">
                <a:solidFill>
                  <a:schemeClr val="tx1"/>
                </a:solidFill>
              </a:rPr>
              <a:t>Teamsicht</a:t>
            </a:r>
            <a:endParaRPr lang="en-US" sz="1600" dirty="0"/>
          </a:p>
        </p:txBody>
      </p:sp>
      <p:sp>
        <p:nvSpPr>
          <p:cNvPr id="62" name="Text 60"/>
          <p:cNvSpPr txBox="1"/>
          <p:nvPr/>
        </p:nvSpPr>
        <p:spPr>
          <a:xfrm>
            <a:off x="9418320" y="2148840"/>
            <a:ext cx="2224735" cy="594360"/>
          </a:xfrm>
          <a:prstGeom prst="rect">
            <a:avLst/>
          </a:prstGeom>
          <a:noFill/>
          <a:ln/>
        </p:spPr>
        <p:txBody>
          <a:bodyPr wrap="square" lIns="0" tIns="0" rIns="0" bIns="0" rtlCol="0" anchor="t"/>
          <a:lstStyle/>
          <a:p>
            <a:pPr indent="0" marL="0">
              <a:buNone/>
            </a:pPr>
            <a:r>
              <a:rPr lang="en-US" sz="1400" dirty="0">
                <a:solidFill>
                  <a:schemeClr val="tx2"/>
                </a:solidFill>
              </a:rPr>
              <a:t>Vorgänge von Kolleg:innen und Stellvertretung</a:t>
            </a:r>
            <a:endParaRPr lang="en-US" sz="1400" dirty="0"/>
          </a:p>
        </p:txBody>
      </p:sp>
      <p:sp>
        <p:nvSpPr>
          <p:cNvPr id="63" name="Erklärung 2"/>
          <p:cNvSpPr/>
          <p:nvPr/>
        </p:nvSpPr>
        <p:spPr>
          <a:xfrm>
            <a:off x="8778240" y="3017520"/>
            <a:ext cx="438912" cy="438912"/>
          </a:xfrm>
          <a:prstGeom prst="ellipse">
            <a:avLst/>
          </a:prstGeom>
          <a:solidFill>
            <a:schemeClr val="accent1"/>
          </a:solidFill>
          <a:ln/>
        </p:spPr>
      </p:sp>
      <p:sp>
        <p:nvSpPr>
          <p:cNvPr id="64" name="Text 62"/>
          <p:cNvSpPr txBox="1"/>
          <p:nvPr/>
        </p:nvSpPr>
        <p:spPr>
          <a:xfrm>
            <a:off x="8778240" y="301752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65" name="Text 63"/>
          <p:cNvSpPr txBox="1"/>
          <p:nvPr/>
        </p:nvSpPr>
        <p:spPr>
          <a:xfrm>
            <a:off x="9418320" y="3017520"/>
            <a:ext cx="2224735" cy="438912"/>
          </a:xfrm>
          <a:prstGeom prst="rect">
            <a:avLst/>
          </a:prstGeom>
          <a:noFill/>
          <a:ln/>
        </p:spPr>
        <p:txBody>
          <a:bodyPr wrap="square" lIns="0" tIns="0" rIns="0" bIns="0" rtlCol="0" anchor="ctr"/>
          <a:lstStyle/>
          <a:p>
            <a:pPr indent="0" marL="0">
              <a:buNone/>
            </a:pPr>
            <a:r>
              <a:rPr lang="en-US" sz="1600" b="1" dirty="0">
                <a:solidFill>
                  <a:schemeClr val="tx1"/>
                </a:solidFill>
              </a:rPr>
              <a:t>Status auf einen Blick</a:t>
            </a:r>
            <a:endParaRPr lang="en-US" sz="1600" dirty="0"/>
          </a:p>
        </p:txBody>
      </p:sp>
      <p:sp>
        <p:nvSpPr>
          <p:cNvPr id="66" name="Text 64"/>
          <p:cNvSpPr txBox="1"/>
          <p:nvPr/>
        </p:nvSpPr>
        <p:spPr>
          <a:xfrm>
            <a:off x="9418320" y="3474720"/>
            <a:ext cx="2224735" cy="594360"/>
          </a:xfrm>
          <a:prstGeom prst="rect">
            <a:avLst/>
          </a:prstGeom>
          <a:noFill/>
          <a:ln/>
        </p:spPr>
        <p:txBody>
          <a:bodyPr wrap="square" lIns="0" tIns="0" rIns="0" bIns="0" rtlCol="0" anchor="t"/>
          <a:lstStyle/>
          <a:p>
            <a:pPr indent="0" marL="0">
              <a:buNone/>
            </a:pPr>
            <a:r>
              <a:rPr lang="en-US" sz="1400" dirty="0">
                <a:solidFill>
                  <a:schemeClr val="tx2"/>
                </a:solidFill>
              </a:rPr>
              <a:t>neu, in Prüfung, Rückfrage, weitergeleitet</a:t>
            </a:r>
            <a:endParaRPr lang="en-US" sz="1400" dirty="0"/>
          </a:p>
        </p:txBody>
      </p:sp>
      <p:sp>
        <p:nvSpPr>
          <p:cNvPr id="67" name="Erklärung 3"/>
          <p:cNvSpPr/>
          <p:nvPr/>
        </p:nvSpPr>
        <p:spPr>
          <a:xfrm>
            <a:off x="8778240" y="4343400"/>
            <a:ext cx="438912" cy="438912"/>
          </a:xfrm>
          <a:prstGeom prst="ellipse">
            <a:avLst/>
          </a:prstGeom>
          <a:solidFill>
            <a:schemeClr val="accent1"/>
          </a:solidFill>
          <a:ln/>
        </p:spPr>
      </p:sp>
      <p:sp>
        <p:nvSpPr>
          <p:cNvPr id="68" name="Text 66"/>
          <p:cNvSpPr txBox="1"/>
          <p:nvPr/>
        </p:nvSpPr>
        <p:spPr>
          <a:xfrm>
            <a:off x="8778240" y="43434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69" name="Text 67"/>
          <p:cNvSpPr txBox="1"/>
          <p:nvPr/>
        </p:nvSpPr>
        <p:spPr>
          <a:xfrm>
            <a:off x="9418320" y="4343400"/>
            <a:ext cx="2224735" cy="438912"/>
          </a:xfrm>
          <a:prstGeom prst="rect">
            <a:avLst/>
          </a:prstGeom>
          <a:noFill/>
          <a:ln/>
        </p:spPr>
        <p:txBody>
          <a:bodyPr wrap="square" lIns="0" tIns="0" rIns="0" bIns="0" rtlCol="0" anchor="ctr"/>
          <a:lstStyle/>
          <a:p>
            <a:pPr indent="0" marL="0">
              <a:buNone/>
            </a:pPr>
            <a:r>
              <a:rPr lang="en-US" sz="1600" b="1" dirty="0">
                <a:solidFill>
                  <a:schemeClr val="tx1"/>
                </a:solidFill>
              </a:rPr>
              <a:t>Korrigieren, nachfragen</a:t>
            </a:r>
            <a:endParaRPr lang="en-US" sz="1600" dirty="0"/>
          </a:p>
        </p:txBody>
      </p:sp>
      <p:sp>
        <p:nvSpPr>
          <p:cNvPr id="70" name="Text 68"/>
          <p:cNvSpPr txBox="1"/>
          <p:nvPr/>
        </p:nvSpPr>
        <p:spPr>
          <a:xfrm>
            <a:off x="9418320" y="4800600"/>
            <a:ext cx="2224735" cy="594360"/>
          </a:xfrm>
          <a:prstGeom prst="rect">
            <a:avLst/>
          </a:prstGeom>
          <a:noFill/>
          <a:ln/>
        </p:spPr>
        <p:txBody>
          <a:bodyPr wrap="square" lIns="0" tIns="0" rIns="0" bIns="0" rtlCol="0" anchor="t"/>
          <a:lstStyle/>
          <a:p>
            <a:pPr indent="0" marL="0">
              <a:buNone/>
            </a:pPr>
            <a:r>
              <a:rPr lang="en-US" sz="1400" dirty="0">
                <a:solidFill>
                  <a:schemeClr val="tx2"/>
                </a:solidFill>
              </a:rPr>
              <a:t>direkt im Vorgang, ohne Papier</a:t>
            </a:r>
            <a:endParaRPr lang="en-US" sz="1400" dirty="0"/>
          </a:p>
        </p:txBody>
      </p:sp>
      <p:sp>
        <p:nvSpPr>
          <p:cNvPr id="71" name="Markierung 1"/>
          <p:cNvSpPr/>
          <p:nvPr/>
        </p:nvSpPr>
        <p:spPr>
          <a:xfrm>
            <a:off x="420624" y="2715768"/>
            <a:ext cx="292608" cy="292608"/>
          </a:xfrm>
          <a:prstGeom prst="ellipse">
            <a:avLst/>
          </a:prstGeom>
          <a:solidFill>
            <a:schemeClr val="accent1"/>
          </a:solidFill>
          <a:ln w="19050">
            <a:solidFill>
              <a:schemeClr val="bg1"/>
            </a:solidFill>
            <a:prstDash val="solid"/>
          </a:ln>
        </p:spPr>
      </p:sp>
      <p:sp>
        <p:nvSpPr>
          <p:cNvPr id="72" name="Text 70"/>
          <p:cNvSpPr txBox="1"/>
          <p:nvPr/>
        </p:nvSpPr>
        <p:spPr>
          <a:xfrm>
            <a:off x="420624" y="2715768"/>
            <a:ext cx="292608" cy="292608"/>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73" name="Markierung 2"/>
          <p:cNvSpPr/>
          <p:nvPr/>
        </p:nvSpPr>
        <p:spPr>
          <a:xfrm>
            <a:off x="7818120" y="2212848"/>
            <a:ext cx="292608" cy="292608"/>
          </a:xfrm>
          <a:prstGeom prst="ellipse">
            <a:avLst/>
          </a:prstGeom>
          <a:solidFill>
            <a:schemeClr val="accent1"/>
          </a:solidFill>
          <a:ln w="19050">
            <a:solidFill>
              <a:schemeClr val="bg1"/>
            </a:solidFill>
            <a:prstDash val="solid"/>
          </a:ln>
        </p:spPr>
      </p:sp>
      <p:sp>
        <p:nvSpPr>
          <p:cNvPr id="74" name="Text 72"/>
          <p:cNvSpPr txBox="1"/>
          <p:nvPr/>
        </p:nvSpPr>
        <p:spPr>
          <a:xfrm>
            <a:off x="7818120" y="2212848"/>
            <a:ext cx="292608" cy="292608"/>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75" name="Markierung 3"/>
          <p:cNvSpPr/>
          <p:nvPr/>
        </p:nvSpPr>
        <p:spPr>
          <a:xfrm>
            <a:off x="8046720" y="3264408"/>
            <a:ext cx="292608" cy="292608"/>
          </a:xfrm>
          <a:prstGeom prst="ellipse">
            <a:avLst/>
          </a:prstGeom>
          <a:solidFill>
            <a:schemeClr val="accent1"/>
          </a:solidFill>
          <a:ln w="19050">
            <a:solidFill>
              <a:schemeClr val="bg1"/>
            </a:solidFill>
            <a:prstDash val="solid"/>
          </a:ln>
        </p:spPr>
      </p:sp>
      <p:sp>
        <p:nvSpPr>
          <p:cNvPr id="76" name="Text 74"/>
          <p:cNvSpPr txBox="1"/>
          <p:nvPr/>
        </p:nvSpPr>
        <p:spPr>
          <a:xfrm>
            <a:off x="8046720" y="3264408"/>
            <a:ext cx="292608" cy="292608"/>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77" name="Text 75"/>
          <p:cNvSpPr txBox="1"/>
          <p:nvPr/>
        </p:nvSpPr>
        <p:spPr>
          <a:xfrm>
            <a:off x="8778240" y="5532120"/>
            <a:ext cx="2864815" cy="502920"/>
          </a:xfrm>
          <a:prstGeom prst="rect">
            <a:avLst/>
          </a:prstGeom>
          <a:noFill/>
          <a:ln/>
        </p:spPr>
        <p:txBody>
          <a:bodyPr wrap="square" lIns="0" tIns="0" rIns="0" bIns="0" rtlCol="0" anchor="t"/>
          <a:lstStyle/>
          <a:p>
            <a:pPr indent="0" marL="0">
              <a:buNone/>
            </a:pPr>
            <a:r>
              <a:rPr lang="en-US" sz="1100" b="1" dirty="0">
                <a:solidFill>
                  <a:schemeClr val="accent1"/>
                </a:solidFill>
              </a:rPr>
              <a:t>Skizze  </a:t>
            </a:r>
            <a:pPr indent="0" marL="0">
              <a:buNone/>
            </a:pPr>
            <a:r>
              <a:rPr lang="en-US" sz="1100" dirty="0">
                <a:solidFill>
                  <a:schemeClr val="tx2"/>
                </a:solidFill>
              </a:rPr>
              <a:t>Unsere Vorstellung, keine Designvorgabe. Kundennummern statt Namen, fiktive Daten.</a:t>
            </a:r>
            <a:endParaRPr lang="en-US" sz="1100" dirty="0"/>
          </a:p>
        </p:txBody>
      </p:sp>
      <p:sp>
        <p:nvSpPr>
          <p:cNvPr id="79" name="Text 0"/>
          <p:cNvSpPr/>
          <p:nvPr>
            <p:ph idx="102" type="body" hasCustomPrompt="1"/>
          </p:nvPr>
        </p:nvSpPr>
        <p:spPr>
          <a:xfrm>
            <a:off x="548640" y="1371600"/>
            <a:ext cx="11094415" cy="384048"/>
          </a:xfrm>
          <a:prstGeom prst="rect">
            <a:avLst/>
          </a:prstGeom>
          <a:noFill/>
          <a:ln/>
        </p:spPr>
        <p:txBody>
          <a:bodyPr wrap="square" lIns="0" tIns="0" rIns="0" bIns="0" rtlCol="0" anchor="t"/>
          <a:lstStyle/>
          <a:p>
            <a:pPr indent="0" marL="0">
              <a:buNone/>
            </a:pPr>
            <a:endParaRPr lang="en-US" sz="17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nchor="t"/>
          <a:lstStyle/>
          <a:p>
            <a:pPr indent="0" marL="0">
              <a:buNone/>
            </a:pPr>
            <a:r>
              <a:rPr lang="en-US" sz="1200" b="1" spc="300" kern="0" dirty="0">
                <a:solidFill>
                  <a:schemeClr val="accent1"/>
                </a:solidFill>
              </a:rPr>
              <a:t>RESERVE · ANNAHMEN</a:t>
            </a: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400" b="1" dirty="0">
                <a:solidFill>
                  <a:schemeClr val="tx1"/>
                </a:solidFill>
              </a:rPr>
              <a:t>Woran wir den Erfolg messen würden</a:t>
            </a:r>
            <a:endParaRPr lang="en-US" sz="3400" dirty="0"/>
          </a:p>
        </p:txBody>
      </p:sp>
      <p:sp>
        <p:nvSpPr>
          <p:cNvPr id="4" name="Text 0"/>
          <p:cNvSpPr/>
          <p:nvPr>
            <p:ph idx="102" type="body" hasCustomPrompt="1"/>
          </p:nvPr>
        </p:nvSpPr>
        <p:spPr>
          <a:xfrm>
            <a:off x="548640" y="1371600"/>
            <a:ext cx="11094415" cy="384048"/>
          </a:xfrm>
          <a:prstGeom prst="rect">
            <a:avLst/>
          </a:prstGeom>
          <a:noFill/>
          <a:ln/>
        </p:spPr>
        <p:txBody>
          <a:bodyPr wrap="square" lIns="0" tIns="0" rIns="0" bIns="0" rtlCol="0" anchor="t"/>
          <a:lstStyle/>
          <a:p>
            <a:pPr indent="0" marL="0">
              <a:buNone/>
            </a:pPr>
            <a:r>
              <a:rPr lang="en-US" sz="1700" dirty="0">
                <a:solidFill>
                  <a:schemeClr val="tx2"/>
                </a:solidFill>
              </a:rPr>
              <a:t>Zielwerte sind Wünsche des Auftraggebers, Ist-Werte grobe Schätzungen.</a:t>
            </a:r>
            <a:endParaRPr lang="en-US" sz="1700" dirty="0"/>
          </a:p>
        </p:txBody>
      </p:sp>
      <p:sp>
        <p:nvSpPr>
          <p:cNvPr id="5" name="Ziel Durchlaufzeit"/>
          <p:cNvSpPr/>
          <p:nvPr/>
        </p:nvSpPr>
        <p:spPr>
          <a:xfrm>
            <a:off x="548640" y="2103120"/>
            <a:ext cx="2567864" cy="3566160"/>
          </a:xfrm>
          <a:prstGeom prst="roundRect">
            <a:avLst>
              <a:gd name="adj" fmla="val 4273"/>
            </a:avLst>
          </a:prstGeom>
          <a:solidFill>
            <a:schemeClr val="accent4"/>
          </a:solidFill>
          <a:ln/>
        </p:spPr>
      </p:sp>
      <p:sp>
        <p:nvSpPr>
          <p:cNvPr id="6" name="Text 4"/>
          <p:cNvSpPr txBox="1"/>
          <p:nvPr/>
        </p:nvSpPr>
        <p:spPr>
          <a:xfrm>
            <a:off x="822960" y="2377440"/>
            <a:ext cx="2019224"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DURCHLAUFZEIT</a:t>
            </a:r>
            <a:endParaRPr lang="en-US" sz="1200" dirty="0"/>
          </a:p>
        </p:txBody>
      </p:sp>
      <p:sp>
        <p:nvSpPr>
          <p:cNvPr id="7" name="Text 5"/>
          <p:cNvSpPr txBox="1"/>
          <p:nvPr/>
        </p:nvSpPr>
        <p:spPr>
          <a:xfrm>
            <a:off x="822960" y="2788920"/>
            <a:ext cx="2110664" cy="320040"/>
          </a:xfrm>
          <a:prstGeom prst="rect">
            <a:avLst/>
          </a:prstGeom>
          <a:noFill/>
          <a:ln/>
        </p:spPr>
        <p:txBody>
          <a:bodyPr wrap="square" lIns="0" tIns="0" rIns="0" bIns="0" rtlCol="0" anchor="t"/>
          <a:lstStyle/>
          <a:p>
            <a:pPr indent="0" marL="0">
              <a:buNone/>
            </a:pPr>
            <a:r>
              <a:rPr lang="en-US" sz="1500" dirty="0">
                <a:solidFill>
                  <a:schemeClr val="tx2"/>
                </a:solidFill>
              </a:rPr>
              <a:t>Ist geschätzt  </a:t>
            </a:r>
            <a:pPr indent="0" marL="0">
              <a:buNone/>
            </a:pPr>
            <a:r>
              <a:rPr lang="en-US" sz="1500" b="1" dirty="0">
                <a:solidFill>
                  <a:schemeClr val="tx2"/>
                </a:solidFill>
              </a:rPr>
              <a:t>~2,5 AT</a:t>
            </a:r>
            <a:endParaRPr lang="en-US" sz="1500" dirty="0"/>
          </a:p>
        </p:txBody>
      </p:sp>
      <p:sp>
        <p:nvSpPr>
          <p:cNvPr id="8" name="Text 6"/>
          <p:cNvSpPr txBox="1"/>
          <p:nvPr/>
        </p:nvSpPr>
        <p:spPr>
          <a:xfrm>
            <a:off x="822960" y="3246120"/>
            <a:ext cx="2202104" cy="914400"/>
          </a:xfrm>
          <a:prstGeom prst="rect">
            <a:avLst/>
          </a:prstGeom>
          <a:noFill/>
          <a:ln/>
        </p:spPr>
        <p:txBody>
          <a:bodyPr wrap="square" lIns="0" tIns="0" rIns="0" bIns="0" rtlCol="0" anchor="ctr"/>
          <a:lstStyle/>
          <a:p>
            <a:pPr indent="0" marL="0">
              <a:buNone/>
            </a:pPr>
            <a:r>
              <a:rPr lang="en-US" sz="4400" b="1" dirty="0">
                <a:solidFill>
                  <a:schemeClr val="accent1"/>
                </a:solidFill>
              </a:rPr>
              <a:t>≤ 1 AT</a:t>
            </a:r>
            <a:endParaRPr lang="en-US" sz="4400" dirty="0"/>
          </a:p>
        </p:txBody>
      </p:sp>
      <p:sp>
        <p:nvSpPr>
          <p:cNvPr id="9" name="Text 7"/>
          <p:cNvSpPr txBox="1"/>
          <p:nvPr/>
        </p:nvSpPr>
        <p:spPr>
          <a:xfrm>
            <a:off x="822960" y="4343400"/>
            <a:ext cx="2019224" cy="1005840"/>
          </a:xfrm>
          <a:prstGeom prst="rect">
            <a:avLst/>
          </a:prstGeom>
          <a:noFill/>
          <a:ln/>
        </p:spPr>
        <p:txBody>
          <a:bodyPr wrap="square" lIns="0" tIns="0" rIns="0" bIns="0" rtlCol="0" anchor="t"/>
          <a:lstStyle/>
          <a:p>
            <a:pPr indent="0" marL="0">
              <a:buNone/>
            </a:pPr>
            <a:r>
              <a:rPr lang="en-US" sz="1400" dirty="0">
                <a:solidFill>
                  <a:schemeClr val="tx1"/>
                </a:solidFill>
              </a:rPr>
              <a:t>Eingang Bank → Backoffice-Team, für 90 % der Vorgänge</a:t>
            </a:r>
            <a:endParaRPr lang="en-US" sz="1400" dirty="0"/>
          </a:p>
        </p:txBody>
      </p:sp>
      <p:sp>
        <p:nvSpPr>
          <p:cNvPr id="10" name="Ziel Aufwand KuBe"/>
          <p:cNvSpPr/>
          <p:nvPr/>
        </p:nvSpPr>
        <p:spPr>
          <a:xfrm>
            <a:off x="3390824" y="2103120"/>
            <a:ext cx="2567864" cy="3566160"/>
          </a:xfrm>
          <a:prstGeom prst="roundRect">
            <a:avLst>
              <a:gd name="adj" fmla="val 4273"/>
            </a:avLst>
          </a:prstGeom>
          <a:solidFill>
            <a:schemeClr val="accent4"/>
          </a:solidFill>
          <a:ln/>
        </p:spPr>
      </p:sp>
      <p:sp>
        <p:nvSpPr>
          <p:cNvPr id="11" name="Text 9"/>
          <p:cNvSpPr txBox="1"/>
          <p:nvPr/>
        </p:nvSpPr>
        <p:spPr>
          <a:xfrm>
            <a:off x="3665144" y="2377440"/>
            <a:ext cx="2019224"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AUFWAND KUBE</a:t>
            </a:r>
            <a:endParaRPr lang="en-US" sz="1200" dirty="0"/>
          </a:p>
        </p:txBody>
      </p:sp>
      <p:sp>
        <p:nvSpPr>
          <p:cNvPr id="12" name="Text 10"/>
          <p:cNvSpPr txBox="1"/>
          <p:nvPr/>
        </p:nvSpPr>
        <p:spPr>
          <a:xfrm>
            <a:off x="3665144" y="2788920"/>
            <a:ext cx="2110664" cy="320040"/>
          </a:xfrm>
          <a:prstGeom prst="rect">
            <a:avLst/>
          </a:prstGeom>
          <a:noFill/>
          <a:ln/>
        </p:spPr>
        <p:txBody>
          <a:bodyPr wrap="square" lIns="0" tIns="0" rIns="0" bIns="0" rtlCol="0" anchor="t"/>
          <a:lstStyle/>
          <a:p>
            <a:pPr indent="0" marL="0">
              <a:buNone/>
            </a:pPr>
            <a:r>
              <a:rPr lang="en-US" sz="1500" dirty="0">
                <a:solidFill>
                  <a:schemeClr val="tx2"/>
                </a:solidFill>
              </a:rPr>
              <a:t>Ist geschätzt  </a:t>
            </a:r>
            <a:pPr indent="0" marL="0">
              <a:buNone/>
            </a:pPr>
            <a:r>
              <a:rPr lang="en-US" sz="1500" b="1" dirty="0">
                <a:solidFill>
                  <a:schemeClr val="tx2"/>
                </a:solidFill>
              </a:rPr>
              <a:t>~6 Min.</a:t>
            </a:r>
            <a:endParaRPr lang="en-US" sz="1500" dirty="0"/>
          </a:p>
        </p:txBody>
      </p:sp>
      <p:sp>
        <p:nvSpPr>
          <p:cNvPr id="13" name="Text 11"/>
          <p:cNvSpPr txBox="1"/>
          <p:nvPr/>
        </p:nvSpPr>
        <p:spPr>
          <a:xfrm>
            <a:off x="3665144" y="3246120"/>
            <a:ext cx="2202104" cy="914400"/>
          </a:xfrm>
          <a:prstGeom prst="rect">
            <a:avLst/>
          </a:prstGeom>
          <a:noFill/>
          <a:ln/>
        </p:spPr>
        <p:txBody>
          <a:bodyPr wrap="square" lIns="0" tIns="0" rIns="0" bIns="0" rtlCol="0" anchor="ctr"/>
          <a:lstStyle/>
          <a:p>
            <a:pPr indent="0" marL="0">
              <a:buNone/>
            </a:pPr>
            <a:r>
              <a:rPr lang="en-US" sz="4400" b="1" dirty="0">
                <a:solidFill>
                  <a:schemeClr val="accent1"/>
                </a:solidFill>
              </a:rPr>
              <a:t>≤ 3 Min.</a:t>
            </a:r>
            <a:endParaRPr lang="en-US" sz="4400" dirty="0"/>
          </a:p>
        </p:txBody>
      </p:sp>
      <p:sp>
        <p:nvSpPr>
          <p:cNvPr id="14" name="Text 12"/>
          <p:cNvSpPr txBox="1"/>
          <p:nvPr/>
        </p:nvSpPr>
        <p:spPr>
          <a:xfrm>
            <a:off x="3665144" y="4343400"/>
            <a:ext cx="2019224" cy="1005840"/>
          </a:xfrm>
          <a:prstGeom prst="rect">
            <a:avLst/>
          </a:prstGeom>
          <a:noFill/>
          <a:ln/>
        </p:spPr>
        <p:txBody>
          <a:bodyPr wrap="square" lIns="0" tIns="0" rIns="0" bIns="0" rtlCol="0" anchor="t"/>
          <a:lstStyle/>
          <a:p>
            <a:pPr indent="0" marL="0">
              <a:buNone/>
            </a:pPr>
            <a:r>
              <a:rPr lang="en-US" sz="1400" dirty="0">
                <a:solidFill>
                  <a:schemeClr val="tx1"/>
                </a:solidFill>
              </a:rPr>
              <a:t>pro Rücksendung (–50 %)</a:t>
            </a:r>
            <a:endParaRPr lang="en-US" sz="1400" dirty="0"/>
          </a:p>
        </p:txBody>
      </p:sp>
      <p:sp>
        <p:nvSpPr>
          <p:cNvPr id="15" name="Ziel Verlorene Dokumente"/>
          <p:cNvSpPr/>
          <p:nvPr/>
        </p:nvSpPr>
        <p:spPr>
          <a:xfrm>
            <a:off x="6233008" y="2103120"/>
            <a:ext cx="2567864" cy="3566160"/>
          </a:xfrm>
          <a:prstGeom prst="roundRect">
            <a:avLst>
              <a:gd name="adj" fmla="val 4273"/>
            </a:avLst>
          </a:prstGeom>
          <a:solidFill>
            <a:schemeClr val="accent4"/>
          </a:solidFill>
          <a:ln/>
        </p:spPr>
      </p:sp>
      <p:sp>
        <p:nvSpPr>
          <p:cNvPr id="16" name="Text 14"/>
          <p:cNvSpPr txBox="1"/>
          <p:nvPr/>
        </p:nvSpPr>
        <p:spPr>
          <a:xfrm>
            <a:off x="6507328" y="2377440"/>
            <a:ext cx="2019224"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VERLORENE DOKUMENTE</a:t>
            </a:r>
            <a:endParaRPr lang="en-US" sz="1200" dirty="0"/>
          </a:p>
        </p:txBody>
      </p:sp>
      <p:sp>
        <p:nvSpPr>
          <p:cNvPr id="17" name="Text 15"/>
          <p:cNvSpPr txBox="1"/>
          <p:nvPr/>
        </p:nvSpPr>
        <p:spPr>
          <a:xfrm>
            <a:off x="6507328" y="2788920"/>
            <a:ext cx="2110664" cy="320040"/>
          </a:xfrm>
          <a:prstGeom prst="rect">
            <a:avLst/>
          </a:prstGeom>
          <a:noFill/>
          <a:ln/>
        </p:spPr>
        <p:txBody>
          <a:bodyPr wrap="square" lIns="0" tIns="0" rIns="0" bIns="0" rtlCol="0" anchor="t"/>
          <a:lstStyle/>
          <a:p>
            <a:pPr indent="0" marL="0">
              <a:buNone/>
            </a:pPr>
            <a:r>
              <a:rPr lang="en-US" sz="1500" dirty="0">
                <a:solidFill>
                  <a:schemeClr val="tx2"/>
                </a:solidFill>
              </a:rPr>
              <a:t>Ist geschätzt  </a:t>
            </a:r>
            <a:pPr indent="0" marL="0">
              <a:buNone/>
            </a:pPr>
            <a:r>
              <a:rPr lang="en-US" sz="1500" b="1" dirty="0">
                <a:solidFill>
                  <a:schemeClr val="tx2"/>
                </a:solidFill>
              </a:rPr>
              <a:t>1–2/Monat</a:t>
            </a:r>
            <a:endParaRPr lang="en-US" sz="1500" dirty="0"/>
          </a:p>
        </p:txBody>
      </p:sp>
      <p:sp>
        <p:nvSpPr>
          <p:cNvPr id="18" name="Text 16"/>
          <p:cNvSpPr txBox="1"/>
          <p:nvPr/>
        </p:nvSpPr>
        <p:spPr>
          <a:xfrm>
            <a:off x="6507328" y="3246120"/>
            <a:ext cx="2202104" cy="914400"/>
          </a:xfrm>
          <a:prstGeom prst="rect">
            <a:avLst/>
          </a:prstGeom>
          <a:noFill/>
          <a:ln/>
        </p:spPr>
        <p:txBody>
          <a:bodyPr wrap="square" lIns="0" tIns="0" rIns="0" bIns="0" rtlCol="0" anchor="ctr"/>
          <a:lstStyle/>
          <a:p>
            <a:pPr indent="0" marL="0">
              <a:buNone/>
            </a:pPr>
            <a:r>
              <a:rPr lang="en-US" sz="4400" b="1" dirty="0">
                <a:solidFill>
                  <a:schemeClr val="accent1"/>
                </a:solidFill>
              </a:rPr>
              <a:t>0</a:t>
            </a:r>
            <a:endParaRPr lang="en-US" sz="4400" dirty="0"/>
          </a:p>
        </p:txBody>
      </p:sp>
      <p:sp>
        <p:nvSpPr>
          <p:cNvPr id="19" name="Text 17"/>
          <p:cNvSpPr txBox="1"/>
          <p:nvPr/>
        </p:nvSpPr>
        <p:spPr>
          <a:xfrm>
            <a:off x="6507328" y="4343400"/>
            <a:ext cx="2019224" cy="1005840"/>
          </a:xfrm>
          <a:prstGeom prst="rect">
            <a:avLst/>
          </a:prstGeom>
          <a:noFill/>
          <a:ln/>
        </p:spPr>
        <p:txBody>
          <a:bodyPr wrap="square" lIns="0" tIns="0" rIns="0" bIns="0" rtlCol="0" anchor="t"/>
          <a:lstStyle/>
          <a:p>
            <a:pPr indent="0" marL="0">
              <a:buNone/>
            </a:pPr>
            <a:r>
              <a:rPr lang="en-US" sz="1400" dirty="0">
                <a:solidFill>
                  <a:schemeClr val="tx1"/>
                </a:solidFill>
              </a:rPr>
              <a:t>jedes Dokument ist auffindbar</a:t>
            </a:r>
            <a:endParaRPr lang="en-US" sz="1400" dirty="0"/>
          </a:p>
        </p:txBody>
      </p:sp>
      <p:sp>
        <p:nvSpPr>
          <p:cNvPr id="20" name="Ziel Stellvertretung"/>
          <p:cNvSpPr/>
          <p:nvPr/>
        </p:nvSpPr>
        <p:spPr>
          <a:xfrm>
            <a:off x="9075191" y="2103120"/>
            <a:ext cx="2567864" cy="3566160"/>
          </a:xfrm>
          <a:prstGeom prst="roundRect">
            <a:avLst>
              <a:gd name="adj" fmla="val 4273"/>
            </a:avLst>
          </a:prstGeom>
          <a:solidFill>
            <a:schemeClr val="accent4"/>
          </a:solidFill>
          <a:ln/>
        </p:spPr>
      </p:sp>
      <p:sp>
        <p:nvSpPr>
          <p:cNvPr id="21" name="Text 19"/>
          <p:cNvSpPr txBox="1"/>
          <p:nvPr/>
        </p:nvSpPr>
        <p:spPr>
          <a:xfrm>
            <a:off x="9349511" y="2377440"/>
            <a:ext cx="2019224"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STELLVERTRETUNG</a:t>
            </a:r>
            <a:endParaRPr lang="en-US" sz="1200" dirty="0"/>
          </a:p>
        </p:txBody>
      </p:sp>
      <p:sp>
        <p:nvSpPr>
          <p:cNvPr id="22" name="Text 20"/>
          <p:cNvSpPr txBox="1"/>
          <p:nvPr/>
        </p:nvSpPr>
        <p:spPr>
          <a:xfrm>
            <a:off x="9349511" y="2788920"/>
            <a:ext cx="2110664" cy="320040"/>
          </a:xfrm>
          <a:prstGeom prst="rect">
            <a:avLst/>
          </a:prstGeom>
          <a:noFill/>
          <a:ln/>
        </p:spPr>
        <p:txBody>
          <a:bodyPr wrap="square" lIns="0" tIns="0" rIns="0" bIns="0" rtlCol="0" anchor="t"/>
          <a:lstStyle/>
          <a:p>
            <a:pPr indent="0" marL="0">
              <a:buNone/>
            </a:pPr>
            <a:r>
              <a:rPr lang="en-US" sz="1500" dirty="0">
                <a:solidFill>
                  <a:schemeClr val="tx2"/>
                </a:solidFill>
              </a:rPr>
              <a:t>Ist geschätzt  </a:t>
            </a:r>
            <a:pPr indent="0" marL="0">
              <a:buNone/>
            </a:pPr>
            <a:r>
              <a:rPr lang="en-US" sz="1500" b="1" dirty="0">
                <a:solidFill>
                  <a:schemeClr val="tx2"/>
                </a:solidFill>
              </a:rPr>
              <a:t>bis 10 AT</a:t>
            </a:r>
            <a:endParaRPr lang="en-US" sz="1500" dirty="0"/>
          </a:p>
        </p:txBody>
      </p:sp>
      <p:sp>
        <p:nvSpPr>
          <p:cNvPr id="23" name="Text 21"/>
          <p:cNvSpPr txBox="1"/>
          <p:nvPr/>
        </p:nvSpPr>
        <p:spPr>
          <a:xfrm>
            <a:off x="9349511" y="3246120"/>
            <a:ext cx="2202104" cy="914400"/>
          </a:xfrm>
          <a:prstGeom prst="rect">
            <a:avLst/>
          </a:prstGeom>
          <a:noFill/>
          <a:ln/>
        </p:spPr>
        <p:txBody>
          <a:bodyPr wrap="square" lIns="0" tIns="0" rIns="0" bIns="0" rtlCol="0" anchor="ctr"/>
          <a:lstStyle/>
          <a:p>
            <a:pPr indent="0" marL="0">
              <a:buNone/>
            </a:pPr>
            <a:r>
              <a:rPr lang="en-US" sz="4400" b="1" dirty="0">
                <a:solidFill>
                  <a:schemeClr val="accent1"/>
                </a:solidFill>
              </a:rPr>
              <a:t>sofort</a:t>
            </a:r>
            <a:endParaRPr lang="en-US" sz="4400" dirty="0"/>
          </a:p>
        </p:txBody>
      </p:sp>
      <p:sp>
        <p:nvSpPr>
          <p:cNvPr id="24" name="Text 22"/>
          <p:cNvSpPr txBox="1"/>
          <p:nvPr/>
        </p:nvSpPr>
        <p:spPr>
          <a:xfrm>
            <a:off x="9349511" y="4343400"/>
            <a:ext cx="2019224" cy="1005840"/>
          </a:xfrm>
          <a:prstGeom prst="rect">
            <a:avLst/>
          </a:prstGeom>
          <a:noFill/>
          <a:ln/>
        </p:spPr>
        <p:txBody>
          <a:bodyPr wrap="square" lIns="0" tIns="0" rIns="0" bIns="0" rtlCol="0" anchor="t"/>
          <a:lstStyle/>
          <a:p>
            <a:pPr indent="0" marL="0">
              <a:buNone/>
            </a:pPr>
            <a:r>
              <a:rPr lang="en-US" sz="1400" dirty="0">
                <a:solidFill>
                  <a:schemeClr val="tx1"/>
                </a:solidFill>
              </a:rPr>
              <a:t>Vorgänge ohne Verzögerung sichtbar</a:t>
            </a:r>
            <a:endParaRPr lang="en-US" sz="1400" dirty="0"/>
          </a:p>
        </p:txBody>
      </p:sp>
      <p:sp>
        <p:nvSpPr>
          <p:cNvPr id="25" name="Text 23"/>
          <p:cNvSpPr txBox="1"/>
          <p:nvPr/>
        </p:nvSpPr>
        <p:spPr>
          <a:xfrm>
            <a:off x="548640" y="5961888"/>
            <a:ext cx="11094415" cy="274320"/>
          </a:xfrm>
          <a:prstGeom prst="rect">
            <a:avLst/>
          </a:prstGeom>
          <a:noFill/>
          <a:ln/>
        </p:spPr>
        <p:txBody>
          <a:bodyPr wrap="square" lIns="0" tIns="0" rIns="0" bIns="0" rtlCol="0" anchor="t"/>
          <a:lstStyle/>
          <a:p>
            <a:pPr indent="0" marL="0">
              <a:buNone/>
            </a:pPr>
            <a:r>
              <a:rPr lang="en-US" sz="1100" b="1" dirty="0">
                <a:solidFill>
                  <a:schemeClr val="accent1"/>
                </a:solidFill>
              </a:rPr>
              <a:t>Annahme  </a:t>
            </a:r>
            <a:pPr indent="0" marL="0">
              <a:buNone/>
            </a:pPr>
            <a:r>
              <a:rPr lang="en-US" sz="1100" dirty="0">
                <a:solidFill>
                  <a:schemeClr val="tx2"/>
                </a:solidFill>
              </a:rPr>
              <a:t>Ist-Werte geschätzt, Zielwerte gewünscht; Messmethode und Baseline klärt das RE-Team. AT = Arbeitstage.</a:t>
            </a:r>
            <a:endParaRPr lang="en-US" sz="11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nchor="t"/>
          <a:lstStyle/>
          <a:p>
            <a:pPr indent="0" marL="0">
              <a:buNone/>
            </a:pPr>
            <a:r>
              <a:rPr lang="en-US" sz="1200" b="1" spc="300" kern="0" dirty="0">
                <a:solidFill>
                  <a:schemeClr val="accent1"/>
                </a:solidFill>
              </a:rPr>
              <a:t>RESERVE · ANNAHMEN</a:t>
            </a: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400" b="1" dirty="0">
                <a:solidFill>
                  <a:schemeClr val="tx1"/>
                </a:solidFill>
              </a:rPr>
              <a:t>Was für uns gesetzt ist</a:t>
            </a:r>
            <a:endParaRPr lang="en-US" sz="3400" dirty="0"/>
          </a:p>
        </p:txBody>
      </p:sp>
      <p:sp>
        <p:nvSpPr>
          <p:cNvPr id="4" name="Rahmen Bankkundengeheimnis"/>
          <p:cNvSpPr/>
          <p:nvPr/>
        </p:nvSpPr>
        <p:spPr>
          <a:xfrm>
            <a:off x="548640" y="1600200"/>
            <a:ext cx="3383280" cy="1874520"/>
          </a:xfrm>
          <a:prstGeom prst="roundRect">
            <a:avLst>
              <a:gd name="adj" fmla="val 5854"/>
            </a:avLst>
          </a:prstGeom>
          <a:solidFill>
            <a:schemeClr val="bg2"/>
          </a:solidFill>
          <a:ln/>
        </p:spPr>
      </p:sp>
      <p:sp>
        <p:nvSpPr>
          <p:cNvPr id="5" name="Icon Bankkundengeheimnis Kreis"/>
          <p:cNvSpPr/>
          <p:nvPr/>
        </p:nvSpPr>
        <p:spPr>
          <a:xfrm>
            <a:off x="822960" y="1874520"/>
            <a:ext cx="594360" cy="594360"/>
          </a:xfrm>
          <a:prstGeom prst="ellipse">
            <a:avLst/>
          </a:prstGeom>
          <a:solidFill>
            <a:schemeClr val="tx1"/>
          </a:solidFill>
          <a:ln/>
        </p:spPr>
      </p:sp>
      <p:pic>
        <p:nvPicPr>
          <p:cNvPr id="6" name="Icon Bankkundengeheimnis" descr="Lock">    </p:cNvPr>
          <p:cNvPicPr>
            <a:picLocks noChangeAspect="1"/>
          </p:cNvPicPr>
          <p:nvPr/>
        </p:nvPicPr>
        <p:blipFill>
          <a:blip r:embed="rId1"/>
          <a:stretch>
            <a:fillRect/>
          </a:stretch>
        </p:blipFill>
        <p:spPr>
          <a:xfrm>
            <a:off x="971550" y="2023110"/>
            <a:ext cx="297180" cy="297180"/>
          </a:xfrm>
          <a:prstGeom prst="rect">
            <a:avLst/>
          </a:prstGeom>
        </p:spPr>
      </p:pic>
      <p:sp>
        <p:nvSpPr>
          <p:cNvPr id="7" name="Text 4"/>
          <p:cNvSpPr txBox="1"/>
          <p:nvPr/>
        </p:nvSpPr>
        <p:spPr>
          <a:xfrm>
            <a:off x="1554480" y="1874520"/>
            <a:ext cx="2240280" cy="594360"/>
          </a:xfrm>
          <a:prstGeom prst="rect">
            <a:avLst/>
          </a:prstGeom>
          <a:noFill/>
          <a:ln/>
        </p:spPr>
        <p:txBody>
          <a:bodyPr wrap="square" lIns="0" tIns="0" rIns="0" bIns="0" rtlCol="0" anchor="ctr"/>
          <a:lstStyle/>
          <a:p>
            <a:pPr indent="0" marL="0">
              <a:buNone/>
            </a:pPr>
            <a:r>
              <a:rPr lang="en-US" sz="1700" b="1" dirty="0">
                <a:solidFill>
                  <a:schemeClr val="tx1"/>
                </a:solidFill>
              </a:rPr>
              <a:t>Bankkundengeheimnis</a:t>
            </a:r>
            <a:endParaRPr lang="en-US" sz="1700" dirty="0"/>
          </a:p>
        </p:txBody>
      </p:sp>
      <p:sp>
        <p:nvSpPr>
          <p:cNvPr id="8" name="Text 5"/>
          <p:cNvSpPr txBox="1"/>
          <p:nvPr/>
        </p:nvSpPr>
        <p:spPr>
          <a:xfrm>
            <a:off x="822960" y="2606040"/>
            <a:ext cx="2926080" cy="731520"/>
          </a:xfrm>
          <a:prstGeom prst="rect">
            <a:avLst/>
          </a:prstGeom>
          <a:noFill/>
          <a:ln/>
        </p:spPr>
        <p:txBody>
          <a:bodyPr wrap="square" lIns="0" tIns="0" rIns="0" bIns="0" rtlCol="0" anchor="t"/>
          <a:lstStyle/>
          <a:p>
            <a:pPr indent="0" marL="0">
              <a:buNone/>
            </a:pPr>
            <a:r>
              <a:rPr lang="en-US" sz="1400" dirty="0">
                <a:solidFill>
                  <a:schemeClr val="tx2"/>
                </a:solidFill>
              </a:rPr>
              <a:t>Kundendaten nur für Berechtigte (Art. 47 BankG).</a:t>
            </a:r>
            <a:endParaRPr lang="en-US" sz="1400" dirty="0"/>
          </a:p>
        </p:txBody>
      </p:sp>
      <p:sp>
        <p:nvSpPr>
          <p:cNvPr id="9" name="Rahmen Datenschutz"/>
          <p:cNvSpPr/>
          <p:nvPr/>
        </p:nvSpPr>
        <p:spPr>
          <a:xfrm>
            <a:off x="4206240" y="1600200"/>
            <a:ext cx="3383280" cy="1874520"/>
          </a:xfrm>
          <a:prstGeom prst="roundRect">
            <a:avLst>
              <a:gd name="adj" fmla="val 5854"/>
            </a:avLst>
          </a:prstGeom>
          <a:solidFill>
            <a:schemeClr val="bg2"/>
          </a:solidFill>
          <a:ln/>
        </p:spPr>
      </p:sp>
      <p:sp>
        <p:nvSpPr>
          <p:cNvPr id="10" name="Icon Datenschutz Kreis"/>
          <p:cNvSpPr/>
          <p:nvPr/>
        </p:nvSpPr>
        <p:spPr>
          <a:xfrm>
            <a:off x="4480560" y="1874520"/>
            <a:ext cx="594360" cy="594360"/>
          </a:xfrm>
          <a:prstGeom prst="ellipse">
            <a:avLst/>
          </a:prstGeom>
          <a:solidFill>
            <a:schemeClr val="tx1"/>
          </a:solidFill>
          <a:ln/>
        </p:spPr>
      </p:sp>
      <p:pic>
        <p:nvPicPr>
          <p:cNvPr id="11" name="Icon Datenschutz" descr="ShieldCheck">    </p:cNvPr>
          <p:cNvPicPr>
            <a:picLocks noChangeAspect="1"/>
          </p:cNvPicPr>
          <p:nvPr/>
        </p:nvPicPr>
        <p:blipFill>
          <a:blip r:embed="rId2"/>
          <a:stretch>
            <a:fillRect/>
          </a:stretch>
        </p:blipFill>
        <p:spPr>
          <a:xfrm>
            <a:off x="4629150" y="2023110"/>
            <a:ext cx="297180" cy="297180"/>
          </a:xfrm>
          <a:prstGeom prst="rect">
            <a:avLst/>
          </a:prstGeom>
        </p:spPr>
      </p:pic>
      <p:sp>
        <p:nvSpPr>
          <p:cNvPr id="12" name="Text 8"/>
          <p:cNvSpPr txBox="1"/>
          <p:nvPr/>
        </p:nvSpPr>
        <p:spPr>
          <a:xfrm>
            <a:off x="5212080" y="1874520"/>
            <a:ext cx="2240280" cy="594360"/>
          </a:xfrm>
          <a:prstGeom prst="rect">
            <a:avLst/>
          </a:prstGeom>
          <a:noFill/>
          <a:ln/>
        </p:spPr>
        <p:txBody>
          <a:bodyPr wrap="square" lIns="0" tIns="0" rIns="0" bIns="0" rtlCol="0" anchor="ctr"/>
          <a:lstStyle/>
          <a:p>
            <a:pPr indent="0" marL="0">
              <a:buNone/>
            </a:pPr>
            <a:r>
              <a:rPr lang="en-US" sz="1700" b="1" dirty="0">
                <a:solidFill>
                  <a:schemeClr val="tx1"/>
                </a:solidFill>
              </a:rPr>
              <a:t>Datenschutz</a:t>
            </a:r>
            <a:endParaRPr lang="en-US" sz="1700" dirty="0"/>
          </a:p>
        </p:txBody>
      </p:sp>
      <p:sp>
        <p:nvSpPr>
          <p:cNvPr id="13" name="Text 9"/>
          <p:cNvSpPr txBox="1"/>
          <p:nvPr/>
        </p:nvSpPr>
        <p:spPr>
          <a:xfrm>
            <a:off x="4480560" y="2606040"/>
            <a:ext cx="2926080" cy="731520"/>
          </a:xfrm>
          <a:prstGeom prst="rect">
            <a:avLst/>
          </a:prstGeom>
          <a:noFill/>
          <a:ln/>
        </p:spPr>
        <p:txBody>
          <a:bodyPr wrap="square" lIns="0" tIns="0" rIns="0" bIns="0" rtlCol="0" anchor="t"/>
          <a:lstStyle/>
          <a:p>
            <a:pPr indent="0" marL="0">
              <a:buNone/>
            </a:pPr>
            <a:r>
              <a:rPr lang="en-US" sz="1400" dirty="0">
                <a:solidFill>
                  <a:schemeClr val="tx2"/>
                </a:solidFill>
              </a:rPr>
              <a:t>Bearbeitung nach dem Datenschutzgesetz (DSG).</a:t>
            </a:r>
            <a:endParaRPr lang="en-US" sz="1400" dirty="0"/>
          </a:p>
        </p:txBody>
      </p:sp>
      <p:sp>
        <p:nvSpPr>
          <p:cNvPr id="14" name="Rahmen Aufbewahrung"/>
          <p:cNvSpPr/>
          <p:nvPr/>
        </p:nvSpPr>
        <p:spPr>
          <a:xfrm>
            <a:off x="548640" y="3749040"/>
            <a:ext cx="3383280" cy="1874520"/>
          </a:xfrm>
          <a:prstGeom prst="roundRect">
            <a:avLst>
              <a:gd name="adj" fmla="val 5854"/>
            </a:avLst>
          </a:prstGeom>
          <a:solidFill>
            <a:schemeClr val="bg2"/>
          </a:solidFill>
          <a:ln/>
        </p:spPr>
      </p:sp>
      <p:sp>
        <p:nvSpPr>
          <p:cNvPr id="15" name="Icon Aufbewahrung Kreis"/>
          <p:cNvSpPr/>
          <p:nvPr/>
        </p:nvSpPr>
        <p:spPr>
          <a:xfrm>
            <a:off x="822960" y="4023360"/>
            <a:ext cx="594360" cy="594360"/>
          </a:xfrm>
          <a:prstGeom prst="ellipse">
            <a:avLst/>
          </a:prstGeom>
          <a:solidFill>
            <a:schemeClr val="tx1"/>
          </a:solidFill>
          <a:ln/>
        </p:spPr>
      </p:sp>
      <p:pic>
        <p:nvPicPr>
          <p:cNvPr id="16" name="Icon Aufbewahrung" descr="Archive">    </p:cNvPr>
          <p:cNvPicPr>
            <a:picLocks noChangeAspect="1"/>
          </p:cNvPicPr>
          <p:nvPr/>
        </p:nvPicPr>
        <p:blipFill>
          <a:blip r:embed="rId3"/>
          <a:stretch>
            <a:fillRect/>
          </a:stretch>
        </p:blipFill>
        <p:spPr>
          <a:xfrm>
            <a:off x="971550" y="4171950"/>
            <a:ext cx="297180" cy="297180"/>
          </a:xfrm>
          <a:prstGeom prst="rect">
            <a:avLst/>
          </a:prstGeom>
        </p:spPr>
      </p:pic>
      <p:sp>
        <p:nvSpPr>
          <p:cNvPr id="17" name="Text 12"/>
          <p:cNvSpPr txBox="1"/>
          <p:nvPr/>
        </p:nvSpPr>
        <p:spPr>
          <a:xfrm>
            <a:off x="1554480" y="4023360"/>
            <a:ext cx="2240280" cy="594360"/>
          </a:xfrm>
          <a:prstGeom prst="rect">
            <a:avLst/>
          </a:prstGeom>
          <a:noFill/>
          <a:ln/>
        </p:spPr>
        <p:txBody>
          <a:bodyPr wrap="square" lIns="0" tIns="0" rIns="0" bIns="0" rtlCol="0" anchor="ctr"/>
          <a:lstStyle/>
          <a:p>
            <a:pPr indent="0" marL="0">
              <a:buNone/>
            </a:pPr>
            <a:r>
              <a:rPr lang="en-US" sz="1700" b="1" dirty="0">
                <a:solidFill>
                  <a:schemeClr val="tx1"/>
                </a:solidFill>
              </a:rPr>
              <a:t>Aufbewahrung</a:t>
            </a:r>
            <a:endParaRPr lang="en-US" sz="1700" dirty="0"/>
          </a:p>
        </p:txBody>
      </p:sp>
      <p:sp>
        <p:nvSpPr>
          <p:cNvPr id="18" name="Text 13"/>
          <p:cNvSpPr txBox="1"/>
          <p:nvPr/>
        </p:nvSpPr>
        <p:spPr>
          <a:xfrm>
            <a:off x="822960" y="4754880"/>
            <a:ext cx="2926080" cy="731520"/>
          </a:xfrm>
          <a:prstGeom prst="rect">
            <a:avLst/>
          </a:prstGeom>
          <a:noFill/>
          <a:ln/>
        </p:spPr>
        <p:txBody>
          <a:bodyPr wrap="square" lIns="0" tIns="0" rIns="0" bIns="0" rtlCol="0" anchor="t"/>
          <a:lstStyle/>
          <a:p>
            <a:pPr indent="0" marL="0">
              <a:buNone/>
            </a:pPr>
            <a:r>
              <a:rPr lang="en-US" sz="1400" dirty="0">
                <a:solidFill>
                  <a:schemeClr val="tx2"/>
                </a:solidFill>
              </a:rPr>
              <a:t>Gesetzliche Fristen, z. B. 10 Jahre für Buchungsbelege (Art. 958f OR).</a:t>
            </a:r>
            <a:endParaRPr lang="en-US" sz="1400" dirty="0"/>
          </a:p>
        </p:txBody>
      </p:sp>
      <p:sp>
        <p:nvSpPr>
          <p:cNvPr id="19" name="Rahmen Zugriffsrechte"/>
          <p:cNvSpPr/>
          <p:nvPr/>
        </p:nvSpPr>
        <p:spPr>
          <a:xfrm>
            <a:off x="4206240" y="3749040"/>
            <a:ext cx="3383280" cy="1874520"/>
          </a:xfrm>
          <a:prstGeom prst="roundRect">
            <a:avLst>
              <a:gd name="adj" fmla="val 5854"/>
            </a:avLst>
          </a:prstGeom>
          <a:solidFill>
            <a:schemeClr val="bg2"/>
          </a:solidFill>
          <a:ln/>
        </p:spPr>
      </p:sp>
      <p:sp>
        <p:nvSpPr>
          <p:cNvPr id="20" name="Icon Zugriffsrechte Kreis"/>
          <p:cNvSpPr/>
          <p:nvPr/>
        </p:nvSpPr>
        <p:spPr>
          <a:xfrm>
            <a:off x="4480560" y="4023360"/>
            <a:ext cx="594360" cy="594360"/>
          </a:xfrm>
          <a:prstGeom prst="ellipse">
            <a:avLst/>
          </a:prstGeom>
          <a:solidFill>
            <a:schemeClr val="tx1"/>
          </a:solidFill>
          <a:ln/>
        </p:spPr>
      </p:sp>
      <p:pic>
        <p:nvPicPr>
          <p:cNvPr id="21" name="Icon Zugriffsrechte" descr="KeyRound">    </p:cNvPr>
          <p:cNvPicPr>
            <a:picLocks noChangeAspect="1"/>
          </p:cNvPicPr>
          <p:nvPr/>
        </p:nvPicPr>
        <p:blipFill>
          <a:blip r:embed="rId4"/>
          <a:stretch>
            <a:fillRect/>
          </a:stretch>
        </p:blipFill>
        <p:spPr>
          <a:xfrm>
            <a:off x="4629150" y="4171950"/>
            <a:ext cx="297180" cy="297180"/>
          </a:xfrm>
          <a:prstGeom prst="rect">
            <a:avLst/>
          </a:prstGeom>
        </p:spPr>
      </p:pic>
      <p:sp>
        <p:nvSpPr>
          <p:cNvPr id="22" name="Text 16"/>
          <p:cNvSpPr txBox="1"/>
          <p:nvPr/>
        </p:nvSpPr>
        <p:spPr>
          <a:xfrm>
            <a:off x="5212080" y="4023360"/>
            <a:ext cx="2240280" cy="594360"/>
          </a:xfrm>
          <a:prstGeom prst="rect">
            <a:avLst/>
          </a:prstGeom>
          <a:noFill/>
          <a:ln/>
        </p:spPr>
        <p:txBody>
          <a:bodyPr wrap="square" lIns="0" tIns="0" rIns="0" bIns="0" rtlCol="0" anchor="ctr"/>
          <a:lstStyle/>
          <a:p>
            <a:pPr indent="0" marL="0">
              <a:buNone/>
            </a:pPr>
            <a:r>
              <a:rPr lang="en-US" sz="1700" b="1" dirty="0">
                <a:solidFill>
                  <a:schemeClr val="tx1"/>
                </a:solidFill>
              </a:rPr>
              <a:t>Zugriffsrechte</a:t>
            </a:r>
            <a:endParaRPr lang="en-US" sz="1700" dirty="0"/>
          </a:p>
        </p:txBody>
      </p:sp>
      <p:sp>
        <p:nvSpPr>
          <p:cNvPr id="23" name="Text 17"/>
          <p:cNvSpPr txBox="1"/>
          <p:nvPr/>
        </p:nvSpPr>
        <p:spPr>
          <a:xfrm>
            <a:off x="4480560" y="4754880"/>
            <a:ext cx="2926080" cy="731520"/>
          </a:xfrm>
          <a:prstGeom prst="rect">
            <a:avLst/>
          </a:prstGeom>
          <a:noFill/>
          <a:ln/>
        </p:spPr>
        <p:txBody>
          <a:bodyPr wrap="square" lIns="0" tIns="0" rIns="0" bIns="0" rtlCol="0" anchor="t"/>
          <a:lstStyle/>
          <a:p>
            <a:pPr indent="0" marL="0">
              <a:buNone/>
            </a:pPr>
            <a:r>
              <a:rPr lang="en-US" sz="1400" dirty="0">
                <a:solidFill>
                  <a:schemeClr val="tx2"/>
                </a:solidFill>
              </a:rPr>
              <a:t>Rollenbasiert und protokolliert; FINMA-Rundschreiben 2023/1 (operationelle Risiken).</a:t>
            </a:r>
            <a:endParaRPr lang="en-US" sz="1400" dirty="0"/>
          </a:p>
        </p:txBody>
      </p:sp>
      <p:sp>
        <p:nvSpPr>
          <p:cNvPr id="24" name="Budget und Zeitplan"/>
          <p:cNvSpPr/>
          <p:nvPr/>
        </p:nvSpPr>
        <p:spPr>
          <a:xfrm>
            <a:off x="7955280" y="1600200"/>
            <a:ext cx="3687775" cy="4023360"/>
          </a:xfrm>
          <a:prstGeom prst="roundRect">
            <a:avLst>
              <a:gd name="adj" fmla="val 2975"/>
            </a:avLst>
          </a:prstGeom>
          <a:solidFill>
            <a:schemeClr val="tx1"/>
          </a:solidFill>
          <a:ln/>
        </p:spPr>
      </p:sp>
      <p:sp>
        <p:nvSpPr>
          <p:cNvPr id="25" name="Text 19"/>
          <p:cNvSpPr txBox="1"/>
          <p:nvPr/>
        </p:nvSpPr>
        <p:spPr>
          <a:xfrm>
            <a:off x="8321040" y="1874520"/>
            <a:ext cx="2956255"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BUDGET · ANNAHME</a:t>
            </a:r>
            <a:endParaRPr lang="en-US" sz="1200" dirty="0"/>
          </a:p>
        </p:txBody>
      </p:sp>
      <p:sp>
        <p:nvSpPr>
          <p:cNvPr id="26" name="Text 20"/>
          <p:cNvSpPr txBox="1"/>
          <p:nvPr/>
        </p:nvSpPr>
        <p:spPr>
          <a:xfrm>
            <a:off x="8321040" y="2194560"/>
            <a:ext cx="2956255" cy="640080"/>
          </a:xfrm>
          <a:prstGeom prst="rect">
            <a:avLst/>
          </a:prstGeom>
          <a:noFill/>
          <a:ln/>
        </p:spPr>
        <p:txBody>
          <a:bodyPr wrap="square" lIns="0" tIns="0" rIns="0" bIns="0" rtlCol="0" anchor="ctr"/>
          <a:lstStyle/>
          <a:p>
            <a:pPr indent="0" marL="0">
              <a:buNone/>
            </a:pPr>
            <a:r>
              <a:rPr lang="en-US" sz="3400" b="1" dirty="0">
                <a:solidFill>
                  <a:schemeClr val="bg1"/>
                </a:solidFill>
              </a:rPr>
              <a:t>ca. CHF 450’000</a:t>
            </a:r>
            <a:endParaRPr lang="en-US" sz="3400" dirty="0"/>
          </a:p>
        </p:txBody>
      </p:sp>
      <p:sp>
        <p:nvSpPr>
          <p:cNvPr id="27" name="Text 21"/>
          <p:cNvSpPr txBox="1"/>
          <p:nvPr/>
        </p:nvSpPr>
        <p:spPr>
          <a:xfrm>
            <a:off x="8321040" y="2834640"/>
            <a:ext cx="2956255" cy="548640"/>
          </a:xfrm>
          <a:prstGeom prst="rect">
            <a:avLst/>
          </a:prstGeom>
          <a:noFill/>
          <a:ln/>
        </p:spPr>
        <p:txBody>
          <a:bodyPr wrap="square" lIns="0" tIns="0" rIns="0" bIns="0" rtlCol="0" anchor="t"/>
          <a:lstStyle/>
          <a:p>
            <a:pPr indent="0" marL="0">
              <a:buNone/>
            </a:pPr>
            <a:r>
              <a:rPr lang="en-US" sz="1400" dirty="0">
                <a:solidFill>
                  <a:schemeClr val="accent6"/>
                </a:solidFill>
              </a:rPr>
              <a:t>einmalig, plus max. CHF 80’000 pro Jahr Betrieb</a:t>
            </a:r>
            <a:endParaRPr lang="en-US" sz="1400" dirty="0"/>
          </a:p>
        </p:txBody>
      </p:sp>
      <p:sp>
        <p:nvSpPr>
          <p:cNvPr id="28" name="Text 22"/>
          <p:cNvSpPr txBox="1"/>
          <p:nvPr/>
        </p:nvSpPr>
        <p:spPr>
          <a:xfrm>
            <a:off x="8321040" y="3703320"/>
            <a:ext cx="2956255"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ZEITPLAN · ANNAHME</a:t>
            </a:r>
            <a:endParaRPr lang="en-US" sz="1200" dirty="0"/>
          </a:p>
        </p:txBody>
      </p:sp>
      <p:sp>
        <p:nvSpPr>
          <p:cNvPr id="29" name="Text 23"/>
          <p:cNvSpPr txBox="1"/>
          <p:nvPr/>
        </p:nvSpPr>
        <p:spPr>
          <a:xfrm>
            <a:off x="8321040" y="4023360"/>
            <a:ext cx="2956255" cy="731520"/>
          </a:xfrm>
          <a:prstGeom prst="rect">
            <a:avLst/>
          </a:prstGeom>
          <a:noFill/>
          <a:ln/>
        </p:spPr>
        <p:txBody>
          <a:bodyPr wrap="square" lIns="0" tIns="0" rIns="0" bIns="0" rtlCol="0" anchor="t"/>
          <a:lstStyle/>
          <a:p>
            <a:pPr indent="0" marL="0">
              <a:spcAft>
                <a:spcPts val="600"/>
              </a:spcAft>
              <a:buNone/>
            </a:pPr>
            <a:r>
              <a:rPr lang="en-US" sz="1500" b="1" dirty="0">
                <a:solidFill>
                  <a:schemeClr val="bg1"/>
                </a:solidFill>
              </a:rPr>
              <a:t>Q2 2027  </a:t>
            </a:r>
            <a:pPr indent="0" marL="0">
              <a:spcAft>
                <a:spcPts val="600"/>
              </a:spcAft>
              <a:buNone/>
            </a:pPr>
            <a:r>
              <a:rPr lang="en-US" sz="1500" dirty="0">
                <a:solidFill>
                  <a:schemeClr val="accent6"/>
                </a:solidFill>
              </a:rPr>
              <a:t>Pilot an 3 Standorten</a:t>
            </a:r>
            <a:endParaRPr lang="en-US" sz="1500" dirty="0"/>
          </a:p>
          <a:p>
            <a:pPr indent="0" marL="0">
              <a:spcAft>
                <a:spcPts val="600"/>
              </a:spcAft>
              <a:buNone/>
            </a:pPr>
            <a:r>
              <a:rPr lang="en-US" sz="1500" b="1" dirty="0">
                <a:solidFill>
                  <a:schemeClr val="bg1"/>
                </a:solidFill>
              </a:rPr>
              <a:t>Ende 2027  </a:t>
            </a:r>
            <a:pPr indent="0" marL="0">
              <a:spcAft>
                <a:spcPts val="600"/>
              </a:spcAft>
              <a:buNone/>
            </a:pPr>
            <a:r>
              <a:rPr lang="en-US" sz="1500" dirty="0">
                <a:solidFill>
                  <a:schemeClr val="accent6"/>
                </a:solidFill>
              </a:rPr>
              <a:t>Rollout in allen Geschäftsstellen</a:t>
            </a:r>
            <a:endParaRPr lang="en-US" sz="1500" dirty="0"/>
          </a:p>
        </p:txBody>
      </p:sp>
      <p:sp>
        <p:nvSpPr>
          <p:cNvPr id="30" name="Text 24"/>
          <p:cNvSpPr txBox="1"/>
          <p:nvPr/>
        </p:nvSpPr>
        <p:spPr>
          <a:xfrm>
            <a:off x="8321040" y="4983480"/>
            <a:ext cx="2956255" cy="411480"/>
          </a:xfrm>
          <a:prstGeom prst="rect">
            <a:avLst/>
          </a:prstGeom>
          <a:noFill/>
          <a:ln/>
        </p:spPr>
        <p:txBody>
          <a:bodyPr wrap="square" lIns="0" tIns="0" rIns="0" bIns="0" rtlCol="0" anchor="t"/>
          <a:lstStyle/>
          <a:p>
            <a:pPr indent="0" marL="0">
              <a:buNone/>
            </a:pPr>
            <a:r>
              <a:rPr lang="en-US" sz="1400" b="1" dirty="0">
                <a:solidFill>
                  <a:schemeClr val="accent3"/>
                </a:solidFill>
              </a:rPr>
              <a:t>Postversand zum Kunden bleibt physisch.</a:t>
            </a:r>
            <a:endParaRPr lang="en-US" sz="1400" dirty="0"/>
          </a:p>
        </p:txBody>
      </p:sp>
      <p:sp>
        <p:nvSpPr>
          <p:cNvPr id="31" name="Text 25"/>
          <p:cNvSpPr txBox="1"/>
          <p:nvPr/>
        </p:nvSpPr>
        <p:spPr>
          <a:xfrm>
            <a:off x="548640" y="5961888"/>
            <a:ext cx="11094415" cy="274320"/>
          </a:xfrm>
          <a:prstGeom prst="rect">
            <a:avLst/>
          </a:prstGeom>
          <a:noFill/>
          <a:ln/>
        </p:spPr>
        <p:txBody>
          <a:bodyPr wrap="square" lIns="0" tIns="0" rIns="0" bIns="0" rtlCol="0" anchor="t"/>
          <a:lstStyle/>
          <a:p>
            <a:pPr indent="0" marL="0">
              <a:buNone/>
            </a:pPr>
            <a:r>
              <a:rPr lang="en-US" sz="1100" b="1" dirty="0">
                <a:solidFill>
                  <a:schemeClr val="accent1"/>
                </a:solidFill>
              </a:rPr>
              <a:t>Annahme  </a:t>
            </a:r>
            <a:pPr indent="0" marL="0">
              <a:buNone/>
            </a:pPr>
            <a:r>
              <a:rPr lang="en-US" sz="1100" dirty="0">
                <a:solidFill>
                  <a:schemeClr val="tx2"/>
                </a:solidFill>
              </a:rPr>
              <a:t>Budget und Termine sind fiktive Annahmen. Die rechtliche Einordnung bestätigen Compliance und Rechtsdienst.</a:t>
            </a:r>
            <a:endParaRPr lang="en-US" sz="1100" dirty="0"/>
          </a:p>
        </p:txBody>
      </p:sp>
      <p:sp>
        <p:nvSpPr>
          <p:cNvPr id="33" name="Text 0"/>
          <p:cNvSpPr/>
          <p:nvPr>
            <p:ph idx="102" type="body" hasCustomPrompt="1"/>
          </p:nvPr>
        </p:nvSpPr>
        <p:spPr>
          <a:xfrm>
            <a:off x="548640" y="1371600"/>
            <a:ext cx="11094415" cy="384048"/>
          </a:xfrm>
          <a:prstGeom prst="rect">
            <a:avLst/>
          </a:prstGeom>
          <a:noFill/>
          <a:ln/>
        </p:spPr>
        <p:txBody>
          <a:bodyPr wrap="square" lIns="0" tIns="0" rIns="0" bIns="0" rtlCol="0" anchor="t"/>
          <a:lstStyle/>
          <a:p>
            <a:pPr indent="0" marL="0">
              <a:buNone/>
            </a:pPr>
            <a:endParaRPr lang="en-US" sz="17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Postverarbeitung">
  <a:themeElements>
    <a:clrScheme name="Postverarbeitung">
      <a:dk1>
        <a:srgbClr val="13293D"/>
      </a:dk1>
      <a:lt1>
        <a:srgbClr val="FFFFFF"/>
      </a:lt1>
      <a:dk2>
        <a:srgbClr val="5A6B7B"/>
      </a:dk2>
      <a:lt2>
        <a:srgbClr val="F3F6F8"/>
      </a:lt2>
      <a:accent1>
        <a:srgbClr val="0A8A7A"/>
      </a:accent1>
      <a:accent2>
        <a:srgbClr val="C4472D"/>
      </a:accent2>
      <a:accent3>
        <a:srgbClr val="6FD1C0"/>
      </a:accent3>
      <a:accent4>
        <a:srgbClr val="E3F3F0"/>
      </a:accent4>
      <a:accent5>
        <a:srgbClr val="FBEAE5"/>
      </a:accent5>
      <a:accent6>
        <a:srgbClr val="D5DDE4"/>
      </a:accent6>
      <a:hlink>
        <a:srgbClr val="0A8A7A"/>
      </a:hlink>
      <a:folHlink>
        <a:srgbClr val="5A6B7B"/>
      </a:folHlink>
    </a:clrScheme>
    <a:fontScheme name="Postverarbeitung">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Digitalisierung der internen Postverarbeitung – Reserve PVA 5</dc:title>
  <dc:subject>Requirements Engineering HS26, PVA 5, Stakeholder-Rolle, Reservefolien</dc:subject>
  <dc:creator>Gruppe 9</dc:creator>
  <cp:lastModifiedBy>Gruppe 9</cp:lastModifiedBy>
  <cp:revision>1</cp:revision>
  <dcterms:created xsi:type="dcterms:W3CDTF">2026-10-25T14:27:11Z</dcterms:created>
  <dcterms:modified xsi:type="dcterms:W3CDTF">2026-10-25T14:27:11Z</dcterms:modified>
</cp:coreProperties>
</file>