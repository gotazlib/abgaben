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fb1a95d0-0616-efd9-3d5d-fe82a5535455}">
          <p14:sldIdLst>
            <p14:sldId id="256"/>
          </p14:sldIdLst>
        </p14:section>
        <p14:section name="Auftrag und Vorgehen" id="{e78bf559-1b5f-c805-e94c-b083332afc90}">
          <p14:sldIdLst>
            <p14:sldId id="257"/>
            <p14:sldId id="258"/>
          </p14:sldIdLst>
        </p14:section>
        <p14:section name="Stakeholder, Kontext, Ziele" id="{f17e685c-afcb-61fb-3ed1-769fcf1e8505}">
          <p14:sldIdLst>
            <p14:sldId id="259"/>
            <p14:sldId id="260"/>
          </p14:sldIdLst>
        </p14:section>
        <p14:section name="Anforderungen" id="{3e98bf8f-6df5-3759-c613-ca9109e8b6da}">
          <p14:sldIdLst>
            <p14:sldId id="261"/>
            <p14:sldId id="262"/>
            <p14:sldId id="263"/>
            <p14:sldId id="264"/>
            <p14:sldId id="265"/>
            <p14:sldId id="266"/>
          </p14:sldIdLst>
        </p14:section>
        <p14:section name="Validierung und Fazit" id="{0182067b-abf4-f3c7-4efc-057d7d8cd478}">
          <p14:sldIdLst>
            <p14:sldId id="267"/>
            <p14:sldId id="268"/>
            <p14:sldId id="269"/>
            <p14:sldId id="270"/>
          </p14:sldIdLst>
        </p14:section>
        <p14:section name="Diskussion" id="{67a95a4e-b0e4-0a79-bde2-26c4d03b2a5d}">
          <p14:sldIdLst>
            <p14:sldId id="271"/>
            <p14:sldId id="272"/>
            <p14:sldId id="273"/>
          </p14:sldIdLst>
        </p14:section>
        <p14:section name="Backup" id="{d92fcf23-3adc-1532-c7e2-33905bc86cf2}">
          <p14:sldIdLst>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 Görkem Taspinar
Guten Tag. Wir sind Gruppe 9, Görkem Taspinar und Ardian Ibrahimaj, und wir waren die Requirements Engineers für Gruppe 2. Ihr Auftrag: ein Buchungs- und Belegungssystem für die ArenaOne Sportzentrum AG, ein fiktives Sportzentrum im Raum Zürich. Heute laufen Reservationen über vier Kanäle, künftig soll es eine einzige Belegung geben – daher der Titel. Wir zeigen zuerst kurz unser Vorgehen, dann vor allem die Anforderungen, und danach moderieren wir eine Diskussion. Eine Sache vorweg: Die Spezifikation hat den Stand v0.6. Was nicht aus der Präsentation von Gruppe 2 stammt, ist als Annahme markiert.
[Vor dem Vortrag: Stand auf die aktuelle Version setzen (STAND im Build-Skript) und den letzten Satz anpassen.]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 Görkem Taspinar
ArenaOne ist ein mittelgrosses Sportzentrum mit Padel, Tennis, Badminton und Mehrzweckhallen. Reserviert wird heute über Telefon, E-Mail, direkt am Empfang und über interne Listen. Der Empfang hält das zusammen und trägt alles von Hand nach. Gruppe 2 hat daraus sechs Herausforderungen abgeleitet, rechts auf der Folie: Aufwand, keine Übersicht, Doppelbuchungen, kurzfristige Stornos, verschiedene Kundengruppen und Serien. Unser Auftrag lautete wörtlich: Anforderungen ermitteln, dokumentieren, validieren, verwalten. Die Lösung war bewusst offen – ob gekauft oder gebaut wird, soll erst danach entschieden werden. Im Sinn von Folie 12: Wir bewegen uns im Anwendungsgebiet, nicht im Lösungsgebiet. Was Gruppe 2 nicht genannt hat, sind Zahlen – das ist die grösste Lücke.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2:00 · Görkem Taspinar
Wir haben nach dem Kreislauf von Folie 28 gearbeitet: Ermitteln, Dokumentieren, Prüfen und Abstimmen, Verwalten, Validieren. Das sind auch die vier Phasen aus dem Merkblatt. Wichtig ist, dass der Kreislauf kein linearer Fluss ist. Wir durchlaufen ihn zweimal. Runde 1 hatten wir nur die Präsentation von Gruppe 2: Wir haben sie analysiert, Stakeholder, Kontext und Ziele als Hypothese aufgestellt und das Interview im Team als Rollenspiel geprobt. Daraus entstand die Spezifikation mit Use Cases und Anforderungen, die wir intern geprüft haben. Runde 2 beginnt mit dem Interview in PVA 5: Jede Annahme wird bestätigt, geändert oder gestrichen, dann Review und Freigabe durch Gruppe 2. Damit man jederzeit sieht, was belegt ist, trägt jede Anforderung ihre Quelle – unten die Legende. Die Simulation zählt dabei nie als Aussage von Gruppe 2. Den Aufwand haben wir risikogerecht verteilt (Folie 23): genau bei Serien, Regeln und Stornos, knapp bei Standardfunktionen.
[Nach PVA 5: Runde 2 als erledigt markieren und mit echten Ergebnissen füllen.]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1:45 · Görkem Taspinar
Gruppe 2 nennt auf Folie 5 sechs Stakeholder: Privatkunden, Vereine und Firmen, Empfang, Trainer, Geschäftsleitung und IT. Wir haben sechs ergänzt, etwa den Betrieb der Anlage, der Sperrzeiten braucht, und den Datenschutz. Links die Einfluss-Interesse-Matrix, unsere Einschätzung: Eng einbinden müssen wir die Geschäftsleitung, sie gibt frei und entscheidet Konflikte, und die Vereine, weil sie mit ihren Serien die begehrten Abendzeiten belegen. Der Empfang hat wenig formalen Einfluss, kennt aber den Ablauf am besten – deshalb bekommt er im Interview am meisten Zeit. Rechts die Systemgrenze aus dem Kontextdiagramm. Ausgeschlossen hat Gruppe 2 Buchhaltung, Personalplanung, Gastronomie und CRM. Offen ist, ob es Schnittstellen zu Website, Zahlung oder Zutritt braucht. Und zwischen den Stakeholdern gibt es Zielkonflikte – zum Beispiel wer am Abend spielen darf. Die entscheiden nicht wir, sondern die Geschäftsleitung.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 Görkem Taspinar
Die Ziele haben wir nach dem Zielmodell von Folie 37 geordnet. Oben die drei Geschäftsziele aus Folie 4: Kapazitäten besser nutzen, Aufwand reduzieren, komfortabler reservieren. Darunter Prozessziele, zum Beispiel ein Prozess für alle Kanäle oder null Doppelbuchungen, und unten die Produktziele, die dann direkt in Anforderungen münden. Gruppe 2 hat keine Zahlen genannt. Darum stehen bei den Zielwerten Platzhalter: Die Messgrösse schlagen wir vor, den Wert muss die Geschäftsleitung festlegen. Unten der Unterschied, den Folie 35 macht: Ein Ziel ist ein Zustand, eine Anforderung eine Eigenschaft des Systems. «Keine Doppelbuchungen» ist das Ziel, FA-06 ist die Anforderung dazu. Damit kommen wir zu den Anforderungen – das übernimmt Ardian.
[Nach PVA 5: Zielwerte eintragen.]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 Ardian Ibrahimaj
Bevor wir zu den einzelnen Anforderungen kommen, ein Blick auf die Use Cases. Links das Diagramm: Kundinnen und Kunden, Vereins- und Firmenkontakte, Trainer, Empfang und Geschäftsleitung als Akteure, neun Use Cases im System. Wer reserviert, sieht zuerst die Verfügbarkeit – das ist das «include». Ist ein Zeitfenster belegt, kann man sich auf die Warteliste setzen – das «extend». Sechs Use Cases haben wir ausführlich beschrieben, mit Vorbedingung, Hauptablauf und Alternativen. Rechts der schwierigste: die Serie. Der Verein beantragt, das System prüft jeden einzelnen Termin, der Empfang bestätigt, und später kann man einzelne Termine absagen. Genau dieses Absagen einzelner Termine ist eine typische versteckte Anforderung (Folie 47) – Gruppe 2 hat Serien erwähnt, aber nicht, was bei einer Ausnahme passiert.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 Ardian Ibrahimaj
Insgesamt haben wir 35 funktionale Anforderungen, gegliedert in zehn Bereiche. Die Bereiche folgen den Herausforderungen und offenen Fragen von Gruppe 2: Übersicht, Reservieren, Ändern und Stornieren, Warteliste, Serien, Benachrichtigungen, Regeln, Sperrzeiten, Auswertungen und Stammdaten. Der kleine Balken zeigt die Priorität jeder Anforderung: Petrol ist Must, grau Should, hellgrau Could. Man sieht: Übersicht, Serien und Sperrzeiten sind fast ganz Must, Warteliste und Auswertungen Should. Formuliert ist jede Anforderung nach der Satzschablone von Rupp. Das Modalverb trägt die Verbindlichkeit: «muss» heisst Must, «soll» Should, «wird» Could. Zwei Beispiele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 Ardian Ibrahimaj
Zwei Beispiele, beide Must. Links FA-06: Doppelbuchungen verhindern – das ist Herausforderung 3 von Gruppe 2. Der Satz folgt der Schablone, darunter das Akzeptanzkriterium: Zwei Personen buchen gleichzeitig denselben Platz, genau eine bekommt ihn, die andere sieht Alternativen. Daraus kann man direkt einen Abnahmetest machen. Dann die Quelle – Folie 3 von Gruppe 2, unsere Hypothese H-04 und der Probelauf –, das Ziel PZ-3 und die Use Cases. Und was noch offen ist: ob eine Mehrzweckhalle in Teilen reserviert wird, denn das bestimmt, was überhaupt eine Doppelbuchung ist. Rechts FA-19, die Serienausnahme: Ein Verein sagt Weihnachten ab, nur dieser eine Termin wird frei. Offen ist hier, wer genau berechtigt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 Ardian Ibrahimaj
Hier sieht man, wo die eigentliche Arbeit steckt. Erstens: «Die Erfassung muss schnell gehen» ist nicht prüfbar – Folie 47 nennt das unmessbare Qualitätsanforderung. Daraus wird QA-02 mit Messgrösse, Zielwert und Messmethode. Zweitens hat Gruppe 2 nur gefragt, ob Wartelisten sinnvoll sind. Wir haben daraus drei Anforderungen gemacht, aber die Vergaberegel ist als Annahme markiert und kommt als offene Frage ins Interview. Drittens: Konkrete Werte wie die 24 Stunden aus dem Probelauf schreiben wir nicht in den Satz, sondern in eine Parametertabelle. Ändert die Geschäftsleitung die Frist, bleibt die Anforderung gleich.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2:00 · Ardian Ibrahimaj
Neben den funktionalen haben wir 16 Qualitätsanforderungen, in vier Gruppen. Jede hat eine Messgrösse, einen Zielwert, eine Bedingung und eine Messmethode – Folie 41: quantitativ statt qualitativ. Beispiele: 60 Sekunden für eine telefonische Reservation am Empfang, 99,5 Prozent Verfügbarkeit in der Betriebszeit, Verfügbarkeit in höchstens zwei Sekunden angezeigt. Beim Datenschutz haben wir die Grenze zum ausgeschlossenen CRM genutzt: Das System speichert nur Name, Kundengruppe, E-Mail, Telefon und bei Organisationen deren Namen. Rechts die Randbedingungen nach der Facette Rolle von Folie 42. Das DSG ist eine Vorschrift, nicht verhandelbar. Dass die Lösung offen ist, ist eine Tatsache – darum ist die Spezifikation lösungsneutral. Und dass ein Teil der Kundschaft nicht online reservieren wird, ist eine Annahme. Ist sie falsch, ändert sich die Priorität des Empfangs-Kanals – genau deshalb markieren wir sie und prüfen sie in PVA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 Ardian Ibrahimaj
Priorisiert haben wir nach MoSCoW, das entspricht Muss, Soll und Wunsch von Folie 43. 33 Must, 16 Should, 2 Could, dazu fünf bewusste Won't für das erste Release, etwa Online-Bezahlung oder eine eigene App. Die spannendste Entscheidung steht rechts: Online selbst reservieren ist bei uns nur Should. Das überrascht vielleicht. Aber Gruppe 2 hat es nicht verlangt, und das Kernproblem – eine zentrale Belegung – lösen auch der Empfang mit dem gemeinsamen System und die Doppelbuchungsprüfung. Wird Self-Service Must, steigen Verschieben, Warteliste und Bedienbarkeit mit. Wichtig: Das ist unser Vorschlag. Priorisieren muss laut Folie 43 der Auftraggeber, also die Geschäftsleitung von ArenaOne.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 Ardian Ibrahimaj
Zur Validierung. Links: Von 51 Anforderungen gehen 39 auf eine Folie oder Notiz von Gruppe 2 zurück. Bei diesen ist der Bedarf belegt, die konkreten Werte oft noch nicht. 12 stützen sich nur auf Gesetz, Benchmark, Simulation oder unsere Annahme – die prüfen wir in PVA 5 zuerst. In der Mitte drei von 16 Befunden aus unserer Prüfung gegen Folie 45 und 47 – sieben davon hat erst der KI-Versuch gezeigt, dazu gleich mehr. Ein Beispiel: Nach dem Einfügen einer Anforderung stimmten Verweise nicht mehr. Seitdem prüft ein kleines Skript Verweise, Satzschablone und Modalverb gegen die Priorität. Rechts das Verwalten: Version 0.6 ist vollständig, intern und im KI-Versuch geprüft, aber von Gruppe 2 nicht bestätigt. Nach dem Interview kommt 0.7, nach der Freigabe 1.0. Ab dann laufen Änderungen über Änderungsanträge mit Entscheid der Geschäftsleitung. Für die Validierung im engeren Sinn – hält die Spezifikation? – brauchen wir Gruppe 2. Dafür haben wir 22 offene Punkte vorbereitet. Zurück an Görkem.
[Nach PVA 5: Zahlen und Versionen aktualisieren; echte Befunde aus dem Review ergänzen.]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 Görkem Taspinar
Als optionale Aufgabe aus dem Merkblatt haben wir getestet, ob unsere Spezifikation reicht, damit ein KI-Agent daraus eine App baut. Der Agent bekam nur die Spezifikation, keine Rückfragen. Ergebnis: Die App erfüllt bei 30 von 51 Anforderungen das Akzeptanzkriterium und bildet alle neun Use Cases ab; die meisten übrigen scheitern an der Form – kein Server, kein E-Mail-Versand. Spannender ist, wo der Agent raten musste: an 25 Stellen, zum Beispiel ob der Empfang am Telefon die Buchungsregeln übersteuern darf. Und er ist über sechs Widersprüche gestolpert, die unser Prüfskript nicht findet – etwa unser eigenes Kontingent-Beispiel in FA-26, das 60 % der Abendstunden belegt, obwohl PA-10 höchstens 50 % erlaubt. Daraus ist Version 0.6 entstanden, und fünf neue Fragen gehen ins Interview. Wichtig: Die App ist kein Lösungsvorschlag – sie zeigt uns nur, wo die Spezifikation Lücken hat. Bezug: Block 8, Quality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 Görkem Taspinar
Was haben wir gelernt? Erstens: Bei diesem Auftrag waren die offenen Fragen von Gruppe 2 der eigentliche Auftrag. Wir haben deshalb nicht mit Anforderungen begonnen, sondern mit einer Analyse und einer Fragenliste. Zweitens: Die Quellenkennzeichnung hat sich gelohnt. Wir sehen sofort, was belegt ist und was nicht – und haben so nichts als Kundenaussage ausgegeben, was keine ist. Drittens: Werte gehören in Parameter. Nach dem Interview werden sich Fristen und Mengen ändern, die Anforderungen aber kaum. Viertens: Der Probelauf hat uns keine Antworten geliefert, aber gezeigt, wo Konflikte liegen – genau dort müssen wir im Interview nachfragen. Und was wir anders machen würden: den Kontakt zum Auftraggeber viel früher klären.
[Nach PVA 5: um eine Erkenntnis aus dem echten Interview ergänzen, z. B. was die Simulation richtig oder falsch eingeschätzt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 Görkem Taspinar
Zum Schluss der Bezug zu den Kursinhalten, kurz im Überblick. Links Block 1: der Kreislauf, risikogerechtes Spezifizieren, das Lastenheft, die Zielhierarchie, die Klassifikation mit den Facetten. Rechts Priorisierung, Qualitätsmerkmale, die Problemliste von Folie 47 und die Inhalte der späteren Blöcke: Volere, Satzschablone, Use Cases und Nachverfolgbarkeit. Zu jedem dieser Punkte können wir in der Spezifikation die Stelle zeigen – fragt gern nach.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(dann 15 min Diskussion) · Görkem Taspinar
Damit sind wir am Ende des Vortrags und gehen in die Diskussion. Wir starten mit einer Blitzumfrage zu genau der Entscheidung, die uns am meisten beschäftigt hat: Soll man bei ArenaOne selbst online reservieren können – Muss, Soll oder Wunsch? Bitte Handzeichen. [Moderation: Hände zählen, Ardian notiert. Dann nachhaken: Warum Muss? Und wer sollte das entscheiden – wir als RE-Team oder der Auftraggeber? Gruppe 2 kann hier aus Sicht von ArenaOne einsteigen.] Ablauf und weitere Fragen: diskussion-moderation.md.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 5 min (Vertiefung 1) · Görkem Taspinar
Murmelrunde, eine Minute mit der Sitznachbarin oder dem Sitznachbarn: Wer soll den Dienstagabend bekommen? Danach drei bis vier Wortmeldungen. Nachhaken: Ist eine Quote eine Anforderung oder eine Geschäftsregel? Wer trägt das Risiko, wenn wir als RE-Team die Zahl festlegen? Bezug: Zielkonflikte, Priorisierung durch den Auftraggeber (Folie 43), Annahme vs. Vorschrift (Folie 42). [Ardian Ibrahimaj: Stichworte sichtbar notieren, Zeitzeichen bei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 4 min (Vertiefung 2) · Görkem Taspinar
Offene Runde. Gezielt auch Stille ansprechen, Gruppe 2 fragen, ob die simulierten Werte sie beeinflusst hätten. Nachhaken: Annahmen sind laut Folie 42 riskant, weil die Spezifikation falsch ist, wenn sie nicht stimmen – reicht die Markierung? Bezug: Folie 47 (Lösungs- statt Anforderungsdenken), Folie 21 (kundenorientiert: was der Kunde braucht, nicht was wir vermuten). Danach Zusammenfassung: drei Kernaussagen aus den Notizen vorlesen, Dank, Übergabe an den Dozenten.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für Rückfragen. Vollständige Formulierung, Akzeptanzkriterium und Quelle: Spezifikation Kapitel 6; Matrix: Kapitel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für Rückfragen. Vollständige Formulierung, Akzeptanzkriterium und Quelle: Spezifikation Kapitel 6; Matrix: Kapitel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Messgrösse, Zielwert und Methode je Qualitätsanforderung: Spezifikation Kapitel 7.1; Parameter PA-01 bis PA-11: Kapitel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für Fragen zu Rollen und Rechten (Konflikt K-04: Trainer wollen selbst verschieben, der Empfang will Kontrolle).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Vollständige Fragen mit «Simulation sagte» und Fragen-ID der Fragenliste: Spezifikation Kapitel 13.
[Nach PVA 5: Spalte Antwort ergänzen oder Folie durch «Was PVA 5 geändert hat» ersetzen.]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für Fragen zur Systemgrenze. Schnittstellen IF-01 bis IF-12: Spezifikation Kapitel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für Rückfragen zum KI-Experiment. Ablauf, Bewertung je Anforderung und Lessons Learned: re-gruppe2/ki-app/analyse.md.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5" name="Text 0"/>
          <p:cNvSpPr/>
          <p:nvPr/>
        </p:nvSpPr>
        <p:spPr>
          <a:xfrm>
            <a:off x="548640" y="6382512"/>
            <a:ext cx="9601200" cy="274320"/>
          </a:xfrm>
          <a:prstGeom prst="rect">
            <a:avLst/>
          </a:prstGeom>
          <a:noFill/>
          <a:ln/>
        </p:spPr>
        <p:txBody>
          <a:bodyPr wrap="square" lIns="0" tIns="0" rIns="0" bIns="0" rtlCol="0" anchor="t"/>
          <a:lstStyle/>
          <a:p>
            <a:pPr indent="0" marL="0">
              <a:buNone/>
            </a:pPr>
            <a:r>
              <a:rPr lang="en-US" sz="1000" dirty="0">
                <a:solidFill>
                  <a:schemeClr val="tx2"/>
                </a:solidFill>
              </a:rPr>
              <a:t>ArenaOne Sportzentrum AG (fiktiv) · RE Gruppe 9 · Spezifikation v0.6 – Annahmen in PVA 5 zu validieren</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05840"/>
            <a:ext cx="6858000" cy="320040"/>
          </a:xfrm>
          <a:prstGeom prst="rect">
            <a:avLst/>
          </a:prstGeom>
          <a:noFill/>
          <a:ln/>
        </p:spPr>
        <p:txBody>
          <a:bodyPr wrap="square" lIns="0" tIns="0" rIns="0" bIns="0" rtlCol="0" anchor="t"/>
          <a:lstStyle/>
          <a:p>
            <a:pPr indent="0" marL="0">
              <a:buNone/>
            </a:pPr>
            <a:r>
              <a:rPr lang="en-US" sz="1300" b="1" spc="300" kern="0" dirty="0">
                <a:solidFill>
                  <a:schemeClr val="accent3"/>
                </a:solidFill>
              </a:rPr>
              <a:t>REQUIREMENTS ENGINEERING · LÖSUNG PVA 9/10</a:t>
            </a:r>
            <a:endParaRPr lang="en-US" sz="1300" dirty="0"/>
          </a:p>
        </p:txBody>
      </p:sp>
      <p:sp>
        <p:nvSpPr>
          <p:cNvPr id="3" name="Text 1"/>
          <p:cNvSpPr txBox="1"/>
          <p:nvPr/>
        </p:nvSpPr>
        <p:spPr>
          <a:xfrm>
            <a:off x="640080" y="1508760"/>
            <a:ext cx="6766560" cy="1920240"/>
          </a:xfrm>
          <a:prstGeom prst="rect">
            <a:avLst/>
          </a:prstGeom>
          <a:noFill/>
          <a:ln/>
        </p:spPr>
        <p:txBody>
          <a:bodyPr wrap="square" lIns="0" tIns="0" rIns="0" bIns="0" rtlCol="0" anchor="t"/>
          <a:lstStyle/>
          <a:p>
            <a:pPr indent="0" marL="0">
              <a:lnSpc>
                <a:spcPct val="95000"/>
              </a:lnSpc>
              <a:buNone/>
            </a:pPr>
            <a:r>
              <a:rPr lang="en-US" sz="5400" b="1" dirty="0">
                <a:solidFill>
                  <a:schemeClr val="bg1"/>
                </a:solidFill>
              </a:rPr>
              <a:t>Vier Kanäle.</a:t>
            </a:r>
            <a:endParaRPr lang="en-US" sz="5400" dirty="0"/>
          </a:p>
          <a:p>
            <a:pPr indent="0" marL="0">
              <a:lnSpc>
                <a:spcPct val="95000"/>
              </a:lnSpc>
              <a:buNone/>
            </a:pPr>
            <a:r>
              <a:rPr lang="en-US" sz="5400" b="1" dirty="0">
                <a:solidFill>
                  <a:schemeClr val="bg1"/>
                </a:solidFill>
              </a:rPr>
              <a:t>Eine Belegung.</a:t>
            </a:r>
            <a:endParaRPr lang="en-US" sz="5400" dirty="0"/>
          </a:p>
        </p:txBody>
      </p:sp>
      <p:sp>
        <p:nvSpPr>
          <p:cNvPr id="4" name="Text 2"/>
          <p:cNvSpPr txBox="1"/>
          <p:nvPr/>
        </p:nvSpPr>
        <p:spPr>
          <a:xfrm>
            <a:off x="640080" y="3520440"/>
            <a:ext cx="5760720" cy="777240"/>
          </a:xfrm>
          <a:prstGeom prst="rect">
            <a:avLst/>
          </a:prstGeom>
          <a:noFill/>
          <a:ln/>
        </p:spPr>
        <p:txBody>
          <a:bodyPr wrap="square" lIns="0" tIns="0" rIns="0" bIns="0" rtlCol="0" anchor="t"/>
          <a:lstStyle/>
          <a:p>
            <a:pPr indent="0" marL="0">
              <a:buNone/>
            </a:pPr>
            <a:r>
              <a:rPr lang="en-US" sz="2100" dirty="0">
                <a:solidFill>
                  <a:schemeClr val="bg1"/>
                </a:solidFill>
              </a:rPr>
              <a:t>Anforderungsspezifikation</a:t>
            </a:r>
            <a:endParaRPr lang="en-US" sz="2100" dirty="0"/>
          </a:p>
          <a:p>
            <a:pPr indent="0" marL="0">
              <a:buNone/>
            </a:pPr>
            <a:r>
              <a:rPr lang="en-US" sz="2100" dirty="0">
                <a:solidFill>
                  <a:schemeClr val="bg1"/>
                </a:solidFill>
              </a:rPr>
              <a:t>Buchungs- und Belegungssystem</a:t>
            </a:r>
            <a:endParaRPr lang="en-US" sz="2100" dirty="0"/>
          </a:p>
        </p:txBody>
      </p:sp>
      <p:sp>
        <p:nvSpPr>
          <p:cNvPr id="5" name="Text 3"/>
          <p:cNvSpPr txBox="1"/>
          <p:nvPr/>
        </p:nvSpPr>
        <p:spPr>
          <a:xfrm>
            <a:off x="640080" y="4343400"/>
            <a:ext cx="5760720" cy="365760"/>
          </a:xfrm>
          <a:prstGeom prst="rect">
            <a:avLst/>
          </a:prstGeom>
          <a:noFill/>
          <a:ln/>
        </p:spPr>
        <p:txBody>
          <a:bodyPr wrap="square" lIns="0" tIns="0" rIns="0" bIns="0" rtlCol="0" anchor="t"/>
          <a:lstStyle/>
          <a:p>
            <a:pPr indent="0" marL="0">
              <a:buNone/>
            </a:pPr>
            <a:r>
              <a:rPr lang="en-US" sz="1600" dirty="0">
                <a:solidFill>
                  <a:schemeClr val="accent3"/>
                </a:solidFill>
              </a:rPr>
              <a:t>ArenaOne Sportzentrum AG · Auftraggeber: Gruppe 2 (fiktiv)</a:t>
            </a:r>
            <a:endParaRPr lang="en-US" sz="1600" dirty="0"/>
          </a:p>
        </p:txBody>
      </p:sp>
      <p:sp>
        <p:nvSpPr>
          <p:cNvPr id="6" name="Stand"/>
          <p:cNvSpPr/>
          <p:nvPr/>
        </p:nvSpPr>
        <p:spPr>
          <a:xfrm>
            <a:off x="640080" y="4937760"/>
            <a:ext cx="5120640" cy="384048"/>
          </a:xfrm>
          <a:prstGeom prst="roundRect">
            <a:avLst>
              <a:gd name="adj" fmla="val 50000"/>
            </a:avLst>
          </a:prstGeom>
          <a:solidFill>
            <a:schemeClr val="tx1"/>
          </a:solidFill>
          <a:ln w="15875">
            <a:solidFill>
              <a:schemeClr val="accent3"/>
            </a:solidFill>
            <a:prstDash val="solid"/>
          </a:ln>
        </p:spPr>
      </p:sp>
      <p:sp>
        <p:nvSpPr>
          <p:cNvPr id="7" name="Text 5"/>
          <p:cNvSpPr txBox="1"/>
          <p:nvPr/>
        </p:nvSpPr>
        <p:spPr>
          <a:xfrm>
            <a:off x="640080" y="4937760"/>
            <a:ext cx="5120640" cy="384048"/>
          </a:xfrm>
          <a:prstGeom prst="rect">
            <a:avLst/>
          </a:prstGeom>
          <a:noFill/>
          <a:ln/>
        </p:spPr>
        <p:txBody>
          <a:bodyPr wrap="square" lIns="0" tIns="0" rIns="0" bIns="0" rtlCol="0" anchor="ctr"/>
          <a:lstStyle/>
          <a:p>
            <a:pPr algn="ctr" indent="0" marL="0">
              <a:buNone/>
            </a:pPr>
            <a:r>
              <a:rPr lang="en-US" sz="1300" dirty="0">
                <a:solidFill>
                  <a:schemeClr val="accent3"/>
                </a:solidFill>
              </a:rPr>
              <a:t>Stand v0.6 · Annahmen in PVA 5 zu validieren</a:t>
            </a:r>
            <a:endParaRPr lang="en-US" sz="1300" dirty="0"/>
          </a:p>
        </p:txBody>
      </p:sp>
      <p:sp>
        <p:nvSpPr>
          <p:cNvPr id="8" name="Text 6"/>
          <p:cNvSpPr txBox="1"/>
          <p:nvPr/>
        </p:nvSpPr>
        <p:spPr>
          <a:xfrm>
            <a:off x="640080" y="5989320"/>
            <a:ext cx="8229600" cy="320040"/>
          </a:xfrm>
          <a:prstGeom prst="rect">
            <a:avLst/>
          </a:prstGeom>
          <a:noFill/>
          <a:ln/>
        </p:spPr>
        <p:txBody>
          <a:bodyPr wrap="square" lIns="0" tIns="0" rIns="0" bIns="0" rtlCol="0" anchor="t"/>
          <a:lstStyle/>
          <a:p>
            <a:pPr indent="0" marL="0">
              <a:buNone/>
            </a:pPr>
            <a:r>
              <a:rPr lang="en-US" sz="1200" dirty="0">
                <a:solidFill>
                  <a:schemeClr val="accent6"/>
                </a:solidFill>
              </a:rPr>
              <a:t>Requirements Engineering HS26 · Gruppe 9 · Görkem Taspinar, Ardian Ibrahimaj</a:t>
            </a:r>
            <a:endParaRPr lang="en-US" sz="1200" dirty="0"/>
          </a:p>
        </p:txBody>
      </p:sp>
      <p:sp>
        <p:nvSpPr>
          <p:cNvPr id="9" name="Motiv Linie Telefon"/>
          <p:cNvSpPr/>
          <p:nvPr/>
        </p:nvSpPr>
        <p:spPr>
          <a:xfrm>
            <a:off x="8778240" y="1348740"/>
            <a:ext cx="1554480" cy="1783080"/>
          </a:xfrm>
          <a:prstGeom prst="line">
            <a:avLst/>
          </a:prstGeom>
          <a:noFill/>
          <a:ln w="15875">
            <a:solidFill>
              <a:schemeClr val="accent3"/>
            </a:solidFill>
            <a:prstDash val="dash"/>
          </a:ln>
        </p:spPr>
      </p:sp>
      <p:sp>
        <p:nvSpPr>
          <p:cNvPr id="10" name="Motiv Telefon"/>
          <p:cNvSpPr/>
          <p:nvPr/>
        </p:nvSpPr>
        <p:spPr>
          <a:xfrm>
            <a:off x="8001000" y="960120"/>
            <a:ext cx="777240" cy="777240"/>
          </a:xfrm>
          <a:prstGeom prst="ellipse">
            <a:avLst/>
          </a:prstGeom>
          <a:solidFill>
            <a:schemeClr val="tx1"/>
          </a:solidFill>
          <a:ln w="25400">
            <a:solidFill>
              <a:schemeClr val="accent3"/>
            </a:solidFill>
            <a:prstDash val="solid"/>
          </a:ln>
        </p:spPr>
      </p:sp>
      <p:pic>
        <p:nvPicPr>
          <p:cNvPr id="11" name="Image 0" descr="Telefon">    </p:cNvPr>
          <p:cNvPicPr>
            <a:picLocks noChangeAspect="1"/>
          </p:cNvPicPr>
          <p:nvPr/>
        </p:nvPicPr>
        <p:blipFill>
          <a:blip r:embed="rId1"/>
          <a:stretch>
            <a:fillRect/>
          </a:stretch>
        </p:blipFill>
        <p:spPr>
          <a:xfrm>
            <a:off x="8202168" y="1161288"/>
            <a:ext cx="374904" cy="374904"/>
          </a:xfrm>
          <a:prstGeom prst="rect">
            <a:avLst/>
          </a:prstGeom>
        </p:spPr>
      </p:pic>
      <p:sp>
        <p:nvSpPr>
          <p:cNvPr id="12" name="Text 9"/>
          <p:cNvSpPr txBox="1"/>
          <p:nvPr/>
        </p:nvSpPr>
        <p:spPr>
          <a:xfrm>
            <a:off x="6400800" y="1161288"/>
            <a:ext cx="1463040" cy="384048"/>
          </a:xfrm>
          <a:prstGeom prst="rect">
            <a:avLst/>
          </a:prstGeom>
          <a:noFill/>
          <a:ln/>
        </p:spPr>
        <p:txBody>
          <a:bodyPr wrap="square" lIns="0" tIns="0" rIns="0" bIns="0" rtlCol="0" anchor="ctr"/>
          <a:lstStyle/>
          <a:p>
            <a:pPr algn="r" indent="0" marL="0">
              <a:buNone/>
            </a:pPr>
            <a:r>
              <a:rPr lang="en-US" sz="1300" dirty="0">
                <a:solidFill>
                  <a:schemeClr val="accent6"/>
                </a:solidFill>
              </a:rPr>
              <a:t>Telefon</a:t>
            </a:r>
            <a:endParaRPr lang="en-US" sz="1300" dirty="0"/>
          </a:p>
        </p:txBody>
      </p:sp>
      <p:sp>
        <p:nvSpPr>
          <p:cNvPr id="13" name="Motiv Linie E-Mail"/>
          <p:cNvSpPr/>
          <p:nvPr/>
        </p:nvSpPr>
        <p:spPr>
          <a:xfrm>
            <a:off x="8778240" y="2537460"/>
            <a:ext cx="1554480" cy="594360"/>
          </a:xfrm>
          <a:prstGeom prst="line">
            <a:avLst/>
          </a:prstGeom>
          <a:noFill/>
          <a:ln w="15875">
            <a:solidFill>
              <a:schemeClr val="accent3"/>
            </a:solidFill>
            <a:prstDash val="dash"/>
          </a:ln>
        </p:spPr>
      </p:sp>
      <p:sp>
        <p:nvSpPr>
          <p:cNvPr id="14" name="Motiv E-Mail"/>
          <p:cNvSpPr/>
          <p:nvPr/>
        </p:nvSpPr>
        <p:spPr>
          <a:xfrm>
            <a:off x="8001000" y="2148840"/>
            <a:ext cx="777240" cy="777240"/>
          </a:xfrm>
          <a:prstGeom prst="ellipse">
            <a:avLst/>
          </a:prstGeom>
          <a:solidFill>
            <a:schemeClr val="tx1"/>
          </a:solidFill>
          <a:ln w="25400">
            <a:solidFill>
              <a:schemeClr val="accent3"/>
            </a:solidFill>
            <a:prstDash val="solid"/>
          </a:ln>
        </p:spPr>
      </p:sp>
      <p:pic>
        <p:nvPicPr>
          <p:cNvPr id="15" name="Image 1" descr="E-Mail">    </p:cNvPr>
          <p:cNvPicPr>
            <a:picLocks noChangeAspect="1"/>
          </p:cNvPicPr>
          <p:nvPr/>
        </p:nvPicPr>
        <p:blipFill>
          <a:blip r:embed="rId2"/>
          <a:stretch>
            <a:fillRect/>
          </a:stretch>
        </p:blipFill>
        <p:spPr>
          <a:xfrm>
            <a:off x="8202168" y="2350008"/>
            <a:ext cx="374904" cy="374904"/>
          </a:xfrm>
          <a:prstGeom prst="rect">
            <a:avLst/>
          </a:prstGeom>
        </p:spPr>
      </p:pic>
      <p:sp>
        <p:nvSpPr>
          <p:cNvPr id="16" name="Text 12"/>
          <p:cNvSpPr txBox="1"/>
          <p:nvPr/>
        </p:nvSpPr>
        <p:spPr>
          <a:xfrm>
            <a:off x="6400800" y="2350008"/>
            <a:ext cx="1463040" cy="384048"/>
          </a:xfrm>
          <a:prstGeom prst="rect">
            <a:avLst/>
          </a:prstGeom>
          <a:noFill/>
          <a:ln/>
        </p:spPr>
        <p:txBody>
          <a:bodyPr wrap="square" lIns="0" tIns="0" rIns="0" bIns="0" rtlCol="0" anchor="ctr"/>
          <a:lstStyle/>
          <a:p>
            <a:pPr algn="r" indent="0" marL="0">
              <a:buNone/>
            </a:pPr>
            <a:r>
              <a:rPr lang="en-US" sz="1300" dirty="0">
                <a:solidFill>
                  <a:schemeClr val="accent6"/>
                </a:solidFill>
              </a:rPr>
              <a:t>E-Mail</a:t>
            </a:r>
            <a:endParaRPr lang="en-US" sz="1300" dirty="0"/>
          </a:p>
        </p:txBody>
      </p:sp>
      <p:sp>
        <p:nvSpPr>
          <p:cNvPr id="17" name="Motiv Linie Empfang"/>
          <p:cNvSpPr/>
          <p:nvPr/>
        </p:nvSpPr>
        <p:spPr>
          <a:xfrm flipV="1">
            <a:off x="8778240" y="3131820"/>
            <a:ext cx="1554480" cy="594360"/>
          </a:xfrm>
          <a:prstGeom prst="line">
            <a:avLst/>
          </a:prstGeom>
          <a:noFill/>
          <a:ln w="15875">
            <a:solidFill>
              <a:schemeClr val="accent3"/>
            </a:solidFill>
            <a:prstDash val="dash"/>
          </a:ln>
        </p:spPr>
      </p:sp>
      <p:sp>
        <p:nvSpPr>
          <p:cNvPr id="18" name="Motiv Empfang"/>
          <p:cNvSpPr/>
          <p:nvPr/>
        </p:nvSpPr>
        <p:spPr>
          <a:xfrm>
            <a:off x="8001000" y="3337560"/>
            <a:ext cx="777240" cy="777240"/>
          </a:xfrm>
          <a:prstGeom prst="ellipse">
            <a:avLst/>
          </a:prstGeom>
          <a:solidFill>
            <a:schemeClr val="tx1"/>
          </a:solidFill>
          <a:ln w="25400">
            <a:solidFill>
              <a:schemeClr val="accent3"/>
            </a:solidFill>
            <a:prstDash val="solid"/>
          </a:ln>
        </p:spPr>
      </p:sp>
      <p:pic>
        <p:nvPicPr>
          <p:cNvPr id="19" name="Image 2" descr="Empfang">    </p:cNvPr>
          <p:cNvPicPr>
            <a:picLocks noChangeAspect="1"/>
          </p:cNvPicPr>
          <p:nvPr/>
        </p:nvPicPr>
        <p:blipFill>
          <a:blip r:embed="rId3"/>
          <a:stretch>
            <a:fillRect/>
          </a:stretch>
        </p:blipFill>
        <p:spPr>
          <a:xfrm>
            <a:off x="8202168" y="3538728"/>
            <a:ext cx="374904" cy="374904"/>
          </a:xfrm>
          <a:prstGeom prst="rect">
            <a:avLst/>
          </a:prstGeom>
        </p:spPr>
      </p:pic>
      <p:sp>
        <p:nvSpPr>
          <p:cNvPr id="20" name="Text 15"/>
          <p:cNvSpPr txBox="1"/>
          <p:nvPr/>
        </p:nvSpPr>
        <p:spPr>
          <a:xfrm>
            <a:off x="6400800" y="3538728"/>
            <a:ext cx="1463040" cy="384048"/>
          </a:xfrm>
          <a:prstGeom prst="rect">
            <a:avLst/>
          </a:prstGeom>
          <a:noFill/>
          <a:ln/>
        </p:spPr>
        <p:txBody>
          <a:bodyPr wrap="square" lIns="0" tIns="0" rIns="0" bIns="0" rtlCol="0" anchor="ctr"/>
          <a:lstStyle/>
          <a:p>
            <a:pPr algn="r" indent="0" marL="0">
              <a:buNone/>
            </a:pPr>
            <a:r>
              <a:rPr lang="en-US" sz="1300" dirty="0">
                <a:solidFill>
                  <a:schemeClr val="accent6"/>
                </a:solidFill>
              </a:rPr>
              <a:t>Empfang</a:t>
            </a:r>
            <a:endParaRPr lang="en-US" sz="1300" dirty="0"/>
          </a:p>
        </p:txBody>
      </p:sp>
      <p:sp>
        <p:nvSpPr>
          <p:cNvPr id="21" name="Motiv Linie interne Listen"/>
          <p:cNvSpPr/>
          <p:nvPr/>
        </p:nvSpPr>
        <p:spPr>
          <a:xfrm flipV="1">
            <a:off x="8778240" y="3131820"/>
            <a:ext cx="1554480" cy="1783080"/>
          </a:xfrm>
          <a:prstGeom prst="line">
            <a:avLst/>
          </a:prstGeom>
          <a:noFill/>
          <a:ln w="15875">
            <a:solidFill>
              <a:schemeClr val="accent3"/>
            </a:solidFill>
            <a:prstDash val="dash"/>
          </a:ln>
        </p:spPr>
      </p:sp>
      <p:sp>
        <p:nvSpPr>
          <p:cNvPr id="22" name="Motiv interne Listen"/>
          <p:cNvSpPr/>
          <p:nvPr/>
        </p:nvSpPr>
        <p:spPr>
          <a:xfrm>
            <a:off x="8001000" y="4526280"/>
            <a:ext cx="777240" cy="777240"/>
          </a:xfrm>
          <a:prstGeom prst="ellipse">
            <a:avLst/>
          </a:prstGeom>
          <a:solidFill>
            <a:schemeClr val="tx1"/>
          </a:solidFill>
          <a:ln w="25400">
            <a:solidFill>
              <a:schemeClr val="accent3"/>
            </a:solidFill>
            <a:prstDash val="solid"/>
          </a:ln>
        </p:spPr>
      </p:sp>
      <p:pic>
        <p:nvPicPr>
          <p:cNvPr id="23" name="Image 3" descr="interne Listen">    </p:cNvPr>
          <p:cNvPicPr>
            <a:picLocks noChangeAspect="1"/>
          </p:cNvPicPr>
          <p:nvPr/>
        </p:nvPicPr>
        <p:blipFill>
          <a:blip r:embed="rId4"/>
          <a:stretch>
            <a:fillRect/>
          </a:stretch>
        </p:blipFill>
        <p:spPr>
          <a:xfrm>
            <a:off x="8202168" y="4727448"/>
            <a:ext cx="374904" cy="374904"/>
          </a:xfrm>
          <a:prstGeom prst="rect">
            <a:avLst/>
          </a:prstGeom>
        </p:spPr>
      </p:pic>
      <p:sp>
        <p:nvSpPr>
          <p:cNvPr id="24" name="Text 18"/>
          <p:cNvSpPr txBox="1"/>
          <p:nvPr/>
        </p:nvSpPr>
        <p:spPr>
          <a:xfrm>
            <a:off x="6400800" y="4727448"/>
            <a:ext cx="1463040" cy="384048"/>
          </a:xfrm>
          <a:prstGeom prst="rect">
            <a:avLst/>
          </a:prstGeom>
          <a:noFill/>
          <a:ln/>
        </p:spPr>
        <p:txBody>
          <a:bodyPr wrap="square" lIns="0" tIns="0" rIns="0" bIns="0" rtlCol="0" anchor="ctr"/>
          <a:lstStyle/>
          <a:p>
            <a:pPr algn="r" indent="0" marL="0">
              <a:buNone/>
            </a:pPr>
            <a:r>
              <a:rPr lang="en-US" sz="1300" dirty="0">
                <a:solidFill>
                  <a:schemeClr val="accent6"/>
                </a:solidFill>
              </a:rPr>
              <a:t>interne Listen</a:t>
            </a:r>
            <a:endParaRPr lang="en-US" sz="1300" dirty="0"/>
          </a:p>
        </p:txBody>
      </p:sp>
      <p:sp>
        <p:nvSpPr>
          <p:cNvPr id="25" name="Motiv Belegung Kreis"/>
          <p:cNvSpPr/>
          <p:nvPr/>
        </p:nvSpPr>
        <p:spPr>
          <a:xfrm>
            <a:off x="10332720" y="2491740"/>
            <a:ext cx="1280160" cy="1280160"/>
          </a:xfrm>
          <a:prstGeom prst="ellipse">
            <a:avLst/>
          </a:prstGeom>
          <a:solidFill>
            <a:schemeClr val="accent1"/>
          </a:solidFill>
          <a:ln/>
        </p:spPr>
      </p:sp>
      <p:pic>
        <p:nvPicPr>
          <p:cNvPr id="26" name="Motiv Belegung" descr="CalendarCheck">    </p:cNvPr>
          <p:cNvPicPr>
            <a:picLocks noChangeAspect="1"/>
          </p:cNvPicPr>
          <p:nvPr/>
        </p:nvPicPr>
        <p:blipFill>
          <a:blip r:embed="rId5"/>
          <a:stretch>
            <a:fillRect/>
          </a:stretch>
        </p:blipFill>
        <p:spPr>
          <a:xfrm>
            <a:off x="10652760" y="2811780"/>
            <a:ext cx="640080" cy="640080"/>
          </a:xfrm>
          <a:prstGeom prst="rect">
            <a:avLst/>
          </a:prstGeom>
        </p:spPr>
      </p:pic>
      <p:sp>
        <p:nvSpPr>
          <p:cNvPr id="27" name="Text 20"/>
          <p:cNvSpPr txBox="1"/>
          <p:nvPr/>
        </p:nvSpPr>
        <p:spPr>
          <a:xfrm>
            <a:off x="10058400" y="3863340"/>
            <a:ext cx="1828800" cy="320040"/>
          </a:xfrm>
          <a:prstGeom prst="rect">
            <a:avLst/>
          </a:prstGeom>
          <a:noFill/>
          <a:ln/>
        </p:spPr>
        <p:txBody>
          <a:bodyPr wrap="square" lIns="0" tIns="0" rIns="0" bIns="0" rtlCol="0" anchor="t"/>
          <a:lstStyle/>
          <a:p>
            <a:pPr algn="ctr" indent="0" marL="0">
              <a:buNone/>
            </a:pPr>
            <a:r>
              <a:rPr lang="en-US" sz="1300" dirty="0">
                <a:solidFill>
                  <a:schemeClr val="bg1"/>
                </a:solidFill>
              </a:rPr>
              <a:t>eine Belegung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AUSGANGSLAGE UND AUFTRAG</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Vier Kanäle, aber keine gemeinsame Belegung</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Das Kernproblem laut Gruppe 2: kein zentraler, einheitlicher Prozess für Buchung und Belegung (Folie 3).</a:t>
            </a:r>
            <a:endParaRPr lang="en-US" sz="1600" dirty="0"/>
          </a:p>
        </p:txBody>
      </p:sp>
      <p:sp>
        <p:nvSpPr>
          <p:cNvPr id="5" name="Kanal Telefon"/>
          <p:cNvSpPr/>
          <p:nvPr/>
        </p:nvSpPr>
        <p:spPr>
          <a:xfrm>
            <a:off x="548640" y="2011680"/>
            <a:ext cx="1874520" cy="621792"/>
          </a:xfrm>
          <a:prstGeom prst="roundRect">
            <a:avLst>
              <a:gd name="adj" fmla="val 17647"/>
            </a:avLst>
          </a:prstGeom>
          <a:solidFill>
            <a:schemeClr val="bg2"/>
          </a:solidFill>
          <a:ln/>
        </p:spPr>
      </p:sp>
      <p:sp>
        <p:nvSpPr>
          <p:cNvPr id="6" name="Kanal Icon Telefon Kreis"/>
          <p:cNvSpPr/>
          <p:nvPr/>
        </p:nvSpPr>
        <p:spPr>
          <a:xfrm>
            <a:off x="658368" y="2121408"/>
            <a:ext cx="402336" cy="402336"/>
          </a:xfrm>
          <a:prstGeom prst="ellipse">
            <a:avLst/>
          </a:prstGeom>
          <a:solidFill>
            <a:schemeClr val="tx1"/>
          </a:solidFill>
          <a:ln/>
        </p:spPr>
      </p:sp>
      <p:pic>
        <p:nvPicPr>
          <p:cNvPr id="7" name="Kanal Icon Telefon" descr="Phone">    </p:cNvPr>
          <p:cNvPicPr>
            <a:picLocks noChangeAspect="1"/>
          </p:cNvPicPr>
          <p:nvPr/>
        </p:nvPicPr>
        <p:blipFill>
          <a:blip r:embed="rId1"/>
          <a:stretch>
            <a:fillRect/>
          </a:stretch>
        </p:blipFill>
        <p:spPr>
          <a:xfrm>
            <a:off x="758952" y="2221992"/>
            <a:ext cx="201168" cy="201168"/>
          </a:xfrm>
          <a:prstGeom prst="rect">
            <a:avLst/>
          </a:prstGeom>
        </p:spPr>
      </p:pic>
      <p:sp>
        <p:nvSpPr>
          <p:cNvPr id="8" name="Text 5"/>
          <p:cNvSpPr txBox="1"/>
          <p:nvPr/>
        </p:nvSpPr>
        <p:spPr>
          <a:xfrm>
            <a:off x="1170432" y="2011680"/>
            <a:ext cx="1234440" cy="621792"/>
          </a:xfrm>
          <a:prstGeom prst="rect">
            <a:avLst/>
          </a:prstGeom>
          <a:noFill/>
          <a:ln/>
        </p:spPr>
        <p:txBody>
          <a:bodyPr wrap="square" lIns="0" tIns="0" rIns="0" bIns="0" rtlCol="0" anchor="ctr"/>
          <a:lstStyle/>
          <a:p>
            <a:pPr indent="0" marL="0">
              <a:buNone/>
            </a:pPr>
            <a:r>
              <a:rPr lang="en-US" sz="1400" b="1" dirty="0">
                <a:solidFill>
                  <a:schemeClr val="tx1"/>
                </a:solidFill>
              </a:rPr>
              <a:t>Telefon</a:t>
            </a:r>
            <a:endParaRPr lang="en-US" sz="1400" dirty="0"/>
          </a:p>
        </p:txBody>
      </p:sp>
      <p:sp>
        <p:nvSpPr>
          <p:cNvPr id="9" name="Pfeil Telefon"/>
          <p:cNvSpPr/>
          <p:nvPr/>
        </p:nvSpPr>
        <p:spPr>
          <a:xfrm>
            <a:off x="2487168" y="2322576"/>
            <a:ext cx="457200" cy="0"/>
          </a:xfrm>
          <a:prstGeom prst="line">
            <a:avLst/>
          </a:prstGeom>
          <a:noFill/>
          <a:ln w="25400">
            <a:solidFill>
              <a:schemeClr val="tx2"/>
            </a:solidFill>
            <a:prstDash val="solid"/>
            <a:tailEnd type="triangle"/>
          </a:ln>
        </p:spPr>
      </p:sp>
      <p:sp>
        <p:nvSpPr>
          <p:cNvPr id="10" name="Kanal E-Mail"/>
          <p:cNvSpPr/>
          <p:nvPr/>
        </p:nvSpPr>
        <p:spPr>
          <a:xfrm>
            <a:off x="548640" y="2798064"/>
            <a:ext cx="1874520" cy="621792"/>
          </a:xfrm>
          <a:prstGeom prst="roundRect">
            <a:avLst>
              <a:gd name="adj" fmla="val 17647"/>
            </a:avLst>
          </a:prstGeom>
          <a:solidFill>
            <a:schemeClr val="bg2"/>
          </a:solidFill>
          <a:ln/>
        </p:spPr>
      </p:sp>
      <p:sp>
        <p:nvSpPr>
          <p:cNvPr id="11" name="Kanal Icon E-Mail Kreis"/>
          <p:cNvSpPr/>
          <p:nvPr/>
        </p:nvSpPr>
        <p:spPr>
          <a:xfrm>
            <a:off x="658368" y="2907792"/>
            <a:ext cx="402336" cy="402336"/>
          </a:xfrm>
          <a:prstGeom prst="ellipse">
            <a:avLst/>
          </a:prstGeom>
          <a:solidFill>
            <a:schemeClr val="tx1"/>
          </a:solidFill>
          <a:ln/>
        </p:spPr>
      </p:sp>
      <p:pic>
        <p:nvPicPr>
          <p:cNvPr id="12" name="Kanal Icon E-Mail" descr="Mail">    </p:cNvPr>
          <p:cNvPicPr>
            <a:picLocks noChangeAspect="1"/>
          </p:cNvPicPr>
          <p:nvPr/>
        </p:nvPicPr>
        <p:blipFill>
          <a:blip r:embed="rId2"/>
          <a:stretch>
            <a:fillRect/>
          </a:stretch>
        </p:blipFill>
        <p:spPr>
          <a:xfrm>
            <a:off x="758952" y="3008376"/>
            <a:ext cx="201168" cy="201168"/>
          </a:xfrm>
          <a:prstGeom prst="rect">
            <a:avLst/>
          </a:prstGeom>
        </p:spPr>
      </p:pic>
      <p:sp>
        <p:nvSpPr>
          <p:cNvPr id="13" name="Text 9"/>
          <p:cNvSpPr txBox="1"/>
          <p:nvPr/>
        </p:nvSpPr>
        <p:spPr>
          <a:xfrm>
            <a:off x="1170432" y="2798064"/>
            <a:ext cx="1234440" cy="621792"/>
          </a:xfrm>
          <a:prstGeom prst="rect">
            <a:avLst/>
          </a:prstGeom>
          <a:noFill/>
          <a:ln/>
        </p:spPr>
        <p:txBody>
          <a:bodyPr wrap="square" lIns="0" tIns="0" rIns="0" bIns="0" rtlCol="0" anchor="ctr"/>
          <a:lstStyle/>
          <a:p>
            <a:pPr indent="0" marL="0">
              <a:buNone/>
            </a:pPr>
            <a:r>
              <a:rPr lang="en-US" sz="1400" b="1" dirty="0">
                <a:solidFill>
                  <a:schemeClr val="tx1"/>
                </a:solidFill>
              </a:rPr>
              <a:t>E-Mail</a:t>
            </a:r>
            <a:endParaRPr lang="en-US" sz="1400" dirty="0"/>
          </a:p>
        </p:txBody>
      </p:sp>
      <p:sp>
        <p:nvSpPr>
          <p:cNvPr id="14" name="Pfeil E-Mail"/>
          <p:cNvSpPr/>
          <p:nvPr/>
        </p:nvSpPr>
        <p:spPr>
          <a:xfrm>
            <a:off x="2487168" y="3108960"/>
            <a:ext cx="457200" cy="0"/>
          </a:xfrm>
          <a:prstGeom prst="line">
            <a:avLst/>
          </a:prstGeom>
          <a:noFill/>
          <a:ln w="25400">
            <a:solidFill>
              <a:schemeClr val="tx2"/>
            </a:solidFill>
            <a:prstDash val="solid"/>
            <a:tailEnd type="triangle"/>
          </a:ln>
        </p:spPr>
      </p:sp>
      <p:sp>
        <p:nvSpPr>
          <p:cNvPr id="15" name="Kanal Empfang"/>
          <p:cNvSpPr/>
          <p:nvPr/>
        </p:nvSpPr>
        <p:spPr>
          <a:xfrm>
            <a:off x="548640" y="3584448"/>
            <a:ext cx="1874520" cy="621792"/>
          </a:xfrm>
          <a:prstGeom prst="roundRect">
            <a:avLst>
              <a:gd name="adj" fmla="val 17647"/>
            </a:avLst>
          </a:prstGeom>
          <a:solidFill>
            <a:schemeClr val="bg2"/>
          </a:solidFill>
          <a:ln/>
        </p:spPr>
      </p:sp>
      <p:sp>
        <p:nvSpPr>
          <p:cNvPr id="16" name="Kanal Icon Empfang Kreis"/>
          <p:cNvSpPr/>
          <p:nvPr/>
        </p:nvSpPr>
        <p:spPr>
          <a:xfrm>
            <a:off x="658368" y="3694176"/>
            <a:ext cx="402336" cy="402336"/>
          </a:xfrm>
          <a:prstGeom prst="ellipse">
            <a:avLst/>
          </a:prstGeom>
          <a:solidFill>
            <a:schemeClr val="tx1"/>
          </a:solidFill>
          <a:ln/>
        </p:spPr>
      </p:sp>
      <p:pic>
        <p:nvPicPr>
          <p:cNvPr id="17" name="Kanal Icon Empfang" descr="Store">    </p:cNvPr>
          <p:cNvPicPr>
            <a:picLocks noChangeAspect="1"/>
          </p:cNvPicPr>
          <p:nvPr/>
        </p:nvPicPr>
        <p:blipFill>
          <a:blip r:embed="rId3"/>
          <a:stretch>
            <a:fillRect/>
          </a:stretch>
        </p:blipFill>
        <p:spPr>
          <a:xfrm>
            <a:off x="758952" y="3794760"/>
            <a:ext cx="201168" cy="201168"/>
          </a:xfrm>
          <a:prstGeom prst="rect">
            <a:avLst/>
          </a:prstGeom>
        </p:spPr>
      </p:pic>
      <p:sp>
        <p:nvSpPr>
          <p:cNvPr id="18" name="Text 13"/>
          <p:cNvSpPr txBox="1"/>
          <p:nvPr/>
        </p:nvSpPr>
        <p:spPr>
          <a:xfrm>
            <a:off x="1170432" y="3584448"/>
            <a:ext cx="1234440" cy="621792"/>
          </a:xfrm>
          <a:prstGeom prst="rect">
            <a:avLst/>
          </a:prstGeom>
          <a:noFill/>
          <a:ln/>
        </p:spPr>
        <p:txBody>
          <a:bodyPr wrap="square" lIns="0" tIns="0" rIns="0" bIns="0" rtlCol="0" anchor="ctr"/>
          <a:lstStyle/>
          <a:p>
            <a:pPr indent="0" marL="0">
              <a:buNone/>
            </a:pPr>
            <a:r>
              <a:rPr lang="en-US" sz="1400" b="1" dirty="0">
                <a:solidFill>
                  <a:schemeClr val="tx1"/>
                </a:solidFill>
              </a:rPr>
              <a:t>Empfang</a:t>
            </a:r>
            <a:endParaRPr lang="en-US" sz="1400" dirty="0"/>
          </a:p>
        </p:txBody>
      </p:sp>
      <p:sp>
        <p:nvSpPr>
          <p:cNvPr id="19" name="Pfeil Empfang"/>
          <p:cNvSpPr/>
          <p:nvPr/>
        </p:nvSpPr>
        <p:spPr>
          <a:xfrm>
            <a:off x="2487168" y="3895344"/>
            <a:ext cx="457200" cy="0"/>
          </a:xfrm>
          <a:prstGeom prst="line">
            <a:avLst/>
          </a:prstGeom>
          <a:noFill/>
          <a:ln w="25400">
            <a:solidFill>
              <a:schemeClr val="tx2"/>
            </a:solidFill>
            <a:prstDash val="solid"/>
            <a:tailEnd type="triangle"/>
          </a:ln>
        </p:spPr>
      </p:sp>
      <p:sp>
        <p:nvSpPr>
          <p:cNvPr id="20" name="Kanal interne Listen"/>
          <p:cNvSpPr/>
          <p:nvPr/>
        </p:nvSpPr>
        <p:spPr>
          <a:xfrm>
            <a:off x="548640" y="4370832"/>
            <a:ext cx="1874520" cy="621792"/>
          </a:xfrm>
          <a:prstGeom prst="roundRect">
            <a:avLst>
              <a:gd name="adj" fmla="val 17647"/>
            </a:avLst>
          </a:prstGeom>
          <a:solidFill>
            <a:schemeClr val="bg2"/>
          </a:solidFill>
          <a:ln/>
        </p:spPr>
      </p:sp>
      <p:sp>
        <p:nvSpPr>
          <p:cNvPr id="21" name="Kanal Icon interne Listen Kreis"/>
          <p:cNvSpPr/>
          <p:nvPr/>
        </p:nvSpPr>
        <p:spPr>
          <a:xfrm>
            <a:off x="658368" y="4480560"/>
            <a:ext cx="402336" cy="402336"/>
          </a:xfrm>
          <a:prstGeom prst="ellipse">
            <a:avLst/>
          </a:prstGeom>
          <a:solidFill>
            <a:schemeClr val="tx1"/>
          </a:solidFill>
          <a:ln/>
        </p:spPr>
      </p:sp>
      <p:pic>
        <p:nvPicPr>
          <p:cNvPr id="22" name="Kanal Icon interne Listen" descr="ClipboardList">    </p:cNvPr>
          <p:cNvPicPr>
            <a:picLocks noChangeAspect="1"/>
          </p:cNvPicPr>
          <p:nvPr/>
        </p:nvPicPr>
        <p:blipFill>
          <a:blip r:embed="rId4"/>
          <a:stretch>
            <a:fillRect/>
          </a:stretch>
        </p:blipFill>
        <p:spPr>
          <a:xfrm>
            <a:off x="758952" y="4581144"/>
            <a:ext cx="201168" cy="201168"/>
          </a:xfrm>
          <a:prstGeom prst="rect">
            <a:avLst/>
          </a:prstGeom>
        </p:spPr>
      </p:pic>
      <p:sp>
        <p:nvSpPr>
          <p:cNvPr id="23" name="Text 17"/>
          <p:cNvSpPr txBox="1"/>
          <p:nvPr/>
        </p:nvSpPr>
        <p:spPr>
          <a:xfrm>
            <a:off x="1170432" y="4370832"/>
            <a:ext cx="1234440" cy="621792"/>
          </a:xfrm>
          <a:prstGeom prst="rect">
            <a:avLst/>
          </a:prstGeom>
          <a:noFill/>
          <a:ln/>
        </p:spPr>
        <p:txBody>
          <a:bodyPr wrap="square" lIns="0" tIns="0" rIns="0" bIns="0" rtlCol="0" anchor="ctr"/>
          <a:lstStyle/>
          <a:p>
            <a:pPr indent="0" marL="0">
              <a:buNone/>
            </a:pPr>
            <a:r>
              <a:rPr lang="en-US" sz="1400" b="1" dirty="0">
                <a:solidFill>
                  <a:schemeClr val="tx1"/>
                </a:solidFill>
              </a:rPr>
              <a:t>interne Listen</a:t>
            </a:r>
            <a:endParaRPr lang="en-US" sz="1400" dirty="0"/>
          </a:p>
        </p:txBody>
      </p:sp>
      <p:sp>
        <p:nvSpPr>
          <p:cNvPr id="24" name="Pfeil interne Listen"/>
          <p:cNvSpPr/>
          <p:nvPr/>
        </p:nvSpPr>
        <p:spPr>
          <a:xfrm>
            <a:off x="2487168" y="4681728"/>
            <a:ext cx="457200" cy="0"/>
          </a:xfrm>
          <a:prstGeom prst="line">
            <a:avLst/>
          </a:prstGeom>
          <a:noFill/>
          <a:ln w="25400">
            <a:solidFill>
              <a:schemeClr val="tx2"/>
            </a:solidFill>
            <a:prstDash val="solid"/>
            <a:tailEnd type="triangle"/>
          </a:ln>
        </p:spPr>
      </p:sp>
      <p:sp>
        <p:nvSpPr>
          <p:cNvPr id="25" name="Belegung dezentral"/>
          <p:cNvSpPr/>
          <p:nvPr/>
        </p:nvSpPr>
        <p:spPr>
          <a:xfrm>
            <a:off x="3017520" y="2011680"/>
            <a:ext cx="1508760" cy="2980944"/>
          </a:xfrm>
          <a:prstGeom prst="roundRect">
            <a:avLst>
              <a:gd name="adj" fmla="val 7273"/>
            </a:avLst>
          </a:prstGeom>
          <a:solidFill>
            <a:schemeClr val="accent5"/>
          </a:solidFill>
          <a:ln/>
        </p:spPr>
      </p:sp>
      <p:sp>
        <p:nvSpPr>
          <p:cNvPr id="26" name="Text 20"/>
          <p:cNvSpPr txBox="1"/>
          <p:nvPr/>
        </p:nvSpPr>
        <p:spPr>
          <a:xfrm>
            <a:off x="3127248" y="2194560"/>
            <a:ext cx="1325880" cy="685800"/>
          </a:xfrm>
          <a:prstGeom prst="rect">
            <a:avLst/>
          </a:prstGeom>
          <a:noFill/>
          <a:ln/>
        </p:spPr>
        <p:txBody>
          <a:bodyPr wrap="square" lIns="0" tIns="0" rIns="0" bIns="0" rtlCol="0" anchor="t"/>
          <a:lstStyle/>
          <a:p>
            <a:pPr algn="ctr" indent="0" marL="0">
              <a:buNone/>
            </a:pPr>
            <a:r>
              <a:rPr lang="en-US" sz="1400" b="1" dirty="0">
                <a:solidFill>
                  <a:schemeClr val="tx1"/>
                </a:solidFill>
              </a:rPr>
              <a:t>Reservation und Belegung</a:t>
            </a:r>
            <a:endParaRPr lang="en-US" sz="1400" dirty="0"/>
          </a:p>
        </p:txBody>
      </p:sp>
      <p:sp>
        <p:nvSpPr>
          <p:cNvPr id="27" name="Text 21"/>
          <p:cNvSpPr txBox="1"/>
          <p:nvPr/>
        </p:nvSpPr>
        <p:spPr>
          <a:xfrm>
            <a:off x="3127248" y="2971800"/>
            <a:ext cx="1325880" cy="1097280"/>
          </a:xfrm>
          <a:prstGeom prst="rect">
            <a:avLst/>
          </a:prstGeom>
          <a:noFill/>
          <a:ln/>
        </p:spPr>
        <p:txBody>
          <a:bodyPr wrap="square" lIns="0" tIns="0" rIns="0" bIns="0" rtlCol="0" anchor="t"/>
          <a:lstStyle/>
          <a:p>
            <a:pPr algn="ctr" indent="0" marL="0">
              <a:buNone/>
            </a:pPr>
            <a:r>
              <a:rPr lang="en-US" sz="1200" dirty="0">
                <a:solidFill>
                  <a:schemeClr val="tx2"/>
                </a:solidFill>
              </a:rPr>
              <a:t>Empfang koordiniert und trägt von Hand nach</a:t>
            </a:r>
            <a:endParaRPr lang="en-US" sz="1200" dirty="0"/>
          </a:p>
        </p:txBody>
      </p:sp>
      <p:sp>
        <p:nvSpPr>
          <p:cNvPr id="28" name="Text 22"/>
          <p:cNvSpPr txBox="1"/>
          <p:nvPr/>
        </p:nvSpPr>
        <p:spPr>
          <a:xfrm>
            <a:off x="3127248" y="4526280"/>
            <a:ext cx="1325880" cy="274320"/>
          </a:xfrm>
          <a:prstGeom prst="rect">
            <a:avLst/>
          </a:prstGeom>
          <a:noFill/>
          <a:ln/>
        </p:spPr>
        <p:txBody>
          <a:bodyPr wrap="square" lIns="0" tIns="0" rIns="0" bIns="0" rtlCol="0" anchor="t"/>
          <a:lstStyle/>
          <a:p>
            <a:pPr algn="ctr" indent="0" marL="0">
              <a:buNone/>
            </a:pPr>
            <a:r>
              <a:rPr lang="en-US" sz="1000" dirty="0">
                <a:solidFill>
                  <a:schemeClr val="tx2"/>
                </a:solidFill>
              </a:rPr>
              <a:t>Folie 2</a:t>
            </a:r>
            <a:endParaRPr lang="en-US" sz="1000" dirty="0"/>
          </a:p>
        </p:txBody>
      </p:sp>
      <p:sp>
        <p:nvSpPr>
          <p:cNvPr id="29" name="Herausforderung 1"/>
          <p:cNvSpPr/>
          <p:nvPr/>
        </p:nvSpPr>
        <p:spPr>
          <a:xfrm>
            <a:off x="4800600" y="2011680"/>
            <a:ext cx="3306928" cy="914400"/>
          </a:xfrm>
          <a:prstGeom prst="roundRect">
            <a:avLst>
              <a:gd name="adj" fmla="val 12000"/>
            </a:avLst>
          </a:prstGeom>
          <a:solidFill>
            <a:schemeClr val="bg2"/>
          </a:solidFill>
          <a:ln/>
        </p:spPr>
      </p:sp>
      <p:sp>
        <p:nvSpPr>
          <p:cNvPr id="30" name="Nummer 1"/>
          <p:cNvSpPr/>
          <p:nvPr/>
        </p:nvSpPr>
        <p:spPr>
          <a:xfrm>
            <a:off x="4965192" y="2212848"/>
            <a:ext cx="457200" cy="457200"/>
          </a:xfrm>
          <a:prstGeom prst="ellipse">
            <a:avLst/>
          </a:prstGeom>
          <a:solidFill>
            <a:schemeClr val="accent2"/>
          </a:solidFill>
          <a:ln/>
        </p:spPr>
      </p:sp>
      <p:sp>
        <p:nvSpPr>
          <p:cNvPr id="31" name="Text 25"/>
          <p:cNvSpPr txBox="1"/>
          <p:nvPr/>
        </p:nvSpPr>
        <p:spPr>
          <a:xfrm>
            <a:off x="4965192" y="2212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2" name="Text 26"/>
          <p:cNvSpPr txBox="1"/>
          <p:nvPr/>
        </p:nvSpPr>
        <p:spPr>
          <a:xfrm>
            <a:off x="5532120" y="2157984"/>
            <a:ext cx="2483968" cy="329184"/>
          </a:xfrm>
          <a:prstGeom prst="rect">
            <a:avLst/>
          </a:prstGeom>
          <a:noFill/>
          <a:ln/>
        </p:spPr>
        <p:txBody>
          <a:bodyPr wrap="square" lIns="0" tIns="0" rIns="0" bIns="0" rtlCol="0" anchor="t"/>
          <a:lstStyle/>
          <a:p>
            <a:pPr indent="0" marL="0">
              <a:buNone/>
            </a:pPr>
            <a:r>
              <a:rPr lang="en-US" sz="1400" b="1" dirty="0">
                <a:solidFill>
                  <a:schemeClr val="tx1"/>
                </a:solidFill>
              </a:rPr>
              <a:t>Hoher manueller Aufwand</a:t>
            </a:r>
            <a:endParaRPr lang="en-US" sz="1400" dirty="0"/>
          </a:p>
        </p:txBody>
      </p:sp>
      <p:sp>
        <p:nvSpPr>
          <p:cNvPr id="33" name="Text 27"/>
          <p:cNvSpPr txBox="1"/>
          <p:nvPr/>
        </p:nvSpPr>
        <p:spPr>
          <a:xfrm>
            <a:off x="5532120" y="2487168"/>
            <a:ext cx="2483968" cy="320040"/>
          </a:xfrm>
          <a:prstGeom prst="rect">
            <a:avLst/>
          </a:prstGeom>
          <a:noFill/>
          <a:ln/>
        </p:spPr>
        <p:txBody>
          <a:bodyPr wrap="square" lIns="0" tIns="0" rIns="0" bIns="0" rtlCol="0" anchor="t"/>
          <a:lstStyle/>
          <a:p>
            <a:pPr indent="0" marL="0">
              <a:buNone/>
            </a:pPr>
            <a:r>
              <a:rPr lang="en-US" sz="1300" dirty="0">
                <a:solidFill>
                  <a:schemeClr val="tx2"/>
                </a:solidFill>
              </a:rPr>
              <a:t>prüfen, eintragen, nachführen</a:t>
            </a:r>
            <a:endParaRPr lang="en-US" sz="1300" dirty="0"/>
          </a:p>
        </p:txBody>
      </p:sp>
      <p:sp>
        <p:nvSpPr>
          <p:cNvPr id="34" name="Herausforderung 2"/>
          <p:cNvSpPr/>
          <p:nvPr/>
        </p:nvSpPr>
        <p:spPr>
          <a:xfrm>
            <a:off x="8336128" y="2011680"/>
            <a:ext cx="3306928" cy="914400"/>
          </a:xfrm>
          <a:prstGeom prst="roundRect">
            <a:avLst>
              <a:gd name="adj" fmla="val 12000"/>
            </a:avLst>
          </a:prstGeom>
          <a:solidFill>
            <a:schemeClr val="bg2"/>
          </a:solidFill>
          <a:ln/>
        </p:spPr>
      </p:sp>
      <p:sp>
        <p:nvSpPr>
          <p:cNvPr id="35" name="Nummer 2"/>
          <p:cNvSpPr/>
          <p:nvPr/>
        </p:nvSpPr>
        <p:spPr>
          <a:xfrm>
            <a:off x="8500720" y="2212848"/>
            <a:ext cx="457200" cy="457200"/>
          </a:xfrm>
          <a:prstGeom prst="ellipse">
            <a:avLst/>
          </a:prstGeom>
          <a:solidFill>
            <a:schemeClr val="accent2"/>
          </a:solidFill>
          <a:ln/>
        </p:spPr>
      </p:sp>
      <p:sp>
        <p:nvSpPr>
          <p:cNvPr id="36" name="Text 30"/>
          <p:cNvSpPr txBox="1"/>
          <p:nvPr/>
        </p:nvSpPr>
        <p:spPr>
          <a:xfrm>
            <a:off x="8500720" y="2212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7" name="Text 31"/>
          <p:cNvSpPr txBox="1"/>
          <p:nvPr/>
        </p:nvSpPr>
        <p:spPr>
          <a:xfrm>
            <a:off x="9067648" y="2157984"/>
            <a:ext cx="2483968" cy="329184"/>
          </a:xfrm>
          <a:prstGeom prst="rect">
            <a:avLst/>
          </a:prstGeom>
          <a:noFill/>
          <a:ln/>
        </p:spPr>
        <p:txBody>
          <a:bodyPr wrap="square" lIns="0" tIns="0" rIns="0" bIns="0" rtlCol="0" anchor="t"/>
          <a:lstStyle/>
          <a:p>
            <a:pPr indent="0" marL="0">
              <a:buNone/>
            </a:pPr>
            <a:r>
              <a:rPr lang="en-US" sz="1400" b="1" dirty="0">
                <a:solidFill>
                  <a:schemeClr val="tx1"/>
                </a:solidFill>
              </a:rPr>
              <a:t>Fehlende Gesamtübersicht</a:t>
            </a:r>
            <a:endParaRPr lang="en-US" sz="1400" dirty="0"/>
          </a:p>
        </p:txBody>
      </p:sp>
      <p:sp>
        <p:nvSpPr>
          <p:cNvPr id="38" name="Text 32"/>
          <p:cNvSpPr txBox="1"/>
          <p:nvPr/>
        </p:nvSpPr>
        <p:spPr>
          <a:xfrm>
            <a:off x="9067648" y="2487168"/>
            <a:ext cx="2483968" cy="320040"/>
          </a:xfrm>
          <a:prstGeom prst="rect">
            <a:avLst/>
          </a:prstGeom>
          <a:noFill/>
          <a:ln/>
        </p:spPr>
        <p:txBody>
          <a:bodyPr wrap="square" lIns="0" tIns="0" rIns="0" bIns="0" rtlCol="0" anchor="t"/>
          <a:lstStyle/>
          <a:p>
            <a:pPr indent="0" marL="0">
              <a:buNone/>
            </a:pPr>
            <a:r>
              <a:rPr lang="en-US" sz="1300" dirty="0">
                <a:solidFill>
                  <a:schemeClr val="tx2"/>
                </a:solidFill>
              </a:rPr>
              <a:t>Belegung nicht zentral sichtbar</a:t>
            </a:r>
            <a:endParaRPr lang="en-US" sz="1300" dirty="0"/>
          </a:p>
        </p:txBody>
      </p:sp>
      <p:sp>
        <p:nvSpPr>
          <p:cNvPr id="39" name="Herausforderung 3"/>
          <p:cNvSpPr/>
          <p:nvPr/>
        </p:nvSpPr>
        <p:spPr>
          <a:xfrm>
            <a:off x="4800600" y="3044952"/>
            <a:ext cx="3306928" cy="914400"/>
          </a:xfrm>
          <a:prstGeom prst="roundRect">
            <a:avLst>
              <a:gd name="adj" fmla="val 12000"/>
            </a:avLst>
          </a:prstGeom>
          <a:solidFill>
            <a:schemeClr val="bg2"/>
          </a:solidFill>
          <a:ln/>
        </p:spPr>
      </p:sp>
      <p:sp>
        <p:nvSpPr>
          <p:cNvPr id="40" name="Nummer 3"/>
          <p:cNvSpPr/>
          <p:nvPr/>
        </p:nvSpPr>
        <p:spPr>
          <a:xfrm>
            <a:off x="4965192" y="3246120"/>
            <a:ext cx="457200" cy="457200"/>
          </a:xfrm>
          <a:prstGeom prst="ellipse">
            <a:avLst/>
          </a:prstGeom>
          <a:solidFill>
            <a:schemeClr val="accent2"/>
          </a:solidFill>
          <a:ln/>
        </p:spPr>
      </p:sp>
      <p:sp>
        <p:nvSpPr>
          <p:cNvPr id="41" name="Text 35"/>
          <p:cNvSpPr txBox="1"/>
          <p:nvPr/>
        </p:nvSpPr>
        <p:spPr>
          <a:xfrm>
            <a:off x="4965192"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2" name="Text 36"/>
          <p:cNvSpPr txBox="1"/>
          <p:nvPr/>
        </p:nvSpPr>
        <p:spPr>
          <a:xfrm>
            <a:off x="5532120" y="3191256"/>
            <a:ext cx="2483968" cy="329184"/>
          </a:xfrm>
          <a:prstGeom prst="rect">
            <a:avLst/>
          </a:prstGeom>
          <a:noFill/>
          <a:ln/>
        </p:spPr>
        <p:txBody>
          <a:bodyPr wrap="square" lIns="0" tIns="0" rIns="0" bIns="0" rtlCol="0" anchor="t"/>
          <a:lstStyle/>
          <a:p>
            <a:pPr indent="0" marL="0">
              <a:buNone/>
            </a:pPr>
            <a:r>
              <a:rPr lang="en-US" sz="1400" b="1" dirty="0">
                <a:solidFill>
                  <a:schemeClr val="tx1"/>
                </a:solidFill>
              </a:rPr>
              <a:t>Fehl- und Doppelbuchungen</a:t>
            </a:r>
            <a:endParaRPr lang="en-US" sz="1400" dirty="0"/>
          </a:p>
        </p:txBody>
      </p:sp>
      <p:sp>
        <p:nvSpPr>
          <p:cNvPr id="43" name="Text 37"/>
          <p:cNvSpPr txBox="1"/>
          <p:nvPr/>
        </p:nvSpPr>
        <p:spPr>
          <a:xfrm>
            <a:off x="5532120" y="3520440"/>
            <a:ext cx="2483968" cy="320040"/>
          </a:xfrm>
          <a:prstGeom prst="rect">
            <a:avLst/>
          </a:prstGeom>
          <a:noFill/>
          <a:ln/>
        </p:spPr>
        <p:txBody>
          <a:bodyPr wrap="square" lIns="0" tIns="0" rIns="0" bIns="0" rtlCol="0" anchor="t"/>
          <a:lstStyle/>
          <a:p>
            <a:pPr indent="0" marL="0">
              <a:buNone/>
            </a:pPr>
            <a:r>
              <a:rPr lang="en-US" sz="1300" dirty="0">
                <a:solidFill>
                  <a:schemeClr val="tx2"/>
                </a:solidFill>
              </a:rPr>
              <a:t>widersprüchliche Einträge</a:t>
            </a:r>
            <a:endParaRPr lang="en-US" sz="1300" dirty="0"/>
          </a:p>
        </p:txBody>
      </p:sp>
      <p:sp>
        <p:nvSpPr>
          <p:cNvPr id="44" name="Herausforderung 4"/>
          <p:cNvSpPr/>
          <p:nvPr/>
        </p:nvSpPr>
        <p:spPr>
          <a:xfrm>
            <a:off x="8336128" y="3044952"/>
            <a:ext cx="3306928" cy="914400"/>
          </a:xfrm>
          <a:prstGeom prst="roundRect">
            <a:avLst>
              <a:gd name="adj" fmla="val 12000"/>
            </a:avLst>
          </a:prstGeom>
          <a:solidFill>
            <a:schemeClr val="bg2"/>
          </a:solidFill>
          <a:ln/>
        </p:spPr>
      </p:sp>
      <p:sp>
        <p:nvSpPr>
          <p:cNvPr id="45" name="Nummer 4"/>
          <p:cNvSpPr/>
          <p:nvPr/>
        </p:nvSpPr>
        <p:spPr>
          <a:xfrm>
            <a:off x="8500720" y="3246120"/>
            <a:ext cx="457200" cy="457200"/>
          </a:xfrm>
          <a:prstGeom prst="ellipse">
            <a:avLst/>
          </a:prstGeom>
          <a:solidFill>
            <a:schemeClr val="accent2"/>
          </a:solidFill>
          <a:ln/>
        </p:spPr>
      </p:sp>
      <p:sp>
        <p:nvSpPr>
          <p:cNvPr id="46" name="Text 40"/>
          <p:cNvSpPr txBox="1"/>
          <p:nvPr/>
        </p:nvSpPr>
        <p:spPr>
          <a:xfrm>
            <a:off x="850072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7" name="Text 41"/>
          <p:cNvSpPr txBox="1"/>
          <p:nvPr/>
        </p:nvSpPr>
        <p:spPr>
          <a:xfrm>
            <a:off x="9067648" y="3191256"/>
            <a:ext cx="2483968" cy="329184"/>
          </a:xfrm>
          <a:prstGeom prst="rect">
            <a:avLst/>
          </a:prstGeom>
          <a:noFill/>
          <a:ln/>
        </p:spPr>
        <p:txBody>
          <a:bodyPr wrap="square" lIns="0" tIns="0" rIns="0" bIns="0" rtlCol="0" anchor="t"/>
          <a:lstStyle/>
          <a:p>
            <a:pPr indent="0" marL="0">
              <a:buNone/>
            </a:pPr>
            <a:r>
              <a:rPr lang="en-US" sz="1400" b="1" dirty="0">
                <a:solidFill>
                  <a:schemeClr val="tx1"/>
                </a:solidFill>
              </a:rPr>
              <a:t>Kurzfristige Stornierungen</a:t>
            </a:r>
            <a:endParaRPr lang="en-US" sz="1400" dirty="0"/>
          </a:p>
        </p:txBody>
      </p:sp>
      <p:sp>
        <p:nvSpPr>
          <p:cNvPr id="48" name="Text 42"/>
          <p:cNvSpPr txBox="1"/>
          <p:nvPr/>
        </p:nvSpPr>
        <p:spPr>
          <a:xfrm>
            <a:off x="9067648" y="3520440"/>
            <a:ext cx="2483968" cy="320040"/>
          </a:xfrm>
          <a:prstGeom prst="rect">
            <a:avLst/>
          </a:prstGeom>
          <a:noFill/>
          <a:ln/>
        </p:spPr>
        <p:txBody>
          <a:bodyPr wrap="square" lIns="0" tIns="0" rIns="0" bIns="0" rtlCol="0" anchor="t"/>
          <a:lstStyle/>
          <a:p>
            <a:pPr indent="0" marL="0">
              <a:buNone/>
            </a:pPr>
            <a:r>
              <a:rPr lang="en-US" sz="1300" dirty="0">
                <a:solidFill>
                  <a:schemeClr val="tx2"/>
                </a:solidFill>
              </a:rPr>
              <a:t>frei gewordene Zeit bleibt leer</a:t>
            </a:r>
            <a:endParaRPr lang="en-US" sz="1300" dirty="0"/>
          </a:p>
        </p:txBody>
      </p:sp>
      <p:sp>
        <p:nvSpPr>
          <p:cNvPr id="49" name="Herausforderung 5"/>
          <p:cNvSpPr/>
          <p:nvPr/>
        </p:nvSpPr>
        <p:spPr>
          <a:xfrm>
            <a:off x="4800600" y="4078224"/>
            <a:ext cx="3306928" cy="914400"/>
          </a:xfrm>
          <a:prstGeom prst="roundRect">
            <a:avLst>
              <a:gd name="adj" fmla="val 12000"/>
            </a:avLst>
          </a:prstGeom>
          <a:solidFill>
            <a:schemeClr val="bg2"/>
          </a:solidFill>
          <a:ln/>
        </p:spPr>
      </p:sp>
      <p:sp>
        <p:nvSpPr>
          <p:cNvPr id="50" name="Nummer 5"/>
          <p:cNvSpPr/>
          <p:nvPr/>
        </p:nvSpPr>
        <p:spPr>
          <a:xfrm>
            <a:off x="4965192" y="4279392"/>
            <a:ext cx="457200" cy="457200"/>
          </a:xfrm>
          <a:prstGeom prst="ellipse">
            <a:avLst/>
          </a:prstGeom>
          <a:solidFill>
            <a:schemeClr val="accent2"/>
          </a:solidFill>
          <a:ln/>
        </p:spPr>
      </p:sp>
      <p:sp>
        <p:nvSpPr>
          <p:cNvPr id="51" name="Text 45"/>
          <p:cNvSpPr txBox="1"/>
          <p:nvPr/>
        </p:nvSpPr>
        <p:spPr>
          <a:xfrm>
            <a:off x="4965192" y="42793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52" name="Text 46"/>
          <p:cNvSpPr txBox="1"/>
          <p:nvPr/>
        </p:nvSpPr>
        <p:spPr>
          <a:xfrm>
            <a:off x="5532120" y="4224528"/>
            <a:ext cx="2483968" cy="329184"/>
          </a:xfrm>
          <a:prstGeom prst="rect">
            <a:avLst/>
          </a:prstGeom>
          <a:noFill/>
          <a:ln/>
        </p:spPr>
        <p:txBody>
          <a:bodyPr wrap="square" lIns="0" tIns="0" rIns="0" bIns="0" rtlCol="0" anchor="t"/>
          <a:lstStyle/>
          <a:p>
            <a:pPr indent="0" marL="0">
              <a:buNone/>
            </a:pPr>
            <a:r>
              <a:rPr lang="en-US" sz="1400" b="1" dirty="0">
                <a:solidFill>
                  <a:schemeClr val="tx1"/>
                </a:solidFill>
              </a:rPr>
              <a:t>Verschiedene Kundengruppen</a:t>
            </a:r>
            <a:endParaRPr lang="en-US" sz="1400" dirty="0"/>
          </a:p>
        </p:txBody>
      </p:sp>
      <p:sp>
        <p:nvSpPr>
          <p:cNvPr id="53" name="Text 47"/>
          <p:cNvSpPr txBox="1"/>
          <p:nvPr/>
        </p:nvSpPr>
        <p:spPr>
          <a:xfrm>
            <a:off x="5532120" y="4553712"/>
            <a:ext cx="2483968" cy="320040"/>
          </a:xfrm>
          <a:prstGeom prst="rect">
            <a:avLst/>
          </a:prstGeom>
          <a:noFill/>
          <a:ln/>
        </p:spPr>
        <p:txBody>
          <a:bodyPr wrap="square" lIns="0" tIns="0" rIns="0" bIns="0" rtlCol="0" anchor="t"/>
          <a:lstStyle/>
          <a:p>
            <a:pPr indent="0" marL="0">
              <a:buNone/>
            </a:pPr>
            <a:r>
              <a:rPr lang="en-US" sz="1300" dirty="0">
                <a:solidFill>
                  <a:schemeClr val="tx2"/>
                </a:solidFill>
              </a:rPr>
              <a:t>Privat, Vereine, Firmen, Trainings</a:t>
            </a:r>
            <a:endParaRPr lang="en-US" sz="1300" dirty="0"/>
          </a:p>
        </p:txBody>
      </p:sp>
      <p:sp>
        <p:nvSpPr>
          <p:cNvPr id="54" name="Herausforderung 6"/>
          <p:cNvSpPr/>
          <p:nvPr/>
        </p:nvSpPr>
        <p:spPr>
          <a:xfrm>
            <a:off x="8336128" y="4078224"/>
            <a:ext cx="3306928" cy="914400"/>
          </a:xfrm>
          <a:prstGeom prst="roundRect">
            <a:avLst>
              <a:gd name="adj" fmla="val 12000"/>
            </a:avLst>
          </a:prstGeom>
          <a:solidFill>
            <a:schemeClr val="bg2"/>
          </a:solidFill>
          <a:ln/>
        </p:spPr>
      </p:sp>
      <p:sp>
        <p:nvSpPr>
          <p:cNvPr id="55" name="Nummer 6"/>
          <p:cNvSpPr/>
          <p:nvPr/>
        </p:nvSpPr>
        <p:spPr>
          <a:xfrm>
            <a:off x="8500720" y="4279392"/>
            <a:ext cx="457200" cy="457200"/>
          </a:xfrm>
          <a:prstGeom prst="ellipse">
            <a:avLst/>
          </a:prstGeom>
          <a:solidFill>
            <a:schemeClr val="accent2"/>
          </a:solidFill>
          <a:ln/>
        </p:spPr>
      </p:sp>
      <p:sp>
        <p:nvSpPr>
          <p:cNvPr id="56" name="Text 50"/>
          <p:cNvSpPr txBox="1"/>
          <p:nvPr/>
        </p:nvSpPr>
        <p:spPr>
          <a:xfrm>
            <a:off x="8500720" y="42793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57" name="Text 51"/>
          <p:cNvSpPr txBox="1"/>
          <p:nvPr/>
        </p:nvSpPr>
        <p:spPr>
          <a:xfrm>
            <a:off x="9067648" y="4224528"/>
            <a:ext cx="2483968" cy="329184"/>
          </a:xfrm>
          <a:prstGeom prst="rect">
            <a:avLst/>
          </a:prstGeom>
          <a:noFill/>
          <a:ln/>
        </p:spPr>
        <p:txBody>
          <a:bodyPr wrap="square" lIns="0" tIns="0" rIns="0" bIns="0" rtlCol="0" anchor="t"/>
          <a:lstStyle/>
          <a:p>
            <a:pPr indent="0" marL="0">
              <a:buNone/>
            </a:pPr>
            <a:r>
              <a:rPr lang="en-US" sz="1400" b="1" dirty="0">
                <a:solidFill>
                  <a:schemeClr val="tx1"/>
                </a:solidFill>
              </a:rPr>
              <a:t>Wiederkehrende Reservationen</a:t>
            </a:r>
            <a:endParaRPr lang="en-US" sz="1400" dirty="0"/>
          </a:p>
        </p:txBody>
      </p:sp>
      <p:sp>
        <p:nvSpPr>
          <p:cNvPr id="58" name="Text 52"/>
          <p:cNvSpPr txBox="1"/>
          <p:nvPr/>
        </p:nvSpPr>
        <p:spPr>
          <a:xfrm>
            <a:off x="9067648" y="4553712"/>
            <a:ext cx="2483968" cy="320040"/>
          </a:xfrm>
          <a:prstGeom prst="rect">
            <a:avLst/>
          </a:prstGeom>
          <a:noFill/>
          <a:ln/>
        </p:spPr>
        <p:txBody>
          <a:bodyPr wrap="square" lIns="0" tIns="0" rIns="0" bIns="0" rtlCol="0" anchor="t"/>
          <a:lstStyle/>
          <a:p>
            <a:pPr indent="0" marL="0">
              <a:buNone/>
            </a:pPr>
            <a:r>
              <a:rPr lang="en-US" sz="1300" dirty="0">
                <a:solidFill>
                  <a:schemeClr val="tx2"/>
                </a:solidFill>
              </a:rPr>
              <a:t>Serien statt Einzelbuchungen</a:t>
            </a:r>
            <a:endParaRPr lang="en-US" sz="1300" dirty="0"/>
          </a:p>
        </p:txBody>
      </p:sp>
      <p:sp>
        <p:nvSpPr>
          <p:cNvPr id="59" name="Scope"/>
          <p:cNvSpPr/>
          <p:nvPr/>
        </p:nvSpPr>
        <p:spPr>
          <a:xfrm>
            <a:off x="548640" y="5230368"/>
            <a:ext cx="11094415" cy="566928"/>
          </a:xfrm>
          <a:prstGeom prst="roundRect">
            <a:avLst>
              <a:gd name="adj" fmla="val 19355"/>
            </a:avLst>
          </a:prstGeom>
          <a:solidFill>
            <a:schemeClr val="accent4"/>
          </a:solidFill>
          <a:ln/>
        </p:spPr>
      </p:sp>
      <p:sp>
        <p:nvSpPr>
          <p:cNvPr id="60" name="Text 54"/>
          <p:cNvSpPr txBox="1"/>
          <p:nvPr/>
        </p:nvSpPr>
        <p:spPr>
          <a:xfrm>
            <a:off x="777240" y="5230368"/>
            <a:ext cx="10637215" cy="566928"/>
          </a:xfrm>
          <a:prstGeom prst="rect">
            <a:avLst/>
          </a:prstGeom>
          <a:noFill/>
          <a:ln/>
        </p:spPr>
        <p:txBody>
          <a:bodyPr wrap="square" lIns="0" tIns="0" rIns="0" bIns="0" rtlCol="0" anchor="ctr"/>
          <a:lstStyle/>
          <a:p>
            <a:pPr indent="0" marL="0">
              <a:buNone/>
            </a:pPr>
            <a:r>
              <a:rPr lang="en-US" sz="1300" b="1" dirty="0">
                <a:solidFill>
                  <a:schemeClr val="accent1"/>
                </a:solidFill>
              </a:rPr>
              <a:t>Im Scope  </a:t>
            </a:r>
            <a:pPr indent="0" marL="0">
              <a:buNone/>
            </a:pPr>
            <a:r>
              <a:rPr lang="en-US" sz="1300" dirty="0">
                <a:solidFill>
                  <a:schemeClr val="tx1"/>
                </a:solidFill>
              </a:rPr>
              <a:t>Verfügbarkeiten · Reservationen · Änderungen · Stornierungen · Serien</a:t>
            </a:r>
            <a:pPr indent="0" marL="0">
              <a:buNone/>
            </a:pPr>
            <a:r>
              <a:rPr lang="en-US" sz="1300" b="1" dirty="0">
                <a:solidFill>
                  <a:schemeClr val="accent2"/>
                </a:solidFill>
              </a:rPr>
              <a:t>      Nicht im Scope  </a:t>
            </a:r>
            <a:pPr indent="0" marL="0">
              <a:buNone/>
            </a:pPr>
            <a:r>
              <a:rPr lang="en-US" sz="1300" dirty="0">
                <a:solidFill>
                  <a:schemeClr val="tx1"/>
                </a:solidFill>
              </a:rPr>
              <a:t>Buchhaltung · Personalplanung · Gastronomie · CRM</a:t>
            </a:r>
            <a:endParaRPr lang="en-US" sz="1300" dirty="0"/>
          </a:p>
        </p:txBody>
      </p:sp>
      <p:sp>
        <p:nvSpPr>
          <p:cNvPr id="61" name="Text 55"/>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Offen  </a:t>
            </a:r>
            <a:pPr indent="0" marL="0">
              <a:buNone/>
            </a:pPr>
            <a:r>
              <a:rPr lang="en-US" sz="1100" dirty="0">
                <a:solidFill>
                  <a:schemeClr val="tx2"/>
                </a:solidFill>
              </a:rPr>
              <a:t>Zahlen (Anlagen, Reservationen pro Woche, Auslastung, Doppelbuchungen) hat Gruppe 2 nicht genannt – wichtigste Lücke (OP-01).</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VORGEHEN · RE-KREISLAUF (FOLIE 28)</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Zwei Runden durch den Kreislauf – die zweite mit Gruppe 2</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Kein linearer Fluss: Runde 1 aus Präsentation und Probelauf, Runde 2 mit den echten Antworten aus PVA 5.</a:t>
            </a:r>
            <a:endParaRPr lang="en-US" sz="1600" dirty="0"/>
          </a:p>
        </p:txBody>
      </p:sp>
      <p:sp>
        <p:nvSpPr>
          <p:cNvPr id="5" name="Pfeil Phase 1"/>
          <p:cNvSpPr/>
          <p:nvPr/>
        </p:nvSpPr>
        <p:spPr>
          <a:xfrm>
            <a:off x="3185130" y="2112264"/>
            <a:ext cx="1213043" cy="0"/>
          </a:xfrm>
          <a:prstGeom prst="line">
            <a:avLst/>
          </a:prstGeom>
          <a:noFill/>
          <a:ln w="25400">
            <a:solidFill>
              <a:schemeClr val="tx2"/>
            </a:solidFill>
            <a:prstDash val="solid"/>
            <a:tailEnd type="triangle"/>
          </a:ln>
        </p:spPr>
      </p:sp>
      <p:sp>
        <p:nvSpPr>
          <p:cNvPr id="6" name="Phase Ermitteln Kreis"/>
          <p:cNvSpPr/>
          <p:nvPr/>
        </p:nvSpPr>
        <p:spPr>
          <a:xfrm>
            <a:off x="2526762" y="1828800"/>
            <a:ext cx="566928" cy="566928"/>
          </a:xfrm>
          <a:prstGeom prst="ellipse">
            <a:avLst/>
          </a:prstGeom>
          <a:solidFill>
            <a:schemeClr val="tx1"/>
          </a:solidFill>
          <a:ln/>
        </p:spPr>
      </p:sp>
      <p:pic>
        <p:nvPicPr>
          <p:cNvPr id="7" name="Phase Ermitteln" descr="Search">    </p:cNvPr>
          <p:cNvPicPr>
            <a:picLocks noChangeAspect="1"/>
          </p:cNvPicPr>
          <p:nvPr/>
        </p:nvPicPr>
        <p:blipFill>
          <a:blip r:embed="rId1"/>
          <a:stretch>
            <a:fillRect/>
          </a:stretch>
        </p:blipFill>
        <p:spPr>
          <a:xfrm>
            <a:off x="2668494" y="1970532"/>
            <a:ext cx="283464" cy="283464"/>
          </a:xfrm>
          <a:prstGeom prst="rect">
            <a:avLst/>
          </a:prstGeom>
        </p:spPr>
      </p:pic>
      <p:sp>
        <p:nvSpPr>
          <p:cNvPr id="8" name="Text 5"/>
          <p:cNvSpPr txBox="1"/>
          <p:nvPr/>
        </p:nvSpPr>
        <p:spPr>
          <a:xfrm>
            <a:off x="1828800" y="2450592"/>
            <a:ext cx="1962851" cy="274320"/>
          </a:xfrm>
          <a:prstGeom prst="rect">
            <a:avLst/>
          </a:prstGeom>
          <a:noFill/>
          <a:ln/>
        </p:spPr>
        <p:txBody>
          <a:bodyPr wrap="square" lIns="0" tIns="0" rIns="0" bIns="0" rtlCol="0" anchor="t"/>
          <a:lstStyle/>
          <a:p>
            <a:pPr algn="ctr" indent="0" marL="0">
              <a:buNone/>
            </a:pPr>
            <a:r>
              <a:rPr lang="en-US" sz="1400" b="1" dirty="0">
                <a:solidFill>
                  <a:schemeClr val="tx1"/>
                </a:solidFill>
              </a:rPr>
              <a:t>Ermitteln</a:t>
            </a:r>
            <a:endParaRPr lang="en-US" sz="1400" dirty="0"/>
          </a:p>
        </p:txBody>
      </p:sp>
      <p:sp>
        <p:nvSpPr>
          <p:cNvPr id="9" name="Pfeil Phase 2"/>
          <p:cNvSpPr/>
          <p:nvPr/>
        </p:nvSpPr>
        <p:spPr>
          <a:xfrm>
            <a:off x="5147981" y="2112264"/>
            <a:ext cx="1213043" cy="0"/>
          </a:xfrm>
          <a:prstGeom prst="line">
            <a:avLst/>
          </a:prstGeom>
          <a:noFill/>
          <a:ln w="25400">
            <a:solidFill>
              <a:schemeClr val="tx2"/>
            </a:solidFill>
            <a:prstDash val="solid"/>
            <a:tailEnd type="triangle"/>
          </a:ln>
        </p:spPr>
      </p:sp>
      <p:sp>
        <p:nvSpPr>
          <p:cNvPr id="10" name="Phase Dokumentieren Kreis"/>
          <p:cNvSpPr/>
          <p:nvPr/>
        </p:nvSpPr>
        <p:spPr>
          <a:xfrm>
            <a:off x="4489613" y="1828800"/>
            <a:ext cx="566928" cy="566928"/>
          </a:xfrm>
          <a:prstGeom prst="ellipse">
            <a:avLst/>
          </a:prstGeom>
          <a:solidFill>
            <a:schemeClr val="tx1"/>
          </a:solidFill>
          <a:ln/>
        </p:spPr>
      </p:sp>
      <p:pic>
        <p:nvPicPr>
          <p:cNvPr id="11" name="Phase Dokumentieren" descr="FileText">    </p:cNvPr>
          <p:cNvPicPr>
            <a:picLocks noChangeAspect="1"/>
          </p:cNvPicPr>
          <p:nvPr/>
        </p:nvPicPr>
        <p:blipFill>
          <a:blip r:embed="rId2"/>
          <a:stretch>
            <a:fillRect/>
          </a:stretch>
        </p:blipFill>
        <p:spPr>
          <a:xfrm>
            <a:off x="4631345" y="1970532"/>
            <a:ext cx="283464" cy="283464"/>
          </a:xfrm>
          <a:prstGeom prst="rect">
            <a:avLst/>
          </a:prstGeom>
        </p:spPr>
      </p:pic>
      <p:sp>
        <p:nvSpPr>
          <p:cNvPr id="12" name="Text 8"/>
          <p:cNvSpPr txBox="1"/>
          <p:nvPr/>
        </p:nvSpPr>
        <p:spPr>
          <a:xfrm>
            <a:off x="3791651" y="2450592"/>
            <a:ext cx="1962851" cy="274320"/>
          </a:xfrm>
          <a:prstGeom prst="rect">
            <a:avLst/>
          </a:prstGeom>
          <a:noFill/>
          <a:ln/>
        </p:spPr>
        <p:txBody>
          <a:bodyPr wrap="square" lIns="0" tIns="0" rIns="0" bIns="0" rtlCol="0" anchor="t"/>
          <a:lstStyle/>
          <a:p>
            <a:pPr algn="ctr" indent="0" marL="0">
              <a:buNone/>
            </a:pPr>
            <a:r>
              <a:rPr lang="en-US" sz="1400" b="1" dirty="0">
                <a:solidFill>
                  <a:schemeClr val="tx1"/>
                </a:solidFill>
              </a:rPr>
              <a:t>Dokumentieren</a:t>
            </a:r>
            <a:endParaRPr lang="en-US" sz="1400" dirty="0"/>
          </a:p>
        </p:txBody>
      </p:sp>
      <p:sp>
        <p:nvSpPr>
          <p:cNvPr id="13" name="Pfeil Phase 3"/>
          <p:cNvSpPr/>
          <p:nvPr/>
        </p:nvSpPr>
        <p:spPr>
          <a:xfrm>
            <a:off x="7110832" y="2112264"/>
            <a:ext cx="1213043" cy="0"/>
          </a:xfrm>
          <a:prstGeom prst="line">
            <a:avLst/>
          </a:prstGeom>
          <a:noFill/>
          <a:ln w="25400">
            <a:solidFill>
              <a:schemeClr val="tx2"/>
            </a:solidFill>
            <a:prstDash val="solid"/>
            <a:tailEnd type="triangle"/>
          </a:ln>
        </p:spPr>
      </p:sp>
      <p:sp>
        <p:nvSpPr>
          <p:cNvPr id="14" name="Phase Prüfen &amp; Abstimmen Kreis"/>
          <p:cNvSpPr/>
          <p:nvPr/>
        </p:nvSpPr>
        <p:spPr>
          <a:xfrm>
            <a:off x="6452464" y="1828800"/>
            <a:ext cx="566928" cy="566928"/>
          </a:xfrm>
          <a:prstGeom prst="ellipse">
            <a:avLst/>
          </a:prstGeom>
          <a:solidFill>
            <a:schemeClr val="tx1"/>
          </a:solidFill>
          <a:ln/>
        </p:spPr>
      </p:sp>
      <p:pic>
        <p:nvPicPr>
          <p:cNvPr id="15" name="Phase Prüfen &amp; Abstimmen" descr="ListChecks">    </p:cNvPr>
          <p:cNvPicPr>
            <a:picLocks noChangeAspect="1"/>
          </p:cNvPicPr>
          <p:nvPr/>
        </p:nvPicPr>
        <p:blipFill>
          <a:blip r:embed="rId3"/>
          <a:stretch>
            <a:fillRect/>
          </a:stretch>
        </p:blipFill>
        <p:spPr>
          <a:xfrm>
            <a:off x="6594196" y="1970532"/>
            <a:ext cx="283464" cy="283464"/>
          </a:xfrm>
          <a:prstGeom prst="rect">
            <a:avLst/>
          </a:prstGeom>
        </p:spPr>
      </p:pic>
      <p:sp>
        <p:nvSpPr>
          <p:cNvPr id="16" name="Text 11"/>
          <p:cNvSpPr txBox="1"/>
          <p:nvPr/>
        </p:nvSpPr>
        <p:spPr>
          <a:xfrm>
            <a:off x="5754502" y="2450592"/>
            <a:ext cx="1962851" cy="274320"/>
          </a:xfrm>
          <a:prstGeom prst="rect">
            <a:avLst/>
          </a:prstGeom>
          <a:noFill/>
          <a:ln/>
        </p:spPr>
        <p:txBody>
          <a:bodyPr wrap="square" lIns="0" tIns="0" rIns="0" bIns="0" rtlCol="0" anchor="t"/>
          <a:lstStyle/>
          <a:p>
            <a:pPr algn="ctr" indent="0" marL="0">
              <a:buNone/>
            </a:pPr>
            <a:r>
              <a:rPr lang="en-US" sz="1400" b="1" dirty="0">
                <a:solidFill>
                  <a:schemeClr val="tx1"/>
                </a:solidFill>
              </a:rPr>
              <a:t>Prüfen &amp; Abstimmen</a:t>
            </a:r>
            <a:endParaRPr lang="en-US" sz="1400" dirty="0"/>
          </a:p>
        </p:txBody>
      </p:sp>
      <p:sp>
        <p:nvSpPr>
          <p:cNvPr id="17" name="Pfeil Phase 4"/>
          <p:cNvSpPr/>
          <p:nvPr/>
        </p:nvSpPr>
        <p:spPr>
          <a:xfrm>
            <a:off x="9073683" y="2112264"/>
            <a:ext cx="1213043" cy="0"/>
          </a:xfrm>
          <a:prstGeom prst="line">
            <a:avLst/>
          </a:prstGeom>
          <a:noFill/>
          <a:ln w="25400">
            <a:solidFill>
              <a:schemeClr val="tx2"/>
            </a:solidFill>
            <a:prstDash val="solid"/>
            <a:tailEnd type="triangle"/>
          </a:ln>
        </p:spPr>
      </p:sp>
      <p:sp>
        <p:nvSpPr>
          <p:cNvPr id="18" name="Phase Verwalten Kreis"/>
          <p:cNvSpPr/>
          <p:nvPr/>
        </p:nvSpPr>
        <p:spPr>
          <a:xfrm>
            <a:off x="8415315" y="1828800"/>
            <a:ext cx="566928" cy="566928"/>
          </a:xfrm>
          <a:prstGeom prst="ellipse">
            <a:avLst/>
          </a:prstGeom>
          <a:solidFill>
            <a:schemeClr val="tx1"/>
          </a:solidFill>
          <a:ln/>
        </p:spPr>
      </p:sp>
      <p:pic>
        <p:nvPicPr>
          <p:cNvPr id="19" name="Phase Verwalten" descr="GitBranch">    </p:cNvPr>
          <p:cNvPicPr>
            <a:picLocks noChangeAspect="1"/>
          </p:cNvPicPr>
          <p:nvPr/>
        </p:nvPicPr>
        <p:blipFill>
          <a:blip r:embed="rId4"/>
          <a:stretch>
            <a:fillRect/>
          </a:stretch>
        </p:blipFill>
        <p:spPr>
          <a:xfrm>
            <a:off x="8557047" y="1970532"/>
            <a:ext cx="283464" cy="283464"/>
          </a:xfrm>
          <a:prstGeom prst="rect">
            <a:avLst/>
          </a:prstGeom>
        </p:spPr>
      </p:pic>
      <p:sp>
        <p:nvSpPr>
          <p:cNvPr id="20" name="Text 14"/>
          <p:cNvSpPr txBox="1"/>
          <p:nvPr/>
        </p:nvSpPr>
        <p:spPr>
          <a:xfrm>
            <a:off x="7717353" y="2450592"/>
            <a:ext cx="1962851" cy="274320"/>
          </a:xfrm>
          <a:prstGeom prst="rect">
            <a:avLst/>
          </a:prstGeom>
          <a:noFill/>
          <a:ln/>
        </p:spPr>
        <p:txBody>
          <a:bodyPr wrap="square" lIns="0" tIns="0" rIns="0" bIns="0" rtlCol="0" anchor="t"/>
          <a:lstStyle/>
          <a:p>
            <a:pPr algn="ctr" indent="0" marL="0">
              <a:buNone/>
            </a:pPr>
            <a:r>
              <a:rPr lang="en-US" sz="1400" b="1" dirty="0">
                <a:solidFill>
                  <a:schemeClr val="tx1"/>
                </a:solidFill>
              </a:rPr>
              <a:t>Verwalten</a:t>
            </a:r>
            <a:endParaRPr lang="en-US" sz="1400" dirty="0"/>
          </a:p>
        </p:txBody>
      </p:sp>
      <p:sp>
        <p:nvSpPr>
          <p:cNvPr id="21" name="Phase Validieren Kreis"/>
          <p:cNvSpPr/>
          <p:nvPr/>
        </p:nvSpPr>
        <p:spPr>
          <a:xfrm>
            <a:off x="10378166" y="1828800"/>
            <a:ext cx="566928" cy="566928"/>
          </a:xfrm>
          <a:prstGeom prst="ellipse">
            <a:avLst/>
          </a:prstGeom>
          <a:solidFill>
            <a:schemeClr val="tx1"/>
          </a:solidFill>
          <a:ln/>
        </p:spPr>
      </p:sp>
      <p:pic>
        <p:nvPicPr>
          <p:cNvPr id="22" name="Phase Validieren" descr="CircleCheck">    </p:cNvPr>
          <p:cNvPicPr>
            <a:picLocks noChangeAspect="1"/>
          </p:cNvPicPr>
          <p:nvPr/>
        </p:nvPicPr>
        <p:blipFill>
          <a:blip r:embed="rId5"/>
          <a:stretch>
            <a:fillRect/>
          </a:stretch>
        </p:blipFill>
        <p:spPr>
          <a:xfrm>
            <a:off x="10519898" y="1970532"/>
            <a:ext cx="283464" cy="283464"/>
          </a:xfrm>
          <a:prstGeom prst="rect">
            <a:avLst/>
          </a:prstGeom>
        </p:spPr>
      </p:pic>
      <p:sp>
        <p:nvSpPr>
          <p:cNvPr id="23" name="Text 16"/>
          <p:cNvSpPr txBox="1"/>
          <p:nvPr/>
        </p:nvSpPr>
        <p:spPr>
          <a:xfrm>
            <a:off x="9680204" y="2450592"/>
            <a:ext cx="1962851" cy="274320"/>
          </a:xfrm>
          <a:prstGeom prst="rect">
            <a:avLst/>
          </a:prstGeom>
          <a:noFill/>
          <a:ln/>
        </p:spPr>
        <p:txBody>
          <a:bodyPr wrap="square" lIns="0" tIns="0" rIns="0" bIns="0" rtlCol="0" anchor="t"/>
          <a:lstStyle/>
          <a:p>
            <a:pPr algn="ctr" indent="0" marL="0">
              <a:buNone/>
            </a:pPr>
            <a:r>
              <a:rPr lang="en-US" sz="1400" b="1" dirty="0">
                <a:solidFill>
                  <a:schemeClr val="tx1"/>
                </a:solidFill>
              </a:rPr>
              <a:t>Validieren</a:t>
            </a:r>
            <a:endParaRPr lang="en-US" sz="1400" dirty="0"/>
          </a:p>
        </p:txBody>
      </p:sp>
      <p:sp>
        <p:nvSpPr>
          <p:cNvPr id="24" name="Text 17"/>
          <p:cNvSpPr txBox="1"/>
          <p:nvPr/>
        </p:nvSpPr>
        <p:spPr>
          <a:xfrm>
            <a:off x="548640" y="2926080"/>
            <a:ext cx="1143000" cy="1234440"/>
          </a:xfrm>
          <a:prstGeom prst="rect">
            <a:avLst/>
          </a:prstGeom>
          <a:noFill/>
          <a:ln/>
        </p:spPr>
        <p:txBody>
          <a:bodyPr wrap="square" lIns="0" tIns="0" rIns="0" bIns="0" rtlCol="0" anchor="ctr"/>
          <a:lstStyle/>
          <a:p>
            <a:pPr indent="0" marL="0">
              <a:buNone/>
            </a:pPr>
            <a:r>
              <a:rPr lang="en-US" sz="1400" b="1" dirty="0">
                <a:solidFill>
                  <a:schemeClr val="tx1"/>
                </a:solidFill>
              </a:rPr>
              <a:t>Runde 1</a:t>
            </a:r>
            <a:endParaRPr lang="en-US" sz="1400" dirty="0"/>
          </a:p>
          <a:p>
            <a:pPr indent="0" marL="0">
              <a:buNone/>
            </a:pPr>
            <a:r>
              <a:rPr lang="en-US" sz="1100" dirty="0">
                <a:solidFill>
                  <a:schemeClr val="tx2"/>
                </a:solidFill>
              </a:rPr>
              <a:t>erledigt, ohne Gruppe 2</a:t>
            </a:r>
            <a:endParaRPr lang="en-US" sz="1400" dirty="0"/>
          </a:p>
        </p:txBody>
      </p:sp>
      <p:sp>
        <p:nvSpPr>
          <p:cNvPr id="25" name="Runde 1 1"/>
          <p:cNvSpPr/>
          <p:nvPr/>
        </p:nvSpPr>
        <p:spPr>
          <a:xfrm>
            <a:off x="1883664" y="2926080"/>
            <a:ext cx="1853123" cy="1234440"/>
          </a:xfrm>
          <a:prstGeom prst="roundRect">
            <a:avLst>
              <a:gd name="adj" fmla="val 8889"/>
            </a:avLst>
          </a:prstGeom>
          <a:solidFill>
            <a:schemeClr val="accent4"/>
          </a:solidFill>
          <a:ln/>
        </p:spPr>
      </p:sp>
      <p:sp>
        <p:nvSpPr>
          <p:cNvPr id="26" name="Text 19"/>
          <p:cNvSpPr txBox="1"/>
          <p:nvPr/>
        </p:nvSpPr>
        <p:spPr>
          <a:xfrm>
            <a:off x="2011680" y="3017520"/>
            <a:ext cx="1597091" cy="1051560"/>
          </a:xfrm>
          <a:prstGeom prst="rect">
            <a:avLst/>
          </a:prstGeom>
          <a:noFill/>
          <a:ln/>
        </p:spPr>
        <p:txBody>
          <a:bodyPr wrap="square" lIns="0" tIns="0" rIns="0" bIns="0" rtlCol="0" anchor="ctr"/>
          <a:lstStyle/>
          <a:p>
            <a:pPr indent="0" marL="0">
              <a:buNone/>
            </a:pPr>
            <a:r>
              <a:rPr lang="en-US" sz="1200" dirty="0">
                <a:solidFill>
                  <a:schemeClr val="tx1"/>
                </a:solidFill>
              </a:rPr>
              <a:t>Analyse der Präsentation, Stakeholder, Kontext, Ziele; simuliertes Interview (Probelauf)</a:t>
            </a:r>
            <a:endParaRPr lang="en-US" sz="1200" dirty="0"/>
          </a:p>
        </p:txBody>
      </p:sp>
      <p:sp>
        <p:nvSpPr>
          <p:cNvPr id="27" name="Runde 1 2"/>
          <p:cNvSpPr/>
          <p:nvPr/>
        </p:nvSpPr>
        <p:spPr>
          <a:xfrm>
            <a:off x="3846515" y="2926080"/>
            <a:ext cx="1853123" cy="1234440"/>
          </a:xfrm>
          <a:prstGeom prst="roundRect">
            <a:avLst>
              <a:gd name="adj" fmla="val 8889"/>
            </a:avLst>
          </a:prstGeom>
          <a:solidFill>
            <a:schemeClr val="accent4"/>
          </a:solidFill>
          <a:ln/>
        </p:spPr>
      </p:sp>
      <p:sp>
        <p:nvSpPr>
          <p:cNvPr id="28" name="Text 21"/>
          <p:cNvSpPr txBox="1"/>
          <p:nvPr/>
        </p:nvSpPr>
        <p:spPr>
          <a:xfrm>
            <a:off x="3974531" y="3017520"/>
            <a:ext cx="1597091" cy="1051560"/>
          </a:xfrm>
          <a:prstGeom prst="rect">
            <a:avLst/>
          </a:prstGeom>
          <a:noFill/>
          <a:ln/>
        </p:spPr>
        <p:txBody>
          <a:bodyPr wrap="square" lIns="0" tIns="0" rIns="0" bIns="0" rtlCol="0" anchor="ctr"/>
          <a:lstStyle/>
          <a:p>
            <a:pPr indent="0" marL="0">
              <a:buNone/>
            </a:pPr>
            <a:r>
              <a:rPr lang="en-US" sz="1200" dirty="0">
                <a:solidFill>
                  <a:schemeClr val="tx1"/>
                </a:solidFill>
              </a:rPr>
              <a:t>Spezifikation v0.6: 9 Use Cases, 35 FA, 16 QA, Glossar</a:t>
            </a:r>
            <a:endParaRPr lang="en-US" sz="1200" dirty="0"/>
          </a:p>
        </p:txBody>
      </p:sp>
      <p:sp>
        <p:nvSpPr>
          <p:cNvPr id="29" name="Runde 1 3"/>
          <p:cNvSpPr/>
          <p:nvPr/>
        </p:nvSpPr>
        <p:spPr>
          <a:xfrm>
            <a:off x="5809366" y="2926080"/>
            <a:ext cx="1853123" cy="1234440"/>
          </a:xfrm>
          <a:prstGeom prst="roundRect">
            <a:avLst>
              <a:gd name="adj" fmla="val 8889"/>
            </a:avLst>
          </a:prstGeom>
          <a:solidFill>
            <a:schemeClr val="accent4"/>
          </a:solidFill>
          <a:ln/>
        </p:spPr>
      </p:sp>
      <p:sp>
        <p:nvSpPr>
          <p:cNvPr id="30" name="Text 23"/>
          <p:cNvSpPr txBox="1"/>
          <p:nvPr/>
        </p:nvSpPr>
        <p:spPr>
          <a:xfrm>
            <a:off x="5937382" y="3017520"/>
            <a:ext cx="1597091" cy="1051560"/>
          </a:xfrm>
          <a:prstGeom prst="rect">
            <a:avLst/>
          </a:prstGeom>
          <a:noFill/>
          <a:ln/>
        </p:spPr>
        <p:txBody>
          <a:bodyPr wrap="square" lIns="0" tIns="0" rIns="0" bIns="0" rtlCol="0" anchor="ctr"/>
          <a:lstStyle/>
          <a:p>
            <a:pPr indent="0" marL="0">
              <a:buNone/>
            </a:pPr>
            <a:r>
              <a:rPr lang="en-US" sz="1200" dirty="0">
                <a:solidFill>
                  <a:schemeClr val="tx1"/>
                </a:solidFill>
              </a:rPr>
              <a:t>Prüfskript, Lesen (Folie 45/47) und KI-Versuch: 16 Befunde</a:t>
            </a:r>
            <a:endParaRPr lang="en-US" sz="1200" dirty="0"/>
          </a:p>
        </p:txBody>
      </p:sp>
      <p:sp>
        <p:nvSpPr>
          <p:cNvPr id="31" name="Runde 1 4"/>
          <p:cNvSpPr/>
          <p:nvPr/>
        </p:nvSpPr>
        <p:spPr>
          <a:xfrm>
            <a:off x="7772217" y="2926080"/>
            <a:ext cx="1853123" cy="1234440"/>
          </a:xfrm>
          <a:prstGeom prst="roundRect">
            <a:avLst>
              <a:gd name="adj" fmla="val 8889"/>
            </a:avLst>
          </a:prstGeom>
          <a:solidFill>
            <a:schemeClr val="accent4"/>
          </a:solidFill>
          <a:ln/>
        </p:spPr>
      </p:sp>
      <p:sp>
        <p:nvSpPr>
          <p:cNvPr id="32" name="Text 25"/>
          <p:cNvSpPr txBox="1"/>
          <p:nvPr/>
        </p:nvSpPr>
        <p:spPr>
          <a:xfrm>
            <a:off x="7900233" y="3017520"/>
            <a:ext cx="1597091" cy="1051560"/>
          </a:xfrm>
          <a:prstGeom prst="rect">
            <a:avLst/>
          </a:prstGeom>
          <a:noFill/>
          <a:ln/>
        </p:spPr>
        <p:txBody>
          <a:bodyPr wrap="square" lIns="0" tIns="0" rIns="0" bIns="0" rtlCol="0" anchor="ctr"/>
          <a:lstStyle/>
          <a:p>
            <a:pPr indent="0" marL="0">
              <a:buNone/>
            </a:pPr>
            <a:r>
              <a:rPr lang="en-US" sz="1200" dirty="0">
                <a:solidFill>
                  <a:schemeClr val="tx1"/>
                </a:solidFill>
              </a:rPr>
              <a:t>Quelle je Anforderung, Parameter, Nachverfolgbarkeit</a:t>
            </a:r>
            <a:endParaRPr lang="en-US" sz="1200" dirty="0"/>
          </a:p>
        </p:txBody>
      </p:sp>
      <p:sp>
        <p:nvSpPr>
          <p:cNvPr id="33" name="Runde 1 5"/>
          <p:cNvSpPr/>
          <p:nvPr/>
        </p:nvSpPr>
        <p:spPr>
          <a:xfrm>
            <a:off x="9735068" y="2926080"/>
            <a:ext cx="1853123" cy="1234440"/>
          </a:xfrm>
          <a:prstGeom prst="roundRect">
            <a:avLst>
              <a:gd name="adj" fmla="val 8889"/>
            </a:avLst>
          </a:prstGeom>
          <a:solidFill>
            <a:schemeClr val="accent4"/>
          </a:solidFill>
          <a:ln/>
        </p:spPr>
      </p:sp>
      <p:sp>
        <p:nvSpPr>
          <p:cNvPr id="34" name="Text 27"/>
          <p:cNvSpPr txBox="1"/>
          <p:nvPr/>
        </p:nvSpPr>
        <p:spPr>
          <a:xfrm>
            <a:off x="9863084" y="3017520"/>
            <a:ext cx="1597091" cy="1051560"/>
          </a:xfrm>
          <a:prstGeom prst="rect">
            <a:avLst/>
          </a:prstGeom>
          <a:noFill/>
          <a:ln/>
        </p:spPr>
        <p:txBody>
          <a:bodyPr wrap="square" lIns="0" tIns="0" rIns="0" bIns="0" rtlCol="0" anchor="ctr"/>
          <a:lstStyle/>
          <a:p>
            <a:pPr indent="0" marL="0">
              <a:buNone/>
            </a:pPr>
            <a:r>
              <a:rPr lang="en-US" sz="1200" dirty="0">
                <a:solidFill>
                  <a:schemeClr val="tx1"/>
                </a:solidFill>
              </a:rPr>
              <a:t>noch nicht – Gruppe 2 war nicht beteiligt</a:t>
            </a:r>
            <a:endParaRPr lang="en-US" sz="1200" dirty="0"/>
          </a:p>
        </p:txBody>
      </p:sp>
      <p:sp>
        <p:nvSpPr>
          <p:cNvPr id="35" name="Text 28"/>
          <p:cNvSpPr txBox="1"/>
          <p:nvPr/>
        </p:nvSpPr>
        <p:spPr>
          <a:xfrm>
            <a:off x="548640" y="4343400"/>
            <a:ext cx="1143000" cy="1234440"/>
          </a:xfrm>
          <a:prstGeom prst="rect">
            <a:avLst/>
          </a:prstGeom>
          <a:noFill/>
          <a:ln/>
        </p:spPr>
        <p:txBody>
          <a:bodyPr wrap="square" lIns="0" tIns="0" rIns="0" bIns="0" rtlCol="0" anchor="ctr"/>
          <a:lstStyle/>
          <a:p>
            <a:pPr indent="0" marL="0">
              <a:buNone/>
            </a:pPr>
            <a:r>
              <a:rPr lang="en-US" sz="1400" b="1" dirty="0">
                <a:solidFill>
                  <a:schemeClr val="tx1"/>
                </a:solidFill>
              </a:rPr>
              <a:t>Runde 2</a:t>
            </a:r>
            <a:endParaRPr lang="en-US" sz="1400" dirty="0"/>
          </a:p>
          <a:p>
            <a:pPr indent="0" marL="0">
              <a:buNone/>
            </a:pPr>
            <a:r>
              <a:rPr lang="en-US" sz="1100" dirty="0">
                <a:solidFill>
                  <a:schemeClr val="tx2"/>
                </a:solidFill>
              </a:rPr>
              <a:t>ab PVA 5</a:t>
            </a:r>
            <a:endParaRPr lang="en-US" sz="1400" dirty="0"/>
          </a:p>
        </p:txBody>
      </p:sp>
      <p:sp>
        <p:nvSpPr>
          <p:cNvPr id="36" name="Runde 2 1"/>
          <p:cNvSpPr/>
          <p:nvPr/>
        </p:nvSpPr>
        <p:spPr>
          <a:xfrm>
            <a:off x="1883664" y="4343400"/>
            <a:ext cx="1853123" cy="1234440"/>
          </a:xfrm>
          <a:prstGeom prst="roundRect">
            <a:avLst>
              <a:gd name="adj" fmla="val 8889"/>
            </a:avLst>
          </a:prstGeom>
          <a:solidFill>
            <a:schemeClr val="bg1"/>
          </a:solidFill>
          <a:ln w="15875">
            <a:solidFill>
              <a:srgbClr val="D5DDE4"/>
            </a:solidFill>
            <a:prstDash val="dash"/>
          </a:ln>
        </p:spPr>
      </p:sp>
      <p:sp>
        <p:nvSpPr>
          <p:cNvPr id="37" name="Text 30"/>
          <p:cNvSpPr txBox="1"/>
          <p:nvPr/>
        </p:nvSpPr>
        <p:spPr>
          <a:xfrm>
            <a:off x="2011680" y="4434840"/>
            <a:ext cx="1597091" cy="1051560"/>
          </a:xfrm>
          <a:prstGeom prst="rect">
            <a:avLst/>
          </a:prstGeom>
          <a:noFill/>
          <a:ln/>
        </p:spPr>
        <p:txBody>
          <a:bodyPr wrap="square" lIns="0" tIns="0" rIns="0" bIns="0" rtlCol="0" anchor="ctr"/>
          <a:lstStyle/>
          <a:p>
            <a:pPr indent="0" marL="0">
              <a:buNone/>
            </a:pPr>
            <a:r>
              <a:rPr lang="en-US" sz="1200" dirty="0">
                <a:solidFill>
                  <a:schemeClr val="tx1"/>
                </a:solidFill>
              </a:rPr>
              <a:t>Interview PVA 5 mit 22 offenen Punkten</a:t>
            </a:r>
            <a:endParaRPr lang="en-US" sz="1200" dirty="0"/>
          </a:p>
        </p:txBody>
      </p:sp>
      <p:sp>
        <p:nvSpPr>
          <p:cNvPr id="38" name="Runde 2 2"/>
          <p:cNvSpPr/>
          <p:nvPr/>
        </p:nvSpPr>
        <p:spPr>
          <a:xfrm>
            <a:off x="3846515" y="4343400"/>
            <a:ext cx="1853123" cy="1234440"/>
          </a:xfrm>
          <a:prstGeom prst="roundRect">
            <a:avLst>
              <a:gd name="adj" fmla="val 8889"/>
            </a:avLst>
          </a:prstGeom>
          <a:solidFill>
            <a:schemeClr val="bg1"/>
          </a:solidFill>
          <a:ln w="15875">
            <a:solidFill>
              <a:srgbClr val="D5DDE4"/>
            </a:solidFill>
            <a:prstDash val="dash"/>
          </a:ln>
        </p:spPr>
      </p:sp>
      <p:sp>
        <p:nvSpPr>
          <p:cNvPr id="39" name="Text 32"/>
          <p:cNvSpPr txBox="1"/>
          <p:nvPr/>
        </p:nvSpPr>
        <p:spPr>
          <a:xfrm>
            <a:off x="3974531" y="4434840"/>
            <a:ext cx="1597091" cy="1051560"/>
          </a:xfrm>
          <a:prstGeom prst="rect">
            <a:avLst/>
          </a:prstGeom>
          <a:noFill/>
          <a:ln/>
        </p:spPr>
        <p:txBody>
          <a:bodyPr wrap="square" lIns="0" tIns="0" rIns="0" bIns="0" rtlCol="0" anchor="ctr"/>
          <a:lstStyle/>
          <a:p>
            <a:pPr indent="0" marL="0">
              <a:buNone/>
            </a:pPr>
            <a:r>
              <a:rPr lang="en-US" sz="1200" dirty="0">
                <a:solidFill>
                  <a:schemeClr val="tx1"/>
                </a:solidFill>
              </a:rPr>
              <a:t>v0.7: jede A- und S-Quelle bestätigt, geändert oder gestrichen</a:t>
            </a:r>
            <a:endParaRPr lang="en-US" sz="1200" dirty="0"/>
          </a:p>
        </p:txBody>
      </p:sp>
      <p:sp>
        <p:nvSpPr>
          <p:cNvPr id="40" name="Runde 2 3"/>
          <p:cNvSpPr/>
          <p:nvPr/>
        </p:nvSpPr>
        <p:spPr>
          <a:xfrm>
            <a:off x="5809366" y="4343400"/>
            <a:ext cx="1853123" cy="1234440"/>
          </a:xfrm>
          <a:prstGeom prst="roundRect">
            <a:avLst>
              <a:gd name="adj" fmla="val 8889"/>
            </a:avLst>
          </a:prstGeom>
          <a:solidFill>
            <a:schemeClr val="bg1"/>
          </a:solidFill>
          <a:ln w="15875">
            <a:solidFill>
              <a:srgbClr val="D5DDE4"/>
            </a:solidFill>
            <a:prstDash val="dash"/>
          </a:ln>
        </p:spPr>
      </p:sp>
      <p:sp>
        <p:nvSpPr>
          <p:cNvPr id="41" name="Text 34"/>
          <p:cNvSpPr txBox="1"/>
          <p:nvPr/>
        </p:nvSpPr>
        <p:spPr>
          <a:xfrm>
            <a:off x="5937382" y="4434840"/>
            <a:ext cx="1597091" cy="1051560"/>
          </a:xfrm>
          <a:prstGeom prst="rect">
            <a:avLst/>
          </a:prstGeom>
          <a:noFill/>
          <a:ln/>
        </p:spPr>
        <p:txBody>
          <a:bodyPr wrap="square" lIns="0" tIns="0" rIns="0" bIns="0" rtlCol="0" anchor="ctr"/>
          <a:lstStyle/>
          <a:p>
            <a:pPr indent="0" marL="0">
              <a:buNone/>
            </a:pPr>
            <a:r>
              <a:rPr lang="en-US" sz="1200" dirty="0">
                <a:solidFill>
                  <a:schemeClr val="tx1"/>
                </a:solidFill>
              </a:rPr>
              <a:t>Review der Spezifikation durch Gruppe 2</a:t>
            </a:r>
            <a:endParaRPr lang="en-US" sz="1200" dirty="0"/>
          </a:p>
        </p:txBody>
      </p:sp>
      <p:sp>
        <p:nvSpPr>
          <p:cNvPr id="42" name="Runde 2 4"/>
          <p:cNvSpPr/>
          <p:nvPr/>
        </p:nvSpPr>
        <p:spPr>
          <a:xfrm>
            <a:off x="7772217" y="4343400"/>
            <a:ext cx="1853123" cy="1234440"/>
          </a:xfrm>
          <a:prstGeom prst="roundRect">
            <a:avLst>
              <a:gd name="adj" fmla="val 8889"/>
            </a:avLst>
          </a:prstGeom>
          <a:solidFill>
            <a:schemeClr val="bg1"/>
          </a:solidFill>
          <a:ln w="15875">
            <a:solidFill>
              <a:srgbClr val="D5DDE4"/>
            </a:solidFill>
            <a:prstDash val="dash"/>
          </a:ln>
        </p:spPr>
      </p:sp>
      <p:sp>
        <p:nvSpPr>
          <p:cNvPr id="43" name="Text 36"/>
          <p:cNvSpPr txBox="1"/>
          <p:nvPr/>
        </p:nvSpPr>
        <p:spPr>
          <a:xfrm>
            <a:off x="7900233" y="4434840"/>
            <a:ext cx="1597091" cy="1051560"/>
          </a:xfrm>
          <a:prstGeom prst="rect">
            <a:avLst/>
          </a:prstGeom>
          <a:noFill/>
          <a:ln/>
        </p:spPr>
        <p:txBody>
          <a:bodyPr wrap="square" lIns="0" tIns="0" rIns="0" bIns="0" rtlCol="0" anchor="ctr"/>
          <a:lstStyle/>
          <a:p>
            <a:pPr indent="0" marL="0">
              <a:buNone/>
            </a:pPr>
            <a:r>
              <a:rPr lang="en-US" sz="1200" dirty="0">
                <a:solidFill>
                  <a:schemeClr val="tx1"/>
                </a:solidFill>
              </a:rPr>
              <a:t>Änderungsanträge nach der Freigabe</a:t>
            </a:r>
            <a:endParaRPr lang="en-US" sz="1200" dirty="0"/>
          </a:p>
        </p:txBody>
      </p:sp>
      <p:sp>
        <p:nvSpPr>
          <p:cNvPr id="44" name="Runde 2 5"/>
          <p:cNvSpPr/>
          <p:nvPr/>
        </p:nvSpPr>
        <p:spPr>
          <a:xfrm>
            <a:off x="9735068" y="4343400"/>
            <a:ext cx="1853123" cy="1234440"/>
          </a:xfrm>
          <a:prstGeom prst="roundRect">
            <a:avLst>
              <a:gd name="adj" fmla="val 8889"/>
            </a:avLst>
          </a:prstGeom>
          <a:solidFill>
            <a:schemeClr val="bg1"/>
          </a:solidFill>
          <a:ln w="15875">
            <a:solidFill>
              <a:srgbClr val="D5DDE4"/>
            </a:solidFill>
            <a:prstDash val="dash"/>
          </a:ln>
        </p:spPr>
      </p:sp>
      <p:sp>
        <p:nvSpPr>
          <p:cNvPr id="45" name="Text 38"/>
          <p:cNvSpPr txBox="1"/>
          <p:nvPr/>
        </p:nvSpPr>
        <p:spPr>
          <a:xfrm>
            <a:off x="9863084" y="4434840"/>
            <a:ext cx="1597091" cy="1051560"/>
          </a:xfrm>
          <a:prstGeom prst="rect">
            <a:avLst/>
          </a:prstGeom>
          <a:noFill/>
          <a:ln/>
        </p:spPr>
        <p:txBody>
          <a:bodyPr wrap="square" lIns="0" tIns="0" rIns="0" bIns="0" rtlCol="0" anchor="ctr"/>
          <a:lstStyle/>
          <a:p>
            <a:pPr indent="0" marL="0">
              <a:buNone/>
            </a:pPr>
            <a:r>
              <a:rPr lang="en-US" sz="1200" dirty="0">
                <a:solidFill>
                  <a:schemeClr val="tx1"/>
                </a:solidFill>
              </a:rPr>
              <a:t>Szenarien durchspielen, Freigabe v1.0</a:t>
            </a:r>
            <a:endParaRPr lang="en-US" sz="1200" dirty="0"/>
          </a:p>
        </p:txBody>
      </p:sp>
      <p:sp>
        <p:nvSpPr>
          <p:cNvPr id="46" name="Text 39"/>
          <p:cNvSpPr txBox="1"/>
          <p:nvPr/>
        </p:nvSpPr>
        <p:spPr>
          <a:xfrm>
            <a:off x="548640" y="5733288"/>
            <a:ext cx="2743200" cy="274320"/>
          </a:xfrm>
          <a:prstGeom prst="rect">
            <a:avLst/>
          </a:prstGeom>
          <a:noFill/>
          <a:ln/>
        </p:spPr>
        <p:txBody>
          <a:bodyPr wrap="square" lIns="0" tIns="0" rIns="0" bIns="0" rtlCol="0" anchor="ctr"/>
          <a:lstStyle/>
          <a:p>
            <a:pPr indent="0" marL="0">
              <a:buNone/>
            </a:pPr>
            <a:r>
              <a:rPr lang="en-US" sz="1200" b="1" dirty="0">
                <a:solidFill>
                  <a:schemeClr val="tx1"/>
                </a:solidFill>
              </a:rPr>
              <a:t>Jede Anforderung nennt ihre Quelle:</a:t>
            </a:r>
            <a:endParaRPr lang="en-US" sz="1200" dirty="0"/>
          </a:p>
        </p:txBody>
      </p:sp>
      <p:sp>
        <p:nvSpPr>
          <p:cNvPr id="47" name="Etikett F/N"/>
          <p:cNvSpPr/>
          <p:nvPr/>
        </p:nvSpPr>
        <p:spPr>
          <a:xfrm>
            <a:off x="3337560" y="5733288"/>
            <a:ext cx="457200" cy="274320"/>
          </a:xfrm>
          <a:prstGeom prst="roundRect">
            <a:avLst>
              <a:gd name="adj" fmla="val 50000"/>
            </a:avLst>
          </a:prstGeom>
          <a:solidFill>
            <a:schemeClr val="accent1"/>
          </a:solidFill>
          <a:ln/>
        </p:spPr>
      </p:sp>
      <p:sp>
        <p:nvSpPr>
          <p:cNvPr id="48" name="Text 41"/>
          <p:cNvSpPr txBox="1"/>
          <p:nvPr/>
        </p:nvSpPr>
        <p:spPr>
          <a:xfrm>
            <a:off x="3337560" y="573328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rPr>
              <a:t>F/N</a:t>
            </a:r>
            <a:endParaRPr lang="en-US" sz="1100" dirty="0"/>
          </a:p>
        </p:txBody>
      </p:sp>
      <p:sp>
        <p:nvSpPr>
          <p:cNvPr id="49" name="Text 42"/>
          <p:cNvSpPr txBox="1"/>
          <p:nvPr/>
        </p:nvSpPr>
        <p:spPr>
          <a:xfrm>
            <a:off x="3867912" y="5733288"/>
            <a:ext cx="1463040" cy="274320"/>
          </a:xfrm>
          <a:prstGeom prst="rect">
            <a:avLst/>
          </a:prstGeom>
          <a:noFill/>
          <a:ln/>
        </p:spPr>
        <p:txBody>
          <a:bodyPr wrap="square" lIns="0" tIns="0" rIns="0" bIns="0" rtlCol="0" anchor="ctr"/>
          <a:lstStyle/>
          <a:p>
            <a:pPr indent="0" marL="0">
              <a:buNone/>
            </a:pPr>
            <a:r>
              <a:rPr lang="en-US" sz="1200" dirty="0">
                <a:solidFill>
                  <a:schemeClr val="tx2"/>
                </a:solidFill>
              </a:rPr>
              <a:t>Folie/Notiz Gruppe 2</a:t>
            </a:r>
            <a:endParaRPr lang="en-US" sz="1200" dirty="0"/>
          </a:p>
        </p:txBody>
      </p:sp>
      <p:sp>
        <p:nvSpPr>
          <p:cNvPr id="50" name="Etikett A"/>
          <p:cNvSpPr/>
          <p:nvPr/>
        </p:nvSpPr>
        <p:spPr>
          <a:xfrm>
            <a:off x="5394960" y="5733288"/>
            <a:ext cx="457200" cy="274320"/>
          </a:xfrm>
          <a:prstGeom prst="roundRect">
            <a:avLst>
              <a:gd name="adj" fmla="val 50000"/>
            </a:avLst>
          </a:prstGeom>
          <a:solidFill>
            <a:srgbClr val="B7791F"/>
          </a:solidFill>
          <a:ln/>
        </p:spPr>
      </p:sp>
      <p:sp>
        <p:nvSpPr>
          <p:cNvPr id="51" name="Text 44"/>
          <p:cNvSpPr txBox="1"/>
          <p:nvPr/>
        </p:nvSpPr>
        <p:spPr>
          <a:xfrm>
            <a:off x="5394960" y="573328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52" name="Text 45"/>
          <p:cNvSpPr txBox="1"/>
          <p:nvPr/>
        </p:nvSpPr>
        <p:spPr>
          <a:xfrm>
            <a:off x="5925312" y="5733288"/>
            <a:ext cx="1463040" cy="274320"/>
          </a:xfrm>
          <a:prstGeom prst="rect">
            <a:avLst/>
          </a:prstGeom>
          <a:noFill/>
          <a:ln/>
        </p:spPr>
        <p:txBody>
          <a:bodyPr wrap="square" lIns="0" tIns="0" rIns="0" bIns="0" rtlCol="0" anchor="ctr"/>
          <a:lstStyle/>
          <a:p>
            <a:pPr indent="0" marL="0">
              <a:buNone/>
            </a:pPr>
            <a:r>
              <a:rPr lang="en-US" sz="1200" dirty="0">
                <a:solidFill>
                  <a:schemeClr val="tx2"/>
                </a:solidFill>
              </a:rPr>
              <a:t>Annahme</a:t>
            </a:r>
            <a:endParaRPr lang="en-US" sz="1200" dirty="0"/>
          </a:p>
        </p:txBody>
      </p:sp>
      <p:sp>
        <p:nvSpPr>
          <p:cNvPr id="53" name="Etikett B"/>
          <p:cNvSpPr/>
          <p:nvPr/>
        </p:nvSpPr>
        <p:spPr>
          <a:xfrm>
            <a:off x="7452360" y="5733288"/>
            <a:ext cx="457200" cy="274320"/>
          </a:xfrm>
          <a:prstGeom prst="roundRect">
            <a:avLst>
              <a:gd name="adj" fmla="val 50000"/>
            </a:avLst>
          </a:prstGeom>
          <a:solidFill>
            <a:srgbClr val="5A6B7B"/>
          </a:solidFill>
          <a:ln/>
        </p:spPr>
      </p:sp>
      <p:sp>
        <p:nvSpPr>
          <p:cNvPr id="54" name="Text 47"/>
          <p:cNvSpPr txBox="1"/>
          <p:nvPr/>
        </p:nvSpPr>
        <p:spPr>
          <a:xfrm>
            <a:off x="7452360" y="573328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55" name="Text 48"/>
          <p:cNvSpPr txBox="1"/>
          <p:nvPr/>
        </p:nvSpPr>
        <p:spPr>
          <a:xfrm>
            <a:off x="7982712" y="5733288"/>
            <a:ext cx="1463040" cy="274320"/>
          </a:xfrm>
          <a:prstGeom prst="rect">
            <a:avLst/>
          </a:prstGeom>
          <a:noFill/>
          <a:ln/>
        </p:spPr>
        <p:txBody>
          <a:bodyPr wrap="square" lIns="0" tIns="0" rIns="0" bIns="0" rtlCol="0" anchor="ctr"/>
          <a:lstStyle/>
          <a:p>
            <a:pPr indent="0" marL="0">
              <a:buNone/>
            </a:pPr>
            <a:r>
              <a:rPr lang="en-US" sz="1200" dirty="0">
                <a:solidFill>
                  <a:schemeClr val="tx2"/>
                </a:solidFill>
              </a:rPr>
              <a:t>Benchmark</a:t>
            </a:r>
            <a:endParaRPr lang="en-US" sz="1200" dirty="0"/>
          </a:p>
        </p:txBody>
      </p:sp>
      <p:sp>
        <p:nvSpPr>
          <p:cNvPr id="56" name="Etikett S"/>
          <p:cNvSpPr/>
          <p:nvPr/>
        </p:nvSpPr>
        <p:spPr>
          <a:xfrm>
            <a:off x="9509760" y="5733288"/>
            <a:ext cx="457200" cy="274320"/>
          </a:xfrm>
          <a:prstGeom prst="roundRect">
            <a:avLst>
              <a:gd name="adj" fmla="val 50000"/>
            </a:avLst>
          </a:prstGeom>
          <a:solidFill>
            <a:srgbClr val="B7791F"/>
          </a:solidFill>
          <a:ln/>
        </p:spPr>
      </p:sp>
      <p:sp>
        <p:nvSpPr>
          <p:cNvPr id="57" name="Text 50"/>
          <p:cNvSpPr txBox="1"/>
          <p:nvPr/>
        </p:nvSpPr>
        <p:spPr>
          <a:xfrm>
            <a:off x="9509760" y="573328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rPr>
              <a:t>S</a:t>
            </a:r>
            <a:endParaRPr lang="en-US" sz="1100" dirty="0"/>
          </a:p>
        </p:txBody>
      </p:sp>
      <p:sp>
        <p:nvSpPr>
          <p:cNvPr id="58" name="Text 51"/>
          <p:cNvSpPr txBox="1"/>
          <p:nvPr/>
        </p:nvSpPr>
        <p:spPr>
          <a:xfrm>
            <a:off x="10040112" y="5733288"/>
            <a:ext cx="1463040" cy="274320"/>
          </a:xfrm>
          <a:prstGeom prst="rect">
            <a:avLst/>
          </a:prstGeom>
          <a:noFill/>
          <a:ln/>
        </p:spPr>
        <p:txBody>
          <a:bodyPr wrap="square" lIns="0" tIns="0" rIns="0" bIns="0" rtlCol="0" anchor="ctr"/>
          <a:lstStyle/>
          <a:p>
            <a:pPr indent="0" marL="0">
              <a:buNone/>
            </a:pPr>
            <a:r>
              <a:rPr lang="en-US" sz="1200" dirty="0">
                <a:solidFill>
                  <a:schemeClr val="tx2"/>
                </a:solidFill>
              </a:rPr>
              <a:t>Simulation</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STAKEHOLDER UND SYSTEMKONTEXT</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12 Stakeholder – entscheiden muss die Geschäftsleitung</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Einfluss und Interesse sind unsere Einschätzung (Hypothese vor PVA 5); sechs Stakeholder nennt Gruppe 2 selbst (Folie 5).</a:t>
            </a:r>
            <a:endParaRPr lang="en-US" sz="1600" dirty="0"/>
          </a:p>
        </p:txBody>
      </p:sp>
      <p:sp>
        <p:nvSpPr>
          <p:cNvPr id="5" name="Quadrant zufriedenstellen"/>
          <p:cNvSpPr/>
          <p:nvPr/>
        </p:nvSpPr>
        <p:spPr>
          <a:xfrm>
            <a:off x="960120" y="1920240"/>
            <a:ext cx="2788920" cy="1783080"/>
          </a:xfrm>
          <a:prstGeom prst="roundRect">
            <a:avLst>
              <a:gd name="adj" fmla="val 6154"/>
            </a:avLst>
          </a:prstGeom>
          <a:solidFill>
            <a:schemeClr val="bg2"/>
          </a:solidFill>
          <a:ln/>
        </p:spPr>
      </p:sp>
      <p:sp>
        <p:nvSpPr>
          <p:cNvPr id="6" name="Text 4"/>
          <p:cNvSpPr txBox="1"/>
          <p:nvPr/>
        </p:nvSpPr>
        <p:spPr>
          <a:xfrm>
            <a:off x="1143000" y="2084832"/>
            <a:ext cx="2423160" cy="274320"/>
          </a:xfrm>
          <a:prstGeom prst="rect">
            <a:avLst/>
          </a:prstGeom>
          <a:noFill/>
          <a:ln/>
        </p:spPr>
        <p:txBody>
          <a:bodyPr wrap="square" lIns="0" tIns="0" rIns="0" bIns="0" rtlCol="0" anchor="t"/>
          <a:lstStyle/>
          <a:p>
            <a:pPr indent="0" marL="0">
              <a:buNone/>
            </a:pPr>
            <a:r>
              <a:rPr lang="en-US" sz="1100" b="1" spc="200" kern="0" dirty="0">
                <a:solidFill>
                  <a:schemeClr val="tx2"/>
                </a:solidFill>
              </a:rPr>
              <a:t>ZUFRIEDENSTELLEN</a:t>
            </a:r>
            <a:endParaRPr lang="en-US" sz="1100" dirty="0"/>
          </a:p>
        </p:txBody>
      </p:sp>
      <p:sp>
        <p:nvSpPr>
          <p:cNvPr id="7" name="Text 5"/>
          <p:cNvSpPr txBox="1"/>
          <p:nvPr/>
        </p:nvSpPr>
        <p:spPr>
          <a:xfrm>
            <a:off x="1143000" y="2423160"/>
            <a:ext cx="2423160" cy="114300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IT (Betrieb, Make-or-Buy)</a:t>
            </a:r>
            <a:endParaRPr lang="en-US" sz="1500" dirty="0"/>
          </a:p>
          <a:p>
            <a:pPr indent="0" marL="0">
              <a:lnSpc>
                <a:spcPct val="110000"/>
              </a:lnSpc>
              <a:buNone/>
            </a:pPr>
            <a:r>
              <a:rPr lang="en-US" sz="1500" dirty="0">
                <a:solidFill>
                  <a:schemeClr val="tx1"/>
                </a:solidFill>
              </a:rPr>
              <a:t>Datenschutz (Veto)</a:t>
            </a:r>
            <a:endParaRPr lang="en-US" sz="1500" dirty="0"/>
          </a:p>
        </p:txBody>
      </p:sp>
      <p:sp>
        <p:nvSpPr>
          <p:cNvPr id="8" name="Quadrant eng einbinden"/>
          <p:cNvSpPr/>
          <p:nvPr/>
        </p:nvSpPr>
        <p:spPr>
          <a:xfrm>
            <a:off x="3840480" y="1920240"/>
            <a:ext cx="2788920" cy="1783080"/>
          </a:xfrm>
          <a:prstGeom prst="roundRect">
            <a:avLst>
              <a:gd name="adj" fmla="val 6154"/>
            </a:avLst>
          </a:prstGeom>
          <a:solidFill>
            <a:schemeClr val="accent4"/>
          </a:solidFill>
          <a:ln/>
        </p:spPr>
      </p:sp>
      <p:sp>
        <p:nvSpPr>
          <p:cNvPr id="9" name="Text 7"/>
          <p:cNvSpPr txBox="1"/>
          <p:nvPr/>
        </p:nvSpPr>
        <p:spPr>
          <a:xfrm>
            <a:off x="4023360" y="2084832"/>
            <a:ext cx="242316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ENG EINBINDEN</a:t>
            </a:r>
            <a:endParaRPr lang="en-US" sz="1100" dirty="0"/>
          </a:p>
        </p:txBody>
      </p:sp>
      <p:sp>
        <p:nvSpPr>
          <p:cNvPr id="10" name="Text 8"/>
          <p:cNvSpPr txBox="1"/>
          <p:nvPr/>
        </p:nvSpPr>
        <p:spPr>
          <a:xfrm>
            <a:off x="4023360" y="2423160"/>
            <a:ext cx="2423160" cy="114300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Geschäftsleitung</a:t>
            </a:r>
            <a:endParaRPr lang="en-US" sz="1500" dirty="0"/>
          </a:p>
          <a:p>
            <a:pPr indent="0" marL="0">
              <a:lnSpc>
                <a:spcPct val="110000"/>
              </a:lnSpc>
              <a:buNone/>
            </a:pPr>
            <a:r>
              <a:rPr lang="en-US" sz="1500" b="1" dirty="0">
                <a:solidFill>
                  <a:schemeClr val="tx1"/>
                </a:solidFill>
              </a:rPr>
              <a:t>Vereine</a:t>
            </a:r>
            <a:endParaRPr lang="en-US" sz="1500" dirty="0"/>
          </a:p>
        </p:txBody>
      </p:sp>
      <p:sp>
        <p:nvSpPr>
          <p:cNvPr id="11" name="Quadrant beobachten"/>
          <p:cNvSpPr/>
          <p:nvPr/>
        </p:nvSpPr>
        <p:spPr>
          <a:xfrm>
            <a:off x="960120" y="3794760"/>
            <a:ext cx="2788920" cy="1783080"/>
          </a:xfrm>
          <a:prstGeom prst="roundRect">
            <a:avLst>
              <a:gd name="adj" fmla="val 6154"/>
            </a:avLst>
          </a:prstGeom>
          <a:solidFill>
            <a:schemeClr val="bg2"/>
          </a:solidFill>
          <a:ln/>
        </p:spPr>
      </p:sp>
      <p:sp>
        <p:nvSpPr>
          <p:cNvPr id="12" name="Text 10"/>
          <p:cNvSpPr txBox="1"/>
          <p:nvPr/>
        </p:nvSpPr>
        <p:spPr>
          <a:xfrm>
            <a:off x="1143000" y="3959352"/>
            <a:ext cx="2423160" cy="274320"/>
          </a:xfrm>
          <a:prstGeom prst="rect">
            <a:avLst/>
          </a:prstGeom>
          <a:noFill/>
          <a:ln/>
        </p:spPr>
        <p:txBody>
          <a:bodyPr wrap="square" lIns="0" tIns="0" rIns="0" bIns="0" rtlCol="0" anchor="t"/>
          <a:lstStyle/>
          <a:p>
            <a:pPr indent="0" marL="0">
              <a:buNone/>
            </a:pPr>
            <a:r>
              <a:rPr lang="en-US" sz="1100" b="1" spc="200" kern="0" dirty="0">
                <a:solidFill>
                  <a:schemeClr val="tx2"/>
                </a:solidFill>
              </a:rPr>
              <a:t>BEOBACHTEN</a:t>
            </a:r>
            <a:endParaRPr lang="en-US" sz="1100" dirty="0"/>
          </a:p>
        </p:txBody>
      </p:sp>
      <p:sp>
        <p:nvSpPr>
          <p:cNvPr id="13" name="Text 11"/>
          <p:cNvSpPr txBox="1"/>
          <p:nvPr/>
        </p:nvSpPr>
        <p:spPr>
          <a:xfrm>
            <a:off x="1143000" y="4297680"/>
            <a:ext cx="2423160" cy="114300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Trainingsgruppen · Betrieb der Anlage</a:t>
            </a:r>
            <a:endParaRPr lang="en-US" sz="1500" dirty="0"/>
          </a:p>
          <a:p>
            <a:pPr indent="0" marL="0">
              <a:lnSpc>
                <a:spcPct val="110000"/>
              </a:lnSpc>
              <a:buNone/>
            </a:pPr>
            <a:r>
              <a:rPr lang="en-US" sz="1500" dirty="0">
                <a:solidFill>
                  <a:schemeClr val="tx1"/>
                </a:solidFill>
              </a:rPr>
              <a:t>Gäste · Buchhaltung</a:t>
            </a:r>
            <a:endParaRPr lang="en-US" sz="1500" dirty="0"/>
          </a:p>
        </p:txBody>
      </p:sp>
      <p:sp>
        <p:nvSpPr>
          <p:cNvPr id="14" name="Quadrant informieren"/>
          <p:cNvSpPr/>
          <p:nvPr/>
        </p:nvSpPr>
        <p:spPr>
          <a:xfrm>
            <a:off x="3840480" y="3794760"/>
            <a:ext cx="2788920" cy="1783080"/>
          </a:xfrm>
          <a:prstGeom prst="roundRect">
            <a:avLst>
              <a:gd name="adj" fmla="val 6154"/>
            </a:avLst>
          </a:prstGeom>
          <a:solidFill>
            <a:schemeClr val="bg2"/>
          </a:solidFill>
          <a:ln/>
        </p:spPr>
      </p:sp>
      <p:sp>
        <p:nvSpPr>
          <p:cNvPr id="15" name="Text 13"/>
          <p:cNvSpPr txBox="1"/>
          <p:nvPr/>
        </p:nvSpPr>
        <p:spPr>
          <a:xfrm>
            <a:off x="4023360" y="3959352"/>
            <a:ext cx="2423160" cy="274320"/>
          </a:xfrm>
          <a:prstGeom prst="rect">
            <a:avLst/>
          </a:prstGeom>
          <a:noFill/>
          <a:ln/>
        </p:spPr>
        <p:txBody>
          <a:bodyPr wrap="square" lIns="0" tIns="0" rIns="0" bIns="0" rtlCol="0" anchor="t"/>
          <a:lstStyle/>
          <a:p>
            <a:pPr indent="0" marL="0">
              <a:buNone/>
            </a:pPr>
            <a:r>
              <a:rPr lang="en-US" sz="1100" b="1" spc="200" kern="0" dirty="0">
                <a:solidFill>
                  <a:schemeClr val="tx2"/>
                </a:solidFill>
              </a:rPr>
              <a:t>INFORMIEREN</a:t>
            </a:r>
            <a:endParaRPr lang="en-US" sz="1100" dirty="0"/>
          </a:p>
        </p:txBody>
      </p:sp>
      <p:sp>
        <p:nvSpPr>
          <p:cNvPr id="16" name="Text 14"/>
          <p:cNvSpPr txBox="1"/>
          <p:nvPr/>
        </p:nvSpPr>
        <p:spPr>
          <a:xfrm>
            <a:off x="4023360" y="4297680"/>
            <a:ext cx="2423160" cy="114300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Empfang · Privatkunden</a:t>
            </a:r>
            <a:endParaRPr lang="en-US" sz="1500" dirty="0"/>
          </a:p>
          <a:p>
            <a:pPr indent="0" marL="0">
              <a:lnSpc>
                <a:spcPct val="110000"/>
              </a:lnSpc>
              <a:buNone/>
            </a:pPr>
            <a:r>
              <a:rPr lang="en-US" sz="1500" dirty="0">
                <a:solidFill>
                  <a:schemeClr val="tx1"/>
                </a:solidFill>
              </a:rPr>
              <a:t>Firmen · Trainer:innen</a:t>
            </a:r>
            <a:endParaRPr lang="en-US" sz="1500" dirty="0"/>
          </a:p>
        </p:txBody>
      </p:sp>
      <p:sp>
        <p:nvSpPr>
          <p:cNvPr id="17" name="Text 15"/>
          <p:cNvSpPr txBox="1"/>
          <p:nvPr/>
        </p:nvSpPr>
        <p:spPr>
          <a:xfrm rot="16200000">
            <a:off x="411480" y="3520440"/>
            <a:ext cx="457200" cy="365760"/>
          </a:xfrm>
          <a:prstGeom prst="rect">
            <a:avLst/>
          </a:prstGeom>
          <a:noFill/>
          <a:ln/>
        </p:spPr>
        <p:txBody>
          <a:bodyPr wrap="square" lIns="0" tIns="0" rIns="0" bIns="0" rtlCol="0" anchor="t"/>
          <a:lstStyle/>
          <a:p>
            <a:pPr algn="ctr" indent="0" marL="0">
              <a:buNone/>
            </a:pPr>
            <a:r>
              <a:rPr lang="en-US" sz="1100" dirty="0">
                <a:solidFill>
                  <a:schemeClr val="tx2"/>
                </a:solidFill>
              </a:rPr>
              <a:t>Einfluss ↑</a:t>
            </a:r>
            <a:endParaRPr lang="en-US" sz="1100" dirty="0"/>
          </a:p>
        </p:txBody>
      </p:sp>
      <p:sp>
        <p:nvSpPr>
          <p:cNvPr id="18" name="Text 16"/>
          <p:cNvSpPr txBox="1"/>
          <p:nvPr/>
        </p:nvSpPr>
        <p:spPr>
          <a:xfrm>
            <a:off x="960120" y="5623560"/>
            <a:ext cx="5669280" cy="256032"/>
          </a:xfrm>
          <a:prstGeom prst="rect">
            <a:avLst/>
          </a:prstGeom>
          <a:noFill/>
          <a:ln/>
        </p:spPr>
        <p:txBody>
          <a:bodyPr wrap="square" lIns="0" tIns="0" rIns="0" bIns="0" rtlCol="0" anchor="t"/>
          <a:lstStyle/>
          <a:p>
            <a:pPr algn="ctr" indent="0" marL="0">
              <a:buNone/>
            </a:pPr>
            <a:r>
              <a:rPr lang="en-US" sz="1100" dirty="0">
                <a:solidFill>
                  <a:schemeClr val="tx2"/>
                </a:solidFill>
              </a:rPr>
              <a:t>Interesse →</a:t>
            </a:r>
            <a:endParaRPr lang="en-US" sz="1100" dirty="0"/>
          </a:p>
        </p:txBody>
      </p:sp>
      <p:sp>
        <p:nvSpPr>
          <p:cNvPr id="19" name="Systemgrenze"/>
          <p:cNvSpPr/>
          <p:nvPr/>
        </p:nvSpPr>
        <p:spPr>
          <a:xfrm>
            <a:off x="6995160" y="1920240"/>
            <a:ext cx="4647895" cy="3703320"/>
          </a:xfrm>
          <a:prstGeom prst="roundRect">
            <a:avLst>
              <a:gd name="adj" fmla="val 2963"/>
            </a:avLst>
          </a:prstGeom>
          <a:solidFill>
            <a:schemeClr val="bg2"/>
          </a:solidFill>
          <a:ln/>
        </p:spPr>
      </p:sp>
      <p:sp>
        <p:nvSpPr>
          <p:cNvPr id="20" name="Text 18"/>
          <p:cNvSpPr txBox="1"/>
          <p:nvPr/>
        </p:nvSpPr>
        <p:spPr>
          <a:xfrm>
            <a:off x="7223760" y="2084832"/>
            <a:ext cx="4190695"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SYSTEMGRENZE (HYPOTHESE)</a:t>
            </a:r>
            <a:endParaRPr lang="en-US" sz="1100" dirty="0"/>
          </a:p>
        </p:txBody>
      </p:sp>
      <p:sp>
        <p:nvSpPr>
          <p:cNvPr id="21" name="Text 19"/>
          <p:cNvSpPr txBox="1"/>
          <p:nvPr/>
        </p:nvSpPr>
        <p:spPr>
          <a:xfrm>
            <a:off x="7223760" y="2468880"/>
            <a:ext cx="4190695" cy="3063240"/>
          </a:xfrm>
          <a:prstGeom prst="rect">
            <a:avLst/>
          </a:prstGeom>
          <a:noFill/>
          <a:ln/>
        </p:spPr>
        <p:txBody>
          <a:bodyPr wrap="square" lIns="0" tIns="0" rIns="0" bIns="0" rtlCol="0" anchor="t"/>
          <a:lstStyle/>
          <a:p>
            <a:pPr indent="0" marL="0">
              <a:buNone/>
            </a:pPr>
            <a:r>
              <a:rPr lang="en-US" sz="1300" b="1" dirty="0">
                <a:solidFill>
                  <a:schemeClr val="tx1"/>
                </a:solidFill>
              </a:rPr>
              <a:t>Mit dem System arbeiten</a:t>
            </a:r>
            <a:endParaRPr lang="en-US" sz="1300" dirty="0"/>
          </a:p>
          <a:p>
            <a:pPr indent="0" marL="0">
              <a:buNone/>
            </a:pPr>
            <a:r>
              <a:rPr lang="en-US" sz="1300" dirty="0">
                <a:solidFill>
                  <a:schemeClr val="tx2"/>
                </a:solidFill>
              </a:rPr>
              <a:t>Kundschaft, Vereine und Firmen, Trainer:innen, Empfang, Geschäftsleitung, Betrieb der Anlage, IT</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Umsysteme, Austausch offen</a:t>
            </a:r>
            <a:endParaRPr lang="en-US" sz="1300" dirty="0"/>
          </a:p>
          <a:p>
            <a:pPr indent="0" marL="0">
              <a:buNone/>
            </a:pPr>
            <a:r>
              <a:rPr lang="en-US" sz="1300" dirty="0">
                <a:solidFill>
                  <a:schemeClr val="tx2"/>
                </a:solidFill>
              </a:rPr>
              <a:t>Website, Zahlungsanbieter, Zutritt und Licht, Nachrichtenversand</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Ausgeschlossen (Folie 4)</a:t>
            </a:r>
            <a:endParaRPr lang="en-US" sz="1300" dirty="0"/>
          </a:p>
          <a:p>
            <a:pPr indent="0" marL="0">
              <a:buNone/>
            </a:pPr>
            <a:r>
              <a:rPr lang="en-US" sz="1300" dirty="0">
                <a:solidFill>
                  <a:schemeClr val="tx2"/>
                </a:solidFill>
              </a:rPr>
              <a:t>Buchhaltung, Personalplanung, Gastronomie, CRM</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2"/>
                </a:solidFill>
              </a:rPr>
              <a:t>Zielkonflikte K-01 bis K-05</a:t>
            </a:r>
            <a:endParaRPr lang="en-US" sz="1300" dirty="0"/>
          </a:p>
          <a:p>
            <a:pPr indent="0" marL="0">
              <a:buNone/>
            </a:pPr>
            <a:r>
              <a:rPr lang="en-US" sz="1300" dirty="0">
                <a:solidFill>
                  <a:schemeClr val="tx2"/>
                </a:solidFill>
              </a:rPr>
              <a:t>Vereine gegen Privatkunden am Abend, Stornoregeln, Self-Service gegen Empfang, Rechte der Trainer:innen, Datenumfang</a:t>
            </a:r>
            <a:endParaRPr lang="en-US" sz="1300" dirty="0"/>
          </a:p>
        </p:txBody>
      </p:sp>
      <p:sp>
        <p:nvSpPr>
          <p:cNvPr id="22" name="Text 20"/>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Konflikte  </a:t>
            </a:r>
            <a:pPr indent="0" marL="0">
              <a:buNone/>
            </a:pPr>
            <a:r>
              <a:rPr lang="en-US" sz="1100" dirty="0">
                <a:solidFill>
                  <a:schemeClr val="tx2"/>
                </a:solidFill>
              </a:rPr>
              <a:t>Entscheiden soll laut Gruppe 2 die Geschäftsleitung (Notiz zu Folie 5); in Version v0.6 ist kein Konflikt entschieden.</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ZIELE · ZIELHIERARCHIE (FOLIE 37)</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Drei Geschäftsziele: Auslastung, Aufwand, Zufriedenheit</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Die Ziele stammen aus Folie 4 von Gruppe 2 – die Messgrössen schlagen wir vor, die Zielwerte legt die Geschäftsleitung fest.</a:t>
            </a:r>
            <a:endParaRPr lang="en-US" sz="1600" dirty="0"/>
          </a:p>
        </p:txBody>
      </p:sp>
      <p:sp>
        <p:nvSpPr>
          <p:cNvPr id="5" name="Text 3"/>
          <p:cNvSpPr txBox="1"/>
          <p:nvPr/>
        </p:nvSpPr>
        <p:spPr>
          <a:xfrm>
            <a:off x="548640" y="1965960"/>
            <a:ext cx="1280160" cy="1097280"/>
          </a:xfrm>
          <a:prstGeom prst="rect">
            <a:avLst/>
          </a:prstGeom>
          <a:noFill/>
          <a:ln/>
        </p:spPr>
        <p:txBody>
          <a:bodyPr wrap="square" lIns="0" tIns="0" rIns="0" bIns="0" rtlCol="0" anchor="ctr"/>
          <a:lstStyle/>
          <a:p>
            <a:pPr indent="0" marL="0">
              <a:buNone/>
            </a:pPr>
            <a:r>
              <a:rPr lang="en-US" sz="1300" b="1" dirty="0">
                <a:solidFill>
                  <a:schemeClr val="tx2"/>
                </a:solidFill>
              </a:rPr>
              <a:t>Geschäfts-</a:t>
            </a:r>
            <a:endParaRPr lang="en-US" sz="1300" dirty="0"/>
          </a:p>
          <a:p>
            <a:pPr indent="0" marL="0">
              <a:buNone/>
            </a:pPr>
            <a:r>
              <a:rPr lang="en-US" sz="1300" b="1" dirty="0">
                <a:solidFill>
                  <a:schemeClr val="tx2"/>
                </a:solidFill>
              </a:rPr>
              <a:t>ziele</a:t>
            </a:r>
            <a:endParaRPr lang="en-US" sz="1300" dirty="0"/>
          </a:p>
        </p:txBody>
      </p:sp>
      <p:sp>
        <p:nvSpPr>
          <p:cNvPr id="6" name="GZ-1"/>
          <p:cNvSpPr/>
          <p:nvPr/>
        </p:nvSpPr>
        <p:spPr>
          <a:xfrm>
            <a:off x="1965960" y="1965960"/>
            <a:ext cx="3103778" cy="1097280"/>
          </a:xfrm>
          <a:prstGeom prst="roundRect">
            <a:avLst>
              <a:gd name="adj" fmla="val 10000"/>
            </a:avLst>
          </a:prstGeom>
          <a:solidFill>
            <a:schemeClr val="tx1"/>
          </a:solidFill>
          <a:ln/>
        </p:spPr>
      </p:sp>
      <p:sp>
        <p:nvSpPr>
          <p:cNvPr id="7" name="Text 5"/>
          <p:cNvSpPr txBox="1"/>
          <p:nvPr/>
        </p:nvSpPr>
        <p:spPr>
          <a:xfrm>
            <a:off x="2167128" y="2075688"/>
            <a:ext cx="2701442" cy="365760"/>
          </a:xfrm>
          <a:prstGeom prst="rect">
            <a:avLst/>
          </a:prstGeom>
          <a:noFill/>
          <a:ln/>
        </p:spPr>
        <p:txBody>
          <a:bodyPr wrap="square" lIns="0" tIns="0" rIns="0" bIns="0" rtlCol="0" anchor="t"/>
          <a:lstStyle/>
          <a:p>
            <a:pPr indent="0" marL="0">
              <a:buNone/>
            </a:pPr>
            <a:r>
              <a:rPr lang="en-US" sz="1500" b="1" dirty="0">
                <a:solidFill>
                  <a:schemeClr val="accent3"/>
                </a:solidFill>
              </a:rPr>
              <a:t>GZ-1  </a:t>
            </a:r>
            <a:pPr indent="0" marL="0">
              <a:buNone/>
            </a:pPr>
            <a:r>
              <a:rPr lang="en-US" sz="1500" b="1" dirty="0">
                <a:solidFill>
                  <a:schemeClr val="bg1"/>
                </a:solidFill>
              </a:rPr>
              <a:t>Kapazitäten besser nutzen</a:t>
            </a:r>
            <a:endParaRPr lang="en-US" sz="1500" dirty="0"/>
          </a:p>
        </p:txBody>
      </p:sp>
      <p:sp>
        <p:nvSpPr>
          <p:cNvPr id="8" name="Text 6"/>
          <p:cNvSpPr txBox="1"/>
          <p:nvPr/>
        </p:nvSpPr>
        <p:spPr>
          <a:xfrm>
            <a:off x="2167128" y="2468880"/>
            <a:ext cx="2701442" cy="502920"/>
          </a:xfrm>
          <a:prstGeom prst="rect">
            <a:avLst/>
          </a:prstGeom>
          <a:noFill/>
          <a:ln/>
        </p:spPr>
        <p:txBody>
          <a:bodyPr wrap="square" lIns="0" tIns="0" rIns="0" bIns="0" rtlCol="0" anchor="t"/>
          <a:lstStyle/>
          <a:p>
            <a:pPr indent="0" marL="0">
              <a:buNone/>
            </a:pPr>
            <a:r>
              <a:rPr lang="en-US" sz="1300" dirty="0">
                <a:solidFill>
                  <a:schemeClr val="accent6"/>
                </a:solidFill>
              </a:rPr>
              <a:t>Auslastung je Anlage: [x] % → [x] %</a:t>
            </a:r>
            <a:endParaRPr lang="en-US" sz="1300" dirty="0"/>
          </a:p>
        </p:txBody>
      </p:sp>
      <p:sp>
        <p:nvSpPr>
          <p:cNvPr id="9" name="GZ-2"/>
          <p:cNvSpPr/>
          <p:nvPr/>
        </p:nvSpPr>
        <p:spPr>
          <a:xfrm>
            <a:off x="5252618" y="1965960"/>
            <a:ext cx="3103778" cy="1097280"/>
          </a:xfrm>
          <a:prstGeom prst="roundRect">
            <a:avLst>
              <a:gd name="adj" fmla="val 10000"/>
            </a:avLst>
          </a:prstGeom>
          <a:solidFill>
            <a:schemeClr val="tx1"/>
          </a:solidFill>
          <a:ln/>
        </p:spPr>
      </p:sp>
      <p:sp>
        <p:nvSpPr>
          <p:cNvPr id="10" name="Text 8"/>
          <p:cNvSpPr txBox="1"/>
          <p:nvPr/>
        </p:nvSpPr>
        <p:spPr>
          <a:xfrm>
            <a:off x="5453786" y="2075688"/>
            <a:ext cx="2701442" cy="365760"/>
          </a:xfrm>
          <a:prstGeom prst="rect">
            <a:avLst/>
          </a:prstGeom>
          <a:noFill/>
          <a:ln/>
        </p:spPr>
        <p:txBody>
          <a:bodyPr wrap="square" lIns="0" tIns="0" rIns="0" bIns="0" rtlCol="0" anchor="t"/>
          <a:lstStyle/>
          <a:p>
            <a:pPr indent="0" marL="0">
              <a:buNone/>
            </a:pPr>
            <a:r>
              <a:rPr lang="en-US" sz="1500" b="1" dirty="0">
                <a:solidFill>
                  <a:schemeClr val="accent3"/>
                </a:solidFill>
              </a:rPr>
              <a:t>GZ-2  </a:t>
            </a:r>
            <a:pPr indent="0" marL="0">
              <a:buNone/>
            </a:pPr>
            <a:r>
              <a:rPr lang="en-US" sz="1500" b="1" dirty="0">
                <a:solidFill>
                  <a:schemeClr val="bg1"/>
                </a:solidFill>
              </a:rPr>
              <a:t>Aufwand reduzieren</a:t>
            </a:r>
            <a:endParaRPr lang="en-US" sz="1500" dirty="0"/>
          </a:p>
        </p:txBody>
      </p:sp>
      <p:sp>
        <p:nvSpPr>
          <p:cNvPr id="11" name="Text 9"/>
          <p:cNvSpPr txBox="1"/>
          <p:nvPr/>
        </p:nvSpPr>
        <p:spPr>
          <a:xfrm>
            <a:off x="5453786" y="2468880"/>
            <a:ext cx="2701442" cy="502920"/>
          </a:xfrm>
          <a:prstGeom prst="rect">
            <a:avLst/>
          </a:prstGeom>
          <a:noFill/>
          <a:ln/>
        </p:spPr>
        <p:txBody>
          <a:bodyPr wrap="square" lIns="0" tIns="0" rIns="0" bIns="0" rtlCol="0" anchor="t"/>
          <a:lstStyle/>
          <a:p>
            <a:pPr indent="0" marL="0">
              <a:buNone/>
            </a:pPr>
            <a:r>
              <a:rPr lang="en-US" sz="1300" dirty="0">
                <a:solidFill>
                  <a:schemeClr val="accent6"/>
                </a:solidFill>
              </a:rPr>
              <a:t>Arbeitszeit am Empfang für Reservationen: − [x] %</a:t>
            </a:r>
            <a:endParaRPr lang="en-US" sz="1300" dirty="0"/>
          </a:p>
        </p:txBody>
      </p:sp>
      <p:sp>
        <p:nvSpPr>
          <p:cNvPr id="12" name="GZ-3"/>
          <p:cNvSpPr/>
          <p:nvPr/>
        </p:nvSpPr>
        <p:spPr>
          <a:xfrm>
            <a:off x="8539277" y="1965960"/>
            <a:ext cx="3103778" cy="1097280"/>
          </a:xfrm>
          <a:prstGeom prst="roundRect">
            <a:avLst>
              <a:gd name="adj" fmla="val 10000"/>
            </a:avLst>
          </a:prstGeom>
          <a:solidFill>
            <a:schemeClr val="tx1"/>
          </a:solidFill>
          <a:ln/>
        </p:spPr>
      </p:sp>
      <p:sp>
        <p:nvSpPr>
          <p:cNvPr id="13" name="Text 11"/>
          <p:cNvSpPr txBox="1"/>
          <p:nvPr/>
        </p:nvSpPr>
        <p:spPr>
          <a:xfrm>
            <a:off x="8740445" y="2075688"/>
            <a:ext cx="2701442" cy="365760"/>
          </a:xfrm>
          <a:prstGeom prst="rect">
            <a:avLst/>
          </a:prstGeom>
          <a:noFill/>
          <a:ln/>
        </p:spPr>
        <p:txBody>
          <a:bodyPr wrap="square" lIns="0" tIns="0" rIns="0" bIns="0" rtlCol="0" anchor="t"/>
          <a:lstStyle/>
          <a:p>
            <a:pPr indent="0" marL="0">
              <a:buNone/>
            </a:pPr>
            <a:r>
              <a:rPr lang="en-US" sz="1500" b="1" dirty="0">
                <a:solidFill>
                  <a:schemeClr val="accent3"/>
                </a:solidFill>
              </a:rPr>
              <a:t>GZ-3  </a:t>
            </a:r>
            <a:pPr indent="0" marL="0">
              <a:buNone/>
            </a:pPr>
            <a:r>
              <a:rPr lang="en-US" sz="1500" b="1" dirty="0">
                <a:solidFill>
                  <a:schemeClr val="bg1"/>
                </a:solidFill>
              </a:rPr>
              <a:t>Komfortabler reservieren</a:t>
            </a:r>
            <a:endParaRPr lang="en-US" sz="1500" dirty="0"/>
          </a:p>
        </p:txBody>
      </p:sp>
      <p:sp>
        <p:nvSpPr>
          <p:cNvPr id="14" name="Text 12"/>
          <p:cNvSpPr txBox="1"/>
          <p:nvPr/>
        </p:nvSpPr>
        <p:spPr>
          <a:xfrm>
            <a:off x="8740445" y="2468880"/>
            <a:ext cx="2701442" cy="502920"/>
          </a:xfrm>
          <a:prstGeom prst="rect">
            <a:avLst/>
          </a:prstGeom>
          <a:noFill/>
          <a:ln/>
        </p:spPr>
        <p:txBody>
          <a:bodyPr wrap="square" lIns="0" tIns="0" rIns="0" bIns="0" rtlCol="0" anchor="t"/>
          <a:lstStyle/>
          <a:p>
            <a:pPr indent="0" marL="0">
              <a:buNone/>
            </a:pPr>
            <a:r>
              <a:rPr lang="en-US" sz="1300" dirty="0">
                <a:solidFill>
                  <a:schemeClr val="accent6"/>
                </a:solidFill>
              </a:rPr>
              <a:t>Zufriedenheit mit der Reservation (1–5): ≥ [x]</a:t>
            </a:r>
            <a:endParaRPr lang="en-US" sz="1300" dirty="0"/>
          </a:p>
        </p:txBody>
      </p:sp>
      <p:sp>
        <p:nvSpPr>
          <p:cNvPr id="15" name="Text 13"/>
          <p:cNvSpPr txBox="1"/>
          <p:nvPr/>
        </p:nvSpPr>
        <p:spPr>
          <a:xfrm>
            <a:off x="548640" y="3246120"/>
            <a:ext cx="1280160" cy="1005840"/>
          </a:xfrm>
          <a:prstGeom prst="rect">
            <a:avLst/>
          </a:prstGeom>
          <a:noFill/>
          <a:ln/>
        </p:spPr>
        <p:txBody>
          <a:bodyPr wrap="square" lIns="0" tIns="0" rIns="0" bIns="0" rtlCol="0" anchor="ctr"/>
          <a:lstStyle/>
          <a:p>
            <a:pPr indent="0" marL="0">
              <a:buNone/>
            </a:pPr>
            <a:r>
              <a:rPr lang="en-US" sz="1300" b="1" dirty="0">
                <a:solidFill>
                  <a:schemeClr val="tx2"/>
                </a:solidFill>
              </a:rPr>
              <a:t>Prozess-</a:t>
            </a:r>
            <a:endParaRPr lang="en-US" sz="1300" dirty="0"/>
          </a:p>
          <a:p>
            <a:pPr indent="0" marL="0">
              <a:buNone/>
            </a:pPr>
            <a:r>
              <a:rPr lang="en-US" sz="1300" b="1" dirty="0">
                <a:solidFill>
                  <a:schemeClr val="tx2"/>
                </a:solidFill>
              </a:rPr>
              <a:t>ziele</a:t>
            </a:r>
            <a:endParaRPr lang="en-US" sz="1300" dirty="0"/>
          </a:p>
        </p:txBody>
      </p:sp>
      <p:sp>
        <p:nvSpPr>
          <p:cNvPr id="16" name="PZ-1"/>
          <p:cNvSpPr/>
          <p:nvPr/>
        </p:nvSpPr>
        <p:spPr>
          <a:xfrm>
            <a:off x="1965960" y="3246120"/>
            <a:ext cx="2316404" cy="1005840"/>
          </a:xfrm>
          <a:prstGeom prst="roundRect">
            <a:avLst>
              <a:gd name="adj" fmla="val 10909"/>
            </a:avLst>
          </a:prstGeom>
          <a:solidFill>
            <a:schemeClr val="accent4"/>
          </a:solidFill>
          <a:ln/>
        </p:spPr>
      </p:sp>
      <p:sp>
        <p:nvSpPr>
          <p:cNvPr id="17" name="Text 15"/>
          <p:cNvSpPr txBox="1"/>
          <p:nvPr/>
        </p:nvSpPr>
        <p:spPr>
          <a:xfrm>
            <a:off x="2130552" y="3319272"/>
            <a:ext cx="1987220" cy="457200"/>
          </a:xfrm>
          <a:prstGeom prst="rect">
            <a:avLst/>
          </a:prstGeom>
          <a:noFill/>
          <a:ln/>
        </p:spPr>
        <p:txBody>
          <a:bodyPr wrap="square" lIns="0" tIns="0" rIns="0" bIns="0" rtlCol="0" anchor="t"/>
          <a:lstStyle/>
          <a:p>
            <a:pPr indent="0" marL="0">
              <a:buNone/>
            </a:pPr>
            <a:r>
              <a:rPr lang="en-US" sz="1300" b="1" dirty="0">
                <a:solidFill>
                  <a:schemeClr val="accent1"/>
                </a:solidFill>
              </a:rPr>
              <a:t>PZ-1  </a:t>
            </a:r>
            <a:pPr indent="0" marL="0">
              <a:buNone/>
            </a:pPr>
            <a:r>
              <a:rPr lang="en-US" sz="1300" b="1" dirty="0">
                <a:solidFill>
                  <a:schemeClr val="tx1"/>
                </a:solidFill>
              </a:rPr>
              <a:t>Ein Prozess für alle Kanäle</a:t>
            </a:r>
            <a:endParaRPr lang="en-US" sz="1300" dirty="0"/>
          </a:p>
        </p:txBody>
      </p:sp>
      <p:sp>
        <p:nvSpPr>
          <p:cNvPr id="18" name="Text 16"/>
          <p:cNvSpPr txBox="1"/>
          <p:nvPr/>
        </p:nvSpPr>
        <p:spPr>
          <a:xfrm>
            <a:off x="2130552" y="3840480"/>
            <a:ext cx="1987220" cy="329184"/>
          </a:xfrm>
          <a:prstGeom prst="rect">
            <a:avLst/>
          </a:prstGeom>
          <a:noFill/>
          <a:ln/>
        </p:spPr>
        <p:txBody>
          <a:bodyPr wrap="square" lIns="0" tIns="0" rIns="0" bIns="0" rtlCol="0" anchor="t"/>
          <a:lstStyle/>
          <a:p>
            <a:pPr indent="0" marL="0">
              <a:buNone/>
            </a:pPr>
            <a:r>
              <a:rPr lang="en-US" sz="1150" dirty="0">
                <a:solidFill>
                  <a:schemeClr val="tx2"/>
                </a:solidFill>
              </a:rPr>
              <a:t>100 % der Reservationen im System</a:t>
            </a:r>
            <a:endParaRPr lang="en-US" sz="1150" dirty="0"/>
          </a:p>
        </p:txBody>
      </p:sp>
      <p:sp>
        <p:nvSpPr>
          <p:cNvPr id="19" name="PZ-2"/>
          <p:cNvSpPr/>
          <p:nvPr/>
        </p:nvSpPr>
        <p:spPr>
          <a:xfrm>
            <a:off x="4419524" y="3246120"/>
            <a:ext cx="2316404" cy="1005840"/>
          </a:xfrm>
          <a:prstGeom prst="roundRect">
            <a:avLst>
              <a:gd name="adj" fmla="val 10909"/>
            </a:avLst>
          </a:prstGeom>
          <a:solidFill>
            <a:schemeClr val="accent4"/>
          </a:solidFill>
          <a:ln/>
        </p:spPr>
      </p:sp>
      <p:sp>
        <p:nvSpPr>
          <p:cNvPr id="20" name="Text 18"/>
          <p:cNvSpPr txBox="1"/>
          <p:nvPr/>
        </p:nvSpPr>
        <p:spPr>
          <a:xfrm>
            <a:off x="4584116" y="3319272"/>
            <a:ext cx="1987220" cy="457200"/>
          </a:xfrm>
          <a:prstGeom prst="rect">
            <a:avLst/>
          </a:prstGeom>
          <a:noFill/>
          <a:ln/>
        </p:spPr>
        <p:txBody>
          <a:bodyPr wrap="square" lIns="0" tIns="0" rIns="0" bIns="0" rtlCol="0" anchor="t"/>
          <a:lstStyle/>
          <a:p>
            <a:pPr indent="0" marL="0">
              <a:buNone/>
            </a:pPr>
            <a:r>
              <a:rPr lang="en-US" sz="1300" b="1" dirty="0">
                <a:solidFill>
                  <a:schemeClr val="accent1"/>
                </a:solidFill>
              </a:rPr>
              <a:t>PZ-2  </a:t>
            </a:r>
            <a:pPr indent="0" marL="0">
              <a:buNone/>
            </a:pPr>
            <a:r>
              <a:rPr lang="en-US" sz="1300" b="1" dirty="0">
                <a:solidFill>
                  <a:schemeClr val="tx1"/>
                </a:solidFill>
              </a:rPr>
              <a:t>Frei gewordene Zeiten neu vergeben</a:t>
            </a:r>
            <a:endParaRPr lang="en-US" sz="1300" dirty="0"/>
          </a:p>
        </p:txBody>
      </p:sp>
      <p:sp>
        <p:nvSpPr>
          <p:cNvPr id="21" name="Text 19"/>
          <p:cNvSpPr txBox="1"/>
          <p:nvPr/>
        </p:nvSpPr>
        <p:spPr>
          <a:xfrm>
            <a:off x="4584116" y="3840480"/>
            <a:ext cx="1987220" cy="329184"/>
          </a:xfrm>
          <a:prstGeom prst="rect">
            <a:avLst/>
          </a:prstGeom>
          <a:noFill/>
          <a:ln/>
        </p:spPr>
        <p:txBody>
          <a:bodyPr wrap="square" lIns="0" tIns="0" rIns="0" bIns="0" rtlCol="0" anchor="t"/>
          <a:lstStyle/>
          <a:p>
            <a:pPr indent="0" marL="0">
              <a:buNone/>
            </a:pPr>
            <a:r>
              <a:rPr lang="en-US" sz="1150" dirty="0">
                <a:solidFill>
                  <a:schemeClr val="tx2"/>
                </a:solidFill>
              </a:rPr>
              <a:t>Anteil neu vergeben: ≥ [x] %</a:t>
            </a:r>
            <a:endParaRPr lang="en-US" sz="1150" dirty="0"/>
          </a:p>
        </p:txBody>
      </p:sp>
      <p:sp>
        <p:nvSpPr>
          <p:cNvPr id="22" name="PZ-3"/>
          <p:cNvSpPr/>
          <p:nvPr/>
        </p:nvSpPr>
        <p:spPr>
          <a:xfrm>
            <a:off x="6873088" y="3246120"/>
            <a:ext cx="2316404" cy="1005840"/>
          </a:xfrm>
          <a:prstGeom prst="roundRect">
            <a:avLst>
              <a:gd name="adj" fmla="val 10909"/>
            </a:avLst>
          </a:prstGeom>
          <a:solidFill>
            <a:schemeClr val="accent4"/>
          </a:solidFill>
          <a:ln/>
        </p:spPr>
      </p:sp>
      <p:sp>
        <p:nvSpPr>
          <p:cNvPr id="23" name="Text 21"/>
          <p:cNvSpPr txBox="1"/>
          <p:nvPr/>
        </p:nvSpPr>
        <p:spPr>
          <a:xfrm>
            <a:off x="7037680" y="3319272"/>
            <a:ext cx="1987220" cy="457200"/>
          </a:xfrm>
          <a:prstGeom prst="rect">
            <a:avLst/>
          </a:prstGeom>
          <a:noFill/>
          <a:ln/>
        </p:spPr>
        <p:txBody>
          <a:bodyPr wrap="square" lIns="0" tIns="0" rIns="0" bIns="0" rtlCol="0" anchor="t"/>
          <a:lstStyle/>
          <a:p>
            <a:pPr indent="0" marL="0">
              <a:buNone/>
            </a:pPr>
            <a:r>
              <a:rPr lang="en-US" sz="1300" b="1" dirty="0">
                <a:solidFill>
                  <a:schemeClr val="accent1"/>
                </a:solidFill>
              </a:rPr>
              <a:t>PZ-3  </a:t>
            </a:r>
            <a:pPr indent="0" marL="0">
              <a:buNone/>
            </a:pPr>
            <a:r>
              <a:rPr lang="en-US" sz="1300" b="1" dirty="0">
                <a:solidFill>
                  <a:schemeClr val="tx1"/>
                </a:solidFill>
              </a:rPr>
              <a:t>Weniger Fehler und Rückfragen</a:t>
            </a:r>
            <a:endParaRPr lang="en-US" sz="1300" dirty="0"/>
          </a:p>
        </p:txBody>
      </p:sp>
      <p:sp>
        <p:nvSpPr>
          <p:cNvPr id="24" name="Text 22"/>
          <p:cNvSpPr txBox="1"/>
          <p:nvPr/>
        </p:nvSpPr>
        <p:spPr>
          <a:xfrm>
            <a:off x="7037680" y="3840480"/>
            <a:ext cx="1987220" cy="329184"/>
          </a:xfrm>
          <a:prstGeom prst="rect">
            <a:avLst/>
          </a:prstGeom>
          <a:noFill/>
          <a:ln/>
        </p:spPr>
        <p:txBody>
          <a:bodyPr wrap="square" lIns="0" tIns="0" rIns="0" bIns="0" rtlCol="0" anchor="t"/>
          <a:lstStyle/>
          <a:p>
            <a:pPr indent="0" marL="0">
              <a:buNone/>
            </a:pPr>
            <a:r>
              <a:rPr lang="en-US" sz="1150" dirty="0">
                <a:solidFill>
                  <a:schemeClr val="tx2"/>
                </a:solidFill>
              </a:rPr>
              <a:t>0 Doppelbuchungen pro Monat</a:t>
            </a:r>
            <a:endParaRPr lang="en-US" sz="1150" dirty="0"/>
          </a:p>
        </p:txBody>
      </p:sp>
      <p:sp>
        <p:nvSpPr>
          <p:cNvPr id="25" name="PZ-4"/>
          <p:cNvSpPr/>
          <p:nvPr/>
        </p:nvSpPr>
        <p:spPr>
          <a:xfrm>
            <a:off x="9326651" y="3246120"/>
            <a:ext cx="2316404" cy="1005840"/>
          </a:xfrm>
          <a:prstGeom prst="roundRect">
            <a:avLst>
              <a:gd name="adj" fmla="val 10909"/>
            </a:avLst>
          </a:prstGeom>
          <a:solidFill>
            <a:schemeClr val="accent4"/>
          </a:solidFill>
          <a:ln/>
        </p:spPr>
      </p:sp>
      <p:sp>
        <p:nvSpPr>
          <p:cNvPr id="26" name="Text 24"/>
          <p:cNvSpPr txBox="1"/>
          <p:nvPr/>
        </p:nvSpPr>
        <p:spPr>
          <a:xfrm>
            <a:off x="9491243" y="3319272"/>
            <a:ext cx="1987220" cy="457200"/>
          </a:xfrm>
          <a:prstGeom prst="rect">
            <a:avLst/>
          </a:prstGeom>
          <a:noFill/>
          <a:ln/>
        </p:spPr>
        <p:txBody>
          <a:bodyPr wrap="square" lIns="0" tIns="0" rIns="0" bIns="0" rtlCol="0" anchor="t"/>
          <a:lstStyle/>
          <a:p>
            <a:pPr indent="0" marL="0">
              <a:buNone/>
            </a:pPr>
            <a:r>
              <a:rPr lang="en-US" sz="1300" b="1" dirty="0">
                <a:solidFill>
                  <a:schemeClr val="accent1"/>
                </a:solidFill>
              </a:rPr>
              <a:t>PZ-4  </a:t>
            </a:r>
            <a:pPr indent="0" marL="0">
              <a:buNone/>
            </a:pPr>
            <a:r>
              <a:rPr lang="en-US" sz="1300" b="1" dirty="0">
                <a:solidFill>
                  <a:schemeClr val="tx1"/>
                </a:solidFill>
              </a:rPr>
              <a:t>Serien und Kundengruppen nach Regeln</a:t>
            </a:r>
            <a:endParaRPr lang="en-US" sz="1300" dirty="0"/>
          </a:p>
        </p:txBody>
      </p:sp>
      <p:sp>
        <p:nvSpPr>
          <p:cNvPr id="27" name="Text 25"/>
          <p:cNvSpPr txBox="1"/>
          <p:nvPr/>
        </p:nvSpPr>
        <p:spPr>
          <a:xfrm>
            <a:off x="9491243" y="3840480"/>
            <a:ext cx="1987220" cy="329184"/>
          </a:xfrm>
          <a:prstGeom prst="rect">
            <a:avLst/>
          </a:prstGeom>
          <a:noFill/>
          <a:ln/>
        </p:spPr>
        <p:txBody>
          <a:bodyPr wrap="square" lIns="0" tIns="0" rIns="0" bIns="0" rtlCol="0" anchor="t"/>
          <a:lstStyle/>
          <a:p>
            <a:pPr indent="0" marL="0">
              <a:buNone/>
            </a:pPr>
            <a:r>
              <a:rPr lang="en-US" sz="1150" dirty="0">
                <a:solidFill>
                  <a:schemeClr val="tx2"/>
                </a:solidFill>
              </a:rPr>
              <a:t>Konflikte nach Regel entschieden</a:t>
            </a:r>
            <a:endParaRPr lang="en-US" sz="1150" dirty="0"/>
          </a:p>
        </p:txBody>
      </p:sp>
      <p:sp>
        <p:nvSpPr>
          <p:cNvPr id="28" name="Text 26"/>
          <p:cNvSpPr txBox="1"/>
          <p:nvPr/>
        </p:nvSpPr>
        <p:spPr>
          <a:xfrm>
            <a:off x="548640" y="4389120"/>
            <a:ext cx="1280160" cy="566928"/>
          </a:xfrm>
          <a:prstGeom prst="rect">
            <a:avLst/>
          </a:prstGeom>
          <a:noFill/>
          <a:ln/>
        </p:spPr>
        <p:txBody>
          <a:bodyPr wrap="square" lIns="0" tIns="0" rIns="0" bIns="0" rtlCol="0" anchor="ctr"/>
          <a:lstStyle/>
          <a:p>
            <a:pPr indent="0" marL="0">
              <a:buNone/>
            </a:pPr>
            <a:r>
              <a:rPr lang="en-US" sz="1300" b="1" dirty="0">
                <a:solidFill>
                  <a:schemeClr val="tx2"/>
                </a:solidFill>
              </a:rPr>
              <a:t>Produkt-</a:t>
            </a:r>
            <a:endParaRPr lang="en-US" sz="1300" dirty="0"/>
          </a:p>
          <a:p>
            <a:pPr indent="0" marL="0">
              <a:buNone/>
            </a:pPr>
            <a:r>
              <a:rPr lang="en-US" sz="1300" b="1" dirty="0">
                <a:solidFill>
                  <a:schemeClr val="tx2"/>
                </a:solidFill>
              </a:rPr>
              <a:t>ziele</a:t>
            </a:r>
            <a:endParaRPr lang="en-US" sz="1300" dirty="0"/>
          </a:p>
        </p:txBody>
      </p:sp>
      <p:sp>
        <p:nvSpPr>
          <p:cNvPr id="29" name="PDZ-1"/>
          <p:cNvSpPr/>
          <p:nvPr/>
        </p:nvSpPr>
        <p:spPr>
          <a:xfrm>
            <a:off x="1965960" y="4389120"/>
            <a:ext cx="1521409" cy="566928"/>
          </a:xfrm>
          <a:prstGeom prst="roundRect">
            <a:avLst>
              <a:gd name="adj" fmla="val 19355"/>
            </a:avLst>
          </a:prstGeom>
          <a:solidFill>
            <a:schemeClr val="bg2"/>
          </a:solidFill>
          <a:ln/>
        </p:spPr>
      </p:sp>
      <p:sp>
        <p:nvSpPr>
          <p:cNvPr id="30" name="Text 28"/>
          <p:cNvSpPr txBox="1"/>
          <p:nvPr/>
        </p:nvSpPr>
        <p:spPr>
          <a:xfrm>
            <a:off x="2057400" y="4389120"/>
            <a:ext cx="1338529" cy="566928"/>
          </a:xfrm>
          <a:prstGeom prst="rect">
            <a:avLst/>
          </a:prstGeom>
          <a:noFill/>
          <a:ln/>
        </p:spPr>
        <p:txBody>
          <a:bodyPr wrap="square" lIns="0" tIns="0" rIns="0" bIns="0" rtlCol="0" anchor="ctr"/>
          <a:lstStyle/>
          <a:p>
            <a:pPr algn="ctr" indent="0" marL="0">
              <a:buNone/>
            </a:pPr>
            <a:r>
              <a:rPr lang="en-US" sz="1200" b="1" dirty="0">
                <a:solidFill>
                  <a:schemeClr val="accent1"/>
                </a:solidFill>
              </a:rPr>
              <a:t>PDZ-1  </a:t>
            </a:r>
            <a:pPr algn="ctr" indent="0" marL="0">
              <a:buNone/>
            </a:pPr>
            <a:r>
              <a:rPr lang="en-US" sz="1200" dirty="0">
                <a:solidFill>
                  <a:schemeClr val="tx1"/>
                </a:solidFill>
              </a:rPr>
              <a:t>Gesamtübersicht</a:t>
            </a:r>
            <a:endParaRPr lang="en-US" sz="1200" dirty="0"/>
          </a:p>
        </p:txBody>
      </p:sp>
      <p:sp>
        <p:nvSpPr>
          <p:cNvPr id="31" name="PDZ-2"/>
          <p:cNvSpPr/>
          <p:nvPr/>
        </p:nvSpPr>
        <p:spPr>
          <a:xfrm>
            <a:off x="3597097" y="4389120"/>
            <a:ext cx="1521409" cy="566928"/>
          </a:xfrm>
          <a:prstGeom prst="roundRect">
            <a:avLst>
              <a:gd name="adj" fmla="val 19355"/>
            </a:avLst>
          </a:prstGeom>
          <a:solidFill>
            <a:schemeClr val="bg2"/>
          </a:solidFill>
          <a:ln/>
        </p:spPr>
      </p:sp>
      <p:sp>
        <p:nvSpPr>
          <p:cNvPr id="32" name="Text 30"/>
          <p:cNvSpPr txBox="1"/>
          <p:nvPr/>
        </p:nvSpPr>
        <p:spPr>
          <a:xfrm>
            <a:off x="3688537" y="4389120"/>
            <a:ext cx="1338529" cy="566928"/>
          </a:xfrm>
          <a:prstGeom prst="rect">
            <a:avLst/>
          </a:prstGeom>
          <a:noFill/>
          <a:ln/>
        </p:spPr>
        <p:txBody>
          <a:bodyPr wrap="square" lIns="0" tIns="0" rIns="0" bIns="0" rtlCol="0" anchor="ctr"/>
          <a:lstStyle/>
          <a:p>
            <a:pPr algn="ctr" indent="0" marL="0">
              <a:buNone/>
            </a:pPr>
            <a:r>
              <a:rPr lang="en-US" sz="1200" b="1" dirty="0">
                <a:solidFill>
                  <a:schemeClr val="accent1"/>
                </a:solidFill>
              </a:rPr>
              <a:t>PDZ-2  </a:t>
            </a:r>
            <a:pPr algn="ctr" indent="0" marL="0">
              <a:buNone/>
            </a:pPr>
            <a:r>
              <a:rPr lang="en-US" sz="1200" dirty="0">
                <a:solidFill>
                  <a:schemeClr val="tx1"/>
                </a:solidFill>
              </a:rPr>
              <a:t>alles an einem Ort</a:t>
            </a:r>
            <a:endParaRPr lang="en-US" sz="1200" dirty="0"/>
          </a:p>
        </p:txBody>
      </p:sp>
      <p:sp>
        <p:nvSpPr>
          <p:cNvPr id="33" name="PDZ-3"/>
          <p:cNvSpPr/>
          <p:nvPr/>
        </p:nvSpPr>
        <p:spPr>
          <a:xfrm>
            <a:off x="5228234" y="4389120"/>
            <a:ext cx="1521409" cy="566928"/>
          </a:xfrm>
          <a:prstGeom prst="roundRect">
            <a:avLst>
              <a:gd name="adj" fmla="val 19355"/>
            </a:avLst>
          </a:prstGeom>
          <a:solidFill>
            <a:schemeClr val="bg2"/>
          </a:solidFill>
          <a:ln/>
        </p:spPr>
      </p:sp>
      <p:sp>
        <p:nvSpPr>
          <p:cNvPr id="34" name="Text 32"/>
          <p:cNvSpPr txBox="1"/>
          <p:nvPr/>
        </p:nvSpPr>
        <p:spPr>
          <a:xfrm>
            <a:off x="5319674" y="4389120"/>
            <a:ext cx="1338529" cy="566928"/>
          </a:xfrm>
          <a:prstGeom prst="rect">
            <a:avLst/>
          </a:prstGeom>
          <a:noFill/>
          <a:ln/>
        </p:spPr>
        <p:txBody>
          <a:bodyPr wrap="square" lIns="0" tIns="0" rIns="0" bIns="0" rtlCol="0" anchor="ctr"/>
          <a:lstStyle/>
          <a:p>
            <a:pPr algn="ctr" indent="0" marL="0">
              <a:buNone/>
            </a:pPr>
            <a:r>
              <a:rPr lang="en-US" sz="1200" b="1" dirty="0">
                <a:solidFill>
                  <a:schemeClr val="accent1"/>
                </a:solidFill>
              </a:rPr>
              <a:t>PDZ-3  </a:t>
            </a:r>
            <a:pPr algn="ctr" indent="0" marL="0">
              <a:buNone/>
            </a:pPr>
            <a:r>
              <a:rPr lang="en-US" sz="1200" dirty="0">
                <a:solidFill>
                  <a:schemeClr val="tx1"/>
                </a:solidFill>
              </a:rPr>
              <a:t>Regeln je Gruppe</a:t>
            </a:r>
            <a:endParaRPr lang="en-US" sz="1200" dirty="0"/>
          </a:p>
        </p:txBody>
      </p:sp>
      <p:sp>
        <p:nvSpPr>
          <p:cNvPr id="35" name="PDZ-4"/>
          <p:cNvSpPr/>
          <p:nvPr/>
        </p:nvSpPr>
        <p:spPr>
          <a:xfrm>
            <a:off x="6859372" y="4389120"/>
            <a:ext cx="1521409" cy="566928"/>
          </a:xfrm>
          <a:prstGeom prst="roundRect">
            <a:avLst>
              <a:gd name="adj" fmla="val 19355"/>
            </a:avLst>
          </a:prstGeom>
          <a:solidFill>
            <a:schemeClr val="bg2"/>
          </a:solidFill>
          <a:ln/>
        </p:spPr>
      </p:sp>
      <p:sp>
        <p:nvSpPr>
          <p:cNvPr id="36" name="Text 34"/>
          <p:cNvSpPr txBox="1"/>
          <p:nvPr/>
        </p:nvSpPr>
        <p:spPr>
          <a:xfrm>
            <a:off x="6950812" y="4389120"/>
            <a:ext cx="1338529" cy="566928"/>
          </a:xfrm>
          <a:prstGeom prst="rect">
            <a:avLst/>
          </a:prstGeom>
          <a:noFill/>
          <a:ln/>
        </p:spPr>
        <p:txBody>
          <a:bodyPr wrap="square" lIns="0" tIns="0" rIns="0" bIns="0" rtlCol="0" anchor="ctr"/>
          <a:lstStyle/>
          <a:p>
            <a:pPr algn="ctr" indent="0" marL="0">
              <a:buNone/>
            </a:pPr>
            <a:r>
              <a:rPr lang="en-US" sz="1200" b="1" dirty="0">
                <a:solidFill>
                  <a:schemeClr val="accent1"/>
                </a:solidFill>
              </a:rPr>
              <a:t>PDZ-4  </a:t>
            </a:r>
            <a:pPr algn="ctr" indent="0" marL="0">
              <a:buNone/>
            </a:pPr>
            <a:r>
              <a:rPr lang="en-US" sz="1200" dirty="0">
                <a:solidFill>
                  <a:schemeClr val="tx1"/>
                </a:solidFill>
              </a:rPr>
              <a:t>Serien</a:t>
            </a:r>
            <a:endParaRPr lang="en-US" sz="1200" dirty="0"/>
          </a:p>
        </p:txBody>
      </p:sp>
      <p:sp>
        <p:nvSpPr>
          <p:cNvPr id="37" name="PDZ-5"/>
          <p:cNvSpPr/>
          <p:nvPr/>
        </p:nvSpPr>
        <p:spPr>
          <a:xfrm>
            <a:off x="8490509" y="4389120"/>
            <a:ext cx="1521409" cy="566928"/>
          </a:xfrm>
          <a:prstGeom prst="roundRect">
            <a:avLst>
              <a:gd name="adj" fmla="val 19355"/>
            </a:avLst>
          </a:prstGeom>
          <a:solidFill>
            <a:schemeClr val="bg2"/>
          </a:solidFill>
          <a:ln/>
        </p:spPr>
      </p:sp>
      <p:sp>
        <p:nvSpPr>
          <p:cNvPr id="38" name="Text 36"/>
          <p:cNvSpPr txBox="1"/>
          <p:nvPr/>
        </p:nvSpPr>
        <p:spPr>
          <a:xfrm>
            <a:off x="8581949" y="4389120"/>
            <a:ext cx="1338529" cy="566928"/>
          </a:xfrm>
          <a:prstGeom prst="rect">
            <a:avLst/>
          </a:prstGeom>
          <a:noFill/>
          <a:ln/>
        </p:spPr>
        <p:txBody>
          <a:bodyPr wrap="square" lIns="0" tIns="0" rIns="0" bIns="0" rtlCol="0" anchor="ctr"/>
          <a:lstStyle/>
          <a:p>
            <a:pPr algn="ctr" indent="0" marL="0">
              <a:buNone/>
            </a:pPr>
            <a:r>
              <a:rPr lang="en-US" sz="1200" b="1" dirty="0">
                <a:solidFill>
                  <a:schemeClr val="accent1"/>
                </a:solidFill>
              </a:rPr>
              <a:t>PDZ-5  </a:t>
            </a:r>
            <a:pPr algn="ctr" indent="0" marL="0">
              <a:buNone/>
            </a:pPr>
            <a:r>
              <a:rPr lang="en-US" sz="1200" dirty="0">
                <a:solidFill>
                  <a:schemeClr val="tx1"/>
                </a:solidFill>
              </a:rPr>
              <a:t>Benachrichtigungen</a:t>
            </a:r>
            <a:endParaRPr lang="en-US" sz="1200" dirty="0"/>
          </a:p>
        </p:txBody>
      </p:sp>
      <p:sp>
        <p:nvSpPr>
          <p:cNvPr id="39" name="PDZ-6"/>
          <p:cNvSpPr/>
          <p:nvPr/>
        </p:nvSpPr>
        <p:spPr>
          <a:xfrm>
            <a:off x="10121646" y="4389120"/>
            <a:ext cx="1521409" cy="566928"/>
          </a:xfrm>
          <a:prstGeom prst="roundRect">
            <a:avLst>
              <a:gd name="adj" fmla="val 19355"/>
            </a:avLst>
          </a:prstGeom>
          <a:solidFill>
            <a:schemeClr val="bg2"/>
          </a:solidFill>
          <a:ln/>
        </p:spPr>
      </p:sp>
      <p:sp>
        <p:nvSpPr>
          <p:cNvPr id="40" name="Text 38"/>
          <p:cNvSpPr txBox="1"/>
          <p:nvPr/>
        </p:nvSpPr>
        <p:spPr>
          <a:xfrm>
            <a:off x="10213086" y="4389120"/>
            <a:ext cx="1338529" cy="566928"/>
          </a:xfrm>
          <a:prstGeom prst="rect">
            <a:avLst/>
          </a:prstGeom>
          <a:noFill/>
          <a:ln/>
        </p:spPr>
        <p:txBody>
          <a:bodyPr wrap="square" lIns="0" tIns="0" rIns="0" bIns="0" rtlCol="0" anchor="ctr"/>
          <a:lstStyle/>
          <a:p>
            <a:pPr algn="ctr" indent="0" marL="0">
              <a:buNone/>
            </a:pPr>
            <a:r>
              <a:rPr lang="en-US" sz="1200" b="1" dirty="0">
                <a:solidFill>
                  <a:schemeClr val="accent1"/>
                </a:solidFill>
              </a:rPr>
              <a:t>PDZ-6  </a:t>
            </a:r>
            <a:pPr algn="ctr" indent="0" marL="0">
              <a:buNone/>
            </a:pPr>
            <a:r>
              <a:rPr lang="en-US" sz="1200" dirty="0">
                <a:solidFill>
                  <a:schemeClr val="tx1"/>
                </a:solidFill>
              </a:rPr>
              <a:t>Auswertungen</a:t>
            </a:r>
            <a:endParaRPr lang="en-US" sz="1200" dirty="0"/>
          </a:p>
        </p:txBody>
      </p:sp>
      <p:sp>
        <p:nvSpPr>
          <p:cNvPr id="41" name="Ziel vs. Anforderung"/>
          <p:cNvSpPr/>
          <p:nvPr/>
        </p:nvSpPr>
        <p:spPr>
          <a:xfrm>
            <a:off x="548640" y="5102352"/>
            <a:ext cx="11094415" cy="731520"/>
          </a:xfrm>
          <a:prstGeom prst="roundRect">
            <a:avLst>
              <a:gd name="adj" fmla="val 15000"/>
            </a:avLst>
          </a:prstGeom>
          <a:solidFill>
            <a:schemeClr val="bg2"/>
          </a:solidFill>
          <a:ln/>
        </p:spPr>
      </p:sp>
      <p:sp>
        <p:nvSpPr>
          <p:cNvPr id="42" name="Text 40"/>
          <p:cNvSpPr txBox="1"/>
          <p:nvPr/>
        </p:nvSpPr>
        <p:spPr>
          <a:xfrm>
            <a:off x="777240" y="5102352"/>
            <a:ext cx="10637215" cy="731520"/>
          </a:xfrm>
          <a:prstGeom prst="rect">
            <a:avLst/>
          </a:prstGeom>
          <a:noFill/>
          <a:ln/>
        </p:spPr>
        <p:txBody>
          <a:bodyPr wrap="square" lIns="0" tIns="0" rIns="0" bIns="0" rtlCol="0" anchor="ctr"/>
          <a:lstStyle/>
          <a:p>
            <a:pPr indent="0" marL="0">
              <a:buNone/>
            </a:pPr>
            <a:r>
              <a:rPr lang="en-US" sz="1300" b="1" dirty="0">
                <a:solidFill>
                  <a:schemeClr val="tx1"/>
                </a:solidFill>
              </a:rPr>
              <a:t>Ziel = Zustand, Anforderung = Eigenschaft (Folie 35).  </a:t>
            </a:r>
            <a:pPr indent="0" marL="0">
              <a:buNone/>
            </a:pPr>
            <a:r>
              <a:rPr lang="en-US" sz="1300" dirty="0">
                <a:solidFill>
                  <a:schemeClr val="tx2"/>
                </a:solidFill>
              </a:rPr>
              <a:t>PZ-3 «keine Doppelbuchungen» ist ein Ziel; FA-06 «das System muss überschneidende Reservationen ablehnen» ist die Anforderung, die es erreicht. Jede Anforderung verweist auf mindestens ein Ziel.</a:t>
            </a:r>
            <a:endParaRPr lang="en-US" sz="1300" dirty="0"/>
          </a:p>
        </p:txBody>
      </p:sp>
      <p:sp>
        <p:nvSpPr>
          <p:cNvPr id="43" name="Text 41"/>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Annahme  </a:t>
            </a:r>
            <a:pPr indent="0" marL="0">
              <a:buNone/>
            </a:pPr>
            <a:r>
              <a:rPr lang="en-US" sz="1100" dirty="0">
                <a:solidFill>
                  <a:schemeClr val="tx2"/>
                </a:solidFill>
              </a:rPr>
              <a:t>[x] = Zielwert legt die Geschäftsleitung in PVA 5 fest. Die Simulation nannte für GZ-1 geschätzt 55–60 % → 70 % (S-15) – nicht bestätigt.</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USE CASES</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Neun Use Cases – sechs davon Schritt für Schritt beschrieben</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Ausführlich beschrieben sind die Abläufe, die Gruppe 2 auf Folie 3 und 5 als heikel nennt.</a:t>
            </a:r>
            <a:endParaRPr lang="en-US" sz="1600" dirty="0"/>
          </a:p>
        </p:txBody>
      </p:sp>
      <p:pic>
        <p:nvPicPr>
          <p:cNvPr id="5" name="Image 0" descr="Use-Case-Diagramm ArenaOne mit UC-01 bis UC-09">    </p:cNvPr>
          <p:cNvPicPr>
            <a:picLocks noChangeAspect="1"/>
          </p:cNvPicPr>
          <p:nvPr/>
        </p:nvPicPr>
        <p:blipFill>
          <a:blip r:embed="rId1"/>
          <a:stretch>
            <a:fillRect/>
          </a:stretch>
        </p:blipFill>
        <p:spPr>
          <a:xfrm>
            <a:off x="548640" y="1901952"/>
            <a:ext cx="5550946" cy="3931920"/>
          </a:xfrm>
          <a:prstGeom prst="rect">
            <a:avLst/>
          </a:prstGeom>
        </p:spPr>
      </p:pic>
      <p:sp>
        <p:nvSpPr>
          <p:cNvPr id="6" name="UC-05"/>
          <p:cNvSpPr/>
          <p:nvPr/>
        </p:nvSpPr>
        <p:spPr>
          <a:xfrm>
            <a:off x="6419626" y="1920240"/>
            <a:ext cx="5223429" cy="3886200"/>
          </a:xfrm>
          <a:prstGeom prst="roundRect">
            <a:avLst>
              <a:gd name="adj" fmla="val 2824"/>
            </a:avLst>
          </a:prstGeom>
          <a:solidFill>
            <a:schemeClr val="bg2"/>
          </a:solidFill>
          <a:ln/>
        </p:spPr>
      </p:sp>
      <p:sp>
        <p:nvSpPr>
          <p:cNvPr id="7" name="Text 4"/>
          <p:cNvSpPr txBox="1"/>
          <p:nvPr/>
        </p:nvSpPr>
        <p:spPr>
          <a:xfrm>
            <a:off x="6648226" y="2057400"/>
            <a:ext cx="4766229" cy="365760"/>
          </a:xfrm>
          <a:prstGeom prst="rect">
            <a:avLst/>
          </a:prstGeom>
          <a:noFill/>
          <a:ln/>
        </p:spPr>
        <p:txBody>
          <a:bodyPr wrap="square" lIns="0" tIns="0" rIns="0" bIns="0" rtlCol="0" anchor="t"/>
          <a:lstStyle/>
          <a:p>
            <a:pPr indent="0" marL="0">
              <a:buNone/>
            </a:pPr>
            <a:r>
              <a:rPr lang="en-US" sz="1700" b="1" dirty="0">
                <a:solidFill>
                  <a:schemeClr val="accent1"/>
                </a:solidFill>
              </a:rPr>
              <a:t>UC-05  </a:t>
            </a:r>
            <a:pPr indent="0" marL="0">
              <a:buNone/>
            </a:pPr>
            <a:r>
              <a:rPr lang="en-US" sz="1700" b="1" dirty="0">
                <a:solidFill>
                  <a:schemeClr val="tx1"/>
                </a:solidFill>
              </a:rPr>
              <a:t>Serie beantragen</a:t>
            </a:r>
            <a:endParaRPr lang="en-US" sz="1700" dirty="0"/>
          </a:p>
        </p:txBody>
      </p:sp>
      <p:sp>
        <p:nvSpPr>
          <p:cNvPr id="8" name="Text 5"/>
          <p:cNvSpPr txBox="1"/>
          <p:nvPr/>
        </p:nvSpPr>
        <p:spPr>
          <a:xfrm>
            <a:off x="6648226" y="2423160"/>
            <a:ext cx="4766229" cy="274320"/>
          </a:xfrm>
          <a:prstGeom prst="rect">
            <a:avLst/>
          </a:prstGeom>
          <a:noFill/>
          <a:ln/>
        </p:spPr>
        <p:txBody>
          <a:bodyPr wrap="square" lIns="0" tIns="0" rIns="0" bIns="0" rtlCol="0" anchor="t"/>
          <a:lstStyle/>
          <a:p>
            <a:pPr indent="0" marL="0">
              <a:buNone/>
            </a:pPr>
            <a:r>
              <a:rPr lang="en-US" sz="1200" dirty="0">
                <a:solidFill>
                  <a:schemeClr val="tx2"/>
                </a:solidFill>
              </a:rPr>
              <a:t>Vereins- oder Firmenkontakt, Trainer:in · Empfang bestätigt</a:t>
            </a:r>
            <a:endParaRPr lang="en-US" sz="1200" dirty="0"/>
          </a:p>
        </p:txBody>
      </p:sp>
      <p:sp>
        <p:nvSpPr>
          <p:cNvPr id="9" name="Schritt 1"/>
          <p:cNvSpPr/>
          <p:nvPr/>
        </p:nvSpPr>
        <p:spPr>
          <a:xfrm>
            <a:off x="6648226" y="2871216"/>
            <a:ext cx="365760" cy="365760"/>
          </a:xfrm>
          <a:prstGeom prst="ellipse">
            <a:avLst/>
          </a:prstGeom>
          <a:solidFill>
            <a:schemeClr val="accent1"/>
          </a:solidFill>
          <a:ln/>
        </p:spPr>
      </p:sp>
      <p:sp>
        <p:nvSpPr>
          <p:cNvPr id="10" name="Text 7"/>
          <p:cNvSpPr txBox="1"/>
          <p:nvPr/>
        </p:nvSpPr>
        <p:spPr>
          <a:xfrm>
            <a:off x="6648226" y="287121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Text 8"/>
          <p:cNvSpPr txBox="1"/>
          <p:nvPr/>
        </p:nvSpPr>
        <p:spPr>
          <a:xfrm>
            <a:off x="7151146" y="2834640"/>
            <a:ext cx="4263309" cy="566928"/>
          </a:xfrm>
          <a:prstGeom prst="rect">
            <a:avLst/>
          </a:prstGeom>
          <a:noFill/>
          <a:ln/>
        </p:spPr>
        <p:txBody>
          <a:bodyPr wrap="square" lIns="0" tIns="0" rIns="0" bIns="0" rtlCol="0" anchor="t"/>
          <a:lstStyle/>
          <a:p>
            <a:pPr indent="0" marL="0">
              <a:buNone/>
            </a:pPr>
            <a:r>
              <a:rPr lang="en-US" sz="1300" dirty="0">
                <a:solidFill>
                  <a:schemeClr val="tx1"/>
                </a:solidFill>
              </a:rPr>
              <a:t>Verein beantragt Anlage, Wochentag, Zeit, ersten und letzten Termin (FA-16)</a:t>
            </a:r>
            <a:endParaRPr lang="en-US" sz="1300" dirty="0"/>
          </a:p>
        </p:txBody>
      </p:sp>
      <p:sp>
        <p:nvSpPr>
          <p:cNvPr id="12" name="Schritt 2"/>
          <p:cNvSpPr/>
          <p:nvPr/>
        </p:nvSpPr>
        <p:spPr>
          <a:xfrm>
            <a:off x="6648226" y="3493008"/>
            <a:ext cx="365760" cy="365760"/>
          </a:xfrm>
          <a:prstGeom prst="ellipse">
            <a:avLst/>
          </a:prstGeom>
          <a:solidFill>
            <a:schemeClr val="accent1"/>
          </a:solidFill>
          <a:ln/>
        </p:spPr>
      </p:sp>
      <p:sp>
        <p:nvSpPr>
          <p:cNvPr id="13" name="Text 10"/>
          <p:cNvSpPr txBox="1"/>
          <p:nvPr/>
        </p:nvSpPr>
        <p:spPr>
          <a:xfrm>
            <a:off x="6648226" y="349300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7151146" y="3456432"/>
            <a:ext cx="4263309" cy="566928"/>
          </a:xfrm>
          <a:prstGeom prst="rect">
            <a:avLst/>
          </a:prstGeom>
          <a:noFill/>
          <a:ln/>
        </p:spPr>
        <p:txBody>
          <a:bodyPr wrap="square" lIns="0" tIns="0" rIns="0" bIns="0" rtlCol="0" anchor="t"/>
          <a:lstStyle/>
          <a:p>
            <a:pPr indent="0" marL="0">
              <a:buNone/>
            </a:pPr>
            <a:r>
              <a:rPr lang="en-US" sz="1300" dirty="0">
                <a:solidFill>
                  <a:schemeClr val="tx1"/>
                </a:solidFill>
              </a:rPr>
              <a:t>System prüft jeden Einzeltermin und zeigt Konflikte (FA-17)</a:t>
            </a:r>
            <a:endParaRPr lang="en-US" sz="1300" dirty="0"/>
          </a:p>
        </p:txBody>
      </p:sp>
      <p:sp>
        <p:nvSpPr>
          <p:cNvPr id="15" name="Schritt 3"/>
          <p:cNvSpPr/>
          <p:nvPr/>
        </p:nvSpPr>
        <p:spPr>
          <a:xfrm>
            <a:off x="6648226" y="4114800"/>
            <a:ext cx="365760" cy="365760"/>
          </a:xfrm>
          <a:prstGeom prst="ellipse">
            <a:avLst/>
          </a:prstGeom>
          <a:solidFill>
            <a:schemeClr val="accent1"/>
          </a:solidFill>
          <a:ln/>
        </p:spPr>
      </p:sp>
      <p:sp>
        <p:nvSpPr>
          <p:cNvPr id="16" name="Text 13"/>
          <p:cNvSpPr txBox="1"/>
          <p:nvPr/>
        </p:nvSpPr>
        <p:spPr>
          <a:xfrm>
            <a:off x="6648226" y="41148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4"/>
          <p:cNvSpPr txBox="1"/>
          <p:nvPr/>
        </p:nvSpPr>
        <p:spPr>
          <a:xfrm>
            <a:off x="7151146" y="4078224"/>
            <a:ext cx="4263309" cy="566928"/>
          </a:xfrm>
          <a:prstGeom prst="rect">
            <a:avLst/>
          </a:prstGeom>
          <a:noFill/>
          <a:ln/>
        </p:spPr>
        <p:txBody>
          <a:bodyPr wrap="square" lIns="0" tIns="0" rIns="0" bIns="0" rtlCol="0" anchor="t"/>
          <a:lstStyle/>
          <a:p>
            <a:pPr indent="0" marL="0">
              <a:buNone/>
            </a:pPr>
            <a:r>
              <a:rPr lang="en-US" sz="1300" dirty="0">
                <a:solidFill>
                  <a:schemeClr val="tx1"/>
                </a:solidFill>
              </a:rPr>
              <a:t>Empfang bestätigt ganz oder ohne die Konflikttermine (FA-18)</a:t>
            </a:r>
            <a:endParaRPr lang="en-US" sz="1300" dirty="0"/>
          </a:p>
        </p:txBody>
      </p:sp>
      <p:sp>
        <p:nvSpPr>
          <p:cNvPr id="18" name="Schritt 4"/>
          <p:cNvSpPr/>
          <p:nvPr/>
        </p:nvSpPr>
        <p:spPr>
          <a:xfrm>
            <a:off x="6648226" y="4736592"/>
            <a:ext cx="365760" cy="365760"/>
          </a:xfrm>
          <a:prstGeom prst="ellipse">
            <a:avLst/>
          </a:prstGeom>
          <a:solidFill>
            <a:schemeClr val="accent1"/>
          </a:solidFill>
          <a:ln/>
        </p:spPr>
      </p:sp>
      <p:sp>
        <p:nvSpPr>
          <p:cNvPr id="19" name="Text 16"/>
          <p:cNvSpPr txBox="1"/>
          <p:nvPr/>
        </p:nvSpPr>
        <p:spPr>
          <a:xfrm>
            <a:off x="6648226" y="47365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7"/>
          <p:cNvSpPr txBox="1"/>
          <p:nvPr/>
        </p:nvSpPr>
        <p:spPr>
          <a:xfrm>
            <a:off x="7151146" y="4700016"/>
            <a:ext cx="4263309" cy="566928"/>
          </a:xfrm>
          <a:prstGeom prst="rect">
            <a:avLst/>
          </a:prstGeom>
          <a:noFill/>
          <a:ln/>
        </p:spPr>
        <p:txBody>
          <a:bodyPr wrap="square" lIns="0" tIns="0" rIns="0" bIns="0" rtlCol="0" anchor="t"/>
          <a:lstStyle/>
          <a:p>
            <a:pPr indent="0" marL="0">
              <a:buNone/>
            </a:pPr>
            <a:r>
              <a:rPr lang="en-US" sz="1300" dirty="0">
                <a:solidFill>
                  <a:schemeClr val="tx1"/>
                </a:solidFill>
              </a:rPr>
              <a:t>System erzeugt die Termine und sendet eine Terminliste (FA-21)</a:t>
            </a:r>
            <a:endParaRPr lang="en-US" sz="1300" dirty="0"/>
          </a:p>
        </p:txBody>
      </p:sp>
      <p:sp>
        <p:nvSpPr>
          <p:cNvPr id="21" name="Text 18"/>
          <p:cNvSpPr txBox="1"/>
          <p:nvPr/>
        </p:nvSpPr>
        <p:spPr>
          <a:xfrm>
            <a:off x="6648226" y="5349240"/>
            <a:ext cx="4766229" cy="365760"/>
          </a:xfrm>
          <a:prstGeom prst="rect">
            <a:avLst/>
          </a:prstGeom>
          <a:noFill/>
          <a:ln/>
        </p:spPr>
        <p:txBody>
          <a:bodyPr wrap="square" lIns="0" tIns="0" rIns="0" bIns="0" rtlCol="0" anchor="t"/>
          <a:lstStyle/>
          <a:p>
            <a:pPr indent="0" marL="0">
              <a:buNone/>
            </a:pPr>
            <a:r>
              <a:rPr lang="en-US" sz="1200" b="1" dirty="0">
                <a:solidFill>
                  <a:schemeClr val="tx1"/>
                </a:solidFill>
              </a:rPr>
              <a:t>Später: </a:t>
            </a:r>
            <a:pPr indent="0" marL="0">
              <a:buNone/>
            </a:pPr>
            <a:r>
              <a:rPr lang="en-US" sz="1200" dirty="0">
                <a:solidFill>
                  <a:schemeClr val="tx2"/>
                </a:solidFill>
              </a:rPr>
              <a:t>einzelne Termine absagen, ohne die Serie zu ändern (FA-19).</a:t>
            </a:r>
            <a:endParaRPr lang="en-US" sz="1200" dirty="0"/>
          </a:p>
        </p:txBody>
      </p:sp>
      <p:sp>
        <p:nvSpPr>
          <p:cNvPr id="22" name="Text 19"/>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Annahme  </a:t>
            </a:r>
            <a:pPr indent="0" marL="0">
              <a:buNone/>
            </a:pPr>
            <a:r>
              <a:rPr lang="en-US" sz="1100" dirty="0">
                <a:solidFill>
                  <a:schemeClr val="tx2"/>
                </a:solidFill>
              </a:rPr>
              <a:t>Dass der Empfang Serien bestätigt, ist unsere Annahme (OP-03); welche Rechte Vereine haben, stammt aus der Simulation (S-06).</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FUNKTIONALE ANFORDERUNGEN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35 funktionale Anforderungen in zehn Bereichen</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Jede Anforderung: Satzschablone, Akzeptanzkriterium, Quelle, Ziel und Use Case.</a:t>
            </a:r>
            <a:endParaRPr lang="en-US" sz="1600" dirty="0"/>
          </a:p>
        </p:txBody>
      </p:sp>
      <p:sp>
        <p:nvSpPr>
          <p:cNvPr id="5" name="Bereich Verfügbarkeit"/>
          <p:cNvSpPr/>
          <p:nvPr/>
        </p:nvSpPr>
        <p:spPr>
          <a:xfrm>
            <a:off x="548640" y="1965960"/>
            <a:ext cx="2072579" cy="1691640"/>
          </a:xfrm>
          <a:prstGeom prst="roundRect">
            <a:avLst>
              <a:gd name="adj" fmla="val 6486"/>
            </a:avLst>
          </a:prstGeom>
          <a:solidFill>
            <a:schemeClr val="bg2"/>
          </a:solidFill>
          <a:ln/>
        </p:spPr>
      </p:sp>
      <p:sp>
        <p:nvSpPr>
          <p:cNvPr id="6" name="Bereich Icon Verfügbarkeit Kreis"/>
          <p:cNvSpPr/>
          <p:nvPr/>
        </p:nvSpPr>
        <p:spPr>
          <a:xfrm>
            <a:off x="731520" y="2148840"/>
            <a:ext cx="502920" cy="502920"/>
          </a:xfrm>
          <a:prstGeom prst="ellipse">
            <a:avLst/>
          </a:prstGeom>
          <a:solidFill>
            <a:schemeClr val="accent1"/>
          </a:solidFill>
          <a:ln/>
        </p:spPr>
      </p:sp>
      <p:pic>
        <p:nvPicPr>
          <p:cNvPr id="7" name="Bereich Icon Verfügbarkeit" descr="CalendarDays">    </p:cNvPr>
          <p:cNvPicPr>
            <a:picLocks noChangeAspect="1"/>
          </p:cNvPicPr>
          <p:nvPr/>
        </p:nvPicPr>
        <p:blipFill>
          <a:blip r:embed="rId1"/>
          <a:stretch>
            <a:fillRect/>
          </a:stretch>
        </p:blipFill>
        <p:spPr>
          <a:xfrm>
            <a:off x="857250" y="2274570"/>
            <a:ext cx="251460" cy="251460"/>
          </a:xfrm>
          <a:prstGeom prst="rect">
            <a:avLst/>
          </a:prstGeom>
        </p:spPr>
      </p:pic>
      <p:sp>
        <p:nvSpPr>
          <p:cNvPr id="8" name="Text 5"/>
          <p:cNvSpPr txBox="1"/>
          <p:nvPr/>
        </p:nvSpPr>
        <p:spPr>
          <a:xfrm>
            <a:off x="1752539" y="207568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3</a:t>
            </a:r>
            <a:endParaRPr lang="en-US" sz="3200" dirty="0"/>
          </a:p>
        </p:txBody>
      </p:sp>
      <p:sp>
        <p:nvSpPr>
          <p:cNvPr id="9" name="Text 6"/>
          <p:cNvSpPr txBox="1"/>
          <p:nvPr/>
        </p:nvSpPr>
        <p:spPr>
          <a:xfrm>
            <a:off x="731520" y="2743200"/>
            <a:ext cx="1706819" cy="347472"/>
          </a:xfrm>
          <a:prstGeom prst="rect">
            <a:avLst/>
          </a:prstGeom>
          <a:noFill/>
          <a:ln/>
        </p:spPr>
        <p:txBody>
          <a:bodyPr wrap="square" lIns="0" tIns="0" rIns="0" bIns="0" rtlCol="0" anchor="t"/>
          <a:lstStyle/>
          <a:p>
            <a:pPr indent="0" marL="0">
              <a:buNone/>
            </a:pPr>
            <a:r>
              <a:rPr lang="en-US" sz="1400" b="1" dirty="0">
                <a:solidFill>
                  <a:schemeClr val="tx1"/>
                </a:solidFill>
              </a:rPr>
              <a:t>Verfügbarkeit</a:t>
            </a:r>
            <a:endParaRPr lang="en-US" sz="1400" dirty="0"/>
          </a:p>
        </p:txBody>
      </p:sp>
      <p:sp>
        <p:nvSpPr>
          <p:cNvPr id="10" name="Text 7"/>
          <p:cNvSpPr txBox="1"/>
          <p:nvPr/>
        </p:nvSpPr>
        <p:spPr>
          <a:xfrm>
            <a:off x="731520" y="3063240"/>
            <a:ext cx="1706819" cy="256032"/>
          </a:xfrm>
          <a:prstGeom prst="rect">
            <a:avLst/>
          </a:prstGeom>
          <a:noFill/>
          <a:ln/>
        </p:spPr>
        <p:txBody>
          <a:bodyPr wrap="square" lIns="0" tIns="0" rIns="0" bIns="0" rtlCol="0" anchor="t"/>
          <a:lstStyle/>
          <a:p>
            <a:pPr indent="0" marL="0">
              <a:buNone/>
            </a:pPr>
            <a:r>
              <a:rPr lang="en-US" sz="1100" dirty="0">
                <a:solidFill>
                  <a:schemeClr val="tx2"/>
                </a:solidFill>
              </a:rPr>
              <a:t>FA-01–03</a:t>
            </a:r>
            <a:endParaRPr lang="en-US" sz="1100" dirty="0"/>
          </a:p>
        </p:txBody>
      </p:sp>
      <p:sp>
        <p:nvSpPr>
          <p:cNvPr id="11" name="FA-01 Must"/>
          <p:cNvSpPr/>
          <p:nvPr/>
        </p:nvSpPr>
        <p:spPr>
          <a:xfrm>
            <a:off x="731520" y="3383280"/>
            <a:ext cx="541508" cy="118872"/>
          </a:xfrm>
          <a:prstGeom prst="rect">
            <a:avLst/>
          </a:prstGeom>
          <a:solidFill>
            <a:schemeClr val="accent1"/>
          </a:solidFill>
          <a:ln/>
        </p:spPr>
      </p:sp>
      <p:sp>
        <p:nvSpPr>
          <p:cNvPr id="12" name="FA-02 Must"/>
          <p:cNvSpPr/>
          <p:nvPr/>
        </p:nvSpPr>
        <p:spPr>
          <a:xfrm>
            <a:off x="1300460" y="3383280"/>
            <a:ext cx="541508" cy="118872"/>
          </a:xfrm>
          <a:prstGeom prst="rect">
            <a:avLst/>
          </a:prstGeom>
          <a:solidFill>
            <a:schemeClr val="accent1"/>
          </a:solidFill>
          <a:ln/>
        </p:spPr>
      </p:sp>
      <p:sp>
        <p:nvSpPr>
          <p:cNvPr id="13" name="FA-03 Must"/>
          <p:cNvSpPr/>
          <p:nvPr/>
        </p:nvSpPr>
        <p:spPr>
          <a:xfrm>
            <a:off x="1869399" y="3383280"/>
            <a:ext cx="541508" cy="118872"/>
          </a:xfrm>
          <a:prstGeom prst="rect">
            <a:avLst/>
          </a:prstGeom>
          <a:solidFill>
            <a:schemeClr val="accent1"/>
          </a:solidFill>
          <a:ln/>
        </p:spPr>
      </p:sp>
      <p:sp>
        <p:nvSpPr>
          <p:cNvPr id="14" name="Bereich Reservieren"/>
          <p:cNvSpPr/>
          <p:nvPr/>
        </p:nvSpPr>
        <p:spPr>
          <a:xfrm>
            <a:off x="2804099" y="1965960"/>
            <a:ext cx="2072579" cy="1691640"/>
          </a:xfrm>
          <a:prstGeom prst="roundRect">
            <a:avLst>
              <a:gd name="adj" fmla="val 6486"/>
            </a:avLst>
          </a:prstGeom>
          <a:solidFill>
            <a:schemeClr val="bg2"/>
          </a:solidFill>
          <a:ln/>
        </p:spPr>
      </p:sp>
      <p:sp>
        <p:nvSpPr>
          <p:cNvPr id="15" name="Bereich Icon Reservieren Kreis"/>
          <p:cNvSpPr/>
          <p:nvPr/>
        </p:nvSpPr>
        <p:spPr>
          <a:xfrm>
            <a:off x="2986979" y="2148840"/>
            <a:ext cx="502920" cy="502920"/>
          </a:xfrm>
          <a:prstGeom prst="ellipse">
            <a:avLst/>
          </a:prstGeom>
          <a:solidFill>
            <a:schemeClr val="accent1"/>
          </a:solidFill>
          <a:ln/>
        </p:spPr>
      </p:sp>
      <p:pic>
        <p:nvPicPr>
          <p:cNvPr id="16" name="Bereich Icon Reservieren" descr="CalendarCheck">    </p:cNvPr>
          <p:cNvPicPr>
            <a:picLocks noChangeAspect="1"/>
          </p:cNvPicPr>
          <p:nvPr/>
        </p:nvPicPr>
        <p:blipFill>
          <a:blip r:embed="rId2"/>
          <a:stretch>
            <a:fillRect/>
          </a:stretch>
        </p:blipFill>
        <p:spPr>
          <a:xfrm>
            <a:off x="3112709" y="2274570"/>
            <a:ext cx="251460" cy="251460"/>
          </a:xfrm>
          <a:prstGeom prst="rect">
            <a:avLst/>
          </a:prstGeom>
        </p:spPr>
      </p:pic>
      <p:sp>
        <p:nvSpPr>
          <p:cNvPr id="17" name="Text 13"/>
          <p:cNvSpPr txBox="1"/>
          <p:nvPr/>
        </p:nvSpPr>
        <p:spPr>
          <a:xfrm>
            <a:off x="4007998" y="207568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5</a:t>
            </a:r>
            <a:endParaRPr lang="en-US" sz="3200" dirty="0"/>
          </a:p>
        </p:txBody>
      </p:sp>
      <p:sp>
        <p:nvSpPr>
          <p:cNvPr id="18" name="Text 14"/>
          <p:cNvSpPr txBox="1"/>
          <p:nvPr/>
        </p:nvSpPr>
        <p:spPr>
          <a:xfrm>
            <a:off x="2986979" y="2743200"/>
            <a:ext cx="1706819" cy="347472"/>
          </a:xfrm>
          <a:prstGeom prst="rect">
            <a:avLst/>
          </a:prstGeom>
          <a:noFill/>
          <a:ln/>
        </p:spPr>
        <p:txBody>
          <a:bodyPr wrap="square" lIns="0" tIns="0" rIns="0" bIns="0" rtlCol="0" anchor="t"/>
          <a:lstStyle/>
          <a:p>
            <a:pPr indent="0" marL="0">
              <a:buNone/>
            </a:pPr>
            <a:r>
              <a:rPr lang="en-US" sz="1400" b="1" dirty="0">
                <a:solidFill>
                  <a:schemeClr val="tx1"/>
                </a:solidFill>
              </a:rPr>
              <a:t>Reservieren</a:t>
            </a:r>
            <a:endParaRPr lang="en-US" sz="1400" dirty="0"/>
          </a:p>
        </p:txBody>
      </p:sp>
      <p:sp>
        <p:nvSpPr>
          <p:cNvPr id="19" name="Text 15"/>
          <p:cNvSpPr txBox="1"/>
          <p:nvPr/>
        </p:nvSpPr>
        <p:spPr>
          <a:xfrm>
            <a:off x="2986979" y="3063240"/>
            <a:ext cx="1706819" cy="256032"/>
          </a:xfrm>
          <a:prstGeom prst="rect">
            <a:avLst/>
          </a:prstGeom>
          <a:noFill/>
          <a:ln/>
        </p:spPr>
        <p:txBody>
          <a:bodyPr wrap="square" lIns="0" tIns="0" rIns="0" bIns="0" rtlCol="0" anchor="t"/>
          <a:lstStyle/>
          <a:p>
            <a:pPr indent="0" marL="0">
              <a:buNone/>
            </a:pPr>
            <a:r>
              <a:rPr lang="en-US" sz="1100" dirty="0">
                <a:solidFill>
                  <a:schemeClr val="tx2"/>
                </a:solidFill>
              </a:rPr>
              <a:t>FA-04–08</a:t>
            </a:r>
            <a:endParaRPr lang="en-US" sz="1100" dirty="0"/>
          </a:p>
        </p:txBody>
      </p:sp>
      <p:sp>
        <p:nvSpPr>
          <p:cNvPr id="20" name="FA-04 Should"/>
          <p:cNvSpPr/>
          <p:nvPr/>
        </p:nvSpPr>
        <p:spPr>
          <a:xfrm>
            <a:off x="2986979" y="3383280"/>
            <a:ext cx="313932" cy="118872"/>
          </a:xfrm>
          <a:prstGeom prst="rect">
            <a:avLst/>
          </a:prstGeom>
          <a:solidFill>
            <a:srgbClr val="5A6B7B"/>
          </a:solidFill>
          <a:ln/>
        </p:spPr>
      </p:sp>
      <p:sp>
        <p:nvSpPr>
          <p:cNvPr id="21" name="FA-05 Must"/>
          <p:cNvSpPr/>
          <p:nvPr/>
        </p:nvSpPr>
        <p:spPr>
          <a:xfrm>
            <a:off x="3328343" y="3383280"/>
            <a:ext cx="313932" cy="118872"/>
          </a:xfrm>
          <a:prstGeom prst="rect">
            <a:avLst/>
          </a:prstGeom>
          <a:solidFill>
            <a:schemeClr val="accent1"/>
          </a:solidFill>
          <a:ln/>
        </p:spPr>
      </p:sp>
      <p:sp>
        <p:nvSpPr>
          <p:cNvPr id="22" name="FA-06 Must"/>
          <p:cNvSpPr/>
          <p:nvPr/>
        </p:nvSpPr>
        <p:spPr>
          <a:xfrm>
            <a:off x="3669707" y="3383280"/>
            <a:ext cx="313932" cy="118872"/>
          </a:xfrm>
          <a:prstGeom prst="rect">
            <a:avLst/>
          </a:prstGeom>
          <a:solidFill>
            <a:schemeClr val="accent1"/>
          </a:solidFill>
          <a:ln/>
        </p:spPr>
      </p:sp>
      <p:sp>
        <p:nvSpPr>
          <p:cNvPr id="23" name="FA-07 Must"/>
          <p:cNvSpPr/>
          <p:nvPr/>
        </p:nvSpPr>
        <p:spPr>
          <a:xfrm>
            <a:off x="4011070" y="3383280"/>
            <a:ext cx="313932" cy="118872"/>
          </a:xfrm>
          <a:prstGeom prst="rect">
            <a:avLst/>
          </a:prstGeom>
          <a:solidFill>
            <a:schemeClr val="accent1"/>
          </a:solidFill>
          <a:ln/>
        </p:spPr>
      </p:sp>
      <p:sp>
        <p:nvSpPr>
          <p:cNvPr id="24" name="FA-08 Should"/>
          <p:cNvSpPr/>
          <p:nvPr/>
        </p:nvSpPr>
        <p:spPr>
          <a:xfrm>
            <a:off x="4352434" y="3383280"/>
            <a:ext cx="313932" cy="118872"/>
          </a:xfrm>
          <a:prstGeom prst="rect">
            <a:avLst/>
          </a:prstGeom>
          <a:solidFill>
            <a:srgbClr val="5A6B7B"/>
          </a:solidFill>
          <a:ln/>
        </p:spPr>
      </p:sp>
      <p:sp>
        <p:nvSpPr>
          <p:cNvPr id="25" name="Bereich Ändern, Stornieren"/>
          <p:cNvSpPr/>
          <p:nvPr/>
        </p:nvSpPr>
        <p:spPr>
          <a:xfrm>
            <a:off x="5059558" y="1965960"/>
            <a:ext cx="2072579" cy="1691640"/>
          </a:xfrm>
          <a:prstGeom prst="roundRect">
            <a:avLst>
              <a:gd name="adj" fmla="val 6486"/>
            </a:avLst>
          </a:prstGeom>
          <a:solidFill>
            <a:schemeClr val="bg2"/>
          </a:solidFill>
          <a:ln/>
        </p:spPr>
      </p:sp>
      <p:sp>
        <p:nvSpPr>
          <p:cNvPr id="26" name="Bereich Icon Ändern, Stornieren Kreis"/>
          <p:cNvSpPr/>
          <p:nvPr/>
        </p:nvSpPr>
        <p:spPr>
          <a:xfrm>
            <a:off x="5242438" y="2148840"/>
            <a:ext cx="502920" cy="502920"/>
          </a:xfrm>
          <a:prstGeom prst="ellipse">
            <a:avLst/>
          </a:prstGeom>
          <a:solidFill>
            <a:schemeClr val="accent1"/>
          </a:solidFill>
          <a:ln/>
        </p:spPr>
      </p:sp>
      <p:pic>
        <p:nvPicPr>
          <p:cNvPr id="27" name="Bereich Icon Ändern, Stornieren" descr="CalendarClock">    </p:cNvPr>
          <p:cNvPicPr>
            <a:picLocks noChangeAspect="1"/>
          </p:cNvPicPr>
          <p:nvPr/>
        </p:nvPicPr>
        <p:blipFill>
          <a:blip r:embed="rId3"/>
          <a:stretch>
            <a:fillRect/>
          </a:stretch>
        </p:blipFill>
        <p:spPr>
          <a:xfrm>
            <a:off x="5368168" y="2274570"/>
            <a:ext cx="251460" cy="251460"/>
          </a:xfrm>
          <a:prstGeom prst="rect">
            <a:avLst/>
          </a:prstGeom>
        </p:spPr>
      </p:pic>
      <p:sp>
        <p:nvSpPr>
          <p:cNvPr id="28" name="Text 23"/>
          <p:cNvSpPr txBox="1"/>
          <p:nvPr/>
        </p:nvSpPr>
        <p:spPr>
          <a:xfrm>
            <a:off x="6263457" y="207568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4</a:t>
            </a:r>
            <a:endParaRPr lang="en-US" sz="3200" dirty="0"/>
          </a:p>
        </p:txBody>
      </p:sp>
      <p:sp>
        <p:nvSpPr>
          <p:cNvPr id="29" name="Text 24"/>
          <p:cNvSpPr txBox="1"/>
          <p:nvPr/>
        </p:nvSpPr>
        <p:spPr>
          <a:xfrm>
            <a:off x="5242438" y="2743200"/>
            <a:ext cx="1706819" cy="347472"/>
          </a:xfrm>
          <a:prstGeom prst="rect">
            <a:avLst/>
          </a:prstGeom>
          <a:noFill/>
          <a:ln/>
        </p:spPr>
        <p:txBody>
          <a:bodyPr wrap="square" lIns="0" tIns="0" rIns="0" bIns="0" rtlCol="0" anchor="t"/>
          <a:lstStyle/>
          <a:p>
            <a:pPr indent="0" marL="0">
              <a:buNone/>
            </a:pPr>
            <a:r>
              <a:rPr lang="en-US" sz="1400" b="1" dirty="0">
                <a:solidFill>
                  <a:schemeClr val="tx1"/>
                </a:solidFill>
              </a:rPr>
              <a:t>Ändern, Stornieren</a:t>
            </a:r>
            <a:endParaRPr lang="en-US" sz="1400" dirty="0"/>
          </a:p>
        </p:txBody>
      </p:sp>
      <p:sp>
        <p:nvSpPr>
          <p:cNvPr id="30" name="Text 25"/>
          <p:cNvSpPr txBox="1"/>
          <p:nvPr/>
        </p:nvSpPr>
        <p:spPr>
          <a:xfrm>
            <a:off x="5242438" y="3063240"/>
            <a:ext cx="1706819" cy="256032"/>
          </a:xfrm>
          <a:prstGeom prst="rect">
            <a:avLst/>
          </a:prstGeom>
          <a:noFill/>
          <a:ln/>
        </p:spPr>
        <p:txBody>
          <a:bodyPr wrap="square" lIns="0" tIns="0" rIns="0" bIns="0" rtlCol="0" anchor="t"/>
          <a:lstStyle/>
          <a:p>
            <a:pPr indent="0" marL="0">
              <a:buNone/>
            </a:pPr>
            <a:r>
              <a:rPr lang="en-US" sz="1100" dirty="0">
                <a:solidFill>
                  <a:schemeClr val="tx2"/>
                </a:solidFill>
              </a:rPr>
              <a:t>FA-09–12</a:t>
            </a:r>
            <a:endParaRPr lang="en-US" sz="1100" dirty="0"/>
          </a:p>
        </p:txBody>
      </p:sp>
      <p:sp>
        <p:nvSpPr>
          <p:cNvPr id="31" name="FA-09 Should"/>
          <p:cNvSpPr/>
          <p:nvPr/>
        </p:nvSpPr>
        <p:spPr>
          <a:xfrm>
            <a:off x="5242438" y="3383280"/>
            <a:ext cx="399273" cy="118872"/>
          </a:xfrm>
          <a:prstGeom prst="rect">
            <a:avLst/>
          </a:prstGeom>
          <a:solidFill>
            <a:srgbClr val="5A6B7B"/>
          </a:solidFill>
          <a:ln/>
        </p:spPr>
      </p:sp>
      <p:sp>
        <p:nvSpPr>
          <p:cNvPr id="32" name="FA-10 Must"/>
          <p:cNvSpPr/>
          <p:nvPr/>
        </p:nvSpPr>
        <p:spPr>
          <a:xfrm>
            <a:off x="5669143" y="3383280"/>
            <a:ext cx="399273" cy="118872"/>
          </a:xfrm>
          <a:prstGeom prst="rect">
            <a:avLst/>
          </a:prstGeom>
          <a:solidFill>
            <a:schemeClr val="accent1"/>
          </a:solidFill>
          <a:ln/>
        </p:spPr>
      </p:sp>
      <p:sp>
        <p:nvSpPr>
          <p:cNvPr id="33" name="FA-11 Must"/>
          <p:cNvSpPr/>
          <p:nvPr/>
        </p:nvSpPr>
        <p:spPr>
          <a:xfrm>
            <a:off x="6095848" y="3383280"/>
            <a:ext cx="399273" cy="118872"/>
          </a:xfrm>
          <a:prstGeom prst="rect">
            <a:avLst/>
          </a:prstGeom>
          <a:solidFill>
            <a:schemeClr val="accent1"/>
          </a:solidFill>
          <a:ln/>
        </p:spPr>
      </p:sp>
      <p:sp>
        <p:nvSpPr>
          <p:cNvPr id="34" name="FA-12 Must"/>
          <p:cNvSpPr/>
          <p:nvPr/>
        </p:nvSpPr>
        <p:spPr>
          <a:xfrm>
            <a:off x="6522552" y="3383280"/>
            <a:ext cx="399273" cy="118872"/>
          </a:xfrm>
          <a:prstGeom prst="rect">
            <a:avLst/>
          </a:prstGeom>
          <a:solidFill>
            <a:schemeClr val="accent1"/>
          </a:solidFill>
          <a:ln/>
        </p:spPr>
      </p:sp>
      <p:sp>
        <p:nvSpPr>
          <p:cNvPr id="35" name="Bereich Warteliste"/>
          <p:cNvSpPr/>
          <p:nvPr/>
        </p:nvSpPr>
        <p:spPr>
          <a:xfrm>
            <a:off x="7315017" y="1965960"/>
            <a:ext cx="2072579" cy="1691640"/>
          </a:xfrm>
          <a:prstGeom prst="roundRect">
            <a:avLst>
              <a:gd name="adj" fmla="val 6486"/>
            </a:avLst>
          </a:prstGeom>
          <a:solidFill>
            <a:schemeClr val="bg2"/>
          </a:solidFill>
          <a:ln/>
        </p:spPr>
      </p:sp>
      <p:sp>
        <p:nvSpPr>
          <p:cNvPr id="36" name="Bereich Icon Warteliste Kreis"/>
          <p:cNvSpPr/>
          <p:nvPr/>
        </p:nvSpPr>
        <p:spPr>
          <a:xfrm>
            <a:off x="7497897" y="2148840"/>
            <a:ext cx="502920" cy="502920"/>
          </a:xfrm>
          <a:prstGeom prst="ellipse">
            <a:avLst/>
          </a:prstGeom>
          <a:solidFill>
            <a:schemeClr val="accent1"/>
          </a:solidFill>
          <a:ln/>
        </p:spPr>
      </p:sp>
      <p:pic>
        <p:nvPicPr>
          <p:cNvPr id="37" name="Bereich Icon Warteliste" descr="Hourglass">    </p:cNvPr>
          <p:cNvPicPr>
            <a:picLocks noChangeAspect="1"/>
          </p:cNvPicPr>
          <p:nvPr/>
        </p:nvPicPr>
        <p:blipFill>
          <a:blip r:embed="rId4"/>
          <a:stretch>
            <a:fillRect/>
          </a:stretch>
        </p:blipFill>
        <p:spPr>
          <a:xfrm>
            <a:off x="7623627" y="2274570"/>
            <a:ext cx="251460" cy="251460"/>
          </a:xfrm>
          <a:prstGeom prst="rect">
            <a:avLst/>
          </a:prstGeom>
        </p:spPr>
      </p:pic>
      <p:sp>
        <p:nvSpPr>
          <p:cNvPr id="38" name="Text 32"/>
          <p:cNvSpPr txBox="1"/>
          <p:nvPr/>
        </p:nvSpPr>
        <p:spPr>
          <a:xfrm>
            <a:off x="8518916" y="207568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3</a:t>
            </a:r>
            <a:endParaRPr lang="en-US" sz="3200" dirty="0"/>
          </a:p>
        </p:txBody>
      </p:sp>
      <p:sp>
        <p:nvSpPr>
          <p:cNvPr id="39" name="Text 33"/>
          <p:cNvSpPr txBox="1"/>
          <p:nvPr/>
        </p:nvSpPr>
        <p:spPr>
          <a:xfrm>
            <a:off x="7497897" y="2743200"/>
            <a:ext cx="1706819" cy="347472"/>
          </a:xfrm>
          <a:prstGeom prst="rect">
            <a:avLst/>
          </a:prstGeom>
          <a:noFill/>
          <a:ln/>
        </p:spPr>
        <p:txBody>
          <a:bodyPr wrap="square" lIns="0" tIns="0" rIns="0" bIns="0" rtlCol="0" anchor="t"/>
          <a:lstStyle/>
          <a:p>
            <a:pPr indent="0" marL="0">
              <a:buNone/>
            </a:pPr>
            <a:r>
              <a:rPr lang="en-US" sz="1400" b="1" dirty="0">
                <a:solidFill>
                  <a:schemeClr val="tx1"/>
                </a:solidFill>
              </a:rPr>
              <a:t>Warteliste</a:t>
            </a:r>
            <a:endParaRPr lang="en-US" sz="1400" dirty="0"/>
          </a:p>
        </p:txBody>
      </p:sp>
      <p:sp>
        <p:nvSpPr>
          <p:cNvPr id="40" name="Text 34"/>
          <p:cNvSpPr txBox="1"/>
          <p:nvPr/>
        </p:nvSpPr>
        <p:spPr>
          <a:xfrm>
            <a:off x="7497897" y="3063240"/>
            <a:ext cx="1706819" cy="256032"/>
          </a:xfrm>
          <a:prstGeom prst="rect">
            <a:avLst/>
          </a:prstGeom>
          <a:noFill/>
          <a:ln/>
        </p:spPr>
        <p:txBody>
          <a:bodyPr wrap="square" lIns="0" tIns="0" rIns="0" bIns="0" rtlCol="0" anchor="t"/>
          <a:lstStyle/>
          <a:p>
            <a:pPr indent="0" marL="0">
              <a:buNone/>
            </a:pPr>
            <a:r>
              <a:rPr lang="en-US" sz="1100" dirty="0">
                <a:solidFill>
                  <a:schemeClr val="tx2"/>
                </a:solidFill>
              </a:rPr>
              <a:t>FA-13–15</a:t>
            </a:r>
            <a:endParaRPr lang="en-US" sz="1100" dirty="0"/>
          </a:p>
        </p:txBody>
      </p:sp>
      <p:sp>
        <p:nvSpPr>
          <p:cNvPr id="41" name="FA-13 Should"/>
          <p:cNvSpPr/>
          <p:nvPr/>
        </p:nvSpPr>
        <p:spPr>
          <a:xfrm>
            <a:off x="7497897" y="3383280"/>
            <a:ext cx="541508" cy="118872"/>
          </a:xfrm>
          <a:prstGeom prst="rect">
            <a:avLst/>
          </a:prstGeom>
          <a:solidFill>
            <a:srgbClr val="5A6B7B"/>
          </a:solidFill>
          <a:ln/>
        </p:spPr>
      </p:sp>
      <p:sp>
        <p:nvSpPr>
          <p:cNvPr id="42" name="FA-14 Should"/>
          <p:cNvSpPr/>
          <p:nvPr/>
        </p:nvSpPr>
        <p:spPr>
          <a:xfrm>
            <a:off x="8066837" y="3383280"/>
            <a:ext cx="541508" cy="118872"/>
          </a:xfrm>
          <a:prstGeom prst="rect">
            <a:avLst/>
          </a:prstGeom>
          <a:solidFill>
            <a:srgbClr val="5A6B7B"/>
          </a:solidFill>
          <a:ln/>
        </p:spPr>
      </p:sp>
      <p:sp>
        <p:nvSpPr>
          <p:cNvPr id="43" name="FA-15 Should"/>
          <p:cNvSpPr/>
          <p:nvPr/>
        </p:nvSpPr>
        <p:spPr>
          <a:xfrm>
            <a:off x="8635776" y="3383280"/>
            <a:ext cx="541508" cy="118872"/>
          </a:xfrm>
          <a:prstGeom prst="rect">
            <a:avLst/>
          </a:prstGeom>
          <a:solidFill>
            <a:srgbClr val="5A6B7B"/>
          </a:solidFill>
          <a:ln/>
        </p:spPr>
      </p:sp>
      <p:sp>
        <p:nvSpPr>
          <p:cNvPr id="44" name="Bereich Serien"/>
          <p:cNvSpPr/>
          <p:nvPr/>
        </p:nvSpPr>
        <p:spPr>
          <a:xfrm>
            <a:off x="9570476" y="1965960"/>
            <a:ext cx="2072579" cy="1691640"/>
          </a:xfrm>
          <a:prstGeom prst="roundRect">
            <a:avLst>
              <a:gd name="adj" fmla="val 6486"/>
            </a:avLst>
          </a:prstGeom>
          <a:solidFill>
            <a:schemeClr val="bg2"/>
          </a:solidFill>
          <a:ln/>
        </p:spPr>
      </p:sp>
      <p:sp>
        <p:nvSpPr>
          <p:cNvPr id="45" name="Bereich Icon Serien Kreis"/>
          <p:cNvSpPr/>
          <p:nvPr/>
        </p:nvSpPr>
        <p:spPr>
          <a:xfrm>
            <a:off x="9753356" y="2148840"/>
            <a:ext cx="502920" cy="502920"/>
          </a:xfrm>
          <a:prstGeom prst="ellipse">
            <a:avLst/>
          </a:prstGeom>
          <a:solidFill>
            <a:schemeClr val="accent1"/>
          </a:solidFill>
          <a:ln/>
        </p:spPr>
      </p:sp>
      <p:pic>
        <p:nvPicPr>
          <p:cNvPr id="46" name="Bereich Icon Serien" descr="Repeat">    </p:cNvPr>
          <p:cNvPicPr>
            <a:picLocks noChangeAspect="1"/>
          </p:cNvPicPr>
          <p:nvPr/>
        </p:nvPicPr>
        <p:blipFill>
          <a:blip r:embed="rId5"/>
          <a:stretch>
            <a:fillRect/>
          </a:stretch>
        </p:blipFill>
        <p:spPr>
          <a:xfrm>
            <a:off x="9879086" y="2274570"/>
            <a:ext cx="251460" cy="251460"/>
          </a:xfrm>
          <a:prstGeom prst="rect">
            <a:avLst/>
          </a:prstGeom>
        </p:spPr>
      </p:pic>
      <p:sp>
        <p:nvSpPr>
          <p:cNvPr id="47" name="Text 40"/>
          <p:cNvSpPr txBox="1"/>
          <p:nvPr/>
        </p:nvSpPr>
        <p:spPr>
          <a:xfrm>
            <a:off x="10774375" y="207568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5</a:t>
            </a:r>
            <a:endParaRPr lang="en-US" sz="3200" dirty="0"/>
          </a:p>
        </p:txBody>
      </p:sp>
      <p:sp>
        <p:nvSpPr>
          <p:cNvPr id="48" name="Text 41"/>
          <p:cNvSpPr txBox="1"/>
          <p:nvPr/>
        </p:nvSpPr>
        <p:spPr>
          <a:xfrm>
            <a:off x="9753356" y="2743200"/>
            <a:ext cx="1706819" cy="347472"/>
          </a:xfrm>
          <a:prstGeom prst="rect">
            <a:avLst/>
          </a:prstGeom>
          <a:noFill/>
          <a:ln/>
        </p:spPr>
        <p:txBody>
          <a:bodyPr wrap="square" lIns="0" tIns="0" rIns="0" bIns="0" rtlCol="0" anchor="t"/>
          <a:lstStyle/>
          <a:p>
            <a:pPr indent="0" marL="0">
              <a:buNone/>
            </a:pPr>
            <a:r>
              <a:rPr lang="en-US" sz="1400" b="1" dirty="0">
                <a:solidFill>
                  <a:schemeClr val="tx1"/>
                </a:solidFill>
              </a:rPr>
              <a:t>Serien</a:t>
            </a:r>
            <a:endParaRPr lang="en-US" sz="1400" dirty="0"/>
          </a:p>
        </p:txBody>
      </p:sp>
      <p:sp>
        <p:nvSpPr>
          <p:cNvPr id="49" name="Text 42"/>
          <p:cNvSpPr txBox="1"/>
          <p:nvPr/>
        </p:nvSpPr>
        <p:spPr>
          <a:xfrm>
            <a:off x="9753356" y="3063240"/>
            <a:ext cx="1706819" cy="256032"/>
          </a:xfrm>
          <a:prstGeom prst="rect">
            <a:avLst/>
          </a:prstGeom>
          <a:noFill/>
          <a:ln/>
        </p:spPr>
        <p:txBody>
          <a:bodyPr wrap="square" lIns="0" tIns="0" rIns="0" bIns="0" rtlCol="0" anchor="t"/>
          <a:lstStyle/>
          <a:p>
            <a:pPr indent="0" marL="0">
              <a:buNone/>
            </a:pPr>
            <a:r>
              <a:rPr lang="en-US" sz="1100" dirty="0">
                <a:solidFill>
                  <a:schemeClr val="tx2"/>
                </a:solidFill>
              </a:rPr>
              <a:t>FA-16–20</a:t>
            </a:r>
            <a:endParaRPr lang="en-US" sz="1100" dirty="0"/>
          </a:p>
        </p:txBody>
      </p:sp>
      <p:sp>
        <p:nvSpPr>
          <p:cNvPr id="50" name="FA-16 Must"/>
          <p:cNvSpPr/>
          <p:nvPr/>
        </p:nvSpPr>
        <p:spPr>
          <a:xfrm>
            <a:off x="9753356" y="3383280"/>
            <a:ext cx="313932" cy="118872"/>
          </a:xfrm>
          <a:prstGeom prst="rect">
            <a:avLst/>
          </a:prstGeom>
          <a:solidFill>
            <a:schemeClr val="accent1"/>
          </a:solidFill>
          <a:ln/>
        </p:spPr>
      </p:sp>
      <p:sp>
        <p:nvSpPr>
          <p:cNvPr id="51" name="FA-17 Must"/>
          <p:cNvSpPr/>
          <p:nvPr/>
        </p:nvSpPr>
        <p:spPr>
          <a:xfrm>
            <a:off x="10094720" y="3383280"/>
            <a:ext cx="313932" cy="118872"/>
          </a:xfrm>
          <a:prstGeom prst="rect">
            <a:avLst/>
          </a:prstGeom>
          <a:solidFill>
            <a:schemeClr val="accent1"/>
          </a:solidFill>
          <a:ln/>
        </p:spPr>
      </p:sp>
      <p:sp>
        <p:nvSpPr>
          <p:cNvPr id="52" name="FA-18 Must"/>
          <p:cNvSpPr/>
          <p:nvPr/>
        </p:nvSpPr>
        <p:spPr>
          <a:xfrm>
            <a:off x="10436084" y="3383280"/>
            <a:ext cx="313932" cy="118872"/>
          </a:xfrm>
          <a:prstGeom prst="rect">
            <a:avLst/>
          </a:prstGeom>
          <a:solidFill>
            <a:schemeClr val="accent1"/>
          </a:solidFill>
          <a:ln/>
        </p:spPr>
      </p:sp>
      <p:sp>
        <p:nvSpPr>
          <p:cNvPr id="53" name="FA-19 Must"/>
          <p:cNvSpPr/>
          <p:nvPr/>
        </p:nvSpPr>
        <p:spPr>
          <a:xfrm>
            <a:off x="10777448" y="3383280"/>
            <a:ext cx="313932" cy="118872"/>
          </a:xfrm>
          <a:prstGeom prst="rect">
            <a:avLst/>
          </a:prstGeom>
          <a:solidFill>
            <a:schemeClr val="accent1"/>
          </a:solidFill>
          <a:ln/>
        </p:spPr>
      </p:sp>
      <p:sp>
        <p:nvSpPr>
          <p:cNvPr id="54" name="FA-20 Should"/>
          <p:cNvSpPr/>
          <p:nvPr/>
        </p:nvSpPr>
        <p:spPr>
          <a:xfrm>
            <a:off x="11118811" y="3383280"/>
            <a:ext cx="313932" cy="118872"/>
          </a:xfrm>
          <a:prstGeom prst="rect">
            <a:avLst/>
          </a:prstGeom>
          <a:solidFill>
            <a:srgbClr val="5A6B7B"/>
          </a:solidFill>
          <a:ln/>
        </p:spPr>
      </p:sp>
      <p:sp>
        <p:nvSpPr>
          <p:cNvPr id="55" name="Bereich Benachrichtigungen"/>
          <p:cNvSpPr/>
          <p:nvPr/>
        </p:nvSpPr>
        <p:spPr>
          <a:xfrm>
            <a:off x="548640" y="3840480"/>
            <a:ext cx="2072579" cy="1691640"/>
          </a:xfrm>
          <a:prstGeom prst="roundRect">
            <a:avLst>
              <a:gd name="adj" fmla="val 6486"/>
            </a:avLst>
          </a:prstGeom>
          <a:solidFill>
            <a:schemeClr val="bg2"/>
          </a:solidFill>
          <a:ln/>
        </p:spPr>
      </p:sp>
      <p:sp>
        <p:nvSpPr>
          <p:cNvPr id="56" name="Bereich Icon Benachrichtigungen Kreis"/>
          <p:cNvSpPr/>
          <p:nvPr/>
        </p:nvSpPr>
        <p:spPr>
          <a:xfrm>
            <a:off x="731520" y="4023360"/>
            <a:ext cx="502920" cy="502920"/>
          </a:xfrm>
          <a:prstGeom prst="ellipse">
            <a:avLst/>
          </a:prstGeom>
          <a:solidFill>
            <a:schemeClr val="accent1"/>
          </a:solidFill>
          <a:ln/>
        </p:spPr>
      </p:sp>
      <p:pic>
        <p:nvPicPr>
          <p:cNvPr id="57" name="Bereich Icon Benachrichtigungen" descr="Bell">    </p:cNvPr>
          <p:cNvPicPr>
            <a:picLocks noChangeAspect="1"/>
          </p:cNvPicPr>
          <p:nvPr/>
        </p:nvPicPr>
        <p:blipFill>
          <a:blip r:embed="rId6"/>
          <a:stretch>
            <a:fillRect/>
          </a:stretch>
        </p:blipFill>
        <p:spPr>
          <a:xfrm>
            <a:off x="857250" y="4149090"/>
            <a:ext cx="251460" cy="251460"/>
          </a:xfrm>
          <a:prstGeom prst="rect">
            <a:avLst/>
          </a:prstGeom>
        </p:spPr>
      </p:pic>
      <p:sp>
        <p:nvSpPr>
          <p:cNvPr id="58" name="Text 50"/>
          <p:cNvSpPr txBox="1"/>
          <p:nvPr/>
        </p:nvSpPr>
        <p:spPr>
          <a:xfrm>
            <a:off x="1752539" y="395020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4</a:t>
            </a:r>
            <a:endParaRPr lang="en-US" sz="3200" dirty="0"/>
          </a:p>
        </p:txBody>
      </p:sp>
      <p:sp>
        <p:nvSpPr>
          <p:cNvPr id="59" name="Text 51"/>
          <p:cNvSpPr txBox="1"/>
          <p:nvPr/>
        </p:nvSpPr>
        <p:spPr>
          <a:xfrm>
            <a:off x="731520" y="4617720"/>
            <a:ext cx="1706819" cy="347472"/>
          </a:xfrm>
          <a:prstGeom prst="rect">
            <a:avLst/>
          </a:prstGeom>
          <a:noFill/>
          <a:ln/>
        </p:spPr>
        <p:txBody>
          <a:bodyPr wrap="square" lIns="0" tIns="0" rIns="0" bIns="0" rtlCol="0" anchor="t"/>
          <a:lstStyle/>
          <a:p>
            <a:pPr indent="0" marL="0">
              <a:buNone/>
            </a:pPr>
            <a:r>
              <a:rPr lang="en-US" sz="1400" b="1" dirty="0">
                <a:solidFill>
                  <a:schemeClr val="tx1"/>
                </a:solidFill>
              </a:rPr>
              <a:t>Benachrichtigungen</a:t>
            </a:r>
            <a:endParaRPr lang="en-US" sz="1400" dirty="0"/>
          </a:p>
        </p:txBody>
      </p:sp>
      <p:sp>
        <p:nvSpPr>
          <p:cNvPr id="60" name="Text 52"/>
          <p:cNvSpPr txBox="1"/>
          <p:nvPr/>
        </p:nvSpPr>
        <p:spPr>
          <a:xfrm>
            <a:off x="731520" y="4937760"/>
            <a:ext cx="1706819" cy="256032"/>
          </a:xfrm>
          <a:prstGeom prst="rect">
            <a:avLst/>
          </a:prstGeom>
          <a:noFill/>
          <a:ln/>
        </p:spPr>
        <p:txBody>
          <a:bodyPr wrap="square" lIns="0" tIns="0" rIns="0" bIns="0" rtlCol="0" anchor="t"/>
          <a:lstStyle/>
          <a:p>
            <a:pPr indent="0" marL="0">
              <a:buNone/>
            </a:pPr>
            <a:r>
              <a:rPr lang="en-US" sz="1100" dirty="0">
                <a:solidFill>
                  <a:schemeClr val="tx2"/>
                </a:solidFill>
              </a:rPr>
              <a:t>FA-21–23 + FA-35</a:t>
            </a:r>
            <a:endParaRPr lang="en-US" sz="1100" dirty="0"/>
          </a:p>
        </p:txBody>
      </p:sp>
      <p:sp>
        <p:nvSpPr>
          <p:cNvPr id="61" name="FA-21 Must"/>
          <p:cNvSpPr/>
          <p:nvPr/>
        </p:nvSpPr>
        <p:spPr>
          <a:xfrm>
            <a:off x="731520" y="5257800"/>
            <a:ext cx="399273" cy="118872"/>
          </a:xfrm>
          <a:prstGeom prst="rect">
            <a:avLst/>
          </a:prstGeom>
          <a:solidFill>
            <a:schemeClr val="accent1"/>
          </a:solidFill>
          <a:ln/>
        </p:spPr>
      </p:sp>
      <p:sp>
        <p:nvSpPr>
          <p:cNvPr id="62" name="FA-22 Should"/>
          <p:cNvSpPr/>
          <p:nvPr/>
        </p:nvSpPr>
        <p:spPr>
          <a:xfrm>
            <a:off x="1158225" y="5257800"/>
            <a:ext cx="399273" cy="118872"/>
          </a:xfrm>
          <a:prstGeom prst="rect">
            <a:avLst/>
          </a:prstGeom>
          <a:solidFill>
            <a:srgbClr val="5A6B7B"/>
          </a:solidFill>
          <a:ln/>
        </p:spPr>
      </p:sp>
      <p:sp>
        <p:nvSpPr>
          <p:cNvPr id="63" name="FA-23 Should"/>
          <p:cNvSpPr/>
          <p:nvPr/>
        </p:nvSpPr>
        <p:spPr>
          <a:xfrm>
            <a:off x="1584930" y="5257800"/>
            <a:ext cx="399273" cy="118872"/>
          </a:xfrm>
          <a:prstGeom prst="rect">
            <a:avLst/>
          </a:prstGeom>
          <a:solidFill>
            <a:srgbClr val="5A6B7B"/>
          </a:solidFill>
          <a:ln/>
        </p:spPr>
      </p:sp>
      <p:sp>
        <p:nvSpPr>
          <p:cNvPr id="64" name="FA-35 Could"/>
          <p:cNvSpPr/>
          <p:nvPr/>
        </p:nvSpPr>
        <p:spPr>
          <a:xfrm>
            <a:off x="2011634" y="5257800"/>
            <a:ext cx="399273" cy="118872"/>
          </a:xfrm>
          <a:prstGeom prst="rect">
            <a:avLst/>
          </a:prstGeom>
          <a:solidFill>
            <a:srgbClr val="8FA3B3"/>
          </a:solidFill>
          <a:ln/>
        </p:spPr>
      </p:sp>
      <p:sp>
        <p:nvSpPr>
          <p:cNvPr id="65" name="Bereich Regeln je Gruppe"/>
          <p:cNvSpPr/>
          <p:nvPr/>
        </p:nvSpPr>
        <p:spPr>
          <a:xfrm>
            <a:off x="2804099" y="3840480"/>
            <a:ext cx="2072579" cy="1691640"/>
          </a:xfrm>
          <a:prstGeom prst="roundRect">
            <a:avLst>
              <a:gd name="adj" fmla="val 6486"/>
            </a:avLst>
          </a:prstGeom>
          <a:solidFill>
            <a:schemeClr val="bg2"/>
          </a:solidFill>
          <a:ln/>
        </p:spPr>
      </p:sp>
      <p:sp>
        <p:nvSpPr>
          <p:cNvPr id="66" name="Bereich Icon Regeln je Gruppe Kreis"/>
          <p:cNvSpPr/>
          <p:nvPr/>
        </p:nvSpPr>
        <p:spPr>
          <a:xfrm>
            <a:off x="2986979" y="4023360"/>
            <a:ext cx="502920" cy="502920"/>
          </a:xfrm>
          <a:prstGeom prst="ellipse">
            <a:avLst/>
          </a:prstGeom>
          <a:solidFill>
            <a:schemeClr val="accent1"/>
          </a:solidFill>
          <a:ln/>
        </p:spPr>
      </p:sp>
      <p:pic>
        <p:nvPicPr>
          <p:cNvPr id="67" name="Bereich Icon Regeln je Gruppe" descr="SlidersHorizontal">    </p:cNvPr>
          <p:cNvPicPr>
            <a:picLocks noChangeAspect="1"/>
          </p:cNvPicPr>
          <p:nvPr/>
        </p:nvPicPr>
        <p:blipFill>
          <a:blip r:embed="rId7"/>
          <a:stretch>
            <a:fillRect/>
          </a:stretch>
        </p:blipFill>
        <p:spPr>
          <a:xfrm>
            <a:off x="3112709" y="4149090"/>
            <a:ext cx="251460" cy="251460"/>
          </a:xfrm>
          <a:prstGeom prst="rect">
            <a:avLst/>
          </a:prstGeom>
        </p:spPr>
      </p:pic>
      <p:sp>
        <p:nvSpPr>
          <p:cNvPr id="68" name="Text 59"/>
          <p:cNvSpPr txBox="1"/>
          <p:nvPr/>
        </p:nvSpPr>
        <p:spPr>
          <a:xfrm>
            <a:off x="4007998" y="395020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3</a:t>
            </a:r>
            <a:endParaRPr lang="en-US" sz="3200" dirty="0"/>
          </a:p>
        </p:txBody>
      </p:sp>
      <p:sp>
        <p:nvSpPr>
          <p:cNvPr id="69" name="Text 60"/>
          <p:cNvSpPr txBox="1"/>
          <p:nvPr/>
        </p:nvSpPr>
        <p:spPr>
          <a:xfrm>
            <a:off x="2986979" y="4617720"/>
            <a:ext cx="1706819" cy="347472"/>
          </a:xfrm>
          <a:prstGeom prst="rect">
            <a:avLst/>
          </a:prstGeom>
          <a:noFill/>
          <a:ln/>
        </p:spPr>
        <p:txBody>
          <a:bodyPr wrap="square" lIns="0" tIns="0" rIns="0" bIns="0" rtlCol="0" anchor="t"/>
          <a:lstStyle/>
          <a:p>
            <a:pPr indent="0" marL="0">
              <a:buNone/>
            </a:pPr>
            <a:r>
              <a:rPr lang="en-US" sz="1400" b="1" dirty="0">
                <a:solidFill>
                  <a:schemeClr val="tx1"/>
                </a:solidFill>
              </a:rPr>
              <a:t>Regeln je Gruppe</a:t>
            </a:r>
            <a:endParaRPr lang="en-US" sz="1400" dirty="0"/>
          </a:p>
        </p:txBody>
      </p:sp>
      <p:sp>
        <p:nvSpPr>
          <p:cNvPr id="70" name="Text 61"/>
          <p:cNvSpPr txBox="1"/>
          <p:nvPr/>
        </p:nvSpPr>
        <p:spPr>
          <a:xfrm>
            <a:off x="2986979" y="4937760"/>
            <a:ext cx="1706819" cy="256032"/>
          </a:xfrm>
          <a:prstGeom prst="rect">
            <a:avLst/>
          </a:prstGeom>
          <a:noFill/>
          <a:ln/>
        </p:spPr>
        <p:txBody>
          <a:bodyPr wrap="square" lIns="0" tIns="0" rIns="0" bIns="0" rtlCol="0" anchor="t"/>
          <a:lstStyle/>
          <a:p>
            <a:pPr indent="0" marL="0">
              <a:buNone/>
            </a:pPr>
            <a:r>
              <a:rPr lang="en-US" sz="1100" dirty="0">
                <a:solidFill>
                  <a:schemeClr val="tx2"/>
                </a:solidFill>
              </a:rPr>
              <a:t>FA-24–26</a:t>
            </a:r>
            <a:endParaRPr lang="en-US" sz="1100" dirty="0"/>
          </a:p>
        </p:txBody>
      </p:sp>
      <p:sp>
        <p:nvSpPr>
          <p:cNvPr id="71" name="FA-24 Must"/>
          <p:cNvSpPr/>
          <p:nvPr/>
        </p:nvSpPr>
        <p:spPr>
          <a:xfrm>
            <a:off x="2986979" y="5257800"/>
            <a:ext cx="541508" cy="118872"/>
          </a:xfrm>
          <a:prstGeom prst="rect">
            <a:avLst/>
          </a:prstGeom>
          <a:solidFill>
            <a:schemeClr val="accent1"/>
          </a:solidFill>
          <a:ln/>
        </p:spPr>
      </p:sp>
      <p:sp>
        <p:nvSpPr>
          <p:cNvPr id="72" name="FA-25 Must"/>
          <p:cNvSpPr/>
          <p:nvPr/>
        </p:nvSpPr>
        <p:spPr>
          <a:xfrm>
            <a:off x="3555919" y="5257800"/>
            <a:ext cx="541508" cy="118872"/>
          </a:xfrm>
          <a:prstGeom prst="rect">
            <a:avLst/>
          </a:prstGeom>
          <a:solidFill>
            <a:schemeClr val="accent1"/>
          </a:solidFill>
          <a:ln/>
        </p:spPr>
      </p:sp>
      <p:sp>
        <p:nvSpPr>
          <p:cNvPr id="73" name="FA-26 Should"/>
          <p:cNvSpPr/>
          <p:nvPr/>
        </p:nvSpPr>
        <p:spPr>
          <a:xfrm>
            <a:off x="4124858" y="5257800"/>
            <a:ext cx="541508" cy="118872"/>
          </a:xfrm>
          <a:prstGeom prst="rect">
            <a:avLst/>
          </a:prstGeom>
          <a:solidFill>
            <a:srgbClr val="5A6B7B"/>
          </a:solidFill>
          <a:ln/>
        </p:spPr>
      </p:sp>
      <p:sp>
        <p:nvSpPr>
          <p:cNvPr id="74" name="Bereich Sperrzeiten"/>
          <p:cNvSpPr/>
          <p:nvPr/>
        </p:nvSpPr>
        <p:spPr>
          <a:xfrm>
            <a:off x="5059558" y="3840480"/>
            <a:ext cx="2072579" cy="1691640"/>
          </a:xfrm>
          <a:prstGeom prst="roundRect">
            <a:avLst>
              <a:gd name="adj" fmla="val 6486"/>
            </a:avLst>
          </a:prstGeom>
          <a:solidFill>
            <a:schemeClr val="bg2"/>
          </a:solidFill>
          <a:ln/>
        </p:spPr>
      </p:sp>
      <p:sp>
        <p:nvSpPr>
          <p:cNvPr id="75" name="Bereich Icon Sperrzeiten Kreis"/>
          <p:cNvSpPr/>
          <p:nvPr/>
        </p:nvSpPr>
        <p:spPr>
          <a:xfrm>
            <a:off x="5242438" y="4023360"/>
            <a:ext cx="502920" cy="502920"/>
          </a:xfrm>
          <a:prstGeom prst="ellipse">
            <a:avLst/>
          </a:prstGeom>
          <a:solidFill>
            <a:schemeClr val="accent1"/>
          </a:solidFill>
          <a:ln/>
        </p:spPr>
      </p:sp>
      <p:pic>
        <p:nvPicPr>
          <p:cNvPr id="76" name="Bereich Icon Sperrzeiten" descr="Ban">    </p:cNvPr>
          <p:cNvPicPr>
            <a:picLocks noChangeAspect="1"/>
          </p:cNvPicPr>
          <p:nvPr/>
        </p:nvPicPr>
        <p:blipFill>
          <a:blip r:embed="rId8"/>
          <a:stretch>
            <a:fillRect/>
          </a:stretch>
        </p:blipFill>
        <p:spPr>
          <a:xfrm>
            <a:off x="5368168" y="4149090"/>
            <a:ext cx="251460" cy="251460"/>
          </a:xfrm>
          <a:prstGeom prst="rect">
            <a:avLst/>
          </a:prstGeom>
        </p:spPr>
      </p:pic>
      <p:sp>
        <p:nvSpPr>
          <p:cNvPr id="77" name="Text 67"/>
          <p:cNvSpPr txBox="1"/>
          <p:nvPr/>
        </p:nvSpPr>
        <p:spPr>
          <a:xfrm>
            <a:off x="6263457" y="395020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2</a:t>
            </a:r>
            <a:endParaRPr lang="en-US" sz="3200" dirty="0"/>
          </a:p>
        </p:txBody>
      </p:sp>
      <p:sp>
        <p:nvSpPr>
          <p:cNvPr id="78" name="Text 68"/>
          <p:cNvSpPr txBox="1"/>
          <p:nvPr/>
        </p:nvSpPr>
        <p:spPr>
          <a:xfrm>
            <a:off x="5242438" y="4617720"/>
            <a:ext cx="1706819" cy="347472"/>
          </a:xfrm>
          <a:prstGeom prst="rect">
            <a:avLst/>
          </a:prstGeom>
          <a:noFill/>
          <a:ln/>
        </p:spPr>
        <p:txBody>
          <a:bodyPr wrap="square" lIns="0" tIns="0" rIns="0" bIns="0" rtlCol="0" anchor="t"/>
          <a:lstStyle/>
          <a:p>
            <a:pPr indent="0" marL="0">
              <a:buNone/>
            </a:pPr>
            <a:r>
              <a:rPr lang="en-US" sz="1400" b="1" dirty="0">
                <a:solidFill>
                  <a:schemeClr val="tx1"/>
                </a:solidFill>
              </a:rPr>
              <a:t>Sperrzeiten</a:t>
            </a:r>
            <a:endParaRPr lang="en-US" sz="1400" dirty="0"/>
          </a:p>
        </p:txBody>
      </p:sp>
      <p:sp>
        <p:nvSpPr>
          <p:cNvPr id="79" name="Text 69"/>
          <p:cNvSpPr txBox="1"/>
          <p:nvPr/>
        </p:nvSpPr>
        <p:spPr>
          <a:xfrm>
            <a:off x="5242438" y="4937760"/>
            <a:ext cx="1706819" cy="256032"/>
          </a:xfrm>
          <a:prstGeom prst="rect">
            <a:avLst/>
          </a:prstGeom>
          <a:noFill/>
          <a:ln/>
        </p:spPr>
        <p:txBody>
          <a:bodyPr wrap="square" lIns="0" tIns="0" rIns="0" bIns="0" rtlCol="0" anchor="t"/>
          <a:lstStyle/>
          <a:p>
            <a:pPr indent="0" marL="0">
              <a:buNone/>
            </a:pPr>
            <a:r>
              <a:rPr lang="en-US" sz="1100" dirty="0">
                <a:solidFill>
                  <a:schemeClr val="tx2"/>
                </a:solidFill>
              </a:rPr>
              <a:t>FA-27–28</a:t>
            </a:r>
            <a:endParaRPr lang="en-US" sz="1100" dirty="0"/>
          </a:p>
        </p:txBody>
      </p:sp>
      <p:sp>
        <p:nvSpPr>
          <p:cNvPr id="80" name="FA-27 Must"/>
          <p:cNvSpPr/>
          <p:nvPr/>
        </p:nvSpPr>
        <p:spPr>
          <a:xfrm>
            <a:off x="5242438" y="5257800"/>
            <a:ext cx="825978" cy="118872"/>
          </a:xfrm>
          <a:prstGeom prst="rect">
            <a:avLst/>
          </a:prstGeom>
          <a:solidFill>
            <a:schemeClr val="accent1"/>
          </a:solidFill>
          <a:ln/>
        </p:spPr>
      </p:sp>
      <p:sp>
        <p:nvSpPr>
          <p:cNvPr id="81" name="FA-28 Must"/>
          <p:cNvSpPr/>
          <p:nvPr/>
        </p:nvSpPr>
        <p:spPr>
          <a:xfrm>
            <a:off x="6095848" y="5257800"/>
            <a:ext cx="825978" cy="118872"/>
          </a:xfrm>
          <a:prstGeom prst="rect">
            <a:avLst/>
          </a:prstGeom>
          <a:solidFill>
            <a:schemeClr val="accent1"/>
          </a:solidFill>
          <a:ln/>
        </p:spPr>
      </p:sp>
      <p:sp>
        <p:nvSpPr>
          <p:cNvPr id="82" name="Bereich Auswertungen"/>
          <p:cNvSpPr/>
          <p:nvPr/>
        </p:nvSpPr>
        <p:spPr>
          <a:xfrm>
            <a:off x="7315017" y="3840480"/>
            <a:ext cx="2072579" cy="1691640"/>
          </a:xfrm>
          <a:prstGeom prst="roundRect">
            <a:avLst>
              <a:gd name="adj" fmla="val 6486"/>
            </a:avLst>
          </a:prstGeom>
          <a:solidFill>
            <a:schemeClr val="bg2"/>
          </a:solidFill>
          <a:ln/>
        </p:spPr>
      </p:sp>
      <p:sp>
        <p:nvSpPr>
          <p:cNvPr id="83" name="Bereich Icon Auswertungen Kreis"/>
          <p:cNvSpPr/>
          <p:nvPr/>
        </p:nvSpPr>
        <p:spPr>
          <a:xfrm>
            <a:off x="7497897" y="4023360"/>
            <a:ext cx="502920" cy="502920"/>
          </a:xfrm>
          <a:prstGeom prst="ellipse">
            <a:avLst/>
          </a:prstGeom>
          <a:solidFill>
            <a:schemeClr val="accent1"/>
          </a:solidFill>
          <a:ln/>
        </p:spPr>
      </p:sp>
      <p:pic>
        <p:nvPicPr>
          <p:cNvPr id="84" name="Bereich Icon Auswertungen" descr="ChartColumn">    </p:cNvPr>
          <p:cNvPicPr>
            <a:picLocks noChangeAspect="1"/>
          </p:cNvPicPr>
          <p:nvPr/>
        </p:nvPicPr>
        <p:blipFill>
          <a:blip r:embed="rId9"/>
          <a:stretch>
            <a:fillRect/>
          </a:stretch>
        </p:blipFill>
        <p:spPr>
          <a:xfrm>
            <a:off x="7623627" y="4149090"/>
            <a:ext cx="251460" cy="251460"/>
          </a:xfrm>
          <a:prstGeom prst="rect">
            <a:avLst/>
          </a:prstGeom>
        </p:spPr>
      </p:pic>
      <p:sp>
        <p:nvSpPr>
          <p:cNvPr id="85" name="Text 74"/>
          <p:cNvSpPr txBox="1"/>
          <p:nvPr/>
        </p:nvSpPr>
        <p:spPr>
          <a:xfrm>
            <a:off x="8518916" y="395020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3</a:t>
            </a:r>
            <a:endParaRPr lang="en-US" sz="3200" dirty="0"/>
          </a:p>
        </p:txBody>
      </p:sp>
      <p:sp>
        <p:nvSpPr>
          <p:cNvPr id="86" name="Text 75"/>
          <p:cNvSpPr txBox="1"/>
          <p:nvPr/>
        </p:nvSpPr>
        <p:spPr>
          <a:xfrm>
            <a:off x="7497897" y="4617720"/>
            <a:ext cx="1706819" cy="347472"/>
          </a:xfrm>
          <a:prstGeom prst="rect">
            <a:avLst/>
          </a:prstGeom>
          <a:noFill/>
          <a:ln/>
        </p:spPr>
        <p:txBody>
          <a:bodyPr wrap="square" lIns="0" tIns="0" rIns="0" bIns="0" rtlCol="0" anchor="t"/>
          <a:lstStyle/>
          <a:p>
            <a:pPr indent="0" marL="0">
              <a:buNone/>
            </a:pPr>
            <a:r>
              <a:rPr lang="en-US" sz="1400" b="1" dirty="0">
                <a:solidFill>
                  <a:schemeClr val="tx1"/>
                </a:solidFill>
              </a:rPr>
              <a:t>Auswertungen</a:t>
            </a:r>
            <a:endParaRPr lang="en-US" sz="1400" dirty="0"/>
          </a:p>
        </p:txBody>
      </p:sp>
      <p:sp>
        <p:nvSpPr>
          <p:cNvPr id="87" name="Text 76"/>
          <p:cNvSpPr txBox="1"/>
          <p:nvPr/>
        </p:nvSpPr>
        <p:spPr>
          <a:xfrm>
            <a:off x="7497897" y="4937760"/>
            <a:ext cx="1706819" cy="256032"/>
          </a:xfrm>
          <a:prstGeom prst="rect">
            <a:avLst/>
          </a:prstGeom>
          <a:noFill/>
          <a:ln/>
        </p:spPr>
        <p:txBody>
          <a:bodyPr wrap="square" lIns="0" tIns="0" rIns="0" bIns="0" rtlCol="0" anchor="t"/>
          <a:lstStyle/>
          <a:p>
            <a:pPr indent="0" marL="0">
              <a:buNone/>
            </a:pPr>
            <a:r>
              <a:rPr lang="en-US" sz="1100" dirty="0">
                <a:solidFill>
                  <a:schemeClr val="tx2"/>
                </a:solidFill>
              </a:rPr>
              <a:t>FA-29–31</a:t>
            </a:r>
            <a:endParaRPr lang="en-US" sz="1100" dirty="0"/>
          </a:p>
        </p:txBody>
      </p:sp>
      <p:sp>
        <p:nvSpPr>
          <p:cNvPr id="88" name="FA-29 Should"/>
          <p:cNvSpPr/>
          <p:nvPr/>
        </p:nvSpPr>
        <p:spPr>
          <a:xfrm>
            <a:off x="7497897" y="5257800"/>
            <a:ext cx="541508" cy="118872"/>
          </a:xfrm>
          <a:prstGeom prst="rect">
            <a:avLst/>
          </a:prstGeom>
          <a:solidFill>
            <a:srgbClr val="5A6B7B"/>
          </a:solidFill>
          <a:ln/>
        </p:spPr>
      </p:sp>
      <p:sp>
        <p:nvSpPr>
          <p:cNvPr id="89" name="FA-30 Should"/>
          <p:cNvSpPr/>
          <p:nvPr/>
        </p:nvSpPr>
        <p:spPr>
          <a:xfrm>
            <a:off x="8066837" y="5257800"/>
            <a:ext cx="541508" cy="118872"/>
          </a:xfrm>
          <a:prstGeom prst="rect">
            <a:avLst/>
          </a:prstGeom>
          <a:solidFill>
            <a:srgbClr val="5A6B7B"/>
          </a:solidFill>
          <a:ln/>
        </p:spPr>
      </p:sp>
      <p:sp>
        <p:nvSpPr>
          <p:cNvPr id="90" name="FA-31 Could"/>
          <p:cNvSpPr/>
          <p:nvPr/>
        </p:nvSpPr>
        <p:spPr>
          <a:xfrm>
            <a:off x="8635776" y="5257800"/>
            <a:ext cx="541508" cy="118872"/>
          </a:xfrm>
          <a:prstGeom prst="rect">
            <a:avLst/>
          </a:prstGeom>
          <a:solidFill>
            <a:srgbClr val="8FA3B3"/>
          </a:solidFill>
          <a:ln/>
        </p:spPr>
      </p:sp>
      <p:sp>
        <p:nvSpPr>
          <p:cNvPr id="91" name="Bereich Stammdaten, Benutzer"/>
          <p:cNvSpPr/>
          <p:nvPr/>
        </p:nvSpPr>
        <p:spPr>
          <a:xfrm>
            <a:off x="9570476" y="3840480"/>
            <a:ext cx="2072579" cy="1691640"/>
          </a:xfrm>
          <a:prstGeom prst="roundRect">
            <a:avLst>
              <a:gd name="adj" fmla="val 6486"/>
            </a:avLst>
          </a:prstGeom>
          <a:solidFill>
            <a:schemeClr val="bg2"/>
          </a:solidFill>
          <a:ln/>
        </p:spPr>
      </p:sp>
      <p:sp>
        <p:nvSpPr>
          <p:cNvPr id="92" name="Bereich Icon Stammdaten, Benutzer Kreis"/>
          <p:cNvSpPr/>
          <p:nvPr/>
        </p:nvSpPr>
        <p:spPr>
          <a:xfrm>
            <a:off x="9753356" y="4023360"/>
            <a:ext cx="502920" cy="502920"/>
          </a:xfrm>
          <a:prstGeom prst="ellipse">
            <a:avLst/>
          </a:prstGeom>
          <a:solidFill>
            <a:schemeClr val="accent1"/>
          </a:solidFill>
          <a:ln/>
        </p:spPr>
      </p:sp>
      <p:pic>
        <p:nvPicPr>
          <p:cNvPr id="93" name="Bereich Icon Stammdaten, Benutzer" descr="Database">    </p:cNvPr>
          <p:cNvPicPr>
            <a:picLocks noChangeAspect="1"/>
          </p:cNvPicPr>
          <p:nvPr/>
        </p:nvPicPr>
        <p:blipFill>
          <a:blip r:embed="rId10"/>
          <a:stretch>
            <a:fillRect/>
          </a:stretch>
        </p:blipFill>
        <p:spPr>
          <a:xfrm>
            <a:off x="9879086" y="4149090"/>
            <a:ext cx="251460" cy="251460"/>
          </a:xfrm>
          <a:prstGeom prst="rect">
            <a:avLst/>
          </a:prstGeom>
        </p:spPr>
      </p:pic>
      <p:sp>
        <p:nvSpPr>
          <p:cNvPr id="94" name="Text 82"/>
          <p:cNvSpPr txBox="1"/>
          <p:nvPr/>
        </p:nvSpPr>
        <p:spPr>
          <a:xfrm>
            <a:off x="10774375" y="3950208"/>
            <a:ext cx="685800" cy="594360"/>
          </a:xfrm>
          <a:prstGeom prst="rect">
            <a:avLst/>
          </a:prstGeom>
          <a:noFill/>
          <a:ln/>
        </p:spPr>
        <p:txBody>
          <a:bodyPr wrap="square" lIns="0" tIns="0" rIns="0" bIns="0" rtlCol="0" anchor="ctr"/>
          <a:lstStyle/>
          <a:p>
            <a:pPr algn="r" indent="0" marL="0">
              <a:buNone/>
            </a:pPr>
            <a:r>
              <a:rPr lang="en-US" sz="3200" b="1" dirty="0">
                <a:solidFill>
                  <a:schemeClr val="tx1"/>
                </a:solidFill>
              </a:rPr>
              <a:t>3</a:t>
            </a:r>
            <a:endParaRPr lang="en-US" sz="3200" dirty="0"/>
          </a:p>
        </p:txBody>
      </p:sp>
      <p:sp>
        <p:nvSpPr>
          <p:cNvPr id="95" name="Text 83"/>
          <p:cNvSpPr txBox="1"/>
          <p:nvPr/>
        </p:nvSpPr>
        <p:spPr>
          <a:xfrm>
            <a:off x="9753356" y="4617720"/>
            <a:ext cx="1706819" cy="347472"/>
          </a:xfrm>
          <a:prstGeom prst="rect">
            <a:avLst/>
          </a:prstGeom>
          <a:noFill/>
          <a:ln/>
        </p:spPr>
        <p:txBody>
          <a:bodyPr wrap="square" lIns="0" tIns="0" rIns="0" bIns="0" rtlCol="0" anchor="t"/>
          <a:lstStyle/>
          <a:p>
            <a:pPr indent="0" marL="0">
              <a:buNone/>
            </a:pPr>
            <a:r>
              <a:rPr lang="en-US" sz="1400" b="1" dirty="0">
                <a:solidFill>
                  <a:schemeClr val="tx1"/>
                </a:solidFill>
              </a:rPr>
              <a:t>Stammdaten, Benutzer</a:t>
            </a:r>
            <a:endParaRPr lang="en-US" sz="1400" dirty="0"/>
          </a:p>
        </p:txBody>
      </p:sp>
      <p:sp>
        <p:nvSpPr>
          <p:cNvPr id="96" name="Text 84"/>
          <p:cNvSpPr txBox="1"/>
          <p:nvPr/>
        </p:nvSpPr>
        <p:spPr>
          <a:xfrm>
            <a:off x="9753356" y="4937760"/>
            <a:ext cx="1706819" cy="256032"/>
          </a:xfrm>
          <a:prstGeom prst="rect">
            <a:avLst/>
          </a:prstGeom>
          <a:noFill/>
          <a:ln/>
        </p:spPr>
        <p:txBody>
          <a:bodyPr wrap="square" lIns="0" tIns="0" rIns="0" bIns="0" rtlCol="0" anchor="t"/>
          <a:lstStyle/>
          <a:p>
            <a:pPr indent="0" marL="0">
              <a:buNone/>
            </a:pPr>
            <a:r>
              <a:rPr lang="en-US" sz="1100" dirty="0">
                <a:solidFill>
                  <a:schemeClr val="tx2"/>
                </a:solidFill>
              </a:rPr>
              <a:t>FA-32–34</a:t>
            </a:r>
            <a:endParaRPr lang="en-US" sz="1100" dirty="0"/>
          </a:p>
        </p:txBody>
      </p:sp>
      <p:sp>
        <p:nvSpPr>
          <p:cNvPr id="97" name="FA-32 Must"/>
          <p:cNvSpPr/>
          <p:nvPr/>
        </p:nvSpPr>
        <p:spPr>
          <a:xfrm>
            <a:off x="9753356" y="5257800"/>
            <a:ext cx="541508" cy="118872"/>
          </a:xfrm>
          <a:prstGeom prst="rect">
            <a:avLst/>
          </a:prstGeom>
          <a:solidFill>
            <a:schemeClr val="accent1"/>
          </a:solidFill>
          <a:ln/>
        </p:spPr>
      </p:sp>
      <p:sp>
        <p:nvSpPr>
          <p:cNvPr id="98" name="FA-33 Must"/>
          <p:cNvSpPr/>
          <p:nvPr/>
        </p:nvSpPr>
        <p:spPr>
          <a:xfrm>
            <a:off x="10322296" y="5257800"/>
            <a:ext cx="541508" cy="118872"/>
          </a:xfrm>
          <a:prstGeom prst="rect">
            <a:avLst/>
          </a:prstGeom>
          <a:solidFill>
            <a:schemeClr val="accent1"/>
          </a:solidFill>
          <a:ln/>
        </p:spPr>
      </p:sp>
      <p:sp>
        <p:nvSpPr>
          <p:cNvPr id="99" name="FA-34 Must"/>
          <p:cNvSpPr/>
          <p:nvPr/>
        </p:nvSpPr>
        <p:spPr>
          <a:xfrm>
            <a:off x="10891236" y="5257800"/>
            <a:ext cx="541508" cy="118872"/>
          </a:xfrm>
          <a:prstGeom prst="rect">
            <a:avLst/>
          </a:prstGeom>
          <a:solidFill>
            <a:schemeClr val="accent1"/>
          </a:solidFill>
          <a:ln/>
        </p:spPr>
      </p:sp>
      <p:sp>
        <p:nvSpPr>
          <p:cNvPr id="100" name="Legende Must"/>
          <p:cNvSpPr/>
          <p:nvPr/>
        </p:nvSpPr>
        <p:spPr>
          <a:xfrm>
            <a:off x="548640" y="5779008"/>
            <a:ext cx="274320" cy="118872"/>
          </a:xfrm>
          <a:prstGeom prst="rect">
            <a:avLst/>
          </a:prstGeom>
          <a:solidFill>
            <a:schemeClr val="accent1"/>
          </a:solidFill>
          <a:ln/>
        </p:spPr>
      </p:sp>
      <p:sp>
        <p:nvSpPr>
          <p:cNvPr id="101" name="Text 89"/>
          <p:cNvSpPr txBox="1"/>
          <p:nvPr/>
        </p:nvSpPr>
        <p:spPr>
          <a:xfrm>
            <a:off x="896112" y="5687568"/>
            <a:ext cx="1234440" cy="292608"/>
          </a:xfrm>
          <a:prstGeom prst="rect">
            <a:avLst/>
          </a:prstGeom>
          <a:noFill/>
          <a:ln/>
        </p:spPr>
        <p:txBody>
          <a:bodyPr wrap="square" lIns="0" tIns="0" rIns="0" bIns="0" rtlCol="0" anchor="ctr"/>
          <a:lstStyle/>
          <a:p>
            <a:pPr indent="0" marL="0">
              <a:buNone/>
            </a:pPr>
            <a:r>
              <a:rPr lang="en-US" sz="1200" dirty="0">
                <a:solidFill>
                  <a:schemeClr val="tx2"/>
                </a:solidFill>
              </a:rPr>
              <a:t>Must = «muss»</a:t>
            </a:r>
            <a:endParaRPr lang="en-US" sz="1200" dirty="0"/>
          </a:p>
        </p:txBody>
      </p:sp>
      <p:sp>
        <p:nvSpPr>
          <p:cNvPr id="102" name="Legende Should"/>
          <p:cNvSpPr/>
          <p:nvPr/>
        </p:nvSpPr>
        <p:spPr>
          <a:xfrm>
            <a:off x="2148840" y="5779008"/>
            <a:ext cx="274320" cy="118872"/>
          </a:xfrm>
          <a:prstGeom prst="rect">
            <a:avLst/>
          </a:prstGeom>
          <a:solidFill>
            <a:srgbClr val="5A6B7B"/>
          </a:solidFill>
          <a:ln/>
        </p:spPr>
      </p:sp>
      <p:sp>
        <p:nvSpPr>
          <p:cNvPr id="103" name="Text 91"/>
          <p:cNvSpPr txBox="1"/>
          <p:nvPr/>
        </p:nvSpPr>
        <p:spPr>
          <a:xfrm>
            <a:off x="2496312" y="5687568"/>
            <a:ext cx="1234440" cy="292608"/>
          </a:xfrm>
          <a:prstGeom prst="rect">
            <a:avLst/>
          </a:prstGeom>
          <a:noFill/>
          <a:ln/>
        </p:spPr>
        <p:txBody>
          <a:bodyPr wrap="square" lIns="0" tIns="0" rIns="0" bIns="0" rtlCol="0" anchor="ctr"/>
          <a:lstStyle/>
          <a:p>
            <a:pPr indent="0" marL="0">
              <a:buNone/>
            </a:pPr>
            <a:r>
              <a:rPr lang="en-US" sz="1200" dirty="0">
                <a:solidFill>
                  <a:schemeClr val="tx2"/>
                </a:solidFill>
              </a:rPr>
              <a:t>Should = «soll»</a:t>
            </a:r>
            <a:endParaRPr lang="en-US" sz="1200" dirty="0"/>
          </a:p>
        </p:txBody>
      </p:sp>
      <p:sp>
        <p:nvSpPr>
          <p:cNvPr id="104" name="Legende Could"/>
          <p:cNvSpPr/>
          <p:nvPr/>
        </p:nvSpPr>
        <p:spPr>
          <a:xfrm>
            <a:off x="3749040" y="5779008"/>
            <a:ext cx="274320" cy="118872"/>
          </a:xfrm>
          <a:prstGeom prst="rect">
            <a:avLst/>
          </a:prstGeom>
          <a:solidFill>
            <a:srgbClr val="8FA3B3"/>
          </a:solidFill>
          <a:ln/>
        </p:spPr>
      </p:sp>
      <p:sp>
        <p:nvSpPr>
          <p:cNvPr id="105" name="Text 93"/>
          <p:cNvSpPr txBox="1"/>
          <p:nvPr/>
        </p:nvSpPr>
        <p:spPr>
          <a:xfrm>
            <a:off x="4096512" y="5687568"/>
            <a:ext cx="1234440" cy="292608"/>
          </a:xfrm>
          <a:prstGeom prst="rect">
            <a:avLst/>
          </a:prstGeom>
          <a:noFill/>
          <a:ln/>
        </p:spPr>
        <p:txBody>
          <a:bodyPr wrap="square" lIns="0" tIns="0" rIns="0" bIns="0" rtlCol="0" anchor="ctr"/>
          <a:lstStyle/>
          <a:p>
            <a:pPr indent="0" marL="0">
              <a:buNone/>
            </a:pPr>
            <a:r>
              <a:rPr lang="en-US" sz="1200" dirty="0">
                <a:solidFill>
                  <a:schemeClr val="tx2"/>
                </a:solidFill>
              </a:rPr>
              <a:t>Could = «wird»</a:t>
            </a:r>
            <a:endParaRPr lang="en-US" sz="1200" dirty="0"/>
          </a:p>
        </p:txBody>
      </p:sp>
      <p:sp>
        <p:nvSpPr>
          <p:cNvPr id="106" name="Text 94"/>
          <p:cNvSpPr txBox="1"/>
          <p:nvPr/>
        </p:nvSpPr>
        <p:spPr>
          <a:xfrm>
            <a:off x="5486400" y="5687568"/>
            <a:ext cx="6156655" cy="292608"/>
          </a:xfrm>
          <a:prstGeom prst="rect">
            <a:avLst/>
          </a:prstGeom>
          <a:noFill/>
          <a:ln/>
        </p:spPr>
        <p:txBody>
          <a:bodyPr wrap="square" lIns="0" tIns="0" rIns="0" bIns="0" rtlCol="0" anchor="ctr"/>
          <a:lstStyle/>
          <a:p>
            <a:pPr algn="r" indent="0" marL="0">
              <a:buNone/>
            </a:pPr>
            <a:r>
              <a:rPr lang="en-US" sz="1200" b="1" dirty="0">
                <a:solidFill>
                  <a:schemeClr val="tx1"/>
                </a:solidFill>
              </a:rPr>
              <a:t>Satzschablone (Rupp): </a:t>
            </a:r>
            <a:pPr algn="r" indent="0" marL="0">
              <a:buNone/>
            </a:pPr>
            <a:r>
              <a:rPr lang="en-US" sz="1200" dirty="0">
                <a:solidFill>
                  <a:schemeClr val="tx2"/>
                </a:solidFill>
              </a:rPr>
              <a:t>«Das System muss ‹wem› die Möglichkeit bieten, ‹Objekt› zu ‹Prozesswort›»</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ZWEI ANFORDERUNGEN IM DETAIL</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So sieht eine Anforderung bei uns aus</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Zwei Must-Anforderungen zu den Herausforderungen 3 (Doppelbuchungen) und 6 (Serien) von Gruppe 2.</a:t>
            </a:r>
            <a:endParaRPr lang="en-US" sz="1600" dirty="0"/>
          </a:p>
        </p:txBody>
      </p:sp>
      <p:sp>
        <p:nvSpPr>
          <p:cNvPr id="5" name="FA-06"/>
          <p:cNvSpPr/>
          <p:nvPr/>
        </p:nvSpPr>
        <p:spPr>
          <a:xfrm>
            <a:off x="548640" y="1920240"/>
            <a:ext cx="5410048" cy="4005072"/>
          </a:xfrm>
          <a:prstGeom prst="roundRect">
            <a:avLst>
              <a:gd name="adj" fmla="val 2740"/>
            </a:avLst>
          </a:prstGeom>
          <a:solidFill>
            <a:schemeClr val="bg2"/>
          </a:solidFill>
          <a:ln/>
        </p:spPr>
      </p:sp>
      <p:sp>
        <p:nvSpPr>
          <p:cNvPr id="6" name="Text 4"/>
          <p:cNvSpPr txBox="1"/>
          <p:nvPr/>
        </p:nvSpPr>
        <p:spPr>
          <a:xfrm>
            <a:off x="777240" y="2084832"/>
            <a:ext cx="4129888" cy="384048"/>
          </a:xfrm>
          <a:prstGeom prst="rect">
            <a:avLst/>
          </a:prstGeom>
          <a:noFill/>
          <a:ln/>
        </p:spPr>
        <p:txBody>
          <a:bodyPr wrap="square" lIns="0" tIns="0" rIns="0" bIns="0" rtlCol="0" anchor="t"/>
          <a:lstStyle/>
          <a:p>
            <a:pPr indent="0" marL="0">
              <a:buNone/>
            </a:pPr>
            <a:r>
              <a:rPr lang="en-US" sz="1800" b="1" dirty="0">
                <a:solidFill>
                  <a:schemeClr val="accent1"/>
                </a:solidFill>
              </a:rPr>
              <a:t>FA-06  </a:t>
            </a:r>
            <a:pPr indent="0" marL="0">
              <a:buNone/>
            </a:pPr>
            <a:r>
              <a:rPr lang="en-US" sz="1800" b="1" dirty="0">
                <a:solidFill>
                  <a:schemeClr val="tx1"/>
                </a:solidFill>
              </a:rPr>
              <a:t>Doppelbuchung verhindern</a:t>
            </a:r>
            <a:endParaRPr lang="en-US" sz="1800" dirty="0"/>
          </a:p>
        </p:txBody>
      </p:sp>
      <p:sp>
        <p:nvSpPr>
          <p:cNvPr id="7" name="Etikett Must"/>
          <p:cNvSpPr/>
          <p:nvPr/>
        </p:nvSpPr>
        <p:spPr>
          <a:xfrm>
            <a:off x="4907128" y="2121408"/>
            <a:ext cx="822960" cy="274320"/>
          </a:xfrm>
          <a:prstGeom prst="roundRect">
            <a:avLst>
              <a:gd name="adj" fmla="val 50000"/>
            </a:avLst>
          </a:prstGeom>
          <a:solidFill>
            <a:schemeClr val="accent1"/>
          </a:solidFill>
          <a:ln/>
        </p:spPr>
      </p:sp>
      <p:sp>
        <p:nvSpPr>
          <p:cNvPr id="8" name="Text 6"/>
          <p:cNvSpPr txBox="1"/>
          <p:nvPr/>
        </p:nvSpPr>
        <p:spPr>
          <a:xfrm>
            <a:off x="4907128" y="2121408"/>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Must</a:t>
            </a:r>
            <a:endParaRPr lang="en-US" sz="1100" dirty="0"/>
          </a:p>
        </p:txBody>
      </p:sp>
      <p:sp>
        <p:nvSpPr>
          <p:cNvPr id="9" name="Text 7"/>
          <p:cNvSpPr txBox="1"/>
          <p:nvPr/>
        </p:nvSpPr>
        <p:spPr>
          <a:xfrm>
            <a:off x="777240" y="2578608"/>
            <a:ext cx="1143000" cy="274320"/>
          </a:xfrm>
          <a:prstGeom prst="rect">
            <a:avLst/>
          </a:prstGeom>
          <a:noFill/>
          <a:ln/>
        </p:spPr>
        <p:txBody>
          <a:bodyPr wrap="square" lIns="0" tIns="0" rIns="0" bIns="0" rtlCol="0" anchor="t"/>
          <a:lstStyle/>
          <a:p>
            <a:pPr indent="0" marL="0">
              <a:buNone/>
            </a:pPr>
            <a:r>
              <a:rPr lang="en-US" sz="1100" b="1" dirty="0">
                <a:solidFill>
                  <a:schemeClr val="tx2"/>
                </a:solidFill>
              </a:rPr>
              <a:t>Anforderung</a:t>
            </a:r>
            <a:endParaRPr lang="en-US" sz="1100" dirty="0"/>
          </a:p>
        </p:txBody>
      </p:sp>
      <p:sp>
        <p:nvSpPr>
          <p:cNvPr id="10" name="Text 8"/>
          <p:cNvSpPr txBox="1"/>
          <p:nvPr/>
        </p:nvSpPr>
        <p:spPr>
          <a:xfrm>
            <a:off x="1965960" y="2578608"/>
            <a:ext cx="3764128" cy="960120"/>
          </a:xfrm>
          <a:prstGeom prst="rect">
            <a:avLst/>
          </a:prstGeom>
          <a:noFill/>
          <a:ln/>
        </p:spPr>
        <p:txBody>
          <a:bodyPr wrap="square" lIns="0" tIns="0" rIns="0" bIns="0" rtlCol="0" anchor="t"/>
          <a:lstStyle/>
          <a:p>
            <a:pPr indent="0" marL="0">
              <a:buNone/>
            </a:pPr>
            <a:r>
              <a:rPr lang="en-US" sz="1250" b="1" dirty="0">
                <a:solidFill>
                  <a:schemeClr val="tx1"/>
                </a:solidFill>
              </a:rPr>
              <a:t>Das System muss beim Speichern einer Reservation, Änderung oder Serie ablehnen, dass sich zwei Reservationen oder eine Reservation und eine Sperrzeit derselben Anlage zeitlich überschneiden.</a:t>
            </a:r>
            <a:endParaRPr lang="en-US" sz="1250" dirty="0"/>
          </a:p>
        </p:txBody>
      </p:sp>
      <p:sp>
        <p:nvSpPr>
          <p:cNvPr id="11" name="Text 9"/>
          <p:cNvSpPr txBox="1"/>
          <p:nvPr/>
        </p:nvSpPr>
        <p:spPr>
          <a:xfrm>
            <a:off x="777240" y="3648456"/>
            <a:ext cx="1143000" cy="274320"/>
          </a:xfrm>
          <a:prstGeom prst="rect">
            <a:avLst/>
          </a:prstGeom>
          <a:noFill/>
          <a:ln/>
        </p:spPr>
        <p:txBody>
          <a:bodyPr wrap="square" lIns="0" tIns="0" rIns="0" bIns="0" rtlCol="0" anchor="t"/>
          <a:lstStyle/>
          <a:p>
            <a:pPr indent="0" marL="0">
              <a:buNone/>
            </a:pPr>
            <a:r>
              <a:rPr lang="en-US" sz="1100" b="1" dirty="0">
                <a:solidFill>
                  <a:schemeClr val="tx2"/>
                </a:solidFill>
              </a:rPr>
              <a:t>Akzeptanz</a:t>
            </a:r>
            <a:endParaRPr lang="en-US" sz="1100" dirty="0"/>
          </a:p>
        </p:txBody>
      </p:sp>
      <p:sp>
        <p:nvSpPr>
          <p:cNvPr id="12" name="Text 10"/>
          <p:cNvSpPr txBox="1"/>
          <p:nvPr/>
        </p:nvSpPr>
        <p:spPr>
          <a:xfrm>
            <a:off x="1965960" y="3648456"/>
            <a:ext cx="3764128" cy="914400"/>
          </a:xfrm>
          <a:prstGeom prst="rect">
            <a:avLst/>
          </a:prstGeom>
          <a:noFill/>
          <a:ln/>
        </p:spPr>
        <p:txBody>
          <a:bodyPr wrap="square" lIns="0" tIns="0" rIns="0" bIns="0" rtlCol="0" anchor="t"/>
          <a:lstStyle/>
          <a:p>
            <a:pPr indent="0" marL="0">
              <a:buNone/>
            </a:pPr>
            <a:r>
              <a:rPr lang="en-US" sz="1250" dirty="0">
                <a:solidFill>
                  <a:schemeClr val="tx1"/>
                </a:solidFill>
              </a:rPr>
              <a:t>Zwei Personen bestätigen in zwei Sitzungen gleichzeitig dasselbe Zeitfenster: Genau eine Reservation wird gespeichert, die andere Person erhält eine Konfliktmeldung mit freien Alternativen am selben Tag.</a:t>
            </a:r>
            <a:endParaRPr lang="en-US" sz="1250" dirty="0"/>
          </a:p>
        </p:txBody>
      </p:sp>
      <p:sp>
        <p:nvSpPr>
          <p:cNvPr id="13" name="Text 11"/>
          <p:cNvSpPr txBox="1"/>
          <p:nvPr/>
        </p:nvSpPr>
        <p:spPr>
          <a:xfrm>
            <a:off x="777240" y="4672584"/>
            <a:ext cx="1143000" cy="274320"/>
          </a:xfrm>
          <a:prstGeom prst="rect">
            <a:avLst/>
          </a:prstGeom>
          <a:noFill/>
          <a:ln/>
        </p:spPr>
        <p:txBody>
          <a:bodyPr wrap="square" lIns="0" tIns="0" rIns="0" bIns="0" rtlCol="0" anchor="t"/>
          <a:lstStyle/>
          <a:p>
            <a:pPr indent="0" marL="0">
              <a:buNone/>
            </a:pPr>
            <a:r>
              <a:rPr lang="en-US" sz="1100" b="1" dirty="0">
                <a:solidFill>
                  <a:schemeClr val="tx2"/>
                </a:solidFill>
              </a:rPr>
              <a:t>Quelle</a:t>
            </a:r>
            <a:endParaRPr lang="en-US" sz="1100" dirty="0"/>
          </a:p>
        </p:txBody>
      </p:sp>
      <p:sp>
        <p:nvSpPr>
          <p:cNvPr id="14" name="Text 12"/>
          <p:cNvSpPr txBox="1"/>
          <p:nvPr/>
        </p:nvSpPr>
        <p:spPr>
          <a:xfrm>
            <a:off x="1965960" y="4672584"/>
            <a:ext cx="3764128" cy="274320"/>
          </a:xfrm>
          <a:prstGeom prst="rect">
            <a:avLst/>
          </a:prstGeom>
          <a:noFill/>
          <a:ln/>
        </p:spPr>
        <p:txBody>
          <a:bodyPr wrap="square" lIns="0" tIns="0" rIns="0" bIns="0" rtlCol="0" anchor="t"/>
          <a:lstStyle/>
          <a:p>
            <a:pPr indent="0" marL="0">
              <a:buNone/>
            </a:pPr>
            <a:r>
              <a:rPr lang="en-US" sz="1250" dirty="0">
                <a:solidFill>
                  <a:schemeClr val="tx1"/>
                </a:solidFill>
              </a:rPr>
              <a:t>F3 (Herausforderung 3) · H-04 · S-01</a:t>
            </a:r>
            <a:endParaRPr lang="en-US" sz="1250" dirty="0"/>
          </a:p>
        </p:txBody>
      </p:sp>
      <p:sp>
        <p:nvSpPr>
          <p:cNvPr id="15" name="Text 13"/>
          <p:cNvSpPr txBox="1"/>
          <p:nvPr/>
        </p:nvSpPr>
        <p:spPr>
          <a:xfrm>
            <a:off x="777240" y="5056632"/>
            <a:ext cx="1143000" cy="274320"/>
          </a:xfrm>
          <a:prstGeom prst="rect">
            <a:avLst/>
          </a:prstGeom>
          <a:noFill/>
          <a:ln/>
        </p:spPr>
        <p:txBody>
          <a:bodyPr wrap="square" lIns="0" tIns="0" rIns="0" bIns="0" rtlCol="0" anchor="t"/>
          <a:lstStyle/>
          <a:p>
            <a:pPr indent="0" marL="0">
              <a:buNone/>
            </a:pPr>
            <a:r>
              <a:rPr lang="en-US" sz="1100" b="1" dirty="0">
                <a:solidFill>
                  <a:schemeClr val="tx2"/>
                </a:solidFill>
              </a:rPr>
              <a:t>Ziel · Use Case</a:t>
            </a:r>
            <a:endParaRPr lang="en-US" sz="1100" dirty="0"/>
          </a:p>
        </p:txBody>
      </p:sp>
      <p:sp>
        <p:nvSpPr>
          <p:cNvPr id="16" name="Text 14"/>
          <p:cNvSpPr txBox="1"/>
          <p:nvPr/>
        </p:nvSpPr>
        <p:spPr>
          <a:xfrm>
            <a:off x="1965960" y="5056632"/>
            <a:ext cx="3764128" cy="274320"/>
          </a:xfrm>
          <a:prstGeom prst="rect">
            <a:avLst/>
          </a:prstGeom>
          <a:noFill/>
          <a:ln/>
        </p:spPr>
        <p:txBody>
          <a:bodyPr wrap="square" lIns="0" tIns="0" rIns="0" bIns="0" rtlCol="0" anchor="t"/>
          <a:lstStyle/>
          <a:p>
            <a:pPr indent="0" marL="0">
              <a:buNone/>
            </a:pPr>
            <a:r>
              <a:rPr lang="en-US" sz="1250" dirty="0">
                <a:solidFill>
                  <a:schemeClr val="tx1"/>
                </a:solidFill>
              </a:rPr>
              <a:t>PZ-3 · UC-02, UC-06</a:t>
            </a:r>
            <a:endParaRPr lang="en-US" sz="1250" dirty="0"/>
          </a:p>
        </p:txBody>
      </p:sp>
      <p:sp>
        <p:nvSpPr>
          <p:cNvPr id="17" name="Text 15"/>
          <p:cNvSpPr txBox="1"/>
          <p:nvPr/>
        </p:nvSpPr>
        <p:spPr>
          <a:xfrm>
            <a:off x="777240" y="5440680"/>
            <a:ext cx="1143000" cy="274320"/>
          </a:xfrm>
          <a:prstGeom prst="rect">
            <a:avLst/>
          </a:prstGeom>
          <a:noFill/>
          <a:ln/>
        </p:spPr>
        <p:txBody>
          <a:bodyPr wrap="square" lIns="0" tIns="0" rIns="0" bIns="0" rtlCol="0" anchor="t"/>
          <a:lstStyle/>
          <a:p>
            <a:pPr indent="0" marL="0">
              <a:buNone/>
            </a:pPr>
            <a:r>
              <a:rPr lang="en-US" sz="1100" b="1" dirty="0">
                <a:solidFill>
                  <a:srgbClr val="B7791F"/>
                </a:solidFill>
              </a:rPr>
              <a:t>Offen</a:t>
            </a:r>
            <a:endParaRPr lang="en-US" sz="1100" dirty="0"/>
          </a:p>
        </p:txBody>
      </p:sp>
      <p:sp>
        <p:nvSpPr>
          <p:cNvPr id="18" name="Text 16"/>
          <p:cNvSpPr txBox="1"/>
          <p:nvPr/>
        </p:nvSpPr>
        <p:spPr>
          <a:xfrm>
            <a:off x="1965960" y="5440680"/>
            <a:ext cx="3764128" cy="457200"/>
          </a:xfrm>
          <a:prstGeom prst="rect">
            <a:avLst/>
          </a:prstGeom>
          <a:noFill/>
          <a:ln/>
        </p:spPr>
        <p:txBody>
          <a:bodyPr wrap="square" lIns="0" tIns="0" rIns="0" bIns="0" rtlCol="0" anchor="t"/>
          <a:lstStyle/>
          <a:p>
            <a:pPr indent="0" marL="0">
              <a:buNone/>
            </a:pPr>
            <a:r>
              <a:rPr lang="en-US" sz="1250" dirty="0">
                <a:solidFill>
                  <a:schemeClr val="tx1"/>
                </a:solidFill>
              </a:rPr>
              <a:t>Werden Mehrzweckhallen in Teilen reserviert? (OP-13)</a:t>
            </a:r>
            <a:endParaRPr lang="en-US" sz="1250" dirty="0"/>
          </a:p>
        </p:txBody>
      </p:sp>
      <p:sp>
        <p:nvSpPr>
          <p:cNvPr id="19" name="FA-19"/>
          <p:cNvSpPr/>
          <p:nvPr/>
        </p:nvSpPr>
        <p:spPr>
          <a:xfrm>
            <a:off x="6233008" y="1920240"/>
            <a:ext cx="5410048" cy="4005072"/>
          </a:xfrm>
          <a:prstGeom prst="roundRect">
            <a:avLst>
              <a:gd name="adj" fmla="val 2740"/>
            </a:avLst>
          </a:prstGeom>
          <a:solidFill>
            <a:schemeClr val="bg2"/>
          </a:solidFill>
          <a:ln/>
        </p:spPr>
      </p:sp>
      <p:sp>
        <p:nvSpPr>
          <p:cNvPr id="20" name="Text 18"/>
          <p:cNvSpPr txBox="1"/>
          <p:nvPr/>
        </p:nvSpPr>
        <p:spPr>
          <a:xfrm>
            <a:off x="6461608" y="2084832"/>
            <a:ext cx="4129888" cy="384048"/>
          </a:xfrm>
          <a:prstGeom prst="rect">
            <a:avLst/>
          </a:prstGeom>
          <a:noFill/>
          <a:ln/>
        </p:spPr>
        <p:txBody>
          <a:bodyPr wrap="square" lIns="0" tIns="0" rIns="0" bIns="0" rtlCol="0" anchor="t"/>
          <a:lstStyle/>
          <a:p>
            <a:pPr indent="0" marL="0">
              <a:buNone/>
            </a:pPr>
            <a:r>
              <a:rPr lang="en-US" sz="1800" b="1" dirty="0">
                <a:solidFill>
                  <a:schemeClr val="accent1"/>
                </a:solidFill>
              </a:rPr>
              <a:t>FA-19  </a:t>
            </a:r>
            <a:pPr indent="0" marL="0">
              <a:buNone/>
            </a:pPr>
            <a:r>
              <a:rPr lang="en-US" sz="1800" b="1" dirty="0">
                <a:solidFill>
                  <a:schemeClr val="tx1"/>
                </a:solidFill>
              </a:rPr>
              <a:t>Einzeltermin einer Serie absagen</a:t>
            </a:r>
            <a:endParaRPr lang="en-US" sz="1800" dirty="0"/>
          </a:p>
        </p:txBody>
      </p:sp>
      <p:sp>
        <p:nvSpPr>
          <p:cNvPr id="21" name="Etikett Must"/>
          <p:cNvSpPr/>
          <p:nvPr/>
        </p:nvSpPr>
        <p:spPr>
          <a:xfrm>
            <a:off x="10591495" y="2121408"/>
            <a:ext cx="822960" cy="274320"/>
          </a:xfrm>
          <a:prstGeom prst="roundRect">
            <a:avLst>
              <a:gd name="adj" fmla="val 50000"/>
            </a:avLst>
          </a:prstGeom>
          <a:solidFill>
            <a:schemeClr val="accent1"/>
          </a:solidFill>
          <a:ln/>
        </p:spPr>
      </p:sp>
      <p:sp>
        <p:nvSpPr>
          <p:cNvPr id="22" name="Text 20"/>
          <p:cNvSpPr txBox="1"/>
          <p:nvPr/>
        </p:nvSpPr>
        <p:spPr>
          <a:xfrm>
            <a:off x="10591495" y="2121408"/>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Must</a:t>
            </a:r>
            <a:endParaRPr lang="en-US" sz="1100" dirty="0"/>
          </a:p>
        </p:txBody>
      </p:sp>
      <p:sp>
        <p:nvSpPr>
          <p:cNvPr id="23" name="Text 21"/>
          <p:cNvSpPr txBox="1"/>
          <p:nvPr/>
        </p:nvSpPr>
        <p:spPr>
          <a:xfrm>
            <a:off x="6461608" y="2578608"/>
            <a:ext cx="1143000" cy="274320"/>
          </a:xfrm>
          <a:prstGeom prst="rect">
            <a:avLst/>
          </a:prstGeom>
          <a:noFill/>
          <a:ln/>
        </p:spPr>
        <p:txBody>
          <a:bodyPr wrap="square" lIns="0" tIns="0" rIns="0" bIns="0" rtlCol="0" anchor="t"/>
          <a:lstStyle/>
          <a:p>
            <a:pPr indent="0" marL="0">
              <a:buNone/>
            </a:pPr>
            <a:r>
              <a:rPr lang="en-US" sz="1100" b="1" dirty="0">
                <a:solidFill>
                  <a:schemeClr val="tx2"/>
                </a:solidFill>
              </a:rPr>
              <a:t>Anforderung</a:t>
            </a:r>
            <a:endParaRPr lang="en-US" sz="1100" dirty="0"/>
          </a:p>
        </p:txBody>
      </p:sp>
      <p:sp>
        <p:nvSpPr>
          <p:cNvPr id="24" name="Text 22"/>
          <p:cNvSpPr txBox="1"/>
          <p:nvPr/>
        </p:nvSpPr>
        <p:spPr>
          <a:xfrm>
            <a:off x="7650328" y="2578608"/>
            <a:ext cx="3764128" cy="960120"/>
          </a:xfrm>
          <a:prstGeom prst="rect">
            <a:avLst/>
          </a:prstGeom>
          <a:noFill/>
          <a:ln/>
        </p:spPr>
        <p:txBody>
          <a:bodyPr wrap="square" lIns="0" tIns="0" rIns="0" bIns="0" rtlCol="0" anchor="t"/>
          <a:lstStyle/>
          <a:p>
            <a:pPr indent="0" marL="0">
              <a:buNone/>
            </a:pPr>
            <a:r>
              <a:rPr lang="en-US" sz="1250" b="1" dirty="0">
                <a:solidFill>
                  <a:schemeClr val="tx1"/>
                </a:solidFill>
              </a:rPr>
              <a:t>Das System muss Berechtigten die Möglichkeit bieten, einen einzelnen Termin einer Serie abzusagen oder zu verschieben, ohne die übrigen Termine der Serie zu ändern.</a:t>
            </a:r>
            <a:endParaRPr lang="en-US" sz="1250" dirty="0"/>
          </a:p>
        </p:txBody>
      </p:sp>
      <p:sp>
        <p:nvSpPr>
          <p:cNvPr id="25" name="Text 23"/>
          <p:cNvSpPr txBox="1"/>
          <p:nvPr/>
        </p:nvSpPr>
        <p:spPr>
          <a:xfrm>
            <a:off x="6461608" y="3648456"/>
            <a:ext cx="1143000" cy="274320"/>
          </a:xfrm>
          <a:prstGeom prst="rect">
            <a:avLst/>
          </a:prstGeom>
          <a:noFill/>
          <a:ln/>
        </p:spPr>
        <p:txBody>
          <a:bodyPr wrap="square" lIns="0" tIns="0" rIns="0" bIns="0" rtlCol="0" anchor="t"/>
          <a:lstStyle/>
          <a:p>
            <a:pPr indent="0" marL="0">
              <a:buNone/>
            </a:pPr>
            <a:r>
              <a:rPr lang="en-US" sz="1100" b="1" dirty="0">
                <a:solidFill>
                  <a:schemeClr val="tx2"/>
                </a:solidFill>
              </a:rPr>
              <a:t>Akzeptanz</a:t>
            </a:r>
            <a:endParaRPr lang="en-US" sz="1100" dirty="0"/>
          </a:p>
        </p:txBody>
      </p:sp>
      <p:sp>
        <p:nvSpPr>
          <p:cNvPr id="26" name="Text 24"/>
          <p:cNvSpPr txBox="1"/>
          <p:nvPr/>
        </p:nvSpPr>
        <p:spPr>
          <a:xfrm>
            <a:off x="7650328" y="3648456"/>
            <a:ext cx="3764128" cy="914400"/>
          </a:xfrm>
          <a:prstGeom prst="rect">
            <a:avLst/>
          </a:prstGeom>
          <a:noFill/>
          <a:ln/>
        </p:spPr>
        <p:txBody>
          <a:bodyPr wrap="square" lIns="0" tIns="0" rIns="0" bIns="0" rtlCol="0" anchor="t"/>
          <a:lstStyle/>
          <a:p>
            <a:pPr indent="0" marL="0">
              <a:buNone/>
            </a:pPr>
            <a:r>
              <a:rPr lang="en-US" sz="1250" dirty="0">
                <a:solidFill>
                  <a:schemeClr val="tx1"/>
                </a:solidFill>
              </a:rPr>
              <a:t>Ein Verein sagt den Termin vom 24.12. ab: Dieser Termin ist frei (FA-12), alle anderen Termine der Serie bleiben unverändert reserviert.</a:t>
            </a:r>
            <a:endParaRPr lang="en-US" sz="1250" dirty="0"/>
          </a:p>
        </p:txBody>
      </p:sp>
      <p:sp>
        <p:nvSpPr>
          <p:cNvPr id="27" name="Text 25"/>
          <p:cNvSpPr txBox="1"/>
          <p:nvPr/>
        </p:nvSpPr>
        <p:spPr>
          <a:xfrm>
            <a:off x="6461608" y="4672584"/>
            <a:ext cx="1143000" cy="274320"/>
          </a:xfrm>
          <a:prstGeom prst="rect">
            <a:avLst/>
          </a:prstGeom>
          <a:noFill/>
          <a:ln/>
        </p:spPr>
        <p:txBody>
          <a:bodyPr wrap="square" lIns="0" tIns="0" rIns="0" bIns="0" rtlCol="0" anchor="t"/>
          <a:lstStyle/>
          <a:p>
            <a:pPr indent="0" marL="0">
              <a:buNone/>
            </a:pPr>
            <a:r>
              <a:rPr lang="en-US" sz="1100" b="1" dirty="0">
                <a:solidFill>
                  <a:schemeClr val="tx2"/>
                </a:solidFill>
              </a:rPr>
              <a:t>Quelle</a:t>
            </a:r>
            <a:endParaRPr lang="en-US" sz="1100" dirty="0"/>
          </a:p>
        </p:txBody>
      </p:sp>
      <p:sp>
        <p:nvSpPr>
          <p:cNvPr id="28" name="Text 26"/>
          <p:cNvSpPr txBox="1"/>
          <p:nvPr/>
        </p:nvSpPr>
        <p:spPr>
          <a:xfrm>
            <a:off x="7650328" y="4672584"/>
            <a:ext cx="3764128" cy="274320"/>
          </a:xfrm>
          <a:prstGeom prst="rect">
            <a:avLst/>
          </a:prstGeom>
          <a:noFill/>
          <a:ln/>
        </p:spPr>
        <p:txBody>
          <a:bodyPr wrap="square" lIns="0" tIns="0" rIns="0" bIns="0" rtlCol="0" anchor="t"/>
          <a:lstStyle/>
          <a:p>
            <a:pPr indent="0" marL="0">
              <a:buNone/>
            </a:pPr>
            <a:r>
              <a:rPr lang="en-US" sz="1250" dirty="0">
                <a:solidFill>
                  <a:schemeClr val="tx1"/>
                </a:solidFill>
              </a:rPr>
              <a:t>F3 (Herausforderung 6) · H-09 · S-06</a:t>
            </a:r>
            <a:endParaRPr lang="en-US" sz="1250" dirty="0"/>
          </a:p>
        </p:txBody>
      </p:sp>
      <p:sp>
        <p:nvSpPr>
          <p:cNvPr id="29" name="Text 27"/>
          <p:cNvSpPr txBox="1"/>
          <p:nvPr/>
        </p:nvSpPr>
        <p:spPr>
          <a:xfrm>
            <a:off x="6461608" y="5056632"/>
            <a:ext cx="1143000" cy="274320"/>
          </a:xfrm>
          <a:prstGeom prst="rect">
            <a:avLst/>
          </a:prstGeom>
          <a:noFill/>
          <a:ln/>
        </p:spPr>
        <p:txBody>
          <a:bodyPr wrap="square" lIns="0" tIns="0" rIns="0" bIns="0" rtlCol="0" anchor="t"/>
          <a:lstStyle/>
          <a:p>
            <a:pPr indent="0" marL="0">
              <a:buNone/>
            </a:pPr>
            <a:r>
              <a:rPr lang="en-US" sz="1100" b="1" dirty="0">
                <a:solidFill>
                  <a:schemeClr val="tx2"/>
                </a:solidFill>
              </a:rPr>
              <a:t>Ziel · Use Case</a:t>
            </a:r>
            <a:endParaRPr lang="en-US" sz="1100" dirty="0"/>
          </a:p>
        </p:txBody>
      </p:sp>
      <p:sp>
        <p:nvSpPr>
          <p:cNvPr id="30" name="Text 28"/>
          <p:cNvSpPr txBox="1"/>
          <p:nvPr/>
        </p:nvSpPr>
        <p:spPr>
          <a:xfrm>
            <a:off x="7650328" y="5056632"/>
            <a:ext cx="3764128" cy="274320"/>
          </a:xfrm>
          <a:prstGeom prst="rect">
            <a:avLst/>
          </a:prstGeom>
          <a:noFill/>
          <a:ln/>
        </p:spPr>
        <p:txBody>
          <a:bodyPr wrap="square" lIns="0" tIns="0" rIns="0" bIns="0" rtlCol="0" anchor="t"/>
          <a:lstStyle/>
          <a:p>
            <a:pPr indent="0" marL="0">
              <a:buNone/>
            </a:pPr>
            <a:r>
              <a:rPr lang="en-US" sz="1250" dirty="0">
                <a:solidFill>
                  <a:schemeClr val="tx1"/>
                </a:solidFill>
              </a:rPr>
              <a:t>PDZ-4, PZ-2 · UC-05</a:t>
            </a:r>
            <a:endParaRPr lang="en-US" sz="1250" dirty="0"/>
          </a:p>
        </p:txBody>
      </p:sp>
      <p:sp>
        <p:nvSpPr>
          <p:cNvPr id="31" name="Text 29"/>
          <p:cNvSpPr txBox="1"/>
          <p:nvPr/>
        </p:nvSpPr>
        <p:spPr>
          <a:xfrm>
            <a:off x="6461608" y="5440680"/>
            <a:ext cx="1143000" cy="274320"/>
          </a:xfrm>
          <a:prstGeom prst="rect">
            <a:avLst/>
          </a:prstGeom>
          <a:noFill/>
          <a:ln/>
        </p:spPr>
        <p:txBody>
          <a:bodyPr wrap="square" lIns="0" tIns="0" rIns="0" bIns="0" rtlCol="0" anchor="t"/>
          <a:lstStyle/>
          <a:p>
            <a:pPr indent="0" marL="0">
              <a:buNone/>
            </a:pPr>
            <a:r>
              <a:rPr lang="en-US" sz="1100" b="1" dirty="0">
                <a:solidFill>
                  <a:srgbClr val="B7791F"/>
                </a:solidFill>
              </a:rPr>
              <a:t>Offen</a:t>
            </a:r>
            <a:endParaRPr lang="en-US" sz="1100" dirty="0"/>
          </a:p>
        </p:txBody>
      </p:sp>
      <p:sp>
        <p:nvSpPr>
          <p:cNvPr id="32" name="Text 30"/>
          <p:cNvSpPr txBox="1"/>
          <p:nvPr/>
        </p:nvSpPr>
        <p:spPr>
          <a:xfrm>
            <a:off x="7650328" y="5440680"/>
            <a:ext cx="3764128" cy="457200"/>
          </a:xfrm>
          <a:prstGeom prst="rect">
            <a:avLst/>
          </a:prstGeom>
          <a:noFill/>
          <a:ln/>
        </p:spPr>
        <p:txBody>
          <a:bodyPr wrap="square" lIns="0" tIns="0" rIns="0" bIns="0" rtlCol="0" anchor="t"/>
          <a:lstStyle/>
          <a:p>
            <a:pPr indent="0" marL="0">
              <a:buNone/>
            </a:pPr>
            <a:r>
              <a:rPr lang="en-US" sz="1250" dirty="0">
                <a:solidFill>
                  <a:schemeClr val="tx1"/>
                </a:solidFill>
              </a:rPr>
              <a:t>Wer gilt als berechtigt – Vereinskontakt, Trainer:in? (OP-03, OP-08)</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VON DER AUSSAGE ZUR ANFORDERUNG</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Aus vagen Aussagen werden prüfbare Anforderungen</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Drei Beispiele, wie wir umformuliert haben – und welches Problem von Folie 47 dahintersteckt.</a:t>
            </a:r>
            <a:endParaRPr lang="en-US" sz="1600" dirty="0"/>
          </a:p>
        </p:txBody>
      </p:sp>
      <p:sp>
        <p:nvSpPr>
          <p:cNvPr id="5" name="Vorher 1"/>
          <p:cNvSpPr/>
          <p:nvPr/>
        </p:nvSpPr>
        <p:spPr>
          <a:xfrm>
            <a:off x="548640" y="1965960"/>
            <a:ext cx="3794760" cy="1143000"/>
          </a:xfrm>
          <a:prstGeom prst="roundRect">
            <a:avLst>
              <a:gd name="adj" fmla="val 9600"/>
            </a:avLst>
          </a:prstGeom>
          <a:solidFill>
            <a:schemeClr val="accent5"/>
          </a:solidFill>
          <a:ln/>
        </p:spPr>
      </p:sp>
      <p:sp>
        <p:nvSpPr>
          <p:cNvPr id="6" name="Text 4"/>
          <p:cNvSpPr txBox="1"/>
          <p:nvPr/>
        </p:nvSpPr>
        <p:spPr>
          <a:xfrm>
            <a:off x="749808" y="2084832"/>
            <a:ext cx="3392424" cy="658368"/>
          </a:xfrm>
          <a:prstGeom prst="rect">
            <a:avLst/>
          </a:prstGeom>
          <a:noFill/>
          <a:ln/>
        </p:spPr>
        <p:txBody>
          <a:bodyPr wrap="square" lIns="0" tIns="0" rIns="0" bIns="0" rtlCol="0" anchor="t"/>
          <a:lstStyle/>
          <a:p>
            <a:pPr indent="0" marL="0">
              <a:buNone/>
            </a:pPr>
            <a:r>
              <a:rPr lang="en-US" sz="1400" b="1" i="1" dirty="0">
                <a:solidFill>
                  <a:schemeClr val="tx1"/>
                </a:solidFill>
              </a:rPr>
              <a:t>«Die Erfassung am Empfang muss schnell gehen.»</a:t>
            </a:r>
            <a:endParaRPr lang="en-US" sz="1400" dirty="0"/>
          </a:p>
        </p:txBody>
      </p:sp>
      <p:sp>
        <p:nvSpPr>
          <p:cNvPr id="7" name="Text 5"/>
          <p:cNvSpPr txBox="1"/>
          <p:nvPr/>
        </p:nvSpPr>
        <p:spPr>
          <a:xfrm>
            <a:off x="749808" y="2761488"/>
            <a:ext cx="3392424" cy="256032"/>
          </a:xfrm>
          <a:prstGeom prst="rect">
            <a:avLst/>
          </a:prstGeom>
          <a:noFill/>
          <a:ln/>
        </p:spPr>
        <p:txBody>
          <a:bodyPr wrap="square" lIns="0" tIns="0" rIns="0" bIns="0" rtlCol="0" anchor="t"/>
          <a:lstStyle/>
          <a:p>
            <a:pPr indent="0" marL="0">
              <a:buNone/>
            </a:pPr>
            <a:r>
              <a:rPr lang="en-US" sz="1100" dirty="0">
                <a:solidFill>
                  <a:schemeClr val="accent2"/>
                </a:solidFill>
              </a:rPr>
              <a:t>Probelauf, Befund PB-02</a:t>
            </a:r>
            <a:endParaRPr lang="en-US" sz="1100" dirty="0"/>
          </a:p>
        </p:txBody>
      </p:sp>
      <p:sp>
        <p:nvSpPr>
          <p:cNvPr id="8" name="Pfeil 1"/>
          <p:cNvSpPr/>
          <p:nvPr/>
        </p:nvSpPr>
        <p:spPr>
          <a:xfrm>
            <a:off x="4416552" y="2537460"/>
            <a:ext cx="402336" cy="0"/>
          </a:xfrm>
          <a:prstGeom prst="line">
            <a:avLst/>
          </a:prstGeom>
          <a:noFill/>
          <a:ln w="25400">
            <a:solidFill>
              <a:schemeClr val="accent1"/>
            </a:solidFill>
            <a:prstDash val="solid"/>
            <a:tailEnd type="triangle"/>
          </a:ln>
        </p:spPr>
      </p:sp>
      <p:sp>
        <p:nvSpPr>
          <p:cNvPr id="9" name="Nachher 1"/>
          <p:cNvSpPr/>
          <p:nvPr/>
        </p:nvSpPr>
        <p:spPr>
          <a:xfrm>
            <a:off x="4892040" y="1965960"/>
            <a:ext cx="6751015" cy="1143000"/>
          </a:xfrm>
          <a:prstGeom prst="roundRect">
            <a:avLst>
              <a:gd name="adj" fmla="val 9600"/>
            </a:avLst>
          </a:prstGeom>
          <a:solidFill>
            <a:schemeClr val="accent4"/>
          </a:solidFill>
          <a:ln/>
        </p:spPr>
      </p:sp>
      <p:sp>
        <p:nvSpPr>
          <p:cNvPr id="10" name="Text 8"/>
          <p:cNvSpPr txBox="1"/>
          <p:nvPr/>
        </p:nvSpPr>
        <p:spPr>
          <a:xfrm>
            <a:off x="5093208" y="2084832"/>
            <a:ext cx="6348679" cy="658368"/>
          </a:xfrm>
          <a:prstGeom prst="rect">
            <a:avLst/>
          </a:prstGeom>
          <a:noFill/>
          <a:ln/>
        </p:spPr>
        <p:txBody>
          <a:bodyPr wrap="square" lIns="0" tIns="0" rIns="0" bIns="0" rtlCol="0" anchor="t"/>
          <a:lstStyle/>
          <a:p>
            <a:pPr indent="0" marL="0">
              <a:buNone/>
            </a:pPr>
            <a:r>
              <a:rPr lang="en-US" sz="1350" b="1" dirty="0">
                <a:solidFill>
                  <a:schemeClr val="accent1"/>
                </a:solidFill>
              </a:rPr>
              <a:t>QA-02  </a:t>
            </a:r>
            <a:pPr indent="0" marL="0">
              <a:buNone/>
            </a:pPr>
            <a:r>
              <a:rPr lang="en-US" sz="1350" dirty="0">
                <a:solidFill>
                  <a:schemeClr val="tx1"/>
                </a:solidFill>
              </a:rPr>
              <a:t>Telefonische Einzelreservation in höchstens 60 s erfassen – Median über 20 Testreservationen, nach höchstens 30 min Einführung.</a:t>
            </a:r>
            <a:endParaRPr lang="en-US" sz="1350" dirty="0"/>
          </a:p>
        </p:txBody>
      </p:sp>
      <p:sp>
        <p:nvSpPr>
          <p:cNvPr id="11" name="Text 9"/>
          <p:cNvSpPr txBox="1"/>
          <p:nvPr/>
        </p:nvSpPr>
        <p:spPr>
          <a:xfrm>
            <a:off x="5093208" y="2761488"/>
            <a:ext cx="6348679" cy="256032"/>
          </a:xfrm>
          <a:prstGeom prst="rect">
            <a:avLst/>
          </a:prstGeom>
          <a:noFill/>
          <a:ln/>
        </p:spPr>
        <p:txBody>
          <a:bodyPr wrap="square" lIns="0" tIns="0" rIns="0" bIns="0" rtlCol="0" anchor="t"/>
          <a:lstStyle/>
          <a:p>
            <a:pPr indent="0" marL="0">
              <a:buNone/>
            </a:pPr>
            <a:r>
              <a:rPr lang="en-US" sz="1100" dirty="0">
                <a:solidFill>
                  <a:schemeClr val="tx2"/>
                </a:solidFill>
              </a:rPr>
              <a:t>unmessbare Qualitätsanforderung → Messgrösse, Zielwert, Methode</a:t>
            </a:r>
            <a:endParaRPr lang="en-US" sz="1100" dirty="0"/>
          </a:p>
        </p:txBody>
      </p:sp>
      <p:sp>
        <p:nvSpPr>
          <p:cNvPr id="12" name="Vorher 2"/>
          <p:cNvSpPr/>
          <p:nvPr/>
        </p:nvSpPr>
        <p:spPr>
          <a:xfrm>
            <a:off x="548640" y="3264408"/>
            <a:ext cx="3794760" cy="1143000"/>
          </a:xfrm>
          <a:prstGeom prst="roundRect">
            <a:avLst>
              <a:gd name="adj" fmla="val 9600"/>
            </a:avLst>
          </a:prstGeom>
          <a:solidFill>
            <a:schemeClr val="accent5"/>
          </a:solidFill>
          <a:ln/>
        </p:spPr>
      </p:sp>
      <p:sp>
        <p:nvSpPr>
          <p:cNvPr id="13" name="Text 11"/>
          <p:cNvSpPr txBox="1"/>
          <p:nvPr/>
        </p:nvSpPr>
        <p:spPr>
          <a:xfrm>
            <a:off x="749808" y="3383280"/>
            <a:ext cx="3392424" cy="658368"/>
          </a:xfrm>
          <a:prstGeom prst="rect">
            <a:avLst/>
          </a:prstGeom>
          <a:noFill/>
          <a:ln/>
        </p:spPr>
        <p:txBody>
          <a:bodyPr wrap="square" lIns="0" tIns="0" rIns="0" bIns="0" rtlCol="0" anchor="t"/>
          <a:lstStyle/>
          <a:p>
            <a:pPr indent="0" marL="0">
              <a:buNone/>
            </a:pPr>
            <a:r>
              <a:rPr lang="en-US" sz="1400" b="1" i="1" dirty="0">
                <a:solidFill>
                  <a:schemeClr val="tx1"/>
                </a:solidFill>
              </a:rPr>
              <a:t>«Wie werden kurzfristige Absagen behandelt – sind Wartelisten sinnvoll?»</a:t>
            </a:r>
            <a:endParaRPr lang="en-US" sz="1400" dirty="0"/>
          </a:p>
        </p:txBody>
      </p:sp>
      <p:sp>
        <p:nvSpPr>
          <p:cNvPr id="14" name="Text 12"/>
          <p:cNvSpPr txBox="1"/>
          <p:nvPr/>
        </p:nvSpPr>
        <p:spPr>
          <a:xfrm>
            <a:off x="749808" y="4059936"/>
            <a:ext cx="3392424" cy="256032"/>
          </a:xfrm>
          <a:prstGeom prst="rect">
            <a:avLst/>
          </a:prstGeom>
          <a:noFill/>
          <a:ln/>
        </p:spPr>
        <p:txBody>
          <a:bodyPr wrap="square" lIns="0" tIns="0" rIns="0" bIns="0" rtlCol="0" anchor="t"/>
          <a:lstStyle/>
          <a:p>
            <a:pPr indent="0" marL="0">
              <a:buNone/>
            </a:pPr>
            <a:r>
              <a:rPr lang="en-US" sz="1100" dirty="0">
                <a:solidFill>
                  <a:schemeClr val="accent2"/>
                </a:solidFill>
              </a:rPr>
              <a:t>Gruppe 2, Folie 5</a:t>
            </a:r>
            <a:endParaRPr lang="en-US" sz="1100" dirty="0"/>
          </a:p>
        </p:txBody>
      </p:sp>
      <p:sp>
        <p:nvSpPr>
          <p:cNvPr id="15" name="Pfeil 2"/>
          <p:cNvSpPr/>
          <p:nvPr/>
        </p:nvSpPr>
        <p:spPr>
          <a:xfrm>
            <a:off x="4416552" y="3835908"/>
            <a:ext cx="402336" cy="0"/>
          </a:xfrm>
          <a:prstGeom prst="line">
            <a:avLst/>
          </a:prstGeom>
          <a:noFill/>
          <a:ln w="25400">
            <a:solidFill>
              <a:schemeClr val="accent1"/>
            </a:solidFill>
            <a:prstDash val="solid"/>
            <a:tailEnd type="triangle"/>
          </a:ln>
        </p:spPr>
      </p:sp>
      <p:sp>
        <p:nvSpPr>
          <p:cNvPr id="16" name="Nachher 2"/>
          <p:cNvSpPr/>
          <p:nvPr/>
        </p:nvSpPr>
        <p:spPr>
          <a:xfrm>
            <a:off x="4892040" y="3264408"/>
            <a:ext cx="6751015" cy="1143000"/>
          </a:xfrm>
          <a:prstGeom prst="roundRect">
            <a:avLst>
              <a:gd name="adj" fmla="val 9600"/>
            </a:avLst>
          </a:prstGeom>
          <a:solidFill>
            <a:schemeClr val="accent4"/>
          </a:solidFill>
          <a:ln/>
        </p:spPr>
      </p:sp>
      <p:sp>
        <p:nvSpPr>
          <p:cNvPr id="17" name="Text 15"/>
          <p:cNvSpPr txBox="1"/>
          <p:nvPr/>
        </p:nvSpPr>
        <p:spPr>
          <a:xfrm>
            <a:off x="5093208" y="3383280"/>
            <a:ext cx="6348679" cy="658368"/>
          </a:xfrm>
          <a:prstGeom prst="rect">
            <a:avLst/>
          </a:prstGeom>
          <a:noFill/>
          <a:ln/>
        </p:spPr>
        <p:txBody>
          <a:bodyPr wrap="square" lIns="0" tIns="0" rIns="0" bIns="0" rtlCol="0" anchor="t"/>
          <a:lstStyle/>
          <a:p>
            <a:pPr indent="0" marL="0">
              <a:buNone/>
            </a:pPr>
            <a:r>
              <a:rPr lang="en-US" sz="1350" b="1" dirty="0">
                <a:solidFill>
                  <a:schemeClr val="accent1"/>
                </a:solidFill>
              </a:rPr>
              <a:t>FA-13 bis FA-15  </a:t>
            </a:r>
            <a:pPr indent="0" marL="0">
              <a:buNone/>
            </a:pPr>
            <a:r>
              <a:rPr lang="en-US" sz="1350" dirty="0">
                <a:solidFill>
                  <a:schemeClr val="tx1"/>
                </a:solidFill>
              </a:rPr>
              <a:t>Eintragen bei belegtem Zeitfenster; bei Stornierung alle gleichzeitig benachrichtigen; wer zuerst bestätigt, erhält die Reservation (Annahmefrist PA-05).</a:t>
            </a:r>
            <a:endParaRPr lang="en-US" sz="1350" dirty="0"/>
          </a:p>
        </p:txBody>
      </p:sp>
      <p:sp>
        <p:nvSpPr>
          <p:cNvPr id="18" name="Text 16"/>
          <p:cNvSpPr txBox="1"/>
          <p:nvPr/>
        </p:nvSpPr>
        <p:spPr>
          <a:xfrm>
            <a:off x="5093208" y="4059936"/>
            <a:ext cx="6348679" cy="256032"/>
          </a:xfrm>
          <a:prstGeom prst="rect">
            <a:avLst/>
          </a:prstGeom>
          <a:noFill/>
          <a:ln/>
        </p:spPr>
        <p:txBody>
          <a:bodyPr wrap="square" lIns="0" tIns="0" rIns="0" bIns="0" rtlCol="0" anchor="t"/>
          <a:lstStyle/>
          <a:p>
            <a:pPr indent="0" marL="0">
              <a:buNone/>
            </a:pPr>
            <a:r>
              <a:rPr lang="en-US" sz="1100" dirty="0">
                <a:solidFill>
                  <a:schemeClr val="tx2"/>
                </a:solidFill>
              </a:rPr>
              <a:t>offene Frage → Anforderung mit markierter Annahme (OP-06)</a:t>
            </a:r>
            <a:endParaRPr lang="en-US" sz="1100" dirty="0"/>
          </a:p>
        </p:txBody>
      </p:sp>
      <p:sp>
        <p:nvSpPr>
          <p:cNvPr id="19" name="Vorher 3"/>
          <p:cNvSpPr/>
          <p:nvPr/>
        </p:nvSpPr>
        <p:spPr>
          <a:xfrm>
            <a:off x="548640" y="4562856"/>
            <a:ext cx="3794760" cy="1143000"/>
          </a:xfrm>
          <a:prstGeom prst="roundRect">
            <a:avLst>
              <a:gd name="adj" fmla="val 9600"/>
            </a:avLst>
          </a:prstGeom>
          <a:solidFill>
            <a:schemeClr val="accent5"/>
          </a:solidFill>
          <a:ln/>
        </p:spPr>
      </p:sp>
      <p:sp>
        <p:nvSpPr>
          <p:cNvPr id="20" name="Text 18"/>
          <p:cNvSpPr txBox="1"/>
          <p:nvPr/>
        </p:nvSpPr>
        <p:spPr>
          <a:xfrm>
            <a:off x="749808" y="4681728"/>
            <a:ext cx="3392424" cy="658368"/>
          </a:xfrm>
          <a:prstGeom prst="rect">
            <a:avLst/>
          </a:prstGeom>
          <a:noFill/>
          <a:ln/>
        </p:spPr>
        <p:txBody>
          <a:bodyPr wrap="square" lIns="0" tIns="0" rIns="0" bIns="0" rtlCol="0" anchor="t"/>
          <a:lstStyle/>
          <a:p>
            <a:pPr indent="0" marL="0">
              <a:buNone/>
            </a:pPr>
            <a:r>
              <a:rPr lang="en-US" sz="1400" b="1" i="1" dirty="0">
                <a:solidFill>
                  <a:schemeClr val="tx1"/>
                </a:solidFill>
              </a:rPr>
              <a:t>«24 Stunden vorher, danach voller Preis.»</a:t>
            </a:r>
            <a:endParaRPr lang="en-US" sz="1400" dirty="0"/>
          </a:p>
        </p:txBody>
      </p:sp>
      <p:sp>
        <p:nvSpPr>
          <p:cNvPr id="21" name="Text 19"/>
          <p:cNvSpPr txBox="1"/>
          <p:nvPr/>
        </p:nvSpPr>
        <p:spPr>
          <a:xfrm>
            <a:off x="749808" y="5358384"/>
            <a:ext cx="3392424" cy="256032"/>
          </a:xfrm>
          <a:prstGeom prst="rect">
            <a:avLst/>
          </a:prstGeom>
          <a:noFill/>
          <a:ln/>
        </p:spPr>
        <p:txBody>
          <a:bodyPr wrap="square" lIns="0" tIns="0" rIns="0" bIns="0" rtlCol="0" anchor="t"/>
          <a:lstStyle/>
          <a:p>
            <a:pPr indent="0" marL="0">
              <a:buNone/>
            </a:pPr>
            <a:r>
              <a:rPr lang="en-US" sz="1100" dirty="0">
                <a:solidFill>
                  <a:schemeClr val="accent2"/>
                </a:solidFill>
              </a:rPr>
              <a:t>Simulation S-05</a:t>
            </a:r>
            <a:endParaRPr lang="en-US" sz="1100" dirty="0"/>
          </a:p>
        </p:txBody>
      </p:sp>
      <p:sp>
        <p:nvSpPr>
          <p:cNvPr id="22" name="Pfeil 3"/>
          <p:cNvSpPr/>
          <p:nvPr/>
        </p:nvSpPr>
        <p:spPr>
          <a:xfrm>
            <a:off x="4416552" y="5134356"/>
            <a:ext cx="402336" cy="0"/>
          </a:xfrm>
          <a:prstGeom prst="line">
            <a:avLst/>
          </a:prstGeom>
          <a:noFill/>
          <a:ln w="25400">
            <a:solidFill>
              <a:schemeClr val="accent1"/>
            </a:solidFill>
            <a:prstDash val="solid"/>
            <a:tailEnd type="triangle"/>
          </a:ln>
        </p:spPr>
      </p:sp>
      <p:sp>
        <p:nvSpPr>
          <p:cNvPr id="23" name="Nachher 3"/>
          <p:cNvSpPr/>
          <p:nvPr/>
        </p:nvSpPr>
        <p:spPr>
          <a:xfrm>
            <a:off x="4892040" y="4562856"/>
            <a:ext cx="6751015" cy="1143000"/>
          </a:xfrm>
          <a:prstGeom prst="roundRect">
            <a:avLst>
              <a:gd name="adj" fmla="val 9600"/>
            </a:avLst>
          </a:prstGeom>
          <a:solidFill>
            <a:schemeClr val="accent4"/>
          </a:solidFill>
          <a:ln/>
        </p:spPr>
      </p:sp>
      <p:sp>
        <p:nvSpPr>
          <p:cNvPr id="24" name="Text 22"/>
          <p:cNvSpPr txBox="1"/>
          <p:nvPr/>
        </p:nvSpPr>
        <p:spPr>
          <a:xfrm>
            <a:off x="5093208" y="4681728"/>
            <a:ext cx="6348679" cy="658368"/>
          </a:xfrm>
          <a:prstGeom prst="rect">
            <a:avLst/>
          </a:prstGeom>
          <a:noFill/>
          <a:ln/>
        </p:spPr>
        <p:txBody>
          <a:bodyPr wrap="square" lIns="0" tIns="0" rIns="0" bIns="0" rtlCol="0" anchor="t"/>
          <a:lstStyle/>
          <a:p>
            <a:pPr indent="0" marL="0">
              <a:buNone/>
            </a:pPr>
            <a:r>
              <a:rPr lang="en-US" sz="1350" b="1" dirty="0">
                <a:solidFill>
                  <a:schemeClr val="accent1"/>
                </a:solidFill>
              </a:rPr>
              <a:t>FA-10 + PA-04  </a:t>
            </a:r>
            <a:pPr indent="0" marL="0">
              <a:buNone/>
            </a:pPr>
            <a:r>
              <a:rPr lang="en-US" sz="1350" dirty="0">
                <a:solidFill>
                  <a:schemeClr val="tx1"/>
                </a:solidFill>
              </a:rPr>
              <a:t>Stornieren bis zum Beginn; nach der Stornofrist PA-04 Hinweis «kurzfristige Stornierung» und Markierung für die Auswertung.</a:t>
            </a:r>
            <a:endParaRPr lang="en-US" sz="1350" dirty="0"/>
          </a:p>
        </p:txBody>
      </p:sp>
      <p:sp>
        <p:nvSpPr>
          <p:cNvPr id="25" name="Text 23"/>
          <p:cNvSpPr txBox="1"/>
          <p:nvPr/>
        </p:nvSpPr>
        <p:spPr>
          <a:xfrm>
            <a:off x="5093208" y="5358384"/>
            <a:ext cx="6348679" cy="256032"/>
          </a:xfrm>
          <a:prstGeom prst="rect">
            <a:avLst/>
          </a:prstGeom>
          <a:noFill/>
          <a:ln/>
        </p:spPr>
        <p:txBody>
          <a:bodyPr wrap="square" lIns="0" tIns="0" rIns="0" bIns="0" rtlCol="0" anchor="t"/>
          <a:lstStyle/>
          <a:p>
            <a:pPr indent="0" marL="0">
              <a:buNone/>
            </a:pPr>
            <a:r>
              <a:rPr lang="en-US" sz="1100" dirty="0">
                <a:solidFill>
                  <a:schemeClr val="tx2"/>
                </a:solidFill>
              </a:rPr>
              <a:t>Wert aus dem Satz gelöst → Parameter, änderbar ohne Neuformulierung (PB-07)</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QUALITÄTSANFORDERUNGEN UND RANDBEDINGUNGEN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16 Qualitätsanforderungen – jede mit Messgrösse und Zielwert</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Qualitativ wird quantitativ (Folie 41); Annahmen bleiben als Annahmen sichtbar (Folie 42).</a:t>
            </a:r>
            <a:endParaRPr lang="en-US" sz="1600" dirty="0"/>
          </a:p>
        </p:txBody>
      </p:sp>
      <p:sp>
        <p:nvSpPr>
          <p:cNvPr id="5" name="QA Bedienbarkeit"/>
          <p:cNvSpPr/>
          <p:nvPr/>
        </p:nvSpPr>
        <p:spPr>
          <a:xfrm>
            <a:off x="548640" y="1920240"/>
            <a:ext cx="3246120" cy="1810512"/>
          </a:xfrm>
          <a:prstGeom prst="roundRect">
            <a:avLst>
              <a:gd name="adj" fmla="val 6061"/>
            </a:avLst>
          </a:prstGeom>
          <a:solidFill>
            <a:schemeClr val="bg2"/>
          </a:solidFill>
          <a:ln/>
        </p:spPr>
      </p:sp>
      <p:sp>
        <p:nvSpPr>
          <p:cNvPr id="6" name="QA Icon Bedienbarkeit Kreis"/>
          <p:cNvSpPr/>
          <p:nvPr/>
        </p:nvSpPr>
        <p:spPr>
          <a:xfrm>
            <a:off x="731520" y="2103120"/>
            <a:ext cx="457200" cy="457200"/>
          </a:xfrm>
          <a:prstGeom prst="ellipse">
            <a:avLst/>
          </a:prstGeom>
          <a:solidFill>
            <a:schemeClr val="accent1"/>
          </a:solidFill>
          <a:ln/>
        </p:spPr>
      </p:sp>
      <p:pic>
        <p:nvPicPr>
          <p:cNvPr id="7" name="QA Icon Bedienbarkeit" descr="Smartphone">    </p:cNvPr>
          <p:cNvPicPr>
            <a:picLocks noChangeAspect="1"/>
          </p:cNvPicPr>
          <p:nvPr/>
        </p:nvPicPr>
        <p:blipFill>
          <a:blip r:embed="rId1"/>
          <a:stretch>
            <a:fillRect/>
          </a:stretch>
        </p:blipFill>
        <p:spPr>
          <a:xfrm>
            <a:off x="845820" y="2217420"/>
            <a:ext cx="228600" cy="228600"/>
          </a:xfrm>
          <a:prstGeom prst="rect">
            <a:avLst/>
          </a:prstGeom>
        </p:spPr>
      </p:pic>
      <p:sp>
        <p:nvSpPr>
          <p:cNvPr id="8" name="Text 5"/>
          <p:cNvSpPr txBox="1"/>
          <p:nvPr/>
        </p:nvSpPr>
        <p:spPr>
          <a:xfrm>
            <a:off x="1325880" y="2084832"/>
            <a:ext cx="2331720" cy="548640"/>
          </a:xfrm>
          <a:prstGeom prst="rect">
            <a:avLst/>
          </a:prstGeom>
          <a:noFill/>
          <a:ln/>
        </p:spPr>
        <p:txBody>
          <a:bodyPr wrap="square" lIns="0" tIns="0" rIns="0" bIns="0" rtlCol="0" anchor="t"/>
          <a:lstStyle/>
          <a:p>
            <a:pPr indent="0" marL="0">
              <a:buNone/>
            </a:pPr>
            <a:r>
              <a:rPr lang="en-US" sz="1400" b="1" dirty="0">
                <a:solidFill>
                  <a:schemeClr val="tx1"/>
                </a:solidFill>
              </a:rPr>
              <a:t>Bedienbarkeit</a:t>
            </a:r>
            <a:endParaRPr lang="en-US" sz="1400" dirty="0"/>
          </a:p>
          <a:p>
            <a:pPr indent="0" marL="0">
              <a:buNone/>
            </a:pPr>
            <a:r>
              <a:rPr lang="en-US" sz="1100" dirty="0">
                <a:solidFill>
                  <a:schemeClr val="tx2"/>
                </a:solidFill>
              </a:rPr>
              <a:t>QA-01–04</a:t>
            </a:r>
            <a:endParaRPr lang="en-US" sz="1400" dirty="0"/>
          </a:p>
        </p:txBody>
      </p:sp>
      <p:sp>
        <p:nvSpPr>
          <p:cNvPr id="9" name="Text 6"/>
          <p:cNvSpPr txBox="1"/>
          <p:nvPr/>
        </p:nvSpPr>
        <p:spPr>
          <a:xfrm>
            <a:off x="731520" y="2651760"/>
            <a:ext cx="2880360" cy="457200"/>
          </a:xfrm>
          <a:prstGeom prst="rect">
            <a:avLst/>
          </a:prstGeom>
          <a:noFill/>
          <a:ln/>
        </p:spPr>
        <p:txBody>
          <a:bodyPr wrap="square" lIns="0" tIns="0" rIns="0" bIns="0" rtlCol="0" anchor="t"/>
          <a:lstStyle/>
          <a:p>
            <a:pPr indent="0" marL="0">
              <a:buNone/>
            </a:pPr>
            <a:r>
              <a:rPr lang="en-US" sz="2600" b="1" dirty="0">
                <a:solidFill>
                  <a:schemeClr val="accent1"/>
                </a:solidFill>
              </a:rPr>
              <a:t>≤ 60 s</a:t>
            </a:r>
            <a:endParaRPr lang="en-US" sz="2600" dirty="0"/>
          </a:p>
        </p:txBody>
      </p:sp>
      <p:sp>
        <p:nvSpPr>
          <p:cNvPr id="10" name="Text 7"/>
          <p:cNvSpPr txBox="1"/>
          <p:nvPr/>
        </p:nvSpPr>
        <p:spPr>
          <a:xfrm>
            <a:off x="731520" y="3108960"/>
            <a:ext cx="2880360" cy="566928"/>
          </a:xfrm>
          <a:prstGeom prst="rect">
            <a:avLst/>
          </a:prstGeom>
          <a:noFill/>
          <a:ln/>
        </p:spPr>
        <p:txBody>
          <a:bodyPr wrap="square" lIns="0" tIns="0" rIns="0" bIns="0" rtlCol="0" anchor="t"/>
          <a:lstStyle/>
          <a:p>
            <a:pPr indent="0" marL="0">
              <a:buNone/>
            </a:pPr>
            <a:r>
              <a:rPr lang="en-US" sz="1150" dirty="0">
                <a:solidFill>
                  <a:schemeClr val="tx2"/>
                </a:solidFill>
              </a:rPr>
              <a:t>telefonische Reservation am Empfang erfassen (QA-02); Browser auf Smartphone und PC, keine App (QA-03)</a:t>
            </a:r>
            <a:endParaRPr lang="en-US" sz="1150" dirty="0"/>
          </a:p>
        </p:txBody>
      </p:sp>
      <p:sp>
        <p:nvSpPr>
          <p:cNvPr id="11" name="QA Verfügbarkeit, Leistung"/>
          <p:cNvSpPr/>
          <p:nvPr/>
        </p:nvSpPr>
        <p:spPr>
          <a:xfrm>
            <a:off x="3977640" y="1920240"/>
            <a:ext cx="3246120" cy="1810512"/>
          </a:xfrm>
          <a:prstGeom prst="roundRect">
            <a:avLst>
              <a:gd name="adj" fmla="val 6061"/>
            </a:avLst>
          </a:prstGeom>
          <a:solidFill>
            <a:schemeClr val="bg2"/>
          </a:solidFill>
          <a:ln/>
        </p:spPr>
      </p:sp>
      <p:sp>
        <p:nvSpPr>
          <p:cNvPr id="12" name="QA Icon Verfügbarkeit, Leistung Kreis"/>
          <p:cNvSpPr/>
          <p:nvPr/>
        </p:nvSpPr>
        <p:spPr>
          <a:xfrm>
            <a:off x="4160520" y="2103120"/>
            <a:ext cx="457200" cy="457200"/>
          </a:xfrm>
          <a:prstGeom prst="ellipse">
            <a:avLst/>
          </a:prstGeom>
          <a:solidFill>
            <a:schemeClr val="accent1"/>
          </a:solidFill>
          <a:ln/>
        </p:spPr>
      </p:sp>
      <p:pic>
        <p:nvPicPr>
          <p:cNvPr id="13" name="QA Icon Verfügbarkeit, Leistung" descr="Gauge">    </p:cNvPr>
          <p:cNvPicPr>
            <a:picLocks noChangeAspect="1"/>
          </p:cNvPicPr>
          <p:nvPr/>
        </p:nvPicPr>
        <p:blipFill>
          <a:blip r:embed="rId2"/>
          <a:stretch>
            <a:fillRect/>
          </a:stretch>
        </p:blipFill>
        <p:spPr>
          <a:xfrm>
            <a:off x="4274820" y="2217420"/>
            <a:ext cx="228600" cy="228600"/>
          </a:xfrm>
          <a:prstGeom prst="rect">
            <a:avLst/>
          </a:prstGeom>
        </p:spPr>
      </p:pic>
      <p:sp>
        <p:nvSpPr>
          <p:cNvPr id="14" name="Text 10"/>
          <p:cNvSpPr txBox="1"/>
          <p:nvPr/>
        </p:nvSpPr>
        <p:spPr>
          <a:xfrm>
            <a:off x="4754880" y="2084832"/>
            <a:ext cx="2331720" cy="548640"/>
          </a:xfrm>
          <a:prstGeom prst="rect">
            <a:avLst/>
          </a:prstGeom>
          <a:noFill/>
          <a:ln/>
        </p:spPr>
        <p:txBody>
          <a:bodyPr wrap="square" lIns="0" tIns="0" rIns="0" bIns="0" rtlCol="0" anchor="t"/>
          <a:lstStyle/>
          <a:p>
            <a:pPr indent="0" marL="0">
              <a:buNone/>
            </a:pPr>
            <a:r>
              <a:rPr lang="en-US" sz="1400" b="1" dirty="0">
                <a:solidFill>
                  <a:schemeClr val="tx1"/>
                </a:solidFill>
              </a:rPr>
              <a:t>Verfügbarkeit, Leistung</a:t>
            </a:r>
            <a:endParaRPr lang="en-US" sz="1400" dirty="0"/>
          </a:p>
          <a:p>
            <a:pPr indent="0" marL="0">
              <a:buNone/>
            </a:pPr>
            <a:r>
              <a:rPr lang="en-US" sz="1100" dirty="0">
                <a:solidFill>
                  <a:schemeClr val="tx2"/>
                </a:solidFill>
              </a:rPr>
              <a:t>QA-05–09</a:t>
            </a:r>
            <a:endParaRPr lang="en-US" sz="1400" dirty="0"/>
          </a:p>
        </p:txBody>
      </p:sp>
      <p:sp>
        <p:nvSpPr>
          <p:cNvPr id="15" name="Text 11"/>
          <p:cNvSpPr txBox="1"/>
          <p:nvPr/>
        </p:nvSpPr>
        <p:spPr>
          <a:xfrm>
            <a:off x="4160520" y="2651760"/>
            <a:ext cx="2880360" cy="457200"/>
          </a:xfrm>
          <a:prstGeom prst="rect">
            <a:avLst/>
          </a:prstGeom>
          <a:noFill/>
          <a:ln/>
        </p:spPr>
        <p:txBody>
          <a:bodyPr wrap="square" lIns="0" tIns="0" rIns="0" bIns="0" rtlCol="0" anchor="t"/>
          <a:lstStyle/>
          <a:p>
            <a:pPr indent="0" marL="0">
              <a:buNone/>
            </a:pPr>
            <a:r>
              <a:rPr lang="en-US" sz="2600" b="1" dirty="0">
                <a:solidFill>
                  <a:schemeClr val="accent1"/>
                </a:solidFill>
              </a:rPr>
              <a:t>99,5 %</a:t>
            </a:r>
            <a:endParaRPr lang="en-US" sz="2600" dirty="0"/>
          </a:p>
        </p:txBody>
      </p:sp>
      <p:sp>
        <p:nvSpPr>
          <p:cNvPr id="16" name="Text 12"/>
          <p:cNvSpPr txBox="1"/>
          <p:nvPr/>
        </p:nvSpPr>
        <p:spPr>
          <a:xfrm>
            <a:off x="4160520" y="3108960"/>
            <a:ext cx="2880360" cy="566928"/>
          </a:xfrm>
          <a:prstGeom prst="rect">
            <a:avLst/>
          </a:prstGeom>
          <a:noFill/>
          <a:ln/>
        </p:spPr>
        <p:txBody>
          <a:bodyPr wrap="square" lIns="0" tIns="0" rIns="0" bIns="0" rtlCol="0" anchor="t"/>
          <a:lstStyle/>
          <a:p>
            <a:pPr indent="0" marL="0">
              <a:buNone/>
            </a:pPr>
            <a:r>
              <a:rPr lang="en-US" sz="1150" dirty="0">
                <a:solidFill>
                  <a:schemeClr val="tx2"/>
                </a:solidFill>
              </a:rPr>
              <a:t>pro Monat in der Betriebszeit, kein Ausfall über 30 min (QA-05); Verfügbarkeit in ≤ 2 s (QA-07)</a:t>
            </a:r>
            <a:endParaRPr lang="en-US" sz="1150" dirty="0"/>
          </a:p>
        </p:txBody>
      </p:sp>
      <p:sp>
        <p:nvSpPr>
          <p:cNvPr id="17" name="QA Datenschutz (DSG)"/>
          <p:cNvSpPr/>
          <p:nvPr/>
        </p:nvSpPr>
        <p:spPr>
          <a:xfrm>
            <a:off x="548640" y="3913632"/>
            <a:ext cx="3246120" cy="1810512"/>
          </a:xfrm>
          <a:prstGeom prst="roundRect">
            <a:avLst>
              <a:gd name="adj" fmla="val 6061"/>
            </a:avLst>
          </a:prstGeom>
          <a:solidFill>
            <a:schemeClr val="bg2"/>
          </a:solidFill>
          <a:ln/>
        </p:spPr>
      </p:sp>
      <p:sp>
        <p:nvSpPr>
          <p:cNvPr id="18" name="QA Icon Datenschutz (DSG) Kreis"/>
          <p:cNvSpPr/>
          <p:nvPr/>
        </p:nvSpPr>
        <p:spPr>
          <a:xfrm>
            <a:off x="731520" y="4096512"/>
            <a:ext cx="457200" cy="457200"/>
          </a:xfrm>
          <a:prstGeom prst="ellipse">
            <a:avLst/>
          </a:prstGeom>
          <a:solidFill>
            <a:schemeClr val="accent1"/>
          </a:solidFill>
          <a:ln/>
        </p:spPr>
      </p:sp>
      <p:pic>
        <p:nvPicPr>
          <p:cNvPr id="19" name="QA Icon Datenschutz (DSG)" descr="Lock">    </p:cNvPr>
          <p:cNvPicPr>
            <a:picLocks noChangeAspect="1"/>
          </p:cNvPicPr>
          <p:nvPr/>
        </p:nvPicPr>
        <p:blipFill>
          <a:blip r:embed="rId3"/>
          <a:stretch>
            <a:fillRect/>
          </a:stretch>
        </p:blipFill>
        <p:spPr>
          <a:xfrm>
            <a:off x="845820" y="4210812"/>
            <a:ext cx="228600" cy="228600"/>
          </a:xfrm>
          <a:prstGeom prst="rect">
            <a:avLst/>
          </a:prstGeom>
        </p:spPr>
      </p:pic>
      <p:sp>
        <p:nvSpPr>
          <p:cNvPr id="20" name="Text 15"/>
          <p:cNvSpPr txBox="1"/>
          <p:nvPr/>
        </p:nvSpPr>
        <p:spPr>
          <a:xfrm>
            <a:off x="1325880" y="4078224"/>
            <a:ext cx="2331720" cy="548640"/>
          </a:xfrm>
          <a:prstGeom prst="rect">
            <a:avLst/>
          </a:prstGeom>
          <a:noFill/>
          <a:ln/>
        </p:spPr>
        <p:txBody>
          <a:bodyPr wrap="square" lIns="0" tIns="0" rIns="0" bIns="0" rtlCol="0" anchor="t"/>
          <a:lstStyle/>
          <a:p>
            <a:pPr indent="0" marL="0">
              <a:buNone/>
            </a:pPr>
            <a:r>
              <a:rPr lang="en-US" sz="1400" b="1" dirty="0">
                <a:solidFill>
                  <a:schemeClr val="tx1"/>
                </a:solidFill>
              </a:rPr>
              <a:t>Datenschutz (DSG)</a:t>
            </a:r>
            <a:endParaRPr lang="en-US" sz="1400" dirty="0"/>
          </a:p>
          <a:p>
            <a:pPr indent="0" marL="0">
              <a:buNone/>
            </a:pPr>
            <a:r>
              <a:rPr lang="en-US" sz="1100" dirty="0">
                <a:solidFill>
                  <a:schemeClr val="tx2"/>
                </a:solidFill>
              </a:rPr>
              <a:t>QA-10–12</a:t>
            </a:r>
            <a:endParaRPr lang="en-US" sz="1400" dirty="0"/>
          </a:p>
        </p:txBody>
      </p:sp>
      <p:sp>
        <p:nvSpPr>
          <p:cNvPr id="21" name="Text 16"/>
          <p:cNvSpPr txBox="1"/>
          <p:nvPr/>
        </p:nvSpPr>
        <p:spPr>
          <a:xfrm>
            <a:off x="731520" y="4645152"/>
            <a:ext cx="2880360" cy="457200"/>
          </a:xfrm>
          <a:prstGeom prst="rect">
            <a:avLst/>
          </a:prstGeom>
          <a:noFill/>
          <a:ln/>
        </p:spPr>
        <p:txBody>
          <a:bodyPr wrap="square" lIns="0" tIns="0" rIns="0" bIns="0" rtlCol="0" anchor="t"/>
          <a:lstStyle/>
          <a:p>
            <a:pPr indent="0" marL="0">
              <a:buNone/>
            </a:pPr>
            <a:r>
              <a:rPr lang="en-US" sz="2600" b="1" dirty="0">
                <a:solidFill>
                  <a:schemeClr val="accent1"/>
                </a:solidFill>
              </a:rPr>
              <a:t>4 + 1 Felder</a:t>
            </a:r>
            <a:endParaRPr lang="en-US" sz="2600" dirty="0"/>
          </a:p>
        </p:txBody>
      </p:sp>
      <p:sp>
        <p:nvSpPr>
          <p:cNvPr id="22" name="Text 17"/>
          <p:cNvSpPr txBox="1"/>
          <p:nvPr/>
        </p:nvSpPr>
        <p:spPr>
          <a:xfrm>
            <a:off x="731520" y="5102352"/>
            <a:ext cx="2880360" cy="566928"/>
          </a:xfrm>
          <a:prstGeom prst="rect">
            <a:avLst/>
          </a:prstGeom>
          <a:noFill/>
          <a:ln/>
        </p:spPr>
        <p:txBody>
          <a:bodyPr wrap="square" lIns="0" tIns="0" rIns="0" bIns="0" rtlCol="0" anchor="t"/>
          <a:lstStyle/>
          <a:p>
            <a:pPr indent="0" marL="0">
              <a:buNone/>
            </a:pPr>
            <a:r>
              <a:rPr lang="en-US" sz="1150" dirty="0">
                <a:solidFill>
                  <a:schemeClr val="tx2"/>
                </a:solidFill>
              </a:rPr>
              <a:t>Name, Kundengruppe, E-Mail, Telefon, bei Organisationen deren Name – mehr nicht (QA-10)</a:t>
            </a:r>
            <a:endParaRPr lang="en-US" sz="1150" dirty="0"/>
          </a:p>
        </p:txBody>
      </p:sp>
      <p:sp>
        <p:nvSpPr>
          <p:cNvPr id="23" name="QA Sicherheit, Rollen"/>
          <p:cNvSpPr/>
          <p:nvPr/>
        </p:nvSpPr>
        <p:spPr>
          <a:xfrm>
            <a:off x="3977640" y="3913632"/>
            <a:ext cx="3246120" cy="1810512"/>
          </a:xfrm>
          <a:prstGeom prst="roundRect">
            <a:avLst>
              <a:gd name="adj" fmla="val 6061"/>
            </a:avLst>
          </a:prstGeom>
          <a:solidFill>
            <a:schemeClr val="bg2"/>
          </a:solidFill>
          <a:ln/>
        </p:spPr>
      </p:sp>
      <p:sp>
        <p:nvSpPr>
          <p:cNvPr id="24" name="QA Icon Sicherheit, Rollen Kreis"/>
          <p:cNvSpPr/>
          <p:nvPr/>
        </p:nvSpPr>
        <p:spPr>
          <a:xfrm>
            <a:off x="4160520" y="4096512"/>
            <a:ext cx="457200" cy="457200"/>
          </a:xfrm>
          <a:prstGeom prst="ellipse">
            <a:avLst/>
          </a:prstGeom>
          <a:solidFill>
            <a:schemeClr val="accent1"/>
          </a:solidFill>
          <a:ln/>
        </p:spPr>
      </p:sp>
      <p:pic>
        <p:nvPicPr>
          <p:cNvPr id="25" name="QA Icon Sicherheit, Rollen" descr="ShieldCheck">    </p:cNvPr>
          <p:cNvPicPr>
            <a:picLocks noChangeAspect="1"/>
          </p:cNvPicPr>
          <p:nvPr/>
        </p:nvPicPr>
        <p:blipFill>
          <a:blip r:embed="rId4"/>
          <a:stretch>
            <a:fillRect/>
          </a:stretch>
        </p:blipFill>
        <p:spPr>
          <a:xfrm>
            <a:off x="4274820" y="4210812"/>
            <a:ext cx="228600" cy="228600"/>
          </a:xfrm>
          <a:prstGeom prst="rect">
            <a:avLst/>
          </a:prstGeom>
        </p:spPr>
      </p:pic>
      <p:sp>
        <p:nvSpPr>
          <p:cNvPr id="26" name="Text 20"/>
          <p:cNvSpPr txBox="1"/>
          <p:nvPr/>
        </p:nvSpPr>
        <p:spPr>
          <a:xfrm>
            <a:off x="4754880" y="4078224"/>
            <a:ext cx="2331720" cy="548640"/>
          </a:xfrm>
          <a:prstGeom prst="rect">
            <a:avLst/>
          </a:prstGeom>
          <a:noFill/>
          <a:ln/>
        </p:spPr>
        <p:txBody>
          <a:bodyPr wrap="square" lIns="0" tIns="0" rIns="0" bIns="0" rtlCol="0" anchor="t"/>
          <a:lstStyle/>
          <a:p>
            <a:pPr indent="0" marL="0">
              <a:buNone/>
            </a:pPr>
            <a:r>
              <a:rPr lang="en-US" sz="1400" b="1" dirty="0">
                <a:solidFill>
                  <a:schemeClr val="tx1"/>
                </a:solidFill>
              </a:rPr>
              <a:t>Sicherheit, Rollen</a:t>
            </a:r>
            <a:endParaRPr lang="en-US" sz="1400" dirty="0"/>
          </a:p>
          <a:p>
            <a:pPr indent="0" marL="0">
              <a:buNone/>
            </a:pPr>
            <a:r>
              <a:rPr lang="en-US" sz="1100" dirty="0">
                <a:solidFill>
                  <a:schemeClr val="tx2"/>
                </a:solidFill>
              </a:rPr>
              <a:t>QA-13–16</a:t>
            </a:r>
            <a:endParaRPr lang="en-US" sz="1400" dirty="0"/>
          </a:p>
        </p:txBody>
      </p:sp>
      <p:sp>
        <p:nvSpPr>
          <p:cNvPr id="27" name="Text 21"/>
          <p:cNvSpPr txBox="1"/>
          <p:nvPr/>
        </p:nvSpPr>
        <p:spPr>
          <a:xfrm>
            <a:off x="4160520" y="4645152"/>
            <a:ext cx="2880360" cy="457200"/>
          </a:xfrm>
          <a:prstGeom prst="rect">
            <a:avLst/>
          </a:prstGeom>
          <a:noFill/>
          <a:ln/>
        </p:spPr>
        <p:txBody>
          <a:bodyPr wrap="square" lIns="0" tIns="0" rIns="0" bIns="0" rtlCol="0" anchor="t"/>
          <a:lstStyle/>
          <a:p>
            <a:pPr indent="0" marL="0">
              <a:buNone/>
            </a:pPr>
            <a:r>
              <a:rPr lang="en-US" sz="2600" b="1" dirty="0">
                <a:solidFill>
                  <a:schemeClr val="accent1"/>
                </a:solidFill>
              </a:rPr>
              <a:t>6 Rollen</a:t>
            </a:r>
            <a:endParaRPr lang="en-US" sz="2600" dirty="0"/>
          </a:p>
        </p:txBody>
      </p:sp>
      <p:sp>
        <p:nvSpPr>
          <p:cNvPr id="28" name="Text 22"/>
          <p:cNvSpPr txBox="1"/>
          <p:nvPr/>
        </p:nvSpPr>
        <p:spPr>
          <a:xfrm>
            <a:off x="4160520" y="5102352"/>
            <a:ext cx="2880360" cy="566928"/>
          </a:xfrm>
          <a:prstGeom prst="rect">
            <a:avLst/>
          </a:prstGeom>
          <a:noFill/>
          <a:ln/>
        </p:spPr>
        <p:txBody>
          <a:bodyPr wrap="square" lIns="0" tIns="0" rIns="0" bIns="0" rtlCol="0" anchor="t"/>
          <a:lstStyle/>
          <a:p>
            <a:pPr indent="0" marL="0">
              <a:buNone/>
            </a:pPr>
            <a:r>
              <a:rPr lang="en-US" sz="1150" dirty="0">
                <a:solidFill>
                  <a:schemeClr val="tx2"/>
                </a:solidFill>
              </a:rPr>
              <a:t>Berechtigungsmatrix mit einem Testfall je Zelle (QA-13); jede Änderung nachvollziehbar (QA-15)</a:t>
            </a:r>
            <a:endParaRPr lang="en-US" sz="1150" dirty="0"/>
          </a:p>
        </p:txBody>
      </p:sp>
      <p:sp>
        <p:nvSpPr>
          <p:cNvPr id="29" name="Text 23"/>
          <p:cNvSpPr txBox="1"/>
          <p:nvPr/>
        </p:nvSpPr>
        <p:spPr>
          <a:xfrm>
            <a:off x="7543800" y="1920240"/>
            <a:ext cx="4099255"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RANDBEDINGUNGEN NACH ROLLE (FOLIE 42)</a:t>
            </a:r>
            <a:endParaRPr lang="en-US" sz="1100" dirty="0"/>
          </a:p>
        </p:txBody>
      </p:sp>
      <p:sp>
        <p:nvSpPr>
          <p:cNvPr id="30" name="Vorschrift"/>
          <p:cNvSpPr/>
          <p:nvPr/>
        </p:nvSpPr>
        <p:spPr>
          <a:xfrm>
            <a:off x="7543800" y="2286000"/>
            <a:ext cx="4099255" cy="1051560"/>
          </a:xfrm>
          <a:prstGeom prst="roundRect">
            <a:avLst>
              <a:gd name="adj" fmla="val 10435"/>
            </a:avLst>
          </a:prstGeom>
          <a:solidFill>
            <a:schemeClr val="bg2"/>
          </a:solidFill>
          <a:ln/>
        </p:spPr>
      </p:sp>
      <p:sp>
        <p:nvSpPr>
          <p:cNvPr id="31" name="Markierung Vorschrift"/>
          <p:cNvSpPr/>
          <p:nvPr/>
        </p:nvSpPr>
        <p:spPr>
          <a:xfrm>
            <a:off x="7543800" y="2395728"/>
            <a:ext cx="73152" cy="832104"/>
          </a:xfrm>
          <a:prstGeom prst="rect">
            <a:avLst/>
          </a:prstGeom>
          <a:solidFill>
            <a:schemeClr val="accent1"/>
          </a:solidFill>
          <a:ln/>
        </p:spPr>
      </p:sp>
      <p:sp>
        <p:nvSpPr>
          <p:cNvPr id="32" name="Text 26"/>
          <p:cNvSpPr txBox="1"/>
          <p:nvPr/>
        </p:nvSpPr>
        <p:spPr>
          <a:xfrm>
            <a:off x="7772400" y="2377440"/>
            <a:ext cx="3733495" cy="274320"/>
          </a:xfrm>
          <a:prstGeom prst="rect">
            <a:avLst/>
          </a:prstGeom>
          <a:noFill/>
          <a:ln/>
        </p:spPr>
        <p:txBody>
          <a:bodyPr wrap="square" lIns="0" tIns="0" rIns="0" bIns="0" rtlCol="0" anchor="t"/>
          <a:lstStyle/>
          <a:p>
            <a:pPr indent="0" marL="0">
              <a:buNone/>
            </a:pPr>
            <a:r>
              <a:rPr lang="en-US" sz="1300" b="1" dirty="0">
                <a:solidFill>
                  <a:schemeClr val="accent1"/>
                </a:solidFill>
              </a:rPr>
              <a:t>Vorschrift  </a:t>
            </a:r>
            <a:pPr indent="0" marL="0">
              <a:buNone/>
            </a:pPr>
            <a:r>
              <a:rPr lang="en-US" sz="1300" dirty="0">
                <a:solidFill>
                  <a:schemeClr val="tx2"/>
                </a:solidFill>
              </a:rPr>
              <a:t>RB-01</a:t>
            </a:r>
            <a:endParaRPr lang="en-US" sz="1300" dirty="0"/>
          </a:p>
        </p:txBody>
      </p:sp>
      <p:sp>
        <p:nvSpPr>
          <p:cNvPr id="33" name="Text 27"/>
          <p:cNvSpPr txBox="1"/>
          <p:nvPr/>
        </p:nvSpPr>
        <p:spPr>
          <a:xfrm>
            <a:off x="7772400" y="2670048"/>
            <a:ext cx="3733495" cy="621792"/>
          </a:xfrm>
          <a:prstGeom prst="rect">
            <a:avLst/>
          </a:prstGeom>
          <a:noFill/>
          <a:ln/>
        </p:spPr>
        <p:txBody>
          <a:bodyPr wrap="square" lIns="0" tIns="0" rIns="0" bIns="0" rtlCol="0" anchor="t"/>
          <a:lstStyle/>
          <a:p>
            <a:pPr indent="0" marL="0">
              <a:buNone/>
            </a:pPr>
            <a:r>
              <a:rPr lang="en-US" sz="1200" dirty="0">
                <a:solidFill>
                  <a:schemeClr val="tx1"/>
                </a:solidFill>
              </a:rPr>
              <a:t>Personendaten nach DSG (Art. 6, 7, 8, 19, 25, 28) – Grundlage für QA-10 bis QA-12, QA-14, QA-16</a:t>
            </a:r>
            <a:endParaRPr lang="en-US" sz="1200" dirty="0"/>
          </a:p>
        </p:txBody>
      </p:sp>
      <p:sp>
        <p:nvSpPr>
          <p:cNvPr id="34" name="Tatsache"/>
          <p:cNvSpPr/>
          <p:nvPr/>
        </p:nvSpPr>
        <p:spPr>
          <a:xfrm>
            <a:off x="7543800" y="3474720"/>
            <a:ext cx="4099255" cy="1051560"/>
          </a:xfrm>
          <a:prstGeom prst="roundRect">
            <a:avLst>
              <a:gd name="adj" fmla="val 10435"/>
            </a:avLst>
          </a:prstGeom>
          <a:solidFill>
            <a:schemeClr val="bg2"/>
          </a:solidFill>
          <a:ln/>
        </p:spPr>
      </p:sp>
      <p:sp>
        <p:nvSpPr>
          <p:cNvPr id="35" name="Markierung Tatsache"/>
          <p:cNvSpPr/>
          <p:nvPr/>
        </p:nvSpPr>
        <p:spPr>
          <a:xfrm>
            <a:off x="7543800" y="3584448"/>
            <a:ext cx="73152" cy="832104"/>
          </a:xfrm>
          <a:prstGeom prst="rect">
            <a:avLst/>
          </a:prstGeom>
          <a:solidFill>
            <a:srgbClr val="5A6B7B"/>
          </a:solidFill>
          <a:ln/>
        </p:spPr>
      </p:sp>
      <p:sp>
        <p:nvSpPr>
          <p:cNvPr id="36" name="Text 30"/>
          <p:cNvSpPr txBox="1"/>
          <p:nvPr/>
        </p:nvSpPr>
        <p:spPr>
          <a:xfrm>
            <a:off x="7772400" y="3566160"/>
            <a:ext cx="3733495" cy="274320"/>
          </a:xfrm>
          <a:prstGeom prst="rect">
            <a:avLst/>
          </a:prstGeom>
          <a:noFill/>
          <a:ln/>
        </p:spPr>
        <p:txBody>
          <a:bodyPr wrap="square" lIns="0" tIns="0" rIns="0" bIns="0" rtlCol="0" anchor="t"/>
          <a:lstStyle/>
          <a:p>
            <a:pPr indent="0" marL="0">
              <a:buNone/>
            </a:pPr>
            <a:r>
              <a:rPr lang="en-US" sz="1300" b="1" dirty="0">
                <a:solidFill>
                  <a:srgbClr val="5A6B7B"/>
                </a:solidFill>
              </a:rPr>
              <a:t>Tatsache  </a:t>
            </a:r>
            <a:pPr indent="0" marL="0">
              <a:buNone/>
            </a:pPr>
            <a:r>
              <a:rPr lang="en-US" sz="1300" dirty="0">
                <a:solidFill>
                  <a:schemeClr val="tx2"/>
                </a:solidFill>
              </a:rPr>
              <a:t>RB-03</a:t>
            </a:r>
            <a:endParaRPr lang="en-US" sz="1300" dirty="0"/>
          </a:p>
        </p:txBody>
      </p:sp>
      <p:sp>
        <p:nvSpPr>
          <p:cNvPr id="37" name="Text 31"/>
          <p:cNvSpPr txBox="1"/>
          <p:nvPr/>
        </p:nvSpPr>
        <p:spPr>
          <a:xfrm>
            <a:off x="7772400" y="3858768"/>
            <a:ext cx="3733495" cy="621792"/>
          </a:xfrm>
          <a:prstGeom prst="rect">
            <a:avLst/>
          </a:prstGeom>
          <a:noFill/>
          <a:ln/>
        </p:spPr>
        <p:txBody>
          <a:bodyPr wrap="square" lIns="0" tIns="0" rIns="0" bIns="0" rtlCol="0" anchor="t"/>
          <a:lstStyle/>
          <a:p>
            <a:pPr indent="0" marL="0">
              <a:buNone/>
            </a:pPr>
            <a:r>
              <a:rPr lang="en-US" sz="1200" dirty="0">
                <a:solidFill>
                  <a:schemeClr val="tx1"/>
                </a:solidFill>
              </a:rPr>
              <a:t>Die technische Lösung ist offen; Make-or-Buy erst nach der Spezifikation – darum lösungsneutral formuliert</a:t>
            </a:r>
            <a:endParaRPr lang="en-US" sz="1200" dirty="0"/>
          </a:p>
        </p:txBody>
      </p:sp>
      <p:sp>
        <p:nvSpPr>
          <p:cNvPr id="38" name="Annahme"/>
          <p:cNvSpPr/>
          <p:nvPr/>
        </p:nvSpPr>
        <p:spPr>
          <a:xfrm>
            <a:off x="7543800" y="4663440"/>
            <a:ext cx="4099255" cy="1051560"/>
          </a:xfrm>
          <a:prstGeom prst="roundRect">
            <a:avLst>
              <a:gd name="adj" fmla="val 10435"/>
            </a:avLst>
          </a:prstGeom>
          <a:solidFill>
            <a:schemeClr val="bg2"/>
          </a:solidFill>
          <a:ln/>
        </p:spPr>
      </p:sp>
      <p:sp>
        <p:nvSpPr>
          <p:cNvPr id="39" name="Markierung Annahme"/>
          <p:cNvSpPr/>
          <p:nvPr/>
        </p:nvSpPr>
        <p:spPr>
          <a:xfrm>
            <a:off x="7543800" y="4773168"/>
            <a:ext cx="73152" cy="832104"/>
          </a:xfrm>
          <a:prstGeom prst="rect">
            <a:avLst/>
          </a:prstGeom>
          <a:solidFill>
            <a:srgbClr val="B7791F"/>
          </a:solidFill>
          <a:ln/>
        </p:spPr>
      </p:sp>
      <p:sp>
        <p:nvSpPr>
          <p:cNvPr id="40" name="Text 34"/>
          <p:cNvSpPr txBox="1"/>
          <p:nvPr/>
        </p:nvSpPr>
        <p:spPr>
          <a:xfrm>
            <a:off x="7772400" y="4754880"/>
            <a:ext cx="3733495" cy="274320"/>
          </a:xfrm>
          <a:prstGeom prst="rect">
            <a:avLst/>
          </a:prstGeom>
          <a:noFill/>
          <a:ln/>
        </p:spPr>
        <p:txBody>
          <a:bodyPr wrap="square" lIns="0" tIns="0" rIns="0" bIns="0" rtlCol="0" anchor="t"/>
          <a:lstStyle/>
          <a:p>
            <a:pPr indent="0" marL="0">
              <a:buNone/>
            </a:pPr>
            <a:r>
              <a:rPr lang="en-US" sz="1300" b="1" dirty="0">
                <a:solidFill>
                  <a:srgbClr val="B7791F"/>
                </a:solidFill>
              </a:rPr>
              <a:t>Annahme  </a:t>
            </a:r>
            <a:pPr indent="0" marL="0">
              <a:buNone/>
            </a:pPr>
            <a:r>
              <a:rPr lang="en-US" sz="1300" dirty="0">
                <a:solidFill>
                  <a:schemeClr val="tx2"/>
                </a:solidFill>
              </a:rPr>
              <a:t>RB-05</a:t>
            </a:r>
            <a:endParaRPr lang="en-US" sz="1300" dirty="0"/>
          </a:p>
        </p:txBody>
      </p:sp>
      <p:sp>
        <p:nvSpPr>
          <p:cNvPr id="41" name="Text 35"/>
          <p:cNvSpPr txBox="1"/>
          <p:nvPr/>
        </p:nvSpPr>
        <p:spPr>
          <a:xfrm>
            <a:off x="7772400" y="5047488"/>
            <a:ext cx="3733495" cy="621792"/>
          </a:xfrm>
          <a:prstGeom prst="rect">
            <a:avLst/>
          </a:prstGeom>
          <a:noFill/>
          <a:ln/>
        </p:spPr>
        <p:txBody>
          <a:bodyPr wrap="square" lIns="0" tIns="0" rIns="0" bIns="0" rtlCol="0" anchor="t"/>
          <a:lstStyle/>
          <a:p>
            <a:pPr indent="0" marL="0">
              <a:buNone/>
            </a:pPr>
            <a:r>
              <a:rPr lang="en-US" sz="1200" dirty="0">
                <a:solidFill>
                  <a:schemeClr val="tx1"/>
                </a:solidFill>
              </a:rPr>
              <a:t>Ein Teil der Kundschaft reserviert nicht online – deshalb bleibt «Reservation im Auftrag» (FA-05) Must</a:t>
            </a:r>
            <a:endParaRPr lang="en-US" sz="1200" dirty="0"/>
          </a:p>
        </p:txBody>
      </p:sp>
      <p:sp>
        <p:nvSpPr>
          <p:cNvPr id="42" name="Text 36"/>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Annahme  </a:t>
            </a:r>
            <a:pPr indent="0" marL="0">
              <a:buNone/>
            </a:pPr>
            <a:r>
              <a:rPr lang="en-US" sz="1100" dirty="0">
                <a:solidFill>
                  <a:schemeClr val="tx2"/>
                </a:solidFill>
              </a:rPr>
              <a:t>Alle Zielwerte (60 s, 99,5 %, 2 s …) sind Vorschläge von Gruppe 9 und werden in PVA 5 mit Gruppe 2 abgestimmt.</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PRIORISIERUNG · MOSCOW (FOLIE 43)</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33 Must, 16 Should, 2 Could – Self-Service bewusst nur Should</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Unser Vorschlag als Entscheidungsgrundlage; priorisieren muss der Auftraggeber.</a:t>
            </a:r>
            <a:endParaRPr lang="en-US" sz="1600" dirty="0"/>
          </a:p>
        </p:txBody>
      </p:sp>
      <p:sp>
        <p:nvSpPr>
          <p:cNvPr id="5" name="Balken Must"/>
          <p:cNvSpPr/>
          <p:nvPr/>
        </p:nvSpPr>
        <p:spPr>
          <a:xfrm>
            <a:off x="548640" y="2057400"/>
            <a:ext cx="4312203" cy="685800"/>
          </a:xfrm>
          <a:prstGeom prst="rect">
            <a:avLst/>
          </a:prstGeom>
          <a:solidFill>
            <a:schemeClr val="accent1"/>
          </a:solidFill>
          <a:ln/>
        </p:spPr>
      </p:sp>
      <p:sp>
        <p:nvSpPr>
          <p:cNvPr id="6" name="Text 4"/>
          <p:cNvSpPr txBox="1"/>
          <p:nvPr/>
        </p:nvSpPr>
        <p:spPr>
          <a:xfrm>
            <a:off x="548640" y="2057400"/>
            <a:ext cx="4312203" cy="685800"/>
          </a:xfrm>
          <a:prstGeom prst="rect">
            <a:avLst/>
          </a:prstGeom>
          <a:noFill/>
          <a:ln/>
        </p:spPr>
        <p:txBody>
          <a:bodyPr wrap="square" lIns="0" tIns="0" rIns="0" bIns="0" rtlCol="0" anchor="ctr"/>
          <a:lstStyle/>
          <a:p>
            <a:pPr algn="ctr" indent="0" marL="0">
              <a:buNone/>
            </a:pPr>
            <a:r>
              <a:rPr lang="en-US" sz="2600" b="1" dirty="0">
                <a:solidFill>
                  <a:schemeClr val="bg1"/>
                </a:solidFill>
              </a:rPr>
              <a:t>33</a:t>
            </a:r>
            <a:endParaRPr lang="en-US" sz="2600" dirty="0"/>
          </a:p>
        </p:txBody>
      </p:sp>
      <p:sp>
        <p:nvSpPr>
          <p:cNvPr id="7" name="Balken Should"/>
          <p:cNvSpPr/>
          <p:nvPr/>
        </p:nvSpPr>
        <p:spPr>
          <a:xfrm>
            <a:off x="4897419" y="2057400"/>
            <a:ext cx="2071923" cy="685800"/>
          </a:xfrm>
          <a:prstGeom prst="rect">
            <a:avLst/>
          </a:prstGeom>
          <a:solidFill>
            <a:srgbClr val="5A6B7B"/>
          </a:solidFill>
          <a:ln/>
        </p:spPr>
      </p:sp>
      <p:sp>
        <p:nvSpPr>
          <p:cNvPr id="8" name="Text 6"/>
          <p:cNvSpPr txBox="1"/>
          <p:nvPr/>
        </p:nvSpPr>
        <p:spPr>
          <a:xfrm>
            <a:off x="4897419" y="2057400"/>
            <a:ext cx="2071923" cy="685800"/>
          </a:xfrm>
          <a:prstGeom prst="rect">
            <a:avLst/>
          </a:prstGeom>
          <a:noFill/>
          <a:ln/>
        </p:spPr>
        <p:txBody>
          <a:bodyPr wrap="square" lIns="0" tIns="0" rIns="0" bIns="0" rtlCol="0" anchor="ctr"/>
          <a:lstStyle/>
          <a:p>
            <a:pPr algn="ctr" indent="0" marL="0">
              <a:buNone/>
            </a:pPr>
            <a:r>
              <a:rPr lang="en-US" sz="2600" b="1" dirty="0">
                <a:solidFill>
                  <a:schemeClr val="bg1"/>
                </a:solidFill>
              </a:rPr>
              <a:t>16</a:t>
            </a:r>
            <a:endParaRPr lang="en-US" sz="2600" dirty="0"/>
          </a:p>
        </p:txBody>
      </p:sp>
      <p:sp>
        <p:nvSpPr>
          <p:cNvPr id="9" name="Balken Could"/>
          <p:cNvSpPr/>
          <p:nvPr/>
        </p:nvSpPr>
        <p:spPr>
          <a:xfrm>
            <a:off x="7005918" y="2057400"/>
            <a:ext cx="226986" cy="685800"/>
          </a:xfrm>
          <a:prstGeom prst="rect">
            <a:avLst/>
          </a:prstGeom>
          <a:solidFill>
            <a:srgbClr val="8FA3B3"/>
          </a:solidFill>
          <a:ln/>
        </p:spPr>
      </p:sp>
      <p:sp>
        <p:nvSpPr>
          <p:cNvPr id="10" name="Etikett Must"/>
          <p:cNvSpPr/>
          <p:nvPr/>
        </p:nvSpPr>
        <p:spPr>
          <a:xfrm>
            <a:off x="548640" y="2926080"/>
            <a:ext cx="777240" cy="274320"/>
          </a:xfrm>
          <a:prstGeom prst="roundRect">
            <a:avLst>
              <a:gd name="adj" fmla="val 50000"/>
            </a:avLst>
          </a:prstGeom>
          <a:solidFill>
            <a:schemeClr val="accent1"/>
          </a:solidFill>
          <a:ln/>
        </p:spPr>
      </p:sp>
      <p:sp>
        <p:nvSpPr>
          <p:cNvPr id="11" name="Text 9"/>
          <p:cNvSpPr txBox="1"/>
          <p:nvPr/>
        </p:nvSpPr>
        <p:spPr>
          <a:xfrm>
            <a:off x="548640" y="2926080"/>
            <a:ext cx="777240" cy="274320"/>
          </a:xfrm>
          <a:prstGeom prst="rect">
            <a:avLst/>
          </a:prstGeom>
          <a:noFill/>
          <a:ln/>
        </p:spPr>
        <p:txBody>
          <a:bodyPr wrap="square" lIns="0" tIns="0" rIns="0" bIns="0" rtlCol="0" anchor="ctr"/>
          <a:lstStyle/>
          <a:p>
            <a:pPr algn="ctr" indent="0" marL="0">
              <a:buNone/>
            </a:pPr>
            <a:r>
              <a:rPr lang="en-US" sz="1100" b="1" dirty="0">
                <a:solidFill>
                  <a:srgbClr val="FFFFFF"/>
                </a:solidFill>
              </a:rPr>
              <a:t>Must</a:t>
            </a:r>
            <a:endParaRPr lang="en-US" sz="1100" dirty="0"/>
          </a:p>
        </p:txBody>
      </p:sp>
      <p:sp>
        <p:nvSpPr>
          <p:cNvPr id="12" name="Text 10"/>
          <p:cNvSpPr txBox="1"/>
          <p:nvPr/>
        </p:nvSpPr>
        <p:spPr>
          <a:xfrm>
            <a:off x="548640" y="3246120"/>
            <a:ext cx="2148840" cy="457200"/>
          </a:xfrm>
          <a:prstGeom prst="rect">
            <a:avLst/>
          </a:prstGeom>
          <a:noFill/>
          <a:ln/>
        </p:spPr>
        <p:txBody>
          <a:bodyPr wrap="square" lIns="0" tIns="0" rIns="0" bIns="0" rtlCol="0" anchor="t"/>
          <a:lstStyle/>
          <a:p>
            <a:pPr indent="0" marL="0">
              <a:buNone/>
            </a:pPr>
            <a:r>
              <a:rPr lang="en-US" sz="1200" dirty="0">
                <a:solidFill>
                  <a:schemeClr val="tx2"/>
                </a:solidFill>
              </a:rPr>
              <a:t>unverzichtbar, ohne sie kein Betrieb</a:t>
            </a:r>
            <a:endParaRPr lang="en-US" sz="1200" dirty="0"/>
          </a:p>
        </p:txBody>
      </p:sp>
      <p:sp>
        <p:nvSpPr>
          <p:cNvPr id="13" name="Etikett Should"/>
          <p:cNvSpPr/>
          <p:nvPr/>
        </p:nvSpPr>
        <p:spPr>
          <a:xfrm>
            <a:off x="2816352" y="2926080"/>
            <a:ext cx="777240" cy="274320"/>
          </a:xfrm>
          <a:prstGeom prst="roundRect">
            <a:avLst>
              <a:gd name="adj" fmla="val 50000"/>
            </a:avLst>
          </a:prstGeom>
          <a:solidFill>
            <a:srgbClr val="5A6B7B"/>
          </a:solidFill>
          <a:ln/>
        </p:spPr>
      </p:sp>
      <p:sp>
        <p:nvSpPr>
          <p:cNvPr id="14" name="Text 12"/>
          <p:cNvSpPr txBox="1"/>
          <p:nvPr/>
        </p:nvSpPr>
        <p:spPr>
          <a:xfrm>
            <a:off x="2816352" y="2926080"/>
            <a:ext cx="777240" cy="274320"/>
          </a:xfrm>
          <a:prstGeom prst="rect">
            <a:avLst/>
          </a:prstGeom>
          <a:noFill/>
          <a:ln/>
        </p:spPr>
        <p:txBody>
          <a:bodyPr wrap="square" lIns="0" tIns="0" rIns="0" bIns="0" rtlCol="0" anchor="ctr"/>
          <a:lstStyle/>
          <a:p>
            <a:pPr algn="ctr" indent="0" marL="0">
              <a:buNone/>
            </a:pPr>
            <a:r>
              <a:rPr lang="en-US" sz="1100" b="1" dirty="0">
                <a:solidFill>
                  <a:srgbClr val="FFFFFF"/>
                </a:solidFill>
              </a:rPr>
              <a:t>Should</a:t>
            </a:r>
            <a:endParaRPr lang="en-US" sz="1100" dirty="0"/>
          </a:p>
        </p:txBody>
      </p:sp>
      <p:sp>
        <p:nvSpPr>
          <p:cNvPr id="15" name="Text 13"/>
          <p:cNvSpPr txBox="1"/>
          <p:nvPr/>
        </p:nvSpPr>
        <p:spPr>
          <a:xfrm>
            <a:off x="2816352" y="3246120"/>
            <a:ext cx="2148840" cy="457200"/>
          </a:xfrm>
          <a:prstGeom prst="rect">
            <a:avLst/>
          </a:prstGeom>
          <a:noFill/>
          <a:ln/>
        </p:spPr>
        <p:txBody>
          <a:bodyPr wrap="square" lIns="0" tIns="0" rIns="0" bIns="0" rtlCol="0" anchor="t"/>
          <a:lstStyle/>
          <a:p>
            <a:pPr indent="0" marL="0">
              <a:buNone/>
            </a:pPr>
            <a:r>
              <a:rPr lang="en-US" sz="1200" dirty="0">
                <a:solidFill>
                  <a:schemeClr val="tx2"/>
                </a:solidFill>
              </a:rPr>
              <a:t>wichtig, bei zu hohen Kosten verschiebbar</a:t>
            </a:r>
            <a:endParaRPr lang="en-US" sz="1200" dirty="0"/>
          </a:p>
        </p:txBody>
      </p:sp>
      <p:sp>
        <p:nvSpPr>
          <p:cNvPr id="16" name="Etikett Could"/>
          <p:cNvSpPr/>
          <p:nvPr/>
        </p:nvSpPr>
        <p:spPr>
          <a:xfrm>
            <a:off x="5084064" y="2926080"/>
            <a:ext cx="777240" cy="274320"/>
          </a:xfrm>
          <a:prstGeom prst="roundRect">
            <a:avLst>
              <a:gd name="adj" fmla="val 50000"/>
            </a:avLst>
          </a:prstGeom>
          <a:solidFill>
            <a:srgbClr val="8FA3B3"/>
          </a:solidFill>
          <a:ln/>
        </p:spPr>
      </p:sp>
      <p:sp>
        <p:nvSpPr>
          <p:cNvPr id="17" name="Text 15"/>
          <p:cNvSpPr txBox="1"/>
          <p:nvPr/>
        </p:nvSpPr>
        <p:spPr>
          <a:xfrm>
            <a:off x="5084064" y="2926080"/>
            <a:ext cx="777240" cy="274320"/>
          </a:xfrm>
          <a:prstGeom prst="rect">
            <a:avLst/>
          </a:prstGeom>
          <a:noFill/>
          <a:ln/>
        </p:spPr>
        <p:txBody>
          <a:bodyPr wrap="square" lIns="0" tIns="0" rIns="0" bIns="0" rtlCol="0" anchor="ctr"/>
          <a:lstStyle/>
          <a:p>
            <a:pPr algn="ctr" indent="0" marL="0">
              <a:buNone/>
            </a:pPr>
            <a:r>
              <a:rPr lang="en-US" sz="1100" b="1" dirty="0">
                <a:solidFill>
                  <a:srgbClr val="FFFFFF"/>
                </a:solidFill>
              </a:rPr>
              <a:t>Could</a:t>
            </a:r>
            <a:endParaRPr lang="en-US" sz="1100" dirty="0"/>
          </a:p>
        </p:txBody>
      </p:sp>
      <p:sp>
        <p:nvSpPr>
          <p:cNvPr id="18" name="Text 16"/>
          <p:cNvSpPr txBox="1"/>
          <p:nvPr/>
        </p:nvSpPr>
        <p:spPr>
          <a:xfrm>
            <a:off x="5084064" y="3246120"/>
            <a:ext cx="2148840" cy="457200"/>
          </a:xfrm>
          <a:prstGeom prst="rect">
            <a:avLst/>
          </a:prstGeom>
          <a:noFill/>
          <a:ln/>
        </p:spPr>
        <p:txBody>
          <a:bodyPr wrap="square" lIns="0" tIns="0" rIns="0" bIns="0" rtlCol="0" anchor="t"/>
          <a:lstStyle/>
          <a:p>
            <a:pPr indent="0" marL="0">
              <a:buNone/>
            </a:pPr>
            <a:r>
              <a:rPr lang="en-US" sz="1200" dirty="0">
                <a:solidFill>
                  <a:schemeClr val="tx2"/>
                </a:solidFill>
              </a:rPr>
              <a:t>schön zu haben</a:t>
            </a:r>
            <a:endParaRPr lang="en-US" sz="1200" dirty="0"/>
          </a:p>
        </p:txBody>
      </p:sp>
      <p:sp>
        <p:nvSpPr>
          <p:cNvPr id="19" name="Won't"/>
          <p:cNvSpPr/>
          <p:nvPr/>
        </p:nvSpPr>
        <p:spPr>
          <a:xfrm>
            <a:off x="548640" y="3794760"/>
            <a:ext cx="6720840" cy="2011680"/>
          </a:xfrm>
          <a:prstGeom prst="roundRect">
            <a:avLst>
              <a:gd name="adj" fmla="val 5455"/>
            </a:avLst>
          </a:prstGeom>
          <a:solidFill>
            <a:schemeClr val="bg2"/>
          </a:solidFill>
          <a:ln/>
        </p:spPr>
      </p:sp>
      <p:sp>
        <p:nvSpPr>
          <p:cNvPr id="20" name="Text 18"/>
          <p:cNvSpPr txBox="1"/>
          <p:nvPr/>
        </p:nvSpPr>
        <p:spPr>
          <a:xfrm>
            <a:off x="777240" y="3931920"/>
            <a:ext cx="6263640" cy="292608"/>
          </a:xfrm>
          <a:prstGeom prst="rect">
            <a:avLst/>
          </a:prstGeom>
          <a:noFill/>
          <a:ln/>
        </p:spPr>
        <p:txBody>
          <a:bodyPr wrap="square" lIns="0" tIns="0" rIns="0" bIns="0" rtlCol="0" anchor="t"/>
          <a:lstStyle/>
          <a:p>
            <a:pPr indent="0" marL="0">
              <a:buNone/>
            </a:pPr>
            <a:r>
              <a:rPr lang="en-US" sz="1400" b="1" dirty="0">
                <a:solidFill>
                  <a:schemeClr val="accent2"/>
                </a:solidFill>
              </a:rPr>
              <a:t>Won't in Release 1 (5)</a:t>
            </a:r>
            <a:endParaRPr lang="en-US" sz="1400" dirty="0"/>
          </a:p>
        </p:txBody>
      </p:sp>
      <p:sp>
        <p:nvSpPr>
          <p:cNvPr id="21" name="Text 19"/>
          <p:cNvSpPr txBox="1"/>
          <p:nvPr/>
        </p:nvSpPr>
        <p:spPr>
          <a:xfrm>
            <a:off x="777240" y="4343400"/>
            <a:ext cx="3108960" cy="320040"/>
          </a:xfrm>
          <a:prstGeom prst="rect">
            <a:avLst/>
          </a:prstGeom>
          <a:noFill/>
          <a:ln/>
        </p:spPr>
        <p:txBody>
          <a:bodyPr wrap="square" lIns="0" tIns="0" rIns="0" bIns="0" rtlCol="0" anchor="t"/>
          <a:lstStyle/>
          <a:p>
            <a:pPr indent="0" marL="0">
              <a:buNone/>
            </a:pPr>
            <a:r>
              <a:rPr lang="en-US" sz="1250" b="1" dirty="0">
                <a:solidFill>
                  <a:schemeClr val="tx2"/>
                </a:solidFill>
              </a:rPr>
              <a:t>WO-01  </a:t>
            </a:r>
            <a:pPr indent="0" marL="0">
              <a:buNone/>
            </a:pPr>
            <a:r>
              <a:rPr lang="en-US" sz="1250" dirty="0">
                <a:solidFill>
                  <a:schemeClr val="tx1"/>
                </a:solidFill>
              </a:rPr>
              <a:t>Online-Bezahlung, Rechnungen</a:t>
            </a:r>
            <a:endParaRPr lang="en-US" sz="1250" dirty="0"/>
          </a:p>
        </p:txBody>
      </p:sp>
      <p:sp>
        <p:nvSpPr>
          <p:cNvPr id="22" name="Text 20"/>
          <p:cNvSpPr txBox="1"/>
          <p:nvPr/>
        </p:nvSpPr>
        <p:spPr>
          <a:xfrm>
            <a:off x="3977640" y="4343400"/>
            <a:ext cx="3108960" cy="320040"/>
          </a:xfrm>
          <a:prstGeom prst="rect">
            <a:avLst/>
          </a:prstGeom>
          <a:noFill/>
          <a:ln/>
        </p:spPr>
        <p:txBody>
          <a:bodyPr wrap="square" lIns="0" tIns="0" rIns="0" bIns="0" rtlCol="0" anchor="t"/>
          <a:lstStyle/>
          <a:p>
            <a:pPr indent="0" marL="0">
              <a:buNone/>
            </a:pPr>
            <a:r>
              <a:rPr lang="en-US" sz="1250" b="1" dirty="0">
                <a:solidFill>
                  <a:schemeClr val="tx2"/>
                </a:solidFill>
              </a:rPr>
              <a:t>WO-02  </a:t>
            </a:r>
            <a:pPr indent="0" marL="0">
              <a:buNone/>
            </a:pPr>
            <a:r>
              <a:rPr lang="en-US" sz="1250" dirty="0">
                <a:solidFill>
                  <a:schemeClr val="tx1"/>
                </a:solidFill>
              </a:rPr>
              <a:t>Einsatzplanung Trainer:innen</a:t>
            </a:r>
            <a:endParaRPr lang="en-US" sz="1250" dirty="0"/>
          </a:p>
        </p:txBody>
      </p:sp>
      <p:sp>
        <p:nvSpPr>
          <p:cNvPr id="23" name="Text 21"/>
          <p:cNvSpPr txBox="1"/>
          <p:nvPr/>
        </p:nvSpPr>
        <p:spPr>
          <a:xfrm>
            <a:off x="777240" y="4754880"/>
            <a:ext cx="3108960" cy="320040"/>
          </a:xfrm>
          <a:prstGeom prst="rect">
            <a:avLst/>
          </a:prstGeom>
          <a:noFill/>
          <a:ln/>
        </p:spPr>
        <p:txBody>
          <a:bodyPr wrap="square" lIns="0" tIns="0" rIns="0" bIns="0" rtlCol="0" anchor="t"/>
          <a:lstStyle/>
          <a:p>
            <a:pPr indent="0" marL="0">
              <a:buNone/>
            </a:pPr>
            <a:r>
              <a:rPr lang="en-US" sz="1250" b="1" dirty="0">
                <a:solidFill>
                  <a:schemeClr val="tx2"/>
                </a:solidFill>
              </a:rPr>
              <a:t>WO-03  </a:t>
            </a:r>
            <a:pPr indent="0" marL="0">
              <a:buNone/>
            </a:pPr>
            <a:r>
              <a:rPr lang="en-US" sz="1250" dirty="0">
                <a:solidFill>
                  <a:schemeClr val="tx1"/>
                </a:solidFill>
              </a:rPr>
              <a:t>Zutritts- und Lichtsteuerung</a:t>
            </a:r>
            <a:endParaRPr lang="en-US" sz="1250" dirty="0"/>
          </a:p>
        </p:txBody>
      </p:sp>
      <p:sp>
        <p:nvSpPr>
          <p:cNvPr id="24" name="Text 22"/>
          <p:cNvSpPr txBox="1"/>
          <p:nvPr/>
        </p:nvSpPr>
        <p:spPr>
          <a:xfrm>
            <a:off x="3977640" y="4754880"/>
            <a:ext cx="3108960" cy="320040"/>
          </a:xfrm>
          <a:prstGeom prst="rect">
            <a:avLst/>
          </a:prstGeom>
          <a:noFill/>
          <a:ln/>
        </p:spPr>
        <p:txBody>
          <a:bodyPr wrap="square" lIns="0" tIns="0" rIns="0" bIns="0" rtlCol="0" anchor="t"/>
          <a:lstStyle/>
          <a:p>
            <a:pPr indent="0" marL="0">
              <a:buNone/>
            </a:pPr>
            <a:r>
              <a:rPr lang="en-US" sz="1250" b="1" dirty="0">
                <a:solidFill>
                  <a:schemeClr val="tx2"/>
                </a:solidFill>
              </a:rPr>
              <a:t>WO-04  </a:t>
            </a:r>
            <a:pPr indent="0" marL="0">
              <a:buNone/>
            </a:pPr>
            <a:r>
              <a:rPr lang="en-US" sz="1250" dirty="0">
                <a:solidFill>
                  <a:schemeClr val="tx1"/>
                </a:solidFill>
              </a:rPr>
              <a:t>eigene Smartphone-App</a:t>
            </a:r>
            <a:endParaRPr lang="en-US" sz="1250" dirty="0"/>
          </a:p>
        </p:txBody>
      </p:sp>
      <p:sp>
        <p:nvSpPr>
          <p:cNvPr id="25" name="Text 23"/>
          <p:cNvSpPr txBox="1"/>
          <p:nvPr/>
        </p:nvSpPr>
        <p:spPr>
          <a:xfrm>
            <a:off x="777240" y="5166360"/>
            <a:ext cx="3108960" cy="320040"/>
          </a:xfrm>
          <a:prstGeom prst="rect">
            <a:avLst/>
          </a:prstGeom>
          <a:noFill/>
          <a:ln/>
        </p:spPr>
        <p:txBody>
          <a:bodyPr wrap="square" lIns="0" tIns="0" rIns="0" bIns="0" rtlCol="0" anchor="t"/>
          <a:lstStyle/>
          <a:p>
            <a:pPr indent="0" marL="0">
              <a:buNone/>
            </a:pPr>
            <a:r>
              <a:rPr lang="en-US" sz="1250" b="1" dirty="0">
                <a:solidFill>
                  <a:schemeClr val="tx2"/>
                </a:solidFill>
              </a:rPr>
              <a:t>WO-05  </a:t>
            </a:r>
            <a:pPr indent="0" marL="0">
              <a:buNone/>
            </a:pPr>
            <a:r>
              <a:rPr lang="en-US" sz="1250" dirty="0">
                <a:solidFill>
                  <a:schemeClr val="tx1"/>
                </a:solidFill>
              </a:rPr>
              <a:t>Spielpartnersuche, Turniere (Benchmark)</a:t>
            </a:r>
            <a:endParaRPr lang="en-US" sz="1250" dirty="0"/>
          </a:p>
        </p:txBody>
      </p:sp>
      <p:sp>
        <p:nvSpPr>
          <p:cNvPr id="26" name="Warum FA-04 Should"/>
          <p:cNvSpPr/>
          <p:nvPr/>
        </p:nvSpPr>
        <p:spPr>
          <a:xfrm>
            <a:off x="7635240" y="2057400"/>
            <a:ext cx="4007815" cy="3749040"/>
          </a:xfrm>
          <a:prstGeom prst="roundRect">
            <a:avLst>
              <a:gd name="adj" fmla="val 2927"/>
            </a:avLst>
          </a:prstGeom>
          <a:solidFill>
            <a:schemeClr val="tx1"/>
          </a:solidFill>
          <a:ln/>
        </p:spPr>
      </p:sp>
      <p:sp>
        <p:nvSpPr>
          <p:cNvPr id="27" name="Text 25"/>
          <p:cNvSpPr txBox="1"/>
          <p:nvPr/>
        </p:nvSpPr>
        <p:spPr>
          <a:xfrm>
            <a:off x="7909560" y="2240280"/>
            <a:ext cx="3459175"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WARUM NUR SHOULD?</a:t>
            </a:r>
            <a:endParaRPr lang="en-US" sz="1100" dirty="0"/>
          </a:p>
        </p:txBody>
      </p:sp>
      <p:sp>
        <p:nvSpPr>
          <p:cNvPr id="28" name="Text 26"/>
          <p:cNvSpPr txBox="1"/>
          <p:nvPr/>
        </p:nvSpPr>
        <p:spPr>
          <a:xfrm>
            <a:off x="7909560" y="2560320"/>
            <a:ext cx="3459175" cy="411480"/>
          </a:xfrm>
          <a:prstGeom prst="rect">
            <a:avLst/>
          </a:prstGeom>
          <a:noFill/>
          <a:ln/>
        </p:spPr>
        <p:txBody>
          <a:bodyPr wrap="square" lIns="0" tIns="0" rIns="0" bIns="0" rtlCol="0" anchor="t"/>
          <a:lstStyle/>
          <a:p>
            <a:pPr indent="0" marL="0">
              <a:buNone/>
            </a:pPr>
            <a:r>
              <a:rPr lang="en-US" sz="1800" b="1" dirty="0">
                <a:solidFill>
                  <a:schemeClr val="bg1"/>
                </a:solidFill>
              </a:rPr>
              <a:t>FA-04 Online selbst reservieren</a:t>
            </a:r>
            <a:endParaRPr lang="en-US" sz="1800" dirty="0"/>
          </a:p>
        </p:txBody>
      </p:sp>
      <p:sp>
        <p:nvSpPr>
          <p:cNvPr id="29" name="Text 27"/>
          <p:cNvSpPr txBox="1"/>
          <p:nvPr/>
        </p:nvSpPr>
        <p:spPr>
          <a:xfrm>
            <a:off x="7909560" y="3063240"/>
            <a:ext cx="3459175" cy="2651760"/>
          </a:xfrm>
          <a:prstGeom prst="rect">
            <a:avLst/>
          </a:prstGeom>
          <a:noFill/>
          <a:ln/>
        </p:spPr>
        <p:txBody>
          <a:bodyPr wrap="square" lIns="0" tIns="0" rIns="0" bIns="0" rtlCol="0" anchor="t"/>
          <a:lstStyle/>
          <a:p>
            <a:pPr indent="0" marL="0">
              <a:buNone/>
            </a:pPr>
            <a:r>
              <a:rPr lang="en-US" sz="1300" dirty="0">
                <a:solidFill>
                  <a:schemeClr val="accent6"/>
                </a:solidFill>
              </a:rPr>
              <a:t>Gruppe 2 nennt «komfortabler für Kunden» als Nutzen, verlangt Self-Service aber nicht.</a:t>
            </a:r>
            <a:endParaRPr lang="en-US" sz="1300" dirty="0"/>
          </a:p>
          <a:p>
            <a:pPr indent="0" marL="0">
              <a:buNone/>
            </a:pPr>
            <a:r>
              <a:rPr lang="en-US" sz="600" dirty="0">
                <a:solidFill>
                  <a:schemeClr val="accent6"/>
                </a:solidFill>
              </a:rPr>
              <a:t> </a:t>
            </a:r>
            <a:endParaRPr lang="en-US" sz="1300" dirty="0"/>
          </a:p>
          <a:p>
            <a:pPr indent="0" marL="0">
              <a:buNone/>
            </a:pPr>
            <a:r>
              <a:rPr lang="en-US" sz="1300" dirty="0">
                <a:solidFill>
                  <a:schemeClr val="accent6"/>
                </a:solidFill>
              </a:rPr>
              <a:t>Das Kernproblem – eine zentrale Belegung – lösen FA-02, FA-05 und FA-06 auch ohne Self-Service.</a:t>
            </a:r>
            <a:endParaRPr lang="en-US" sz="1300" dirty="0"/>
          </a:p>
          <a:p>
            <a:pPr indent="0" marL="0">
              <a:buNone/>
            </a:pPr>
            <a:r>
              <a:rPr lang="en-US" sz="600" dirty="0">
                <a:solidFill>
                  <a:schemeClr val="accent6"/>
                </a:solidFill>
              </a:rPr>
              <a:t> </a:t>
            </a:r>
            <a:endParaRPr lang="en-US" sz="1300" dirty="0"/>
          </a:p>
          <a:p>
            <a:pPr indent="0" marL="0">
              <a:buNone/>
            </a:pPr>
            <a:r>
              <a:rPr lang="en-US" sz="1300" dirty="0">
                <a:solidFill>
                  <a:schemeClr val="accent6"/>
                </a:solidFill>
              </a:rPr>
              <a:t>Self-Service verändert den Umfang am stärksten. Darum ist er die erste Frage in PVA 5 (OP-02).</a:t>
            </a:r>
            <a:endParaRPr lang="en-US" sz="1300" dirty="0"/>
          </a:p>
        </p:txBody>
      </p:sp>
      <p:sp>
        <p:nvSpPr>
          <p:cNvPr id="30" name="Text 28"/>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Hinweis  </a:t>
            </a:r>
            <a:pPr indent="0" marL="0">
              <a:buNone/>
            </a:pPr>
            <a:r>
              <a:rPr lang="en-US" sz="1100" dirty="0">
                <a:solidFill>
                  <a:schemeClr val="tx2"/>
                </a:solidFill>
              </a:rPr>
              <a:t>Der Probelauf hat FA-22 (Erinnerung) und FA-26 (Kontingente) von Could auf Should verschoben (S-08, S-04). Entscheiden muss die Geschäftsleitung.</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VALIDIERUNG UND VERWALTUNG</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Intern geprüft – mit Gruppe 2 noch zu validieren</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Prüfen &amp; Abstimmen ist erledigt; «Hält die Spec?» beantwortet erst der Auftraggeber (Folie 28).</a:t>
            </a:r>
            <a:endParaRPr lang="en-US" sz="1600" dirty="0"/>
          </a:p>
        </p:txBody>
      </p:sp>
      <p:sp>
        <p:nvSpPr>
          <p:cNvPr id="5" name="Herkunft"/>
          <p:cNvSpPr/>
          <p:nvPr/>
        </p:nvSpPr>
        <p:spPr>
          <a:xfrm>
            <a:off x="548640" y="1920240"/>
            <a:ext cx="3545738" cy="3886200"/>
          </a:xfrm>
          <a:prstGeom prst="roundRect">
            <a:avLst>
              <a:gd name="adj" fmla="val 3095"/>
            </a:avLst>
          </a:prstGeom>
          <a:solidFill>
            <a:schemeClr val="bg2"/>
          </a:solidFill>
          <a:ln/>
        </p:spPr>
      </p:sp>
      <p:sp>
        <p:nvSpPr>
          <p:cNvPr id="6" name="Text 4"/>
          <p:cNvSpPr txBox="1"/>
          <p:nvPr/>
        </p:nvSpPr>
        <p:spPr>
          <a:xfrm>
            <a:off x="777240" y="2103120"/>
            <a:ext cx="3088538"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HERKUNFT DER 51 ANFORDERUNGEN</a:t>
            </a:r>
            <a:endParaRPr lang="en-US" sz="1100" dirty="0"/>
          </a:p>
        </p:txBody>
      </p:sp>
      <p:sp>
        <p:nvSpPr>
          <p:cNvPr id="7" name="Text 5"/>
          <p:cNvSpPr txBox="1"/>
          <p:nvPr/>
        </p:nvSpPr>
        <p:spPr>
          <a:xfrm>
            <a:off x="777240" y="2468880"/>
            <a:ext cx="1097280" cy="731520"/>
          </a:xfrm>
          <a:prstGeom prst="rect">
            <a:avLst/>
          </a:prstGeom>
          <a:noFill/>
          <a:ln/>
        </p:spPr>
        <p:txBody>
          <a:bodyPr wrap="square" lIns="0" tIns="0" rIns="0" bIns="0" rtlCol="0" anchor="ctr"/>
          <a:lstStyle/>
          <a:p>
            <a:pPr indent="0" marL="0">
              <a:buNone/>
            </a:pPr>
            <a:r>
              <a:rPr lang="en-US" sz="4400" b="1" dirty="0">
                <a:solidFill>
                  <a:schemeClr val="accent1"/>
                </a:solidFill>
              </a:rPr>
              <a:t>39</a:t>
            </a:r>
            <a:endParaRPr lang="en-US" sz="4400" dirty="0"/>
          </a:p>
        </p:txBody>
      </p:sp>
      <p:sp>
        <p:nvSpPr>
          <p:cNvPr id="8" name="Text 6"/>
          <p:cNvSpPr txBox="1"/>
          <p:nvPr/>
        </p:nvSpPr>
        <p:spPr>
          <a:xfrm>
            <a:off x="1920240" y="2487168"/>
            <a:ext cx="1945538" cy="731520"/>
          </a:xfrm>
          <a:prstGeom prst="rect">
            <a:avLst/>
          </a:prstGeom>
          <a:noFill/>
          <a:ln/>
        </p:spPr>
        <p:txBody>
          <a:bodyPr wrap="square" lIns="0" tIns="0" rIns="0" bIns="0" rtlCol="0" anchor="ctr"/>
          <a:lstStyle/>
          <a:p>
            <a:pPr indent="0" marL="0">
              <a:buNone/>
            </a:pPr>
            <a:r>
              <a:rPr lang="en-US" sz="1250" dirty="0">
                <a:solidFill>
                  <a:schemeClr val="tx1"/>
                </a:solidFill>
              </a:rPr>
              <a:t>Bedarf durch Folie oder Notiz von Gruppe 2 belegt – Werte und Regeln oft noch nicht</a:t>
            </a:r>
            <a:endParaRPr lang="en-US" sz="1250" dirty="0"/>
          </a:p>
        </p:txBody>
      </p:sp>
      <p:sp>
        <p:nvSpPr>
          <p:cNvPr id="9" name="Text 7"/>
          <p:cNvSpPr txBox="1"/>
          <p:nvPr/>
        </p:nvSpPr>
        <p:spPr>
          <a:xfrm>
            <a:off x="777240" y="3429000"/>
            <a:ext cx="1097280" cy="731520"/>
          </a:xfrm>
          <a:prstGeom prst="rect">
            <a:avLst/>
          </a:prstGeom>
          <a:noFill/>
          <a:ln/>
        </p:spPr>
        <p:txBody>
          <a:bodyPr wrap="square" lIns="0" tIns="0" rIns="0" bIns="0" rtlCol="0" anchor="ctr"/>
          <a:lstStyle/>
          <a:p>
            <a:pPr indent="0" marL="0">
              <a:buNone/>
            </a:pPr>
            <a:r>
              <a:rPr lang="en-US" sz="4400" b="1" dirty="0">
                <a:solidFill>
                  <a:srgbClr val="B7791F"/>
                </a:solidFill>
              </a:rPr>
              <a:t>12</a:t>
            </a:r>
            <a:endParaRPr lang="en-US" sz="4400" dirty="0"/>
          </a:p>
        </p:txBody>
      </p:sp>
      <p:sp>
        <p:nvSpPr>
          <p:cNvPr id="10" name="Text 8"/>
          <p:cNvSpPr txBox="1"/>
          <p:nvPr/>
        </p:nvSpPr>
        <p:spPr>
          <a:xfrm>
            <a:off x="1920240" y="3447288"/>
            <a:ext cx="1945538" cy="731520"/>
          </a:xfrm>
          <a:prstGeom prst="rect">
            <a:avLst/>
          </a:prstGeom>
          <a:noFill/>
          <a:ln/>
        </p:spPr>
        <p:txBody>
          <a:bodyPr wrap="square" lIns="0" tIns="0" rIns="0" bIns="0" rtlCol="0" anchor="ctr"/>
          <a:lstStyle/>
          <a:p>
            <a:pPr indent="0" marL="0">
              <a:buNone/>
            </a:pPr>
            <a:r>
              <a:rPr lang="en-US" sz="1250" dirty="0">
                <a:solidFill>
                  <a:schemeClr val="tx1"/>
                </a:solidFill>
              </a:rPr>
              <a:t>nur Gesetz, Simulation, Benchmark oder Annahme – in PVA 5 zuerst prüfen</a:t>
            </a:r>
            <a:endParaRPr lang="en-US" sz="1250" dirty="0"/>
          </a:p>
        </p:txBody>
      </p:sp>
      <p:sp>
        <p:nvSpPr>
          <p:cNvPr id="11" name="Anteil belegt"/>
          <p:cNvSpPr/>
          <p:nvPr/>
        </p:nvSpPr>
        <p:spPr>
          <a:xfrm>
            <a:off x="777240" y="4434840"/>
            <a:ext cx="2361823" cy="164592"/>
          </a:xfrm>
          <a:prstGeom prst="rect">
            <a:avLst/>
          </a:prstGeom>
          <a:solidFill>
            <a:schemeClr val="accent1"/>
          </a:solidFill>
          <a:ln/>
        </p:spPr>
      </p:sp>
      <p:sp>
        <p:nvSpPr>
          <p:cNvPr id="12" name="Anteil Annahme"/>
          <p:cNvSpPr/>
          <p:nvPr/>
        </p:nvSpPr>
        <p:spPr>
          <a:xfrm>
            <a:off x="3139063" y="4434840"/>
            <a:ext cx="726715" cy="164592"/>
          </a:xfrm>
          <a:prstGeom prst="rect">
            <a:avLst/>
          </a:prstGeom>
          <a:solidFill>
            <a:srgbClr val="B7791F"/>
          </a:solidFill>
          <a:ln/>
        </p:spPr>
      </p:sp>
      <p:sp>
        <p:nvSpPr>
          <p:cNvPr id="13" name="Text 11"/>
          <p:cNvSpPr txBox="1"/>
          <p:nvPr/>
        </p:nvSpPr>
        <p:spPr>
          <a:xfrm>
            <a:off x="777240" y="4754880"/>
            <a:ext cx="3088538" cy="868680"/>
          </a:xfrm>
          <a:prstGeom prst="rect">
            <a:avLst/>
          </a:prstGeom>
          <a:noFill/>
          <a:ln/>
        </p:spPr>
        <p:txBody>
          <a:bodyPr wrap="square" lIns="0" tIns="0" rIns="0" bIns="0" rtlCol="0" anchor="t"/>
          <a:lstStyle/>
          <a:p>
            <a:pPr indent="0" marL="0">
              <a:buNone/>
            </a:pPr>
            <a:r>
              <a:rPr lang="en-US" sz="1200" dirty="0">
                <a:solidFill>
                  <a:schemeClr val="tx2"/>
                </a:solidFill>
              </a:rPr>
              <a:t>22 Anforderungen stützen sich (auch) auf die Simulation – sie gilt wie eine Annahme, bis Gruppe 2 bestätigt.</a:t>
            </a:r>
            <a:endParaRPr lang="en-US" sz="1200" dirty="0"/>
          </a:p>
        </p:txBody>
      </p:sp>
      <p:sp>
        <p:nvSpPr>
          <p:cNvPr id="14" name="Befunde"/>
          <p:cNvSpPr/>
          <p:nvPr/>
        </p:nvSpPr>
        <p:spPr>
          <a:xfrm>
            <a:off x="4322978" y="1920240"/>
            <a:ext cx="3545738" cy="3886200"/>
          </a:xfrm>
          <a:prstGeom prst="roundRect">
            <a:avLst>
              <a:gd name="adj" fmla="val 3095"/>
            </a:avLst>
          </a:prstGeom>
          <a:solidFill>
            <a:schemeClr val="bg2"/>
          </a:solidFill>
          <a:ln/>
        </p:spPr>
      </p:sp>
      <p:sp>
        <p:nvSpPr>
          <p:cNvPr id="15" name="Text 13"/>
          <p:cNvSpPr txBox="1"/>
          <p:nvPr/>
        </p:nvSpPr>
        <p:spPr>
          <a:xfrm>
            <a:off x="4551578" y="2103120"/>
            <a:ext cx="3088538"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INTERNE PRÜFUNG · 16 BEFUNDE</a:t>
            </a:r>
            <a:endParaRPr lang="en-US" sz="1100" dirty="0"/>
          </a:p>
        </p:txBody>
      </p:sp>
      <p:sp>
        <p:nvSpPr>
          <p:cNvPr id="16" name="Text 14"/>
          <p:cNvSpPr txBox="1"/>
          <p:nvPr/>
        </p:nvSpPr>
        <p:spPr>
          <a:xfrm>
            <a:off x="4551578" y="2487168"/>
            <a:ext cx="3088538" cy="274320"/>
          </a:xfrm>
          <a:prstGeom prst="rect">
            <a:avLst/>
          </a:prstGeom>
          <a:noFill/>
          <a:ln/>
        </p:spPr>
        <p:txBody>
          <a:bodyPr wrap="square" lIns="0" tIns="0" rIns="0" bIns="0" rtlCol="0" anchor="t"/>
          <a:lstStyle/>
          <a:p>
            <a:pPr indent="0" marL="0">
              <a:buNone/>
            </a:pPr>
            <a:r>
              <a:rPr lang="en-US" sz="1250" b="1" dirty="0">
                <a:solidFill>
                  <a:schemeClr val="tx1"/>
                </a:solidFill>
              </a:rPr>
              <a:t>PB-03  </a:t>
            </a:r>
            <a:pPr indent="0" marL="0">
              <a:buNone/>
            </a:pPr>
            <a:r>
              <a:rPr lang="en-US" sz="1250" dirty="0">
                <a:solidFill>
                  <a:schemeClr val="accent2"/>
                </a:solidFill>
              </a:rPr>
              <a:t>inkonsistent</a:t>
            </a:r>
            <a:endParaRPr lang="en-US" sz="1250" dirty="0"/>
          </a:p>
        </p:txBody>
      </p:sp>
      <p:sp>
        <p:nvSpPr>
          <p:cNvPr id="17" name="Text 15"/>
          <p:cNvSpPr txBox="1"/>
          <p:nvPr/>
        </p:nvSpPr>
        <p:spPr>
          <a:xfrm>
            <a:off x="4551578" y="2761488"/>
            <a:ext cx="3088538" cy="749808"/>
          </a:xfrm>
          <a:prstGeom prst="rect">
            <a:avLst/>
          </a:prstGeom>
          <a:noFill/>
          <a:ln/>
        </p:spPr>
        <p:txBody>
          <a:bodyPr wrap="square" lIns="0" tIns="0" rIns="0" bIns="0" rtlCol="0" anchor="t"/>
          <a:lstStyle/>
          <a:p>
            <a:pPr indent="0" marL="0">
              <a:buNone/>
            </a:pPr>
            <a:r>
              <a:rPr lang="en-US" sz="1200" dirty="0">
                <a:solidFill>
                  <a:schemeClr val="tx2"/>
                </a:solidFill>
              </a:rPr>
              <a:t>Nach dem Einfügen von FA-12 zeigten Verweise auf falsche Nummern – jetzt prüft ein Skript alle Verweise.</a:t>
            </a:r>
            <a:endParaRPr lang="en-US" sz="1200" dirty="0"/>
          </a:p>
        </p:txBody>
      </p:sp>
      <p:sp>
        <p:nvSpPr>
          <p:cNvPr id="18" name="Text 16"/>
          <p:cNvSpPr txBox="1"/>
          <p:nvPr/>
        </p:nvSpPr>
        <p:spPr>
          <a:xfrm>
            <a:off x="4551578" y="3566160"/>
            <a:ext cx="3088538" cy="274320"/>
          </a:xfrm>
          <a:prstGeom prst="rect">
            <a:avLst/>
          </a:prstGeom>
          <a:noFill/>
          <a:ln/>
        </p:spPr>
        <p:txBody>
          <a:bodyPr wrap="square" lIns="0" tIns="0" rIns="0" bIns="0" rtlCol="0" anchor="t"/>
          <a:lstStyle/>
          <a:p>
            <a:pPr indent="0" marL="0">
              <a:buNone/>
            </a:pPr>
            <a:r>
              <a:rPr lang="en-US" sz="1250" b="1" dirty="0">
                <a:solidFill>
                  <a:schemeClr val="tx1"/>
                </a:solidFill>
              </a:rPr>
              <a:t>PB-05  </a:t>
            </a:r>
            <a:pPr indent="0" marL="0">
              <a:buNone/>
            </a:pPr>
            <a:r>
              <a:rPr lang="en-US" sz="1250" dirty="0">
                <a:solidFill>
                  <a:schemeClr val="accent2"/>
                </a:solidFill>
              </a:rPr>
              <a:t>Prioritäten widersprüchlich</a:t>
            </a:r>
            <a:endParaRPr lang="en-US" sz="1250" dirty="0"/>
          </a:p>
        </p:txBody>
      </p:sp>
      <p:sp>
        <p:nvSpPr>
          <p:cNvPr id="19" name="Text 17"/>
          <p:cNvSpPr txBox="1"/>
          <p:nvPr/>
        </p:nvSpPr>
        <p:spPr>
          <a:xfrm>
            <a:off x="4551578" y="3840480"/>
            <a:ext cx="3088538" cy="749808"/>
          </a:xfrm>
          <a:prstGeom prst="rect">
            <a:avLst/>
          </a:prstGeom>
          <a:noFill/>
          <a:ln/>
        </p:spPr>
        <p:txBody>
          <a:bodyPr wrap="square" lIns="0" tIns="0" rIns="0" bIns="0" rtlCol="0" anchor="t"/>
          <a:lstStyle/>
          <a:p>
            <a:pPr indent="0" marL="0">
              <a:buNone/>
            </a:pPr>
            <a:r>
              <a:rPr lang="en-US" sz="1200" dirty="0">
                <a:solidFill>
                  <a:schemeClr val="tx2"/>
                </a:solidFill>
              </a:rPr>
              <a:t>Bedienbarkeit (QA-01) war Must, die Online-Reservation selbst nur Should – angeglichen.</a:t>
            </a:r>
            <a:endParaRPr lang="en-US" sz="1200" dirty="0"/>
          </a:p>
        </p:txBody>
      </p:sp>
      <p:sp>
        <p:nvSpPr>
          <p:cNvPr id="20" name="Text 18"/>
          <p:cNvSpPr txBox="1"/>
          <p:nvPr/>
        </p:nvSpPr>
        <p:spPr>
          <a:xfrm>
            <a:off x="4551578" y="4645152"/>
            <a:ext cx="3088538" cy="274320"/>
          </a:xfrm>
          <a:prstGeom prst="rect">
            <a:avLst/>
          </a:prstGeom>
          <a:noFill/>
          <a:ln/>
        </p:spPr>
        <p:txBody>
          <a:bodyPr wrap="square" lIns="0" tIns="0" rIns="0" bIns="0" rtlCol="0" anchor="t"/>
          <a:lstStyle/>
          <a:p>
            <a:pPr indent="0" marL="0">
              <a:buNone/>
            </a:pPr>
            <a:r>
              <a:rPr lang="en-US" sz="1250" b="1" dirty="0">
                <a:solidFill>
                  <a:schemeClr val="tx1"/>
                </a:solidFill>
              </a:rPr>
              <a:t>PB-08  </a:t>
            </a:r>
            <a:pPr indent="0" marL="0">
              <a:buNone/>
            </a:pPr>
            <a:r>
              <a:rPr lang="en-US" sz="1250" dirty="0">
                <a:solidFill>
                  <a:schemeClr val="accent2"/>
                </a:solidFill>
              </a:rPr>
              <a:t>Widerspruch Stakeholder</a:t>
            </a:r>
            <a:endParaRPr lang="en-US" sz="1250" dirty="0"/>
          </a:p>
        </p:txBody>
      </p:sp>
      <p:sp>
        <p:nvSpPr>
          <p:cNvPr id="21" name="Text 19"/>
          <p:cNvSpPr txBox="1"/>
          <p:nvPr/>
        </p:nvSpPr>
        <p:spPr>
          <a:xfrm>
            <a:off x="4551578" y="4919472"/>
            <a:ext cx="3088538" cy="749808"/>
          </a:xfrm>
          <a:prstGeom prst="rect">
            <a:avLst/>
          </a:prstGeom>
          <a:noFill/>
          <a:ln/>
        </p:spPr>
        <p:txBody>
          <a:bodyPr wrap="square" lIns="0" tIns="0" rIns="0" bIns="0" rtlCol="0" anchor="t"/>
          <a:lstStyle/>
          <a:p>
            <a:pPr indent="0" marL="0">
              <a:buNone/>
            </a:pPr>
            <a:r>
              <a:rPr lang="en-US" sz="1200" dirty="0">
                <a:solidFill>
                  <a:schemeClr val="tx2"/>
                </a:solidFill>
              </a:rPr>
              <a:t>In der Simulation nennen Empfang und GL verschiedene Zahlen zu Doppelbuchungen – kein Wert übernommen (OP-01).</a:t>
            </a:r>
            <a:endParaRPr lang="en-US" sz="1200" dirty="0"/>
          </a:p>
        </p:txBody>
      </p:sp>
      <p:sp>
        <p:nvSpPr>
          <p:cNvPr id="22" name="Verwalten"/>
          <p:cNvSpPr/>
          <p:nvPr/>
        </p:nvSpPr>
        <p:spPr>
          <a:xfrm>
            <a:off x="8097317" y="1920240"/>
            <a:ext cx="3545738" cy="3886200"/>
          </a:xfrm>
          <a:prstGeom prst="roundRect">
            <a:avLst>
              <a:gd name="adj" fmla="val 3095"/>
            </a:avLst>
          </a:prstGeom>
          <a:solidFill>
            <a:schemeClr val="bg2"/>
          </a:solidFill>
          <a:ln/>
        </p:spPr>
      </p:sp>
      <p:sp>
        <p:nvSpPr>
          <p:cNvPr id="23" name="Text 21"/>
          <p:cNvSpPr txBox="1"/>
          <p:nvPr/>
        </p:nvSpPr>
        <p:spPr>
          <a:xfrm>
            <a:off x="8325917" y="2103120"/>
            <a:ext cx="3088538"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VERWALTEN</a:t>
            </a:r>
            <a:endParaRPr lang="en-US" sz="1100" dirty="0"/>
          </a:p>
        </p:txBody>
      </p:sp>
      <p:sp>
        <p:nvSpPr>
          <p:cNvPr id="24" name="Versionslinie"/>
          <p:cNvSpPr/>
          <p:nvPr/>
        </p:nvSpPr>
        <p:spPr>
          <a:xfrm>
            <a:off x="8527085" y="2697480"/>
            <a:ext cx="0" cy="1737360"/>
          </a:xfrm>
          <a:prstGeom prst="line">
            <a:avLst/>
          </a:prstGeom>
          <a:noFill/>
          <a:ln w="25400">
            <a:solidFill>
              <a:schemeClr val="accent6"/>
            </a:solidFill>
            <a:prstDash val="solid"/>
          </a:ln>
        </p:spPr>
      </p:sp>
      <p:sp>
        <p:nvSpPr>
          <p:cNvPr id="25" name="Version v0.6"/>
          <p:cNvSpPr/>
          <p:nvPr/>
        </p:nvSpPr>
        <p:spPr>
          <a:xfrm>
            <a:off x="8371637" y="2560320"/>
            <a:ext cx="310896" cy="310896"/>
          </a:xfrm>
          <a:prstGeom prst="ellipse">
            <a:avLst/>
          </a:prstGeom>
          <a:solidFill>
            <a:schemeClr val="accent1"/>
          </a:solidFill>
          <a:ln w="25400">
            <a:solidFill>
              <a:schemeClr val="accent1"/>
            </a:solidFill>
            <a:prstDash val="solid"/>
          </a:ln>
        </p:spPr>
      </p:sp>
      <p:sp>
        <p:nvSpPr>
          <p:cNvPr id="26" name="Text 24"/>
          <p:cNvSpPr txBox="1"/>
          <p:nvPr/>
        </p:nvSpPr>
        <p:spPr>
          <a:xfrm>
            <a:off x="8874557" y="2514600"/>
            <a:ext cx="2585618" cy="274320"/>
          </a:xfrm>
          <a:prstGeom prst="rect">
            <a:avLst/>
          </a:prstGeom>
          <a:noFill/>
          <a:ln/>
        </p:spPr>
        <p:txBody>
          <a:bodyPr wrap="square" lIns="0" tIns="0" rIns="0" bIns="0" rtlCol="0" anchor="t"/>
          <a:lstStyle/>
          <a:p>
            <a:pPr indent="0" marL="0">
              <a:buNone/>
            </a:pPr>
            <a:r>
              <a:rPr lang="en-US" sz="1300" b="1" dirty="0">
                <a:solidFill>
                  <a:schemeClr val="tx1"/>
                </a:solidFill>
              </a:rPr>
              <a:t>v0.6  </a:t>
            </a:r>
            <a:pPr indent="0" marL="0">
              <a:buNone/>
            </a:pPr>
            <a:r>
              <a:rPr lang="en-US" sz="1300" dirty="0">
                <a:solidFill>
                  <a:schemeClr val="tx2"/>
                </a:solidFill>
              </a:rPr>
              <a:t>25.10.2026</a:t>
            </a:r>
            <a:endParaRPr lang="en-US" sz="1300" dirty="0"/>
          </a:p>
        </p:txBody>
      </p:sp>
      <p:sp>
        <p:nvSpPr>
          <p:cNvPr id="27" name="Text 25"/>
          <p:cNvSpPr txBox="1"/>
          <p:nvPr/>
        </p:nvSpPr>
        <p:spPr>
          <a:xfrm>
            <a:off x="8874557" y="2807208"/>
            <a:ext cx="2585618" cy="457200"/>
          </a:xfrm>
          <a:prstGeom prst="rect">
            <a:avLst/>
          </a:prstGeom>
          <a:noFill/>
          <a:ln/>
        </p:spPr>
        <p:txBody>
          <a:bodyPr wrap="square" lIns="0" tIns="0" rIns="0" bIns="0" rtlCol="0" anchor="t"/>
          <a:lstStyle/>
          <a:p>
            <a:pPr indent="0" marL="0">
              <a:buNone/>
            </a:pPr>
            <a:r>
              <a:rPr lang="en-US" sz="1200" dirty="0">
                <a:solidFill>
                  <a:schemeClr val="tx2"/>
                </a:solidFill>
              </a:rPr>
              <a:t>vollständig, intern und im KI-Versuch geprüft</a:t>
            </a:r>
            <a:endParaRPr lang="en-US" sz="1200" dirty="0"/>
          </a:p>
        </p:txBody>
      </p:sp>
      <p:sp>
        <p:nvSpPr>
          <p:cNvPr id="28" name="Version v0.7"/>
          <p:cNvSpPr/>
          <p:nvPr/>
        </p:nvSpPr>
        <p:spPr>
          <a:xfrm>
            <a:off x="8371637" y="3429000"/>
            <a:ext cx="310896" cy="310896"/>
          </a:xfrm>
          <a:prstGeom prst="ellipse">
            <a:avLst/>
          </a:prstGeom>
          <a:solidFill>
            <a:schemeClr val="bg1"/>
          </a:solidFill>
          <a:ln w="25400">
            <a:solidFill>
              <a:schemeClr val="accent1"/>
            </a:solidFill>
            <a:prstDash val="solid"/>
          </a:ln>
        </p:spPr>
      </p:sp>
      <p:sp>
        <p:nvSpPr>
          <p:cNvPr id="29" name="Text 27"/>
          <p:cNvSpPr txBox="1"/>
          <p:nvPr/>
        </p:nvSpPr>
        <p:spPr>
          <a:xfrm>
            <a:off x="8874557" y="3383280"/>
            <a:ext cx="2585618" cy="274320"/>
          </a:xfrm>
          <a:prstGeom prst="rect">
            <a:avLst/>
          </a:prstGeom>
          <a:noFill/>
          <a:ln/>
        </p:spPr>
        <p:txBody>
          <a:bodyPr wrap="square" lIns="0" tIns="0" rIns="0" bIns="0" rtlCol="0" anchor="t"/>
          <a:lstStyle/>
          <a:p>
            <a:pPr indent="0" marL="0">
              <a:buNone/>
            </a:pPr>
            <a:r>
              <a:rPr lang="en-US" sz="1300" b="1" dirty="0">
                <a:solidFill>
                  <a:schemeClr val="tx1"/>
                </a:solidFill>
              </a:rPr>
              <a:t>v0.7  </a:t>
            </a:r>
            <a:pPr indent="0" marL="0">
              <a:buNone/>
            </a:pPr>
            <a:r>
              <a:rPr lang="en-US" sz="1300" dirty="0">
                <a:solidFill>
                  <a:schemeClr val="tx2"/>
                </a:solidFill>
              </a:rPr>
              <a:t>nach PVA 5</a:t>
            </a:r>
            <a:endParaRPr lang="en-US" sz="1300" dirty="0"/>
          </a:p>
        </p:txBody>
      </p:sp>
      <p:sp>
        <p:nvSpPr>
          <p:cNvPr id="30" name="Text 28"/>
          <p:cNvSpPr txBox="1"/>
          <p:nvPr/>
        </p:nvSpPr>
        <p:spPr>
          <a:xfrm>
            <a:off x="8874557" y="3675888"/>
            <a:ext cx="2585618" cy="457200"/>
          </a:xfrm>
          <a:prstGeom prst="rect">
            <a:avLst/>
          </a:prstGeom>
          <a:noFill/>
          <a:ln/>
        </p:spPr>
        <p:txBody>
          <a:bodyPr wrap="square" lIns="0" tIns="0" rIns="0" bIns="0" rtlCol="0" anchor="t"/>
          <a:lstStyle/>
          <a:p>
            <a:pPr indent="0" marL="0">
              <a:buNone/>
            </a:pPr>
            <a:r>
              <a:rPr lang="en-US" sz="1200" dirty="0">
                <a:solidFill>
                  <a:schemeClr val="tx2"/>
                </a:solidFill>
              </a:rPr>
              <a:t>Annahmen bestätigt, geändert oder gestrichen</a:t>
            </a:r>
            <a:endParaRPr lang="en-US" sz="1200" dirty="0"/>
          </a:p>
        </p:txBody>
      </p:sp>
      <p:sp>
        <p:nvSpPr>
          <p:cNvPr id="31" name="Version v1.0"/>
          <p:cNvSpPr/>
          <p:nvPr/>
        </p:nvSpPr>
        <p:spPr>
          <a:xfrm>
            <a:off x="8371637" y="4297680"/>
            <a:ext cx="310896" cy="310896"/>
          </a:xfrm>
          <a:prstGeom prst="ellipse">
            <a:avLst/>
          </a:prstGeom>
          <a:solidFill>
            <a:schemeClr val="bg1"/>
          </a:solidFill>
          <a:ln w="25400">
            <a:solidFill>
              <a:schemeClr val="accent1"/>
            </a:solidFill>
            <a:prstDash val="solid"/>
          </a:ln>
        </p:spPr>
      </p:sp>
      <p:sp>
        <p:nvSpPr>
          <p:cNvPr id="32" name="Text 30"/>
          <p:cNvSpPr txBox="1"/>
          <p:nvPr/>
        </p:nvSpPr>
        <p:spPr>
          <a:xfrm>
            <a:off x="8874557" y="4251960"/>
            <a:ext cx="2585618" cy="274320"/>
          </a:xfrm>
          <a:prstGeom prst="rect">
            <a:avLst/>
          </a:prstGeom>
          <a:noFill/>
          <a:ln/>
        </p:spPr>
        <p:txBody>
          <a:bodyPr wrap="square" lIns="0" tIns="0" rIns="0" bIns="0" rtlCol="0" anchor="t"/>
          <a:lstStyle/>
          <a:p>
            <a:pPr indent="0" marL="0">
              <a:buNone/>
            </a:pPr>
            <a:r>
              <a:rPr lang="en-US" sz="1300" b="1" dirty="0">
                <a:solidFill>
                  <a:schemeClr val="tx1"/>
                </a:solidFill>
              </a:rPr>
              <a:t>v1.0  </a:t>
            </a:r>
            <a:pPr indent="0" marL="0">
              <a:buNone/>
            </a:pPr>
            <a:r>
              <a:rPr lang="en-US" sz="1300" dirty="0">
                <a:solidFill>
                  <a:schemeClr val="tx2"/>
                </a:solidFill>
              </a:rPr>
              <a:t>Freigabe</a:t>
            </a:r>
            <a:endParaRPr lang="en-US" sz="1300" dirty="0"/>
          </a:p>
        </p:txBody>
      </p:sp>
      <p:sp>
        <p:nvSpPr>
          <p:cNvPr id="33" name="Text 31"/>
          <p:cNvSpPr txBox="1"/>
          <p:nvPr/>
        </p:nvSpPr>
        <p:spPr>
          <a:xfrm>
            <a:off x="8874557" y="4544568"/>
            <a:ext cx="2585618" cy="457200"/>
          </a:xfrm>
          <a:prstGeom prst="rect">
            <a:avLst/>
          </a:prstGeom>
          <a:noFill/>
          <a:ln/>
        </p:spPr>
        <p:txBody>
          <a:bodyPr wrap="square" lIns="0" tIns="0" rIns="0" bIns="0" rtlCol="0" anchor="t"/>
          <a:lstStyle/>
          <a:p>
            <a:pPr indent="0" marL="0">
              <a:buNone/>
            </a:pPr>
            <a:r>
              <a:rPr lang="en-US" sz="1200" dirty="0">
                <a:solidFill>
                  <a:schemeClr val="tx2"/>
                </a:solidFill>
              </a:rPr>
              <a:t>durch die Geschäftsleitung von ArenaOne</a:t>
            </a:r>
            <a:endParaRPr lang="en-US" sz="1200" dirty="0"/>
          </a:p>
        </p:txBody>
      </p:sp>
      <p:sp>
        <p:nvSpPr>
          <p:cNvPr id="34" name="Text 32"/>
          <p:cNvSpPr txBox="1"/>
          <p:nvPr/>
        </p:nvSpPr>
        <p:spPr>
          <a:xfrm>
            <a:off x="8325917" y="5029200"/>
            <a:ext cx="3088538" cy="685800"/>
          </a:xfrm>
          <a:prstGeom prst="rect">
            <a:avLst/>
          </a:prstGeom>
          <a:noFill/>
          <a:ln/>
        </p:spPr>
        <p:txBody>
          <a:bodyPr wrap="square" lIns="0" tIns="0" rIns="0" bIns="0" rtlCol="0" anchor="t"/>
          <a:lstStyle/>
          <a:p>
            <a:pPr indent="0" marL="0">
              <a:buNone/>
            </a:pPr>
            <a:r>
              <a:rPr lang="en-US" sz="1200" b="1" dirty="0">
                <a:solidFill>
                  <a:schemeClr val="tx1"/>
                </a:solidFill>
              </a:rPr>
              <a:t>Nachverfolgbarkeit </a:t>
            </a:r>
            <a:pPr indent="0" marL="0">
              <a:buNone/>
            </a:pPr>
            <a:r>
              <a:rPr lang="en-US" sz="1200" dirty="0">
                <a:solidFill>
                  <a:schemeClr val="tx2"/>
                </a:solidFill>
              </a:rPr>
              <a:t>Ziel → Anforderung → Use Case → Quelle, vom Prüfskript aus der Spezifikation erzeugt.</a:t>
            </a:r>
            <a:endParaRPr lang="en-US" sz="1200" dirty="0"/>
          </a:p>
        </p:txBody>
      </p:sp>
      <p:sp>
        <p:nvSpPr>
          <p:cNvPr id="35" name="Text 33"/>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Offen  </a:t>
            </a:r>
            <a:pPr indent="0" marL="0">
              <a:buNone/>
            </a:pPr>
            <a:r>
              <a:rPr lang="en-US" sz="1100" dirty="0">
                <a:solidFill>
                  <a:schemeClr val="tx2"/>
                </a:solidFill>
              </a:rPr>
              <a:t>22 offene Punkte (OP-01 bis OP-22) gehen ins Interview PVA 5, sortiert nach ihrer Wirkung auf den Umfang.</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KI-EXPERIMENT (OPTIONALE AUFGABE)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Reicht unsere Spezifikation, damit ein KI-Agent die App baut?</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Ein KI-Agent bekam nur die Spezifikation und sollte daraus eine lauffähige Anwendung bauen – ohne Rückfragen.</a:t>
            </a:r>
            <a:endParaRPr lang="en-US" sz="1600" dirty="0"/>
          </a:p>
        </p:txBody>
      </p:sp>
      <p:sp>
        <p:nvSpPr>
          <p:cNvPr id="5" name="Versuch"/>
          <p:cNvSpPr/>
          <p:nvPr/>
        </p:nvSpPr>
        <p:spPr>
          <a:xfrm>
            <a:off x="548640" y="1920240"/>
            <a:ext cx="3545738" cy="3246120"/>
          </a:xfrm>
          <a:prstGeom prst="roundRect">
            <a:avLst>
              <a:gd name="adj" fmla="val 3380"/>
            </a:avLst>
          </a:prstGeom>
          <a:solidFill>
            <a:schemeClr val="bg2"/>
          </a:solidFill>
          <a:ln/>
        </p:spPr>
      </p:sp>
      <p:sp>
        <p:nvSpPr>
          <p:cNvPr id="6" name="Text 4"/>
          <p:cNvSpPr txBox="1"/>
          <p:nvPr/>
        </p:nvSpPr>
        <p:spPr>
          <a:xfrm>
            <a:off x="777240" y="2103120"/>
            <a:ext cx="3088538"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VERSUCH</a:t>
            </a:r>
            <a:endParaRPr lang="en-US" sz="1100" dirty="0"/>
          </a:p>
        </p:txBody>
      </p:sp>
      <p:sp>
        <p:nvSpPr>
          <p:cNvPr id="7" name="Text 5"/>
          <p:cNvSpPr txBox="1"/>
          <p:nvPr/>
        </p:nvSpPr>
        <p:spPr>
          <a:xfrm>
            <a:off x="777240" y="2468880"/>
            <a:ext cx="3088538" cy="2514600"/>
          </a:xfrm>
          <a:prstGeom prst="rect">
            <a:avLst/>
          </a:prstGeom>
          <a:noFill/>
          <a:ln/>
        </p:spPr>
        <p:txBody>
          <a:bodyPr wrap="square" lIns="0" tIns="0" rIns="0" bIns="0" rtlCol="0" anchor="t"/>
          <a:lstStyle/>
          <a:p>
            <a:pPr indent="0" marL="0">
              <a:buNone/>
            </a:pPr>
            <a:r>
              <a:rPr lang="en-US" sz="1300" b="1" dirty="0">
                <a:solidFill>
                  <a:schemeClr val="tx1"/>
                </a:solidFill>
              </a:rPr>
              <a:t>Werkzeug  </a:t>
            </a:r>
            <a:pPr indent="0" marL="0">
              <a:buNone/>
            </a:pPr>
            <a:r>
              <a:rPr lang="en-US" sz="1300" dirty="0">
                <a:solidFill>
                  <a:schemeClr val="tx2"/>
                </a:solidFill>
              </a:rPr>
              <a:t>Claude Code, Subagent mit Claude Opus 5.5, 25.10.2026, 28 min</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Eingabe  </a:t>
            </a:r>
            <a:pPr indent="0" marL="0">
              <a:buNone/>
            </a:pPr>
            <a:r>
              <a:rPr lang="en-US" sz="1300" dirty="0">
                <a:solidFill>
                  <a:schemeClr val="tx2"/>
                </a:solidFill>
              </a:rPr>
              <a:t>nur die Spezifikation v0.5 (Markdown), kein Gespräch mit Gruppe 2</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Frage  </a:t>
            </a:r>
            <a:pPr indent="0" marL="0">
              <a:buNone/>
            </a:pPr>
            <a:r>
              <a:rPr lang="en-US" sz="1300" dirty="0">
                <a:solidFill>
                  <a:schemeClr val="tx2"/>
                </a:solidFill>
              </a:rPr>
              <a:t>Wo muss der Agent raten? Jede geratene Stelle ist eine Lücke in der Spezifikation.</a:t>
            </a:r>
            <a:endParaRPr lang="en-US" sz="1300" dirty="0"/>
          </a:p>
        </p:txBody>
      </p:sp>
      <p:sp>
        <p:nvSpPr>
          <p:cNvPr id="8" name="Umgesetzt"/>
          <p:cNvSpPr/>
          <p:nvPr/>
        </p:nvSpPr>
        <p:spPr>
          <a:xfrm>
            <a:off x="4322978" y="1920240"/>
            <a:ext cx="3545738" cy="3246120"/>
          </a:xfrm>
          <a:prstGeom prst="roundRect">
            <a:avLst>
              <a:gd name="adj" fmla="val 3380"/>
            </a:avLst>
          </a:prstGeom>
          <a:solidFill>
            <a:schemeClr val="accent4"/>
          </a:solidFill>
          <a:ln/>
        </p:spPr>
      </p:sp>
      <p:sp>
        <p:nvSpPr>
          <p:cNvPr id="9" name="Text 7"/>
          <p:cNvSpPr txBox="1"/>
          <p:nvPr/>
        </p:nvSpPr>
        <p:spPr>
          <a:xfrm>
            <a:off x="4551578" y="2103120"/>
            <a:ext cx="3088538"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OHNE RÜCKFRAGE UMGESETZT</a:t>
            </a:r>
            <a:endParaRPr lang="en-US" sz="1100" dirty="0"/>
          </a:p>
        </p:txBody>
      </p:sp>
      <p:sp>
        <p:nvSpPr>
          <p:cNvPr id="10" name="Text 8"/>
          <p:cNvSpPr txBox="1"/>
          <p:nvPr/>
        </p:nvSpPr>
        <p:spPr>
          <a:xfrm>
            <a:off x="4551578" y="2514600"/>
            <a:ext cx="3088538" cy="914400"/>
          </a:xfrm>
          <a:prstGeom prst="rect">
            <a:avLst/>
          </a:prstGeom>
          <a:noFill/>
          <a:ln/>
        </p:spPr>
        <p:txBody>
          <a:bodyPr wrap="square" lIns="0" tIns="0" rIns="0" bIns="0" rtlCol="0" anchor="ctr"/>
          <a:lstStyle/>
          <a:p>
            <a:pPr indent="0" marL="0">
              <a:buNone/>
            </a:pPr>
            <a:r>
              <a:rPr lang="en-US" sz="4800" b="1" dirty="0">
                <a:solidFill>
                  <a:schemeClr val="accent1"/>
                </a:solidFill>
              </a:rPr>
              <a:t>30</a:t>
            </a:r>
            <a:pPr indent="0" marL="0">
              <a:buNone/>
            </a:pPr>
            <a:r>
              <a:rPr lang="en-US" sz="2400" dirty="0">
                <a:solidFill>
                  <a:schemeClr val="tx2"/>
                </a:solidFill>
              </a:rPr>
              <a:t> / 51</a:t>
            </a:r>
            <a:endParaRPr lang="en-US" sz="1400" dirty="0"/>
          </a:p>
        </p:txBody>
      </p:sp>
      <p:sp>
        <p:nvSpPr>
          <p:cNvPr id="11" name="Text 9"/>
          <p:cNvSpPr txBox="1"/>
          <p:nvPr/>
        </p:nvSpPr>
        <p:spPr>
          <a:xfrm>
            <a:off x="4551578" y="3520440"/>
            <a:ext cx="3088538" cy="548640"/>
          </a:xfrm>
          <a:prstGeom prst="rect">
            <a:avLst/>
          </a:prstGeom>
          <a:noFill/>
          <a:ln/>
        </p:spPr>
        <p:txBody>
          <a:bodyPr wrap="square" lIns="0" tIns="0" rIns="0" bIns="0" rtlCol="0" anchor="t"/>
          <a:lstStyle/>
          <a:p>
            <a:pPr indent="0" marL="0">
              <a:buNone/>
            </a:pPr>
            <a:r>
              <a:rPr lang="en-US" sz="1300" dirty="0">
                <a:solidFill>
                  <a:schemeClr val="tx2"/>
                </a:solidFill>
              </a:rPr>
              <a:t>Anforderungen, deren Akzeptanzkriterium die App erfüllt</a:t>
            </a:r>
            <a:endParaRPr lang="en-US" sz="1300" dirty="0"/>
          </a:p>
        </p:txBody>
      </p:sp>
      <p:sp>
        <p:nvSpPr>
          <p:cNvPr id="12" name="Geraten"/>
          <p:cNvSpPr/>
          <p:nvPr/>
        </p:nvSpPr>
        <p:spPr>
          <a:xfrm>
            <a:off x="8097317" y="1920240"/>
            <a:ext cx="3545738" cy="3246120"/>
          </a:xfrm>
          <a:prstGeom prst="roundRect">
            <a:avLst>
              <a:gd name="adj" fmla="val 3380"/>
            </a:avLst>
          </a:prstGeom>
          <a:solidFill>
            <a:schemeClr val="accent5"/>
          </a:solidFill>
          <a:ln/>
        </p:spPr>
      </p:sp>
      <p:sp>
        <p:nvSpPr>
          <p:cNvPr id="13" name="Text 11"/>
          <p:cNvSpPr txBox="1"/>
          <p:nvPr/>
        </p:nvSpPr>
        <p:spPr>
          <a:xfrm>
            <a:off x="8325917" y="2103120"/>
            <a:ext cx="3088538"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HIER MUSSTE DER AGENT RATEN</a:t>
            </a:r>
            <a:endParaRPr lang="en-US" sz="1100" dirty="0"/>
          </a:p>
        </p:txBody>
      </p:sp>
      <p:sp>
        <p:nvSpPr>
          <p:cNvPr id="14" name="Text 12"/>
          <p:cNvSpPr txBox="1"/>
          <p:nvPr/>
        </p:nvSpPr>
        <p:spPr>
          <a:xfrm>
            <a:off x="8325917" y="2468880"/>
            <a:ext cx="3088538"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25 Regeln selbst festgelegt, z. B. ob der Empfang Buchungsregeln übersteuern darf</a:t>
            </a:r>
            <a:endParaRPr lang="en-US" sz="1300" dirty="0"/>
          </a:p>
          <a:p>
            <a:pPr marL="342900" indent="-342900">
              <a:spcAft>
                <a:spcPts val="600"/>
              </a:spcAft>
              <a:buSzPct val="100000"/>
              <a:buChar char="•"/>
            </a:pPr>
            <a:r>
              <a:rPr lang="en-US" sz="1300" dirty="0">
                <a:solidFill>
                  <a:schemeClr val="tx1"/>
                </a:solidFill>
              </a:rPr>
              <a:t>6 Widersprüche gefunden, z. B. unser Kontingent-Beispiel (60 %) gegen PA-10 (50 %)</a:t>
            </a:r>
            <a:endParaRPr lang="en-US" sz="1300" dirty="0"/>
          </a:p>
          <a:p>
            <a:pPr marL="342900" indent="-342900">
              <a:spcAft>
                <a:spcPts val="600"/>
              </a:spcAft>
              <a:buSzPct val="100000"/>
              <a:buChar char="•"/>
            </a:pPr>
            <a:r>
              <a:rPr lang="en-US" sz="1300" dirty="0">
                <a:solidFill>
                  <a:schemeClr val="tx1"/>
                </a:solidFill>
              </a:rPr>
              <a:t>8 seiner 15 Fragen standen schon auf unserer Liste</a:t>
            </a:r>
            <a:endParaRPr lang="en-US" sz="1300" dirty="0"/>
          </a:p>
        </p:txBody>
      </p:sp>
      <p:sp>
        <p:nvSpPr>
          <p:cNvPr id="15" name="Folgerung"/>
          <p:cNvSpPr/>
          <p:nvPr/>
        </p:nvSpPr>
        <p:spPr>
          <a:xfrm>
            <a:off x="548640" y="5321808"/>
            <a:ext cx="11094415" cy="530352"/>
          </a:xfrm>
          <a:prstGeom prst="roundRect">
            <a:avLst>
              <a:gd name="adj" fmla="val 20690"/>
            </a:avLst>
          </a:prstGeom>
          <a:solidFill>
            <a:schemeClr val="bg2"/>
          </a:solidFill>
          <a:ln/>
        </p:spPr>
      </p:sp>
      <p:sp>
        <p:nvSpPr>
          <p:cNvPr id="16" name="Text 14"/>
          <p:cNvSpPr txBox="1"/>
          <p:nvPr/>
        </p:nvSpPr>
        <p:spPr>
          <a:xfrm>
            <a:off x="777240" y="5321808"/>
            <a:ext cx="10637215" cy="530352"/>
          </a:xfrm>
          <a:prstGeom prst="rect">
            <a:avLst/>
          </a:prstGeom>
          <a:noFill/>
          <a:ln/>
        </p:spPr>
        <p:txBody>
          <a:bodyPr wrap="square" lIns="0" tIns="0" rIns="0" bIns="0" rtlCol="0" anchor="ctr"/>
          <a:lstStyle/>
          <a:p>
            <a:pPr indent="0" marL="0">
              <a:buNone/>
            </a:pPr>
            <a:r>
              <a:rPr lang="en-US" sz="1300" b="1" dirty="0">
                <a:solidFill>
                  <a:schemeClr val="accent1"/>
                </a:solidFill>
              </a:rPr>
              <a:t>Folgerung für die Spezifikation:  </a:t>
            </a:r>
            <a:pPr indent="0" marL="0">
              <a:buNone/>
            </a:pPr>
            <a:r>
              <a:rPr lang="en-US" sz="1300" dirty="0">
                <a:solidFill>
                  <a:schemeClr val="tx1"/>
                </a:solidFill>
              </a:rPr>
              <a:t>v0.6 – 7 Fehler behoben (PB-10 bis PB-16), 5 neue Fragen für PVA 5 (OP-18 bis OP-22).</a:t>
            </a:r>
            <a:endParaRPr lang="en-US" sz="1300" dirty="0"/>
          </a:p>
        </p:txBody>
      </p:sp>
      <p:sp>
        <p:nvSpPr>
          <p:cNvPr id="17" name="Text 15"/>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Hinweis  </a:t>
            </a:r>
            <a:pPr indent="0" marL="0">
              <a:buNone/>
            </a:pPr>
            <a:r>
              <a:rPr lang="en-US" sz="1100" dirty="0">
                <a:solidFill>
                  <a:schemeClr val="tx2"/>
                </a:solidFill>
              </a:rPr>
              <a:t>Die App ist ein Test der Spezifikation, kein Lösungsvorschlag – Make-or-Buy entscheidet Gruppe 2 (RB-03). Details: re-gruppe2/ki-app/analyse.md.</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ERKENNTNISSE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Was wir gelernt haben</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Vier Erkenntnisse aus Runde 1 – und was wir beim nächsten Mal anders machen würden.</a:t>
            </a:r>
            <a:endParaRPr lang="en-US" sz="1600" dirty="0"/>
          </a:p>
        </p:txBody>
      </p:sp>
      <p:sp>
        <p:nvSpPr>
          <p:cNvPr id="5" name="Erkenntnis 1"/>
          <p:cNvSpPr/>
          <p:nvPr/>
        </p:nvSpPr>
        <p:spPr>
          <a:xfrm>
            <a:off x="548640" y="1920240"/>
            <a:ext cx="5410048" cy="1536192"/>
          </a:xfrm>
          <a:prstGeom prst="roundRect">
            <a:avLst>
              <a:gd name="adj" fmla="val 7143"/>
            </a:avLst>
          </a:prstGeom>
          <a:solidFill>
            <a:schemeClr val="bg2"/>
          </a:solidFill>
          <a:ln/>
        </p:spPr>
      </p:sp>
      <p:sp>
        <p:nvSpPr>
          <p:cNvPr id="6" name="Erkenntnis Icon 1 Kreis"/>
          <p:cNvSpPr/>
          <p:nvPr/>
        </p:nvSpPr>
        <p:spPr>
          <a:xfrm>
            <a:off x="777240" y="2176272"/>
            <a:ext cx="594360" cy="594360"/>
          </a:xfrm>
          <a:prstGeom prst="ellipse">
            <a:avLst/>
          </a:prstGeom>
          <a:solidFill>
            <a:schemeClr val="accent1"/>
          </a:solidFill>
          <a:ln/>
        </p:spPr>
      </p:sp>
      <p:pic>
        <p:nvPicPr>
          <p:cNvPr id="7" name="Erkenntnis Icon 1" descr="MessageSquare">    </p:cNvPr>
          <p:cNvPicPr>
            <a:picLocks noChangeAspect="1"/>
          </p:cNvPicPr>
          <p:nvPr/>
        </p:nvPicPr>
        <p:blipFill>
          <a:blip r:embed="rId1"/>
          <a:stretch>
            <a:fillRect/>
          </a:stretch>
        </p:blipFill>
        <p:spPr>
          <a:xfrm>
            <a:off x="925830" y="2324862"/>
            <a:ext cx="297180" cy="297180"/>
          </a:xfrm>
          <a:prstGeom prst="rect">
            <a:avLst/>
          </a:prstGeom>
        </p:spPr>
      </p:pic>
      <p:sp>
        <p:nvSpPr>
          <p:cNvPr id="8" name="Text 5"/>
          <p:cNvSpPr txBox="1"/>
          <p:nvPr/>
        </p:nvSpPr>
        <p:spPr>
          <a:xfrm>
            <a:off x="1554480" y="2103120"/>
            <a:ext cx="4175608" cy="365760"/>
          </a:xfrm>
          <a:prstGeom prst="rect">
            <a:avLst/>
          </a:prstGeom>
          <a:noFill/>
          <a:ln/>
        </p:spPr>
        <p:txBody>
          <a:bodyPr wrap="square" lIns="0" tIns="0" rIns="0" bIns="0" rtlCol="0" anchor="t"/>
          <a:lstStyle/>
          <a:p>
            <a:pPr indent="0" marL="0">
              <a:buNone/>
            </a:pPr>
            <a:r>
              <a:rPr lang="en-US" sz="1600" b="1" dirty="0">
                <a:solidFill>
                  <a:schemeClr val="tx1"/>
                </a:solidFill>
              </a:rPr>
              <a:t>Die offenen Fragen sind der Auftrag</a:t>
            </a:r>
            <a:endParaRPr lang="en-US" sz="1600" dirty="0"/>
          </a:p>
        </p:txBody>
      </p:sp>
      <p:sp>
        <p:nvSpPr>
          <p:cNvPr id="9" name="Text 6"/>
          <p:cNvSpPr txBox="1"/>
          <p:nvPr/>
        </p:nvSpPr>
        <p:spPr>
          <a:xfrm>
            <a:off x="1554480" y="2487168"/>
            <a:ext cx="4175608" cy="868680"/>
          </a:xfrm>
          <a:prstGeom prst="rect">
            <a:avLst/>
          </a:prstGeom>
          <a:noFill/>
          <a:ln/>
        </p:spPr>
        <p:txBody>
          <a:bodyPr wrap="square" lIns="0" tIns="0" rIns="0" bIns="0" rtlCol="0" anchor="t"/>
          <a:lstStyle/>
          <a:p>
            <a:pPr indent="0" marL="0">
              <a:buNone/>
            </a:pPr>
            <a:r>
              <a:rPr lang="en-US" sz="1300" dirty="0">
                <a:solidFill>
                  <a:schemeClr val="tx2"/>
                </a:solidFill>
              </a:rPr>
              <a:t>Gruppe 2 hat bewusst keine Funktionsliste vorgegeben. Unsere Arbeit begann mit einer Analyse und 32 Fragen, nicht mit Anforderungen.</a:t>
            </a:r>
            <a:endParaRPr lang="en-US" sz="1300" dirty="0"/>
          </a:p>
        </p:txBody>
      </p:sp>
      <p:sp>
        <p:nvSpPr>
          <p:cNvPr id="10" name="Erkenntnis 2"/>
          <p:cNvSpPr/>
          <p:nvPr/>
        </p:nvSpPr>
        <p:spPr>
          <a:xfrm>
            <a:off x="6233008" y="1920240"/>
            <a:ext cx="5410048" cy="1536192"/>
          </a:xfrm>
          <a:prstGeom prst="roundRect">
            <a:avLst>
              <a:gd name="adj" fmla="val 7143"/>
            </a:avLst>
          </a:prstGeom>
          <a:solidFill>
            <a:schemeClr val="bg2"/>
          </a:solidFill>
          <a:ln/>
        </p:spPr>
      </p:sp>
      <p:sp>
        <p:nvSpPr>
          <p:cNvPr id="11" name="Erkenntnis Icon 2 Kreis"/>
          <p:cNvSpPr/>
          <p:nvPr/>
        </p:nvSpPr>
        <p:spPr>
          <a:xfrm>
            <a:off x="6461608" y="2176272"/>
            <a:ext cx="594360" cy="594360"/>
          </a:xfrm>
          <a:prstGeom prst="ellipse">
            <a:avLst/>
          </a:prstGeom>
          <a:solidFill>
            <a:schemeClr val="accent1"/>
          </a:solidFill>
          <a:ln/>
        </p:spPr>
      </p:sp>
      <p:pic>
        <p:nvPicPr>
          <p:cNvPr id="12" name="Erkenntnis Icon 2" descr="Flag">    </p:cNvPr>
          <p:cNvPicPr>
            <a:picLocks noChangeAspect="1"/>
          </p:cNvPicPr>
          <p:nvPr/>
        </p:nvPicPr>
        <p:blipFill>
          <a:blip r:embed="rId2"/>
          <a:stretch>
            <a:fillRect/>
          </a:stretch>
        </p:blipFill>
        <p:spPr>
          <a:xfrm>
            <a:off x="6610198" y="2324862"/>
            <a:ext cx="297180" cy="297180"/>
          </a:xfrm>
          <a:prstGeom prst="rect">
            <a:avLst/>
          </a:prstGeom>
        </p:spPr>
      </p:pic>
      <p:sp>
        <p:nvSpPr>
          <p:cNvPr id="13" name="Text 9"/>
          <p:cNvSpPr txBox="1"/>
          <p:nvPr/>
        </p:nvSpPr>
        <p:spPr>
          <a:xfrm>
            <a:off x="7238848" y="2103120"/>
            <a:ext cx="4175608" cy="365760"/>
          </a:xfrm>
          <a:prstGeom prst="rect">
            <a:avLst/>
          </a:prstGeom>
          <a:noFill/>
          <a:ln/>
        </p:spPr>
        <p:txBody>
          <a:bodyPr wrap="square" lIns="0" tIns="0" rIns="0" bIns="0" rtlCol="0" anchor="t"/>
          <a:lstStyle/>
          <a:p>
            <a:pPr indent="0" marL="0">
              <a:buNone/>
            </a:pPr>
            <a:r>
              <a:rPr lang="en-US" sz="1600" b="1" dirty="0">
                <a:solidFill>
                  <a:schemeClr val="tx1"/>
                </a:solidFill>
              </a:rPr>
              <a:t>Jede Anforderung braucht ihre Quelle</a:t>
            </a:r>
            <a:endParaRPr lang="en-US" sz="1600" dirty="0"/>
          </a:p>
        </p:txBody>
      </p:sp>
      <p:sp>
        <p:nvSpPr>
          <p:cNvPr id="14" name="Text 10"/>
          <p:cNvSpPr txBox="1"/>
          <p:nvPr/>
        </p:nvSpPr>
        <p:spPr>
          <a:xfrm>
            <a:off x="7238848" y="2487168"/>
            <a:ext cx="4175608" cy="868680"/>
          </a:xfrm>
          <a:prstGeom prst="rect">
            <a:avLst/>
          </a:prstGeom>
          <a:noFill/>
          <a:ln/>
        </p:spPr>
        <p:txBody>
          <a:bodyPr wrap="square" lIns="0" tIns="0" rIns="0" bIns="0" rtlCol="0" anchor="t"/>
          <a:lstStyle/>
          <a:p>
            <a:pPr indent="0" marL="0">
              <a:buNone/>
            </a:pPr>
            <a:r>
              <a:rPr lang="en-US" sz="1300" dirty="0">
                <a:solidFill>
                  <a:schemeClr val="tx2"/>
                </a:solidFill>
              </a:rPr>
              <a:t>F, N, A, B, S zeigen auf einen Blick, was belegt ist. So wissen wir, welche 12 Anforderungen wir im Interview zuerst prüfen.</a:t>
            </a:r>
            <a:endParaRPr lang="en-US" sz="1300" dirty="0"/>
          </a:p>
        </p:txBody>
      </p:sp>
      <p:sp>
        <p:nvSpPr>
          <p:cNvPr id="15" name="Erkenntnis 3"/>
          <p:cNvSpPr/>
          <p:nvPr/>
        </p:nvSpPr>
        <p:spPr>
          <a:xfrm>
            <a:off x="548640" y="3639312"/>
            <a:ext cx="5410048" cy="1536192"/>
          </a:xfrm>
          <a:prstGeom prst="roundRect">
            <a:avLst>
              <a:gd name="adj" fmla="val 7143"/>
            </a:avLst>
          </a:prstGeom>
          <a:solidFill>
            <a:schemeClr val="bg2"/>
          </a:solidFill>
          <a:ln/>
        </p:spPr>
      </p:sp>
      <p:sp>
        <p:nvSpPr>
          <p:cNvPr id="16" name="Erkenntnis Icon 3 Kreis"/>
          <p:cNvSpPr/>
          <p:nvPr/>
        </p:nvSpPr>
        <p:spPr>
          <a:xfrm>
            <a:off x="777240" y="3895344"/>
            <a:ext cx="594360" cy="594360"/>
          </a:xfrm>
          <a:prstGeom prst="ellipse">
            <a:avLst/>
          </a:prstGeom>
          <a:solidFill>
            <a:schemeClr val="accent1"/>
          </a:solidFill>
          <a:ln/>
        </p:spPr>
      </p:sp>
      <p:pic>
        <p:nvPicPr>
          <p:cNvPr id="17" name="Erkenntnis Icon 3" descr="SlidersHorizontal">    </p:cNvPr>
          <p:cNvPicPr>
            <a:picLocks noChangeAspect="1"/>
          </p:cNvPicPr>
          <p:nvPr/>
        </p:nvPicPr>
        <p:blipFill>
          <a:blip r:embed="rId3"/>
          <a:stretch>
            <a:fillRect/>
          </a:stretch>
        </p:blipFill>
        <p:spPr>
          <a:xfrm>
            <a:off x="925830" y="4043934"/>
            <a:ext cx="297180" cy="297180"/>
          </a:xfrm>
          <a:prstGeom prst="rect">
            <a:avLst/>
          </a:prstGeom>
        </p:spPr>
      </p:pic>
      <p:sp>
        <p:nvSpPr>
          <p:cNvPr id="18" name="Text 13"/>
          <p:cNvSpPr txBox="1"/>
          <p:nvPr/>
        </p:nvSpPr>
        <p:spPr>
          <a:xfrm>
            <a:off x="1554480" y="3822192"/>
            <a:ext cx="4175608" cy="365760"/>
          </a:xfrm>
          <a:prstGeom prst="rect">
            <a:avLst/>
          </a:prstGeom>
          <a:noFill/>
          <a:ln/>
        </p:spPr>
        <p:txBody>
          <a:bodyPr wrap="square" lIns="0" tIns="0" rIns="0" bIns="0" rtlCol="0" anchor="t"/>
          <a:lstStyle/>
          <a:p>
            <a:pPr indent="0" marL="0">
              <a:buNone/>
            </a:pPr>
            <a:r>
              <a:rPr lang="en-US" sz="1600" b="1" dirty="0">
                <a:solidFill>
                  <a:schemeClr val="tx1"/>
                </a:solidFill>
              </a:rPr>
              <a:t>Werte gehören in Parameter</a:t>
            </a:r>
            <a:endParaRPr lang="en-US" sz="1600" dirty="0"/>
          </a:p>
        </p:txBody>
      </p:sp>
      <p:sp>
        <p:nvSpPr>
          <p:cNvPr id="19" name="Text 14"/>
          <p:cNvSpPr txBox="1"/>
          <p:nvPr/>
        </p:nvSpPr>
        <p:spPr>
          <a:xfrm>
            <a:off x="1554480" y="4206240"/>
            <a:ext cx="4175608" cy="868680"/>
          </a:xfrm>
          <a:prstGeom prst="rect">
            <a:avLst/>
          </a:prstGeom>
          <a:noFill/>
          <a:ln/>
        </p:spPr>
        <p:txBody>
          <a:bodyPr wrap="square" lIns="0" tIns="0" rIns="0" bIns="0" rtlCol="0" anchor="t"/>
          <a:lstStyle/>
          <a:p>
            <a:pPr indent="0" marL="0">
              <a:buNone/>
            </a:pPr>
            <a:r>
              <a:rPr lang="en-US" sz="1300" dirty="0">
                <a:solidFill>
                  <a:schemeClr val="tx2"/>
                </a:solidFill>
              </a:rPr>
              <a:t>Fristen und Mengen werden sich nach PVA 5 ändern. In der Parametertabelle ändern wir einen Wert, nicht zehn Sätze.</a:t>
            </a:r>
            <a:endParaRPr lang="en-US" sz="1300" dirty="0"/>
          </a:p>
        </p:txBody>
      </p:sp>
      <p:sp>
        <p:nvSpPr>
          <p:cNvPr id="20" name="Erkenntnis 4"/>
          <p:cNvSpPr/>
          <p:nvPr/>
        </p:nvSpPr>
        <p:spPr>
          <a:xfrm>
            <a:off x="6233008" y="3639312"/>
            <a:ext cx="5410048" cy="1536192"/>
          </a:xfrm>
          <a:prstGeom prst="roundRect">
            <a:avLst>
              <a:gd name="adj" fmla="val 7143"/>
            </a:avLst>
          </a:prstGeom>
          <a:solidFill>
            <a:schemeClr val="bg2"/>
          </a:solidFill>
          <a:ln/>
        </p:spPr>
      </p:sp>
      <p:sp>
        <p:nvSpPr>
          <p:cNvPr id="21" name="Erkenntnis Icon 4 Kreis"/>
          <p:cNvSpPr/>
          <p:nvPr/>
        </p:nvSpPr>
        <p:spPr>
          <a:xfrm>
            <a:off x="6461608" y="3895344"/>
            <a:ext cx="594360" cy="594360"/>
          </a:xfrm>
          <a:prstGeom prst="ellipse">
            <a:avLst/>
          </a:prstGeom>
          <a:solidFill>
            <a:schemeClr val="accent1"/>
          </a:solidFill>
          <a:ln/>
        </p:spPr>
      </p:sp>
      <p:pic>
        <p:nvPicPr>
          <p:cNvPr id="22" name="Erkenntnis Icon 4" descr="Scale">    </p:cNvPr>
          <p:cNvPicPr>
            <a:picLocks noChangeAspect="1"/>
          </p:cNvPicPr>
          <p:nvPr/>
        </p:nvPicPr>
        <p:blipFill>
          <a:blip r:embed="rId4"/>
          <a:stretch>
            <a:fillRect/>
          </a:stretch>
        </p:blipFill>
        <p:spPr>
          <a:xfrm>
            <a:off x="6610198" y="4043934"/>
            <a:ext cx="297180" cy="297180"/>
          </a:xfrm>
          <a:prstGeom prst="rect">
            <a:avLst/>
          </a:prstGeom>
        </p:spPr>
      </p:pic>
      <p:sp>
        <p:nvSpPr>
          <p:cNvPr id="23" name="Text 17"/>
          <p:cNvSpPr txBox="1"/>
          <p:nvPr/>
        </p:nvSpPr>
        <p:spPr>
          <a:xfrm>
            <a:off x="7238848" y="3822192"/>
            <a:ext cx="4175608" cy="365760"/>
          </a:xfrm>
          <a:prstGeom prst="rect">
            <a:avLst/>
          </a:prstGeom>
          <a:noFill/>
          <a:ln/>
        </p:spPr>
        <p:txBody>
          <a:bodyPr wrap="square" lIns="0" tIns="0" rIns="0" bIns="0" rtlCol="0" anchor="t"/>
          <a:lstStyle/>
          <a:p>
            <a:pPr indent="0" marL="0">
              <a:buNone/>
            </a:pPr>
            <a:r>
              <a:rPr lang="en-US" sz="1600" b="1" dirty="0">
                <a:solidFill>
                  <a:schemeClr val="tx1"/>
                </a:solidFill>
              </a:rPr>
              <a:t>Der Probelauf zeigt Konflikte, keine Antworten</a:t>
            </a:r>
            <a:endParaRPr lang="en-US" sz="1600" dirty="0"/>
          </a:p>
        </p:txBody>
      </p:sp>
      <p:sp>
        <p:nvSpPr>
          <p:cNvPr id="24" name="Text 18"/>
          <p:cNvSpPr txBox="1"/>
          <p:nvPr/>
        </p:nvSpPr>
        <p:spPr>
          <a:xfrm>
            <a:off x="7238848" y="4206240"/>
            <a:ext cx="4175608" cy="868680"/>
          </a:xfrm>
          <a:prstGeom prst="rect">
            <a:avLst/>
          </a:prstGeom>
          <a:noFill/>
          <a:ln/>
        </p:spPr>
        <p:txBody>
          <a:bodyPr wrap="square" lIns="0" tIns="0" rIns="0" bIns="0" rtlCol="0" anchor="t"/>
          <a:lstStyle/>
          <a:p>
            <a:pPr indent="0" marL="0">
              <a:buNone/>
            </a:pPr>
            <a:r>
              <a:rPr lang="en-US" sz="1300" dirty="0">
                <a:solidFill>
                  <a:schemeClr val="tx2"/>
                </a:solidFill>
              </a:rPr>
              <a:t>Im Rollenspiel widersprachen sich Empfang und GL (W-1, W-2). Das sind die Stellen, an denen die Geschäftsleitung entscheiden muss.</a:t>
            </a:r>
            <a:endParaRPr lang="en-US" sz="1300" dirty="0"/>
          </a:p>
        </p:txBody>
      </p:sp>
      <p:sp>
        <p:nvSpPr>
          <p:cNvPr id="25" name="Nächstes Mal"/>
          <p:cNvSpPr/>
          <p:nvPr/>
        </p:nvSpPr>
        <p:spPr>
          <a:xfrm>
            <a:off x="548640" y="5349240"/>
            <a:ext cx="11094415" cy="502920"/>
          </a:xfrm>
          <a:prstGeom prst="roundRect">
            <a:avLst>
              <a:gd name="adj" fmla="val 21818"/>
            </a:avLst>
          </a:prstGeom>
          <a:solidFill>
            <a:schemeClr val="accent4"/>
          </a:solidFill>
          <a:ln/>
        </p:spPr>
      </p:sp>
      <p:sp>
        <p:nvSpPr>
          <p:cNvPr id="26" name="Text 20"/>
          <p:cNvSpPr txBox="1"/>
          <p:nvPr/>
        </p:nvSpPr>
        <p:spPr>
          <a:xfrm>
            <a:off x="777240" y="5349240"/>
            <a:ext cx="10637215" cy="502920"/>
          </a:xfrm>
          <a:prstGeom prst="rect">
            <a:avLst/>
          </a:prstGeom>
          <a:noFill/>
          <a:ln/>
        </p:spPr>
        <p:txBody>
          <a:bodyPr wrap="square" lIns="0" tIns="0" rIns="0" bIns="0" rtlCol="0" anchor="ctr"/>
          <a:lstStyle/>
          <a:p>
            <a:pPr indent="0" marL="0">
              <a:buNone/>
            </a:pPr>
            <a:r>
              <a:rPr lang="en-US" sz="1300" b="1" dirty="0">
                <a:solidFill>
                  <a:schemeClr val="accent1"/>
                </a:solidFill>
              </a:rPr>
              <a:t>Nächstes Mal anders:  </a:t>
            </a:r>
            <a:pPr indent="0" marL="0">
              <a:buNone/>
            </a:pPr>
            <a:r>
              <a:rPr lang="en-US" sz="1300" dirty="0">
                <a:solidFill>
                  <a:schemeClr val="tx1"/>
                </a:solidFill>
              </a:rPr>
              <a:t>Kontaktkanal zum Auftraggeber schon in PVA 2 vereinbaren – unsere Fragenliste lag bereit, aber ohne Kanal ging sie nicht raus.</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BEZUG ZU KURSINHALTEN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Wo die Kursinhalte in der Spezifikation stecken</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Folien-Nummern aus Block 1; Blöcke 2–7 laut Roadmap (Folie 2).</a:t>
            </a:r>
            <a:endParaRPr lang="en-US" sz="1600" dirty="0"/>
          </a:p>
        </p:txBody>
      </p:sp>
      <p:sp>
        <p:nvSpPr>
          <p:cNvPr id="5" name="Kurs RE-Kreislauf"/>
          <p:cNvSpPr/>
          <p:nvPr/>
        </p:nvSpPr>
        <p:spPr>
          <a:xfrm>
            <a:off x="548640" y="1920240"/>
            <a:ext cx="5410048" cy="676656"/>
          </a:xfrm>
          <a:prstGeom prst="roundRect">
            <a:avLst>
              <a:gd name="adj" fmla="val 16216"/>
            </a:avLst>
          </a:prstGeom>
          <a:solidFill>
            <a:schemeClr val="bg2"/>
          </a:solidFill>
          <a:ln/>
        </p:spPr>
      </p:sp>
      <p:sp>
        <p:nvSpPr>
          <p:cNvPr id="6" name="Etikett Folie 28"/>
          <p:cNvSpPr/>
          <p:nvPr/>
        </p:nvSpPr>
        <p:spPr>
          <a:xfrm>
            <a:off x="713232" y="2112264"/>
            <a:ext cx="1188720" cy="292608"/>
          </a:xfrm>
          <a:prstGeom prst="roundRect">
            <a:avLst>
              <a:gd name="adj" fmla="val 50000"/>
            </a:avLst>
          </a:prstGeom>
          <a:solidFill>
            <a:schemeClr val="accent1"/>
          </a:solidFill>
          <a:ln/>
        </p:spPr>
      </p:sp>
      <p:sp>
        <p:nvSpPr>
          <p:cNvPr id="7" name="Text 5"/>
          <p:cNvSpPr txBox="1"/>
          <p:nvPr/>
        </p:nvSpPr>
        <p:spPr>
          <a:xfrm>
            <a:off x="713232" y="2112264"/>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Folie 28</a:t>
            </a:r>
            <a:endParaRPr lang="en-US" sz="1100" dirty="0"/>
          </a:p>
        </p:txBody>
      </p:sp>
      <p:sp>
        <p:nvSpPr>
          <p:cNvPr id="8" name="Text 6"/>
          <p:cNvSpPr txBox="1"/>
          <p:nvPr/>
        </p:nvSpPr>
        <p:spPr>
          <a:xfrm>
            <a:off x="2057400" y="1984248"/>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RE-Kreislauf</a:t>
            </a:r>
            <a:endParaRPr lang="en-US" sz="1400" dirty="0"/>
          </a:p>
          <a:p>
            <a:pPr indent="0" marL="0">
              <a:buNone/>
            </a:pPr>
            <a:r>
              <a:rPr lang="en-US" sz="1200" dirty="0">
                <a:solidFill>
                  <a:schemeClr val="tx2"/>
                </a:solidFill>
              </a:rPr>
              <a:t>zwei Runden, Phasen des Merkblatts</a:t>
            </a:r>
            <a:endParaRPr lang="en-US" sz="1400" dirty="0"/>
          </a:p>
        </p:txBody>
      </p:sp>
      <p:sp>
        <p:nvSpPr>
          <p:cNvPr id="9" name="Kurs risikogerecht spezifizieren"/>
          <p:cNvSpPr/>
          <p:nvPr/>
        </p:nvSpPr>
        <p:spPr>
          <a:xfrm>
            <a:off x="548640" y="2688336"/>
            <a:ext cx="5410048" cy="676656"/>
          </a:xfrm>
          <a:prstGeom prst="roundRect">
            <a:avLst>
              <a:gd name="adj" fmla="val 16216"/>
            </a:avLst>
          </a:prstGeom>
          <a:solidFill>
            <a:schemeClr val="bg2"/>
          </a:solidFill>
          <a:ln/>
        </p:spPr>
      </p:sp>
      <p:sp>
        <p:nvSpPr>
          <p:cNvPr id="10" name="Etikett Folie 22/23"/>
          <p:cNvSpPr/>
          <p:nvPr/>
        </p:nvSpPr>
        <p:spPr>
          <a:xfrm>
            <a:off x="713232" y="2880360"/>
            <a:ext cx="1188720" cy="292608"/>
          </a:xfrm>
          <a:prstGeom prst="roundRect">
            <a:avLst>
              <a:gd name="adj" fmla="val 50000"/>
            </a:avLst>
          </a:prstGeom>
          <a:solidFill>
            <a:schemeClr val="accent1"/>
          </a:solidFill>
          <a:ln/>
        </p:spPr>
      </p:sp>
      <p:sp>
        <p:nvSpPr>
          <p:cNvPr id="11" name="Text 9"/>
          <p:cNvSpPr txBox="1"/>
          <p:nvPr/>
        </p:nvSpPr>
        <p:spPr>
          <a:xfrm>
            <a:off x="713232" y="2880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Folie 22/23</a:t>
            </a:r>
            <a:endParaRPr lang="en-US" sz="1100" dirty="0"/>
          </a:p>
        </p:txBody>
      </p:sp>
      <p:sp>
        <p:nvSpPr>
          <p:cNvPr id="12" name="Text 10"/>
          <p:cNvSpPr txBox="1"/>
          <p:nvPr/>
        </p:nvSpPr>
        <p:spPr>
          <a:xfrm>
            <a:off x="2057400" y="2752344"/>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risikogerecht spezifizieren</a:t>
            </a:r>
            <a:endParaRPr lang="en-US" sz="1400" dirty="0"/>
          </a:p>
          <a:p>
            <a:pPr indent="0" marL="0">
              <a:buNone/>
            </a:pPr>
            <a:r>
              <a:rPr lang="en-US" sz="1200" dirty="0">
                <a:solidFill>
                  <a:schemeClr val="tx2"/>
                </a:solidFill>
              </a:rPr>
              <a:t>genau bei Serien, Rollen, Storno</a:t>
            </a:r>
            <a:endParaRPr lang="en-US" sz="1400" dirty="0"/>
          </a:p>
        </p:txBody>
      </p:sp>
      <p:sp>
        <p:nvSpPr>
          <p:cNvPr id="13" name="Kurs Lastenheft"/>
          <p:cNvSpPr/>
          <p:nvPr/>
        </p:nvSpPr>
        <p:spPr>
          <a:xfrm>
            <a:off x="548640" y="3456432"/>
            <a:ext cx="5410048" cy="676656"/>
          </a:xfrm>
          <a:prstGeom prst="roundRect">
            <a:avLst>
              <a:gd name="adj" fmla="val 16216"/>
            </a:avLst>
          </a:prstGeom>
          <a:solidFill>
            <a:schemeClr val="bg2"/>
          </a:solidFill>
          <a:ln/>
        </p:spPr>
      </p:sp>
      <p:sp>
        <p:nvSpPr>
          <p:cNvPr id="14" name="Etikett Folie 26"/>
          <p:cNvSpPr/>
          <p:nvPr/>
        </p:nvSpPr>
        <p:spPr>
          <a:xfrm>
            <a:off x="713232" y="3648456"/>
            <a:ext cx="1188720" cy="292608"/>
          </a:xfrm>
          <a:prstGeom prst="roundRect">
            <a:avLst>
              <a:gd name="adj" fmla="val 50000"/>
            </a:avLst>
          </a:prstGeom>
          <a:solidFill>
            <a:schemeClr val="accent1"/>
          </a:solidFill>
          <a:ln/>
        </p:spPr>
      </p:sp>
      <p:sp>
        <p:nvSpPr>
          <p:cNvPr id="15" name="Text 13"/>
          <p:cNvSpPr txBox="1"/>
          <p:nvPr/>
        </p:nvSpPr>
        <p:spPr>
          <a:xfrm>
            <a:off x="713232" y="3648456"/>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Folie 26</a:t>
            </a:r>
            <a:endParaRPr lang="en-US" sz="1100" dirty="0"/>
          </a:p>
        </p:txBody>
      </p:sp>
      <p:sp>
        <p:nvSpPr>
          <p:cNvPr id="16" name="Text 14"/>
          <p:cNvSpPr txBox="1"/>
          <p:nvPr/>
        </p:nvSpPr>
        <p:spPr>
          <a:xfrm>
            <a:off x="2057400" y="3520440"/>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Lastenheft</a:t>
            </a:r>
            <a:endParaRPr lang="en-US" sz="1400" dirty="0"/>
          </a:p>
          <a:p>
            <a:pPr indent="0" marL="0">
              <a:buNone/>
            </a:pPr>
            <a:r>
              <a:rPr lang="en-US" sz="1200" dirty="0">
                <a:solidFill>
                  <a:schemeClr val="tx2"/>
                </a:solidFill>
              </a:rPr>
              <a:t>Was und Wofür, lösungsneutral (RB-03)</a:t>
            </a:r>
            <a:endParaRPr lang="en-US" sz="1400" dirty="0"/>
          </a:p>
        </p:txBody>
      </p:sp>
      <p:sp>
        <p:nvSpPr>
          <p:cNvPr id="17" name="Kurs Ziele, Zielhierarchie"/>
          <p:cNvSpPr/>
          <p:nvPr/>
        </p:nvSpPr>
        <p:spPr>
          <a:xfrm>
            <a:off x="548640" y="4224528"/>
            <a:ext cx="5410048" cy="676656"/>
          </a:xfrm>
          <a:prstGeom prst="roundRect">
            <a:avLst>
              <a:gd name="adj" fmla="val 16216"/>
            </a:avLst>
          </a:prstGeom>
          <a:solidFill>
            <a:schemeClr val="bg2"/>
          </a:solidFill>
          <a:ln/>
        </p:spPr>
      </p:sp>
      <p:sp>
        <p:nvSpPr>
          <p:cNvPr id="18" name="Etikett Folie 35–37"/>
          <p:cNvSpPr/>
          <p:nvPr/>
        </p:nvSpPr>
        <p:spPr>
          <a:xfrm>
            <a:off x="713232" y="4416552"/>
            <a:ext cx="1188720" cy="292608"/>
          </a:xfrm>
          <a:prstGeom prst="roundRect">
            <a:avLst>
              <a:gd name="adj" fmla="val 50000"/>
            </a:avLst>
          </a:prstGeom>
          <a:solidFill>
            <a:schemeClr val="accent1"/>
          </a:solidFill>
          <a:ln/>
        </p:spPr>
      </p:sp>
      <p:sp>
        <p:nvSpPr>
          <p:cNvPr id="19" name="Text 17"/>
          <p:cNvSpPr txBox="1"/>
          <p:nvPr/>
        </p:nvSpPr>
        <p:spPr>
          <a:xfrm>
            <a:off x="713232" y="441655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Folie 35–37</a:t>
            </a:r>
            <a:endParaRPr lang="en-US" sz="1100" dirty="0"/>
          </a:p>
        </p:txBody>
      </p:sp>
      <p:sp>
        <p:nvSpPr>
          <p:cNvPr id="20" name="Text 18"/>
          <p:cNvSpPr txBox="1"/>
          <p:nvPr/>
        </p:nvSpPr>
        <p:spPr>
          <a:xfrm>
            <a:off x="2057400" y="4288536"/>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Ziele, Zielhierarchie</a:t>
            </a:r>
            <a:endParaRPr lang="en-US" sz="1400" dirty="0"/>
          </a:p>
          <a:p>
            <a:pPr indent="0" marL="0">
              <a:buNone/>
            </a:pPr>
            <a:r>
              <a:rPr lang="en-US" sz="1200" dirty="0">
                <a:solidFill>
                  <a:schemeClr val="tx2"/>
                </a:solidFill>
              </a:rPr>
              <a:t>GZ → PZ → PDZ, Ziel ≠ Anforderung</a:t>
            </a:r>
            <a:endParaRPr lang="en-US" sz="1400" dirty="0"/>
          </a:p>
        </p:txBody>
      </p:sp>
      <p:sp>
        <p:nvSpPr>
          <p:cNvPr id="21" name="Kurs Klassifikation, Facetten"/>
          <p:cNvSpPr/>
          <p:nvPr/>
        </p:nvSpPr>
        <p:spPr>
          <a:xfrm>
            <a:off x="548640" y="4992624"/>
            <a:ext cx="5410048" cy="676656"/>
          </a:xfrm>
          <a:prstGeom prst="roundRect">
            <a:avLst>
              <a:gd name="adj" fmla="val 16216"/>
            </a:avLst>
          </a:prstGeom>
          <a:solidFill>
            <a:schemeClr val="bg2"/>
          </a:solidFill>
          <a:ln/>
        </p:spPr>
      </p:sp>
      <p:sp>
        <p:nvSpPr>
          <p:cNvPr id="22" name="Etikett Folie 38–42"/>
          <p:cNvSpPr/>
          <p:nvPr/>
        </p:nvSpPr>
        <p:spPr>
          <a:xfrm>
            <a:off x="713232" y="5184648"/>
            <a:ext cx="1188720" cy="292608"/>
          </a:xfrm>
          <a:prstGeom prst="roundRect">
            <a:avLst>
              <a:gd name="adj" fmla="val 50000"/>
            </a:avLst>
          </a:prstGeom>
          <a:solidFill>
            <a:schemeClr val="accent1"/>
          </a:solidFill>
          <a:ln/>
        </p:spPr>
      </p:sp>
      <p:sp>
        <p:nvSpPr>
          <p:cNvPr id="23" name="Text 21"/>
          <p:cNvSpPr txBox="1"/>
          <p:nvPr/>
        </p:nvSpPr>
        <p:spPr>
          <a:xfrm>
            <a:off x="713232" y="51846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Folie 38–42</a:t>
            </a:r>
            <a:endParaRPr lang="en-US" sz="1100" dirty="0"/>
          </a:p>
        </p:txBody>
      </p:sp>
      <p:sp>
        <p:nvSpPr>
          <p:cNvPr id="24" name="Text 22"/>
          <p:cNvSpPr txBox="1"/>
          <p:nvPr/>
        </p:nvSpPr>
        <p:spPr>
          <a:xfrm>
            <a:off x="2057400" y="5056632"/>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Klassifikation, Facetten</a:t>
            </a:r>
            <a:endParaRPr lang="en-US" sz="1400" dirty="0"/>
          </a:p>
          <a:p>
            <a:pPr indent="0" marL="0">
              <a:buNone/>
            </a:pPr>
            <a:r>
              <a:rPr lang="en-US" sz="1200" dirty="0">
                <a:solidFill>
                  <a:schemeClr val="tx2"/>
                </a:solidFill>
              </a:rPr>
              <a:t>FA, QA, RB; Vorschrift, Tatsache, Annahme</a:t>
            </a:r>
            <a:endParaRPr lang="en-US" sz="1400" dirty="0"/>
          </a:p>
        </p:txBody>
      </p:sp>
      <p:sp>
        <p:nvSpPr>
          <p:cNvPr id="25" name="Kurs Priorisierung"/>
          <p:cNvSpPr/>
          <p:nvPr/>
        </p:nvSpPr>
        <p:spPr>
          <a:xfrm>
            <a:off x="6233008" y="1920240"/>
            <a:ext cx="5410048" cy="676656"/>
          </a:xfrm>
          <a:prstGeom prst="roundRect">
            <a:avLst>
              <a:gd name="adj" fmla="val 16216"/>
            </a:avLst>
          </a:prstGeom>
          <a:solidFill>
            <a:schemeClr val="bg2"/>
          </a:solidFill>
          <a:ln/>
        </p:spPr>
      </p:sp>
      <p:sp>
        <p:nvSpPr>
          <p:cNvPr id="26" name="Etikett Folie 43"/>
          <p:cNvSpPr/>
          <p:nvPr/>
        </p:nvSpPr>
        <p:spPr>
          <a:xfrm>
            <a:off x="6397600" y="2112264"/>
            <a:ext cx="1188720" cy="292608"/>
          </a:xfrm>
          <a:prstGeom prst="roundRect">
            <a:avLst>
              <a:gd name="adj" fmla="val 50000"/>
            </a:avLst>
          </a:prstGeom>
          <a:solidFill>
            <a:schemeClr val="accent1"/>
          </a:solidFill>
          <a:ln/>
        </p:spPr>
      </p:sp>
      <p:sp>
        <p:nvSpPr>
          <p:cNvPr id="27" name="Text 25"/>
          <p:cNvSpPr txBox="1"/>
          <p:nvPr/>
        </p:nvSpPr>
        <p:spPr>
          <a:xfrm>
            <a:off x="6397600" y="2112264"/>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Folie 43</a:t>
            </a:r>
            <a:endParaRPr lang="en-US" sz="1100" dirty="0"/>
          </a:p>
        </p:txBody>
      </p:sp>
      <p:sp>
        <p:nvSpPr>
          <p:cNvPr id="28" name="Text 26"/>
          <p:cNvSpPr txBox="1"/>
          <p:nvPr/>
        </p:nvSpPr>
        <p:spPr>
          <a:xfrm>
            <a:off x="7741768" y="1984248"/>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Priorisierung</a:t>
            </a:r>
            <a:endParaRPr lang="en-US" sz="1400" dirty="0"/>
          </a:p>
          <a:p>
            <a:pPr indent="0" marL="0">
              <a:buNone/>
            </a:pPr>
            <a:r>
              <a:rPr lang="en-US" sz="1200" dirty="0">
                <a:solidFill>
                  <a:schemeClr val="tx2"/>
                </a:solidFill>
              </a:rPr>
              <a:t>MoSCoW, Entscheid beim Auftraggeber</a:t>
            </a:r>
            <a:endParaRPr lang="en-US" sz="1400" dirty="0"/>
          </a:p>
        </p:txBody>
      </p:sp>
      <p:sp>
        <p:nvSpPr>
          <p:cNvPr id="29" name="Kurs Qualitätsmerkmale"/>
          <p:cNvSpPr/>
          <p:nvPr/>
        </p:nvSpPr>
        <p:spPr>
          <a:xfrm>
            <a:off x="6233008" y="2688336"/>
            <a:ext cx="5410048" cy="676656"/>
          </a:xfrm>
          <a:prstGeom prst="roundRect">
            <a:avLst>
              <a:gd name="adj" fmla="val 16216"/>
            </a:avLst>
          </a:prstGeom>
          <a:solidFill>
            <a:schemeClr val="bg2"/>
          </a:solidFill>
          <a:ln/>
        </p:spPr>
      </p:sp>
      <p:sp>
        <p:nvSpPr>
          <p:cNvPr id="30" name="Etikett Folie 45"/>
          <p:cNvSpPr/>
          <p:nvPr/>
        </p:nvSpPr>
        <p:spPr>
          <a:xfrm>
            <a:off x="6397600" y="2880360"/>
            <a:ext cx="1188720" cy="292608"/>
          </a:xfrm>
          <a:prstGeom prst="roundRect">
            <a:avLst>
              <a:gd name="adj" fmla="val 50000"/>
            </a:avLst>
          </a:prstGeom>
          <a:solidFill>
            <a:schemeClr val="accent1"/>
          </a:solidFill>
          <a:ln/>
        </p:spPr>
      </p:sp>
      <p:sp>
        <p:nvSpPr>
          <p:cNvPr id="31" name="Text 29"/>
          <p:cNvSpPr txBox="1"/>
          <p:nvPr/>
        </p:nvSpPr>
        <p:spPr>
          <a:xfrm>
            <a:off x="6397600" y="2880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Folie 45</a:t>
            </a:r>
            <a:endParaRPr lang="en-US" sz="1100" dirty="0"/>
          </a:p>
        </p:txBody>
      </p:sp>
      <p:sp>
        <p:nvSpPr>
          <p:cNvPr id="32" name="Text 30"/>
          <p:cNvSpPr txBox="1"/>
          <p:nvPr/>
        </p:nvSpPr>
        <p:spPr>
          <a:xfrm>
            <a:off x="7741768" y="2752344"/>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Qualitätsmerkmale</a:t>
            </a:r>
            <a:endParaRPr lang="en-US" sz="1400" dirty="0"/>
          </a:p>
          <a:p>
            <a:pPr indent="0" marL="0">
              <a:buNone/>
            </a:pPr>
            <a:r>
              <a:rPr lang="en-US" sz="1200" dirty="0">
                <a:solidFill>
                  <a:schemeClr val="tx2"/>
                </a:solidFill>
              </a:rPr>
              <a:t>Prüfmatrix je Anforderung</a:t>
            </a:r>
            <a:endParaRPr lang="en-US" sz="1400" dirty="0"/>
          </a:p>
        </p:txBody>
      </p:sp>
      <p:sp>
        <p:nvSpPr>
          <p:cNvPr id="33" name="Kurs typische Probleme"/>
          <p:cNvSpPr/>
          <p:nvPr/>
        </p:nvSpPr>
        <p:spPr>
          <a:xfrm>
            <a:off x="6233008" y="3456432"/>
            <a:ext cx="5410048" cy="676656"/>
          </a:xfrm>
          <a:prstGeom prst="roundRect">
            <a:avLst>
              <a:gd name="adj" fmla="val 16216"/>
            </a:avLst>
          </a:prstGeom>
          <a:solidFill>
            <a:schemeClr val="bg2"/>
          </a:solidFill>
          <a:ln/>
        </p:spPr>
      </p:sp>
      <p:sp>
        <p:nvSpPr>
          <p:cNvPr id="34" name="Etikett Folie 47"/>
          <p:cNvSpPr/>
          <p:nvPr/>
        </p:nvSpPr>
        <p:spPr>
          <a:xfrm>
            <a:off x="6397600" y="3648456"/>
            <a:ext cx="1188720" cy="292608"/>
          </a:xfrm>
          <a:prstGeom prst="roundRect">
            <a:avLst>
              <a:gd name="adj" fmla="val 50000"/>
            </a:avLst>
          </a:prstGeom>
          <a:solidFill>
            <a:schemeClr val="accent1"/>
          </a:solidFill>
          <a:ln/>
        </p:spPr>
      </p:sp>
      <p:sp>
        <p:nvSpPr>
          <p:cNvPr id="35" name="Text 33"/>
          <p:cNvSpPr txBox="1"/>
          <p:nvPr/>
        </p:nvSpPr>
        <p:spPr>
          <a:xfrm>
            <a:off x="6397600" y="3648456"/>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Folie 47</a:t>
            </a:r>
            <a:endParaRPr lang="en-US" sz="1100" dirty="0"/>
          </a:p>
        </p:txBody>
      </p:sp>
      <p:sp>
        <p:nvSpPr>
          <p:cNvPr id="36" name="Text 34"/>
          <p:cNvSpPr txBox="1"/>
          <p:nvPr/>
        </p:nvSpPr>
        <p:spPr>
          <a:xfrm>
            <a:off x="7741768" y="3520440"/>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typische Probleme</a:t>
            </a:r>
            <a:endParaRPr lang="en-US" sz="1400" dirty="0"/>
          </a:p>
          <a:p>
            <a:pPr indent="0" marL="0">
              <a:buNone/>
            </a:pPr>
            <a:r>
              <a:rPr lang="en-US" sz="1200" dirty="0">
                <a:solidFill>
                  <a:schemeClr val="tx2"/>
                </a:solidFill>
              </a:rPr>
              <a:t>Befunde PB-01 bis PB-16</a:t>
            </a:r>
            <a:endParaRPr lang="en-US" sz="1400" dirty="0"/>
          </a:p>
        </p:txBody>
      </p:sp>
      <p:sp>
        <p:nvSpPr>
          <p:cNvPr id="37" name="Kurs IEEE 830, Volere"/>
          <p:cNvSpPr/>
          <p:nvPr/>
        </p:nvSpPr>
        <p:spPr>
          <a:xfrm>
            <a:off x="6233008" y="4224528"/>
            <a:ext cx="5410048" cy="676656"/>
          </a:xfrm>
          <a:prstGeom prst="roundRect">
            <a:avLst>
              <a:gd name="adj" fmla="val 16216"/>
            </a:avLst>
          </a:prstGeom>
          <a:solidFill>
            <a:schemeClr val="bg2"/>
          </a:solidFill>
          <a:ln/>
        </p:spPr>
      </p:sp>
      <p:sp>
        <p:nvSpPr>
          <p:cNvPr id="38" name="Etikett Block 2"/>
          <p:cNvSpPr/>
          <p:nvPr/>
        </p:nvSpPr>
        <p:spPr>
          <a:xfrm>
            <a:off x="6397600" y="4416552"/>
            <a:ext cx="1188720" cy="292608"/>
          </a:xfrm>
          <a:prstGeom prst="roundRect">
            <a:avLst>
              <a:gd name="adj" fmla="val 50000"/>
            </a:avLst>
          </a:prstGeom>
          <a:solidFill>
            <a:schemeClr val="accent1"/>
          </a:solidFill>
          <a:ln/>
        </p:spPr>
      </p:sp>
      <p:sp>
        <p:nvSpPr>
          <p:cNvPr id="39" name="Text 37"/>
          <p:cNvSpPr txBox="1"/>
          <p:nvPr/>
        </p:nvSpPr>
        <p:spPr>
          <a:xfrm>
            <a:off x="6397600" y="441655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Block 2</a:t>
            </a:r>
            <a:endParaRPr lang="en-US" sz="1100" dirty="0"/>
          </a:p>
        </p:txBody>
      </p:sp>
      <p:sp>
        <p:nvSpPr>
          <p:cNvPr id="40" name="Text 38"/>
          <p:cNvSpPr txBox="1"/>
          <p:nvPr/>
        </p:nvSpPr>
        <p:spPr>
          <a:xfrm>
            <a:off x="7741768" y="4288536"/>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IEEE 830, Volere</a:t>
            </a:r>
            <a:endParaRPr lang="en-US" sz="1400" dirty="0"/>
          </a:p>
          <a:p>
            <a:pPr indent="0" marL="0">
              <a:buNone/>
            </a:pPr>
            <a:r>
              <a:rPr lang="en-US" sz="1200" dirty="0">
                <a:solidFill>
                  <a:schemeClr val="tx2"/>
                </a:solidFill>
              </a:rPr>
              <a:t>Gliederung, Attribute der Snow Card</a:t>
            </a:r>
            <a:endParaRPr lang="en-US" sz="1400" dirty="0"/>
          </a:p>
        </p:txBody>
      </p:sp>
      <p:sp>
        <p:nvSpPr>
          <p:cNvPr id="41" name="Kurs Satzschablone, Use Cases, Traceability"/>
          <p:cNvSpPr/>
          <p:nvPr/>
        </p:nvSpPr>
        <p:spPr>
          <a:xfrm>
            <a:off x="6233008" y="4992624"/>
            <a:ext cx="5410048" cy="676656"/>
          </a:xfrm>
          <a:prstGeom prst="roundRect">
            <a:avLst>
              <a:gd name="adj" fmla="val 16216"/>
            </a:avLst>
          </a:prstGeom>
          <a:solidFill>
            <a:schemeClr val="bg2"/>
          </a:solidFill>
          <a:ln/>
        </p:spPr>
      </p:sp>
      <p:sp>
        <p:nvSpPr>
          <p:cNvPr id="42" name="Etikett Block 4/5/7"/>
          <p:cNvSpPr/>
          <p:nvPr/>
        </p:nvSpPr>
        <p:spPr>
          <a:xfrm>
            <a:off x="6397600" y="5184648"/>
            <a:ext cx="1188720" cy="292608"/>
          </a:xfrm>
          <a:prstGeom prst="roundRect">
            <a:avLst>
              <a:gd name="adj" fmla="val 50000"/>
            </a:avLst>
          </a:prstGeom>
          <a:solidFill>
            <a:schemeClr val="accent1"/>
          </a:solidFill>
          <a:ln/>
        </p:spPr>
      </p:sp>
      <p:sp>
        <p:nvSpPr>
          <p:cNvPr id="43" name="Text 41"/>
          <p:cNvSpPr txBox="1"/>
          <p:nvPr/>
        </p:nvSpPr>
        <p:spPr>
          <a:xfrm>
            <a:off x="6397600" y="51846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rPr>
              <a:t>Block 4/5/7</a:t>
            </a:r>
            <a:endParaRPr lang="en-US" sz="1100" dirty="0"/>
          </a:p>
        </p:txBody>
      </p:sp>
      <p:sp>
        <p:nvSpPr>
          <p:cNvPr id="44" name="Text 42"/>
          <p:cNvSpPr txBox="1"/>
          <p:nvPr/>
        </p:nvSpPr>
        <p:spPr>
          <a:xfrm>
            <a:off x="7741768" y="5056632"/>
            <a:ext cx="3718408" cy="548640"/>
          </a:xfrm>
          <a:prstGeom prst="rect">
            <a:avLst/>
          </a:prstGeom>
          <a:noFill/>
          <a:ln/>
        </p:spPr>
        <p:txBody>
          <a:bodyPr wrap="square" lIns="0" tIns="0" rIns="0" bIns="0" rtlCol="0" anchor="ctr"/>
          <a:lstStyle/>
          <a:p>
            <a:pPr indent="0" marL="0">
              <a:buNone/>
            </a:pPr>
            <a:r>
              <a:rPr lang="en-US" sz="1400" b="1" dirty="0">
                <a:solidFill>
                  <a:schemeClr val="tx1"/>
                </a:solidFill>
              </a:rPr>
              <a:t>Satzschablone, Use Cases, Traceability</a:t>
            </a:r>
            <a:endParaRPr lang="en-US" sz="1400" dirty="0"/>
          </a:p>
          <a:p>
            <a:pPr indent="0" marL="0">
              <a:buNone/>
            </a:pPr>
            <a:r>
              <a:rPr lang="en-US" sz="1200" dirty="0">
                <a:solidFill>
                  <a:schemeClr val="tx2"/>
                </a:solidFill>
              </a:rPr>
              <a:t>Rupp-Schablone, UC-01–09, Matrix</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1051560"/>
            <a:ext cx="6400800" cy="320040"/>
          </a:xfrm>
          <a:prstGeom prst="rect">
            <a:avLst/>
          </a:prstGeom>
          <a:noFill/>
          <a:ln/>
        </p:spPr>
        <p:txBody>
          <a:bodyPr wrap="square" lIns="0" tIns="0" rIns="0" bIns="0" rtlCol="0" anchor="t"/>
          <a:lstStyle/>
          <a:p>
            <a:pPr indent="0" marL="0">
              <a:buNone/>
            </a:pPr>
            <a:r>
              <a:rPr lang="en-US" sz="1300" b="1" spc="300" kern="0" dirty="0">
                <a:solidFill>
                  <a:schemeClr val="accent3"/>
                </a:solidFill>
              </a:rPr>
              <a:t>DISKUSSION · BLITZUMFRAGE</a:t>
            </a:r>
            <a:endParaRPr lang="en-US" sz="1300" dirty="0"/>
          </a:p>
        </p:txBody>
      </p:sp>
      <p:sp>
        <p:nvSpPr>
          <p:cNvPr id="3" name="Text 1"/>
          <p:cNvSpPr txBox="1"/>
          <p:nvPr/>
        </p:nvSpPr>
        <p:spPr>
          <a:xfrm>
            <a:off x="640080" y="1554480"/>
            <a:ext cx="10515600" cy="548640"/>
          </a:xfrm>
          <a:prstGeom prst="rect">
            <a:avLst/>
          </a:prstGeom>
          <a:noFill/>
          <a:ln/>
        </p:spPr>
        <p:txBody>
          <a:bodyPr wrap="square" lIns="0" tIns="0" rIns="0" bIns="0" rtlCol="0" anchor="t"/>
          <a:lstStyle/>
          <a:p>
            <a:pPr indent="0" marL="0">
              <a:buNone/>
            </a:pPr>
            <a:r>
              <a:rPr lang="en-US" sz="2400" dirty="0">
                <a:solidFill>
                  <a:schemeClr val="accent6"/>
                </a:solidFill>
              </a:rPr>
              <a:t>FA-04: Kundinnen und Kunden reservieren selbst online.</a:t>
            </a:r>
            <a:endParaRPr lang="en-US" sz="2400" dirty="0"/>
          </a:p>
        </p:txBody>
      </p:sp>
      <p:sp>
        <p:nvSpPr>
          <p:cNvPr id="4" name="Text 2"/>
          <p:cNvSpPr txBox="1"/>
          <p:nvPr/>
        </p:nvSpPr>
        <p:spPr>
          <a:xfrm>
            <a:off x="640080" y="2148840"/>
            <a:ext cx="10515600" cy="1005840"/>
          </a:xfrm>
          <a:prstGeom prst="rect">
            <a:avLst/>
          </a:prstGeom>
          <a:noFill/>
          <a:ln/>
        </p:spPr>
        <p:txBody>
          <a:bodyPr wrap="square" lIns="0" tIns="0" rIns="0" bIns="0" rtlCol="0" anchor="t"/>
          <a:lstStyle/>
          <a:p>
            <a:pPr indent="0" marL="0">
              <a:buNone/>
            </a:pPr>
            <a:r>
              <a:rPr lang="en-US" sz="5200" b="1" dirty="0">
                <a:solidFill>
                  <a:schemeClr val="bg1"/>
                </a:solidFill>
              </a:rPr>
              <a:t>Muss, Soll oder Wunsch?</a:t>
            </a:r>
            <a:endParaRPr lang="en-US" sz="5200" dirty="0"/>
          </a:p>
        </p:txBody>
      </p:sp>
      <p:sp>
        <p:nvSpPr>
          <p:cNvPr id="5" name="Option Must"/>
          <p:cNvSpPr/>
          <p:nvPr/>
        </p:nvSpPr>
        <p:spPr>
          <a:xfrm>
            <a:off x="640080" y="3520440"/>
            <a:ext cx="3291840" cy="1417320"/>
          </a:xfrm>
          <a:prstGeom prst="roundRect">
            <a:avLst>
              <a:gd name="adj" fmla="val 7742"/>
            </a:avLst>
          </a:prstGeom>
          <a:solidFill>
            <a:schemeClr val="tx1"/>
          </a:solidFill>
          <a:ln w="19050">
            <a:solidFill>
              <a:schemeClr val="accent3"/>
            </a:solidFill>
            <a:prstDash val="solid"/>
          </a:ln>
        </p:spPr>
      </p:sp>
      <p:sp>
        <p:nvSpPr>
          <p:cNvPr id="6" name="Text 4"/>
          <p:cNvSpPr txBox="1"/>
          <p:nvPr/>
        </p:nvSpPr>
        <p:spPr>
          <a:xfrm>
            <a:off x="868680" y="3657600"/>
            <a:ext cx="2834640" cy="548640"/>
          </a:xfrm>
          <a:prstGeom prst="rect">
            <a:avLst/>
          </a:prstGeom>
          <a:noFill/>
          <a:ln/>
        </p:spPr>
        <p:txBody>
          <a:bodyPr wrap="square" lIns="0" tIns="0" rIns="0" bIns="0" rtlCol="0" anchor="t"/>
          <a:lstStyle/>
          <a:p>
            <a:pPr indent="0" marL="0">
              <a:buNone/>
            </a:pPr>
            <a:r>
              <a:rPr lang="en-US" sz="2800" b="1" dirty="0">
                <a:solidFill>
                  <a:schemeClr val="accent3"/>
                </a:solidFill>
              </a:rPr>
              <a:t>Must</a:t>
            </a:r>
            <a:endParaRPr lang="en-US" sz="2800" dirty="0"/>
          </a:p>
        </p:txBody>
      </p:sp>
      <p:sp>
        <p:nvSpPr>
          <p:cNvPr id="7" name="Text 5"/>
          <p:cNvSpPr txBox="1"/>
          <p:nvPr/>
        </p:nvSpPr>
        <p:spPr>
          <a:xfrm>
            <a:off x="868680" y="4251960"/>
            <a:ext cx="2834640" cy="548640"/>
          </a:xfrm>
          <a:prstGeom prst="rect">
            <a:avLst/>
          </a:prstGeom>
          <a:noFill/>
          <a:ln/>
        </p:spPr>
        <p:txBody>
          <a:bodyPr wrap="square" lIns="0" tIns="0" rIns="0" bIns="0" rtlCol="0" anchor="t"/>
          <a:lstStyle/>
          <a:p>
            <a:pPr indent="0" marL="0">
              <a:buNone/>
            </a:pPr>
            <a:r>
              <a:rPr lang="en-US" sz="1500" dirty="0">
                <a:solidFill>
                  <a:schemeClr val="bg1"/>
                </a:solidFill>
              </a:rPr>
              <a:t>Ohne Online-Reservation kein Fortschritt</a:t>
            </a:r>
            <a:endParaRPr lang="en-US" sz="1500" dirty="0"/>
          </a:p>
        </p:txBody>
      </p:sp>
      <p:sp>
        <p:nvSpPr>
          <p:cNvPr id="8" name="Option Should"/>
          <p:cNvSpPr/>
          <p:nvPr/>
        </p:nvSpPr>
        <p:spPr>
          <a:xfrm>
            <a:off x="4206240" y="3520440"/>
            <a:ext cx="3291840" cy="1417320"/>
          </a:xfrm>
          <a:prstGeom prst="roundRect">
            <a:avLst>
              <a:gd name="adj" fmla="val 7742"/>
            </a:avLst>
          </a:prstGeom>
          <a:solidFill>
            <a:schemeClr val="tx1"/>
          </a:solidFill>
          <a:ln w="19050">
            <a:solidFill>
              <a:schemeClr val="accent3"/>
            </a:solidFill>
            <a:prstDash val="solid"/>
          </a:ln>
        </p:spPr>
      </p:sp>
      <p:sp>
        <p:nvSpPr>
          <p:cNvPr id="9" name="Text 7"/>
          <p:cNvSpPr txBox="1"/>
          <p:nvPr/>
        </p:nvSpPr>
        <p:spPr>
          <a:xfrm>
            <a:off x="4434840" y="3657600"/>
            <a:ext cx="2834640" cy="548640"/>
          </a:xfrm>
          <a:prstGeom prst="rect">
            <a:avLst/>
          </a:prstGeom>
          <a:noFill/>
          <a:ln/>
        </p:spPr>
        <p:txBody>
          <a:bodyPr wrap="square" lIns="0" tIns="0" rIns="0" bIns="0" rtlCol="0" anchor="t"/>
          <a:lstStyle/>
          <a:p>
            <a:pPr indent="0" marL="0">
              <a:buNone/>
            </a:pPr>
            <a:r>
              <a:rPr lang="en-US" sz="2800" b="1" dirty="0">
                <a:solidFill>
                  <a:schemeClr val="accent3"/>
                </a:solidFill>
              </a:rPr>
              <a:t>Should</a:t>
            </a:r>
            <a:endParaRPr lang="en-US" sz="2800" dirty="0"/>
          </a:p>
        </p:txBody>
      </p:sp>
      <p:sp>
        <p:nvSpPr>
          <p:cNvPr id="10" name="Text 8"/>
          <p:cNvSpPr txBox="1"/>
          <p:nvPr/>
        </p:nvSpPr>
        <p:spPr>
          <a:xfrm>
            <a:off x="4434840" y="4251960"/>
            <a:ext cx="2834640" cy="548640"/>
          </a:xfrm>
          <a:prstGeom prst="rect">
            <a:avLst/>
          </a:prstGeom>
          <a:noFill/>
          <a:ln/>
        </p:spPr>
        <p:txBody>
          <a:bodyPr wrap="square" lIns="0" tIns="0" rIns="0" bIns="0" rtlCol="0" anchor="t"/>
          <a:lstStyle/>
          <a:p>
            <a:pPr indent="0" marL="0">
              <a:buNone/>
            </a:pPr>
            <a:r>
              <a:rPr lang="en-US" sz="1500" dirty="0">
                <a:solidFill>
                  <a:schemeClr val="bg1"/>
                </a:solidFill>
              </a:rPr>
              <a:t>Wichtig, aber zum Start verzichtbar</a:t>
            </a:r>
            <a:endParaRPr lang="en-US" sz="1500" dirty="0"/>
          </a:p>
        </p:txBody>
      </p:sp>
      <p:sp>
        <p:nvSpPr>
          <p:cNvPr id="11" name="Option Could"/>
          <p:cNvSpPr/>
          <p:nvPr/>
        </p:nvSpPr>
        <p:spPr>
          <a:xfrm>
            <a:off x="7772400" y="3520440"/>
            <a:ext cx="3291840" cy="1417320"/>
          </a:xfrm>
          <a:prstGeom prst="roundRect">
            <a:avLst>
              <a:gd name="adj" fmla="val 7742"/>
            </a:avLst>
          </a:prstGeom>
          <a:solidFill>
            <a:schemeClr val="tx1"/>
          </a:solidFill>
          <a:ln w="19050">
            <a:solidFill>
              <a:schemeClr val="accent3"/>
            </a:solidFill>
            <a:prstDash val="solid"/>
          </a:ln>
        </p:spPr>
      </p:sp>
      <p:sp>
        <p:nvSpPr>
          <p:cNvPr id="12" name="Text 10"/>
          <p:cNvSpPr txBox="1"/>
          <p:nvPr/>
        </p:nvSpPr>
        <p:spPr>
          <a:xfrm>
            <a:off x="8001000" y="3657600"/>
            <a:ext cx="2834640" cy="548640"/>
          </a:xfrm>
          <a:prstGeom prst="rect">
            <a:avLst/>
          </a:prstGeom>
          <a:noFill/>
          <a:ln/>
        </p:spPr>
        <p:txBody>
          <a:bodyPr wrap="square" lIns="0" tIns="0" rIns="0" bIns="0" rtlCol="0" anchor="t"/>
          <a:lstStyle/>
          <a:p>
            <a:pPr indent="0" marL="0">
              <a:buNone/>
            </a:pPr>
            <a:r>
              <a:rPr lang="en-US" sz="2800" b="1" dirty="0">
                <a:solidFill>
                  <a:schemeClr val="accent3"/>
                </a:solidFill>
              </a:rPr>
              <a:t>Could</a:t>
            </a:r>
            <a:endParaRPr lang="en-US" sz="2800" dirty="0"/>
          </a:p>
        </p:txBody>
      </p:sp>
      <p:sp>
        <p:nvSpPr>
          <p:cNvPr id="13" name="Text 11"/>
          <p:cNvSpPr txBox="1"/>
          <p:nvPr/>
        </p:nvSpPr>
        <p:spPr>
          <a:xfrm>
            <a:off x="8001000" y="4251960"/>
            <a:ext cx="2834640" cy="548640"/>
          </a:xfrm>
          <a:prstGeom prst="rect">
            <a:avLst/>
          </a:prstGeom>
          <a:noFill/>
          <a:ln/>
        </p:spPr>
        <p:txBody>
          <a:bodyPr wrap="square" lIns="0" tIns="0" rIns="0" bIns="0" rtlCol="0" anchor="t"/>
          <a:lstStyle/>
          <a:p>
            <a:pPr indent="0" marL="0">
              <a:buNone/>
            </a:pPr>
            <a:r>
              <a:rPr lang="en-US" sz="1500" dirty="0">
                <a:solidFill>
                  <a:schemeClr val="bg1"/>
                </a:solidFill>
              </a:rPr>
              <a:t>Telefon und Empfang genügen</a:t>
            </a:r>
            <a:endParaRPr lang="en-US" sz="1500" dirty="0"/>
          </a:p>
        </p:txBody>
      </p:sp>
      <p:sp>
        <p:nvSpPr>
          <p:cNvPr id="14" name="Text 12"/>
          <p:cNvSpPr txBox="1"/>
          <p:nvPr/>
        </p:nvSpPr>
        <p:spPr>
          <a:xfrm>
            <a:off x="640080" y="5257800"/>
            <a:ext cx="10515600" cy="411480"/>
          </a:xfrm>
          <a:prstGeom prst="rect">
            <a:avLst/>
          </a:prstGeom>
          <a:noFill/>
          <a:ln/>
        </p:spPr>
        <p:txBody>
          <a:bodyPr wrap="square" lIns="0" tIns="0" rIns="0" bIns="0" rtlCol="0" anchor="t"/>
          <a:lstStyle/>
          <a:p>
            <a:pPr indent="0" marL="0">
              <a:buNone/>
            </a:pPr>
            <a:r>
              <a:rPr lang="en-US" sz="1700" dirty="0">
                <a:solidFill>
                  <a:schemeClr val="accent3"/>
                </a:solidFill>
              </a:rPr>
              <a:t>Handzeichen – und dann: Wer sollte das entscheiden, wir oder der Auftraggeber?</a:t>
            </a:r>
            <a:endParaRPr lang="en-US" sz="1700" dirty="0"/>
          </a:p>
        </p:txBody>
      </p:sp>
      <p:sp>
        <p:nvSpPr>
          <p:cNvPr id="15" name="Text 13"/>
          <p:cNvSpPr txBox="1"/>
          <p:nvPr/>
        </p:nvSpPr>
        <p:spPr>
          <a:xfrm>
            <a:off x="640080" y="5989320"/>
            <a:ext cx="8229600" cy="320040"/>
          </a:xfrm>
          <a:prstGeom prst="rect">
            <a:avLst/>
          </a:prstGeom>
          <a:noFill/>
          <a:ln/>
        </p:spPr>
        <p:txBody>
          <a:bodyPr wrap="square" lIns="0" tIns="0" rIns="0" bIns="0" rtlCol="0" anchor="t"/>
          <a:lstStyle/>
          <a:p>
            <a:pPr indent="0" marL="0">
              <a:buNone/>
            </a:pPr>
            <a:r>
              <a:rPr lang="en-US" sz="1200" dirty="0">
                <a:solidFill>
                  <a:schemeClr val="accent6"/>
                </a:solidFill>
              </a:rPr>
              <a:t>Moderation: Görkem Taspinar · Zeit und Notizen: Ardian Ibrahimaj</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DISKUSSION · FRAGE 2</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Vereine oder Privatkunden – wer bekommt den Dienstagabend?</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Zielkonflikt K-01: feste Vereinsserien erhöhen die Auslastung (GZ-1), nehmen Privatkunden aber die Abendzeiten (GZ-3).</a:t>
            </a:r>
            <a:endParaRPr lang="en-US" sz="1600" dirty="0"/>
          </a:p>
        </p:txBody>
      </p:sp>
      <p:sp>
        <p:nvSpPr>
          <p:cNvPr id="5" name="Vereine"/>
          <p:cNvSpPr/>
          <p:nvPr/>
        </p:nvSpPr>
        <p:spPr>
          <a:xfrm>
            <a:off x="548640" y="1965960"/>
            <a:ext cx="5410048" cy="2148840"/>
          </a:xfrm>
          <a:prstGeom prst="roundRect">
            <a:avLst>
              <a:gd name="adj" fmla="val 5106"/>
            </a:avLst>
          </a:prstGeom>
          <a:solidFill>
            <a:schemeClr val="bg2"/>
          </a:solidFill>
          <a:ln/>
        </p:spPr>
      </p:sp>
      <p:sp>
        <p:nvSpPr>
          <p:cNvPr id="6" name="Vereine Icon Kreis"/>
          <p:cNvSpPr/>
          <p:nvPr/>
        </p:nvSpPr>
        <p:spPr>
          <a:xfrm>
            <a:off x="777240" y="2148840"/>
            <a:ext cx="548640" cy="548640"/>
          </a:xfrm>
          <a:prstGeom prst="ellipse">
            <a:avLst/>
          </a:prstGeom>
          <a:solidFill>
            <a:schemeClr val="accent1"/>
          </a:solidFill>
          <a:ln/>
        </p:spPr>
      </p:sp>
      <p:pic>
        <p:nvPicPr>
          <p:cNvPr id="7" name="Vereine Icon" descr="Users">    </p:cNvPr>
          <p:cNvPicPr>
            <a:picLocks noChangeAspect="1"/>
          </p:cNvPicPr>
          <p:nvPr/>
        </p:nvPicPr>
        <p:blipFill>
          <a:blip r:embed="rId1"/>
          <a:stretch>
            <a:fillRect/>
          </a:stretch>
        </p:blipFill>
        <p:spPr>
          <a:xfrm>
            <a:off x="914400" y="2286000"/>
            <a:ext cx="274320" cy="274320"/>
          </a:xfrm>
          <a:prstGeom prst="rect">
            <a:avLst/>
          </a:prstGeom>
        </p:spPr>
      </p:pic>
      <p:sp>
        <p:nvSpPr>
          <p:cNvPr id="8" name="Text 5"/>
          <p:cNvSpPr txBox="1"/>
          <p:nvPr/>
        </p:nvSpPr>
        <p:spPr>
          <a:xfrm>
            <a:off x="1508760" y="2194560"/>
            <a:ext cx="4221328" cy="411480"/>
          </a:xfrm>
          <a:prstGeom prst="rect">
            <a:avLst/>
          </a:prstGeom>
          <a:noFill/>
          <a:ln/>
        </p:spPr>
        <p:txBody>
          <a:bodyPr wrap="square" lIns="0" tIns="0" rIns="0" bIns="0" rtlCol="0" anchor="t"/>
          <a:lstStyle/>
          <a:p>
            <a:pPr indent="0" marL="0">
              <a:buNone/>
            </a:pPr>
            <a:r>
              <a:rPr lang="en-US" sz="1800" b="1" dirty="0">
                <a:solidFill>
                  <a:schemeClr val="tx1"/>
                </a:solidFill>
              </a:rPr>
              <a:t>Vereine</a:t>
            </a:r>
            <a:endParaRPr lang="en-US" sz="1800" dirty="0"/>
          </a:p>
        </p:txBody>
      </p:sp>
      <p:sp>
        <p:nvSpPr>
          <p:cNvPr id="9" name="Text 6"/>
          <p:cNvSpPr txBox="1"/>
          <p:nvPr/>
        </p:nvSpPr>
        <p:spPr>
          <a:xfrm>
            <a:off x="777240" y="2834640"/>
            <a:ext cx="4952848" cy="1097280"/>
          </a:xfrm>
          <a:prstGeom prst="rect">
            <a:avLst/>
          </a:prstGeom>
          <a:noFill/>
          <a:ln/>
        </p:spPr>
        <p:txBody>
          <a:bodyPr wrap="square" lIns="0" tIns="0" rIns="0" bIns="0" rtlCol="0" anchor="t"/>
          <a:lstStyle/>
          <a:p>
            <a:pPr indent="0" marL="0">
              <a:buNone/>
            </a:pPr>
            <a:r>
              <a:rPr lang="en-US" sz="1500" dirty="0">
                <a:solidFill>
                  <a:schemeClr val="tx2"/>
                </a:solidFill>
              </a:rPr>
              <a:t>wollen für die ganze Saison feste Zeiten zwischen 18 und 21 Uhr – planbarer Umsatz für ArenaOne.</a:t>
            </a:r>
            <a:endParaRPr lang="en-US" sz="1500" dirty="0"/>
          </a:p>
        </p:txBody>
      </p:sp>
      <p:sp>
        <p:nvSpPr>
          <p:cNvPr id="10" name="Privatkunden"/>
          <p:cNvSpPr/>
          <p:nvPr/>
        </p:nvSpPr>
        <p:spPr>
          <a:xfrm>
            <a:off x="6233008" y="1965960"/>
            <a:ext cx="5410048" cy="2148840"/>
          </a:xfrm>
          <a:prstGeom prst="roundRect">
            <a:avLst>
              <a:gd name="adj" fmla="val 5106"/>
            </a:avLst>
          </a:prstGeom>
          <a:solidFill>
            <a:schemeClr val="bg2"/>
          </a:solidFill>
          <a:ln/>
        </p:spPr>
      </p:sp>
      <p:sp>
        <p:nvSpPr>
          <p:cNvPr id="11" name="Privat Icon Kreis"/>
          <p:cNvSpPr/>
          <p:nvPr/>
        </p:nvSpPr>
        <p:spPr>
          <a:xfrm>
            <a:off x="6461608" y="2148840"/>
            <a:ext cx="548640" cy="548640"/>
          </a:xfrm>
          <a:prstGeom prst="ellipse">
            <a:avLst/>
          </a:prstGeom>
          <a:solidFill>
            <a:schemeClr val="accent1"/>
          </a:solidFill>
          <a:ln/>
        </p:spPr>
      </p:sp>
      <p:pic>
        <p:nvPicPr>
          <p:cNvPr id="12" name="Privat Icon" descr="UserRound">    </p:cNvPr>
          <p:cNvPicPr>
            <a:picLocks noChangeAspect="1"/>
          </p:cNvPicPr>
          <p:nvPr/>
        </p:nvPicPr>
        <p:blipFill>
          <a:blip r:embed="rId2"/>
          <a:stretch>
            <a:fillRect/>
          </a:stretch>
        </p:blipFill>
        <p:spPr>
          <a:xfrm>
            <a:off x="6598768" y="2286000"/>
            <a:ext cx="274320" cy="274320"/>
          </a:xfrm>
          <a:prstGeom prst="rect">
            <a:avLst/>
          </a:prstGeom>
        </p:spPr>
      </p:pic>
      <p:sp>
        <p:nvSpPr>
          <p:cNvPr id="13" name="Text 9"/>
          <p:cNvSpPr txBox="1"/>
          <p:nvPr/>
        </p:nvSpPr>
        <p:spPr>
          <a:xfrm>
            <a:off x="7193128" y="2194560"/>
            <a:ext cx="4221328" cy="411480"/>
          </a:xfrm>
          <a:prstGeom prst="rect">
            <a:avLst/>
          </a:prstGeom>
          <a:noFill/>
          <a:ln/>
        </p:spPr>
        <p:txBody>
          <a:bodyPr wrap="square" lIns="0" tIns="0" rIns="0" bIns="0" rtlCol="0" anchor="t"/>
          <a:lstStyle/>
          <a:p>
            <a:pPr indent="0" marL="0">
              <a:buNone/>
            </a:pPr>
            <a:r>
              <a:rPr lang="en-US" sz="1800" b="1" dirty="0">
                <a:solidFill>
                  <a:schemeClr val="tx1"/>
                </a:solidFill>
              </a:rPr>
              <a:t>Privatkundinnen und -kunden</a:t>
            </a:r>
            <a:endParaRPr lang="en-US" sz="1800" dirty="0"/>
          </a:p>
        </p:txBody>
      </p:sp>
      <p:sp>
        <p:nvSpPr>
          <p:cNvPr id="14" name="Text 10"/>
          <p:cNvSpPr txBox="1"/>
          <p:nvPr/>
        </p:nvSpPr>
        <p:spPr>
          <a:xfrm>
            <a:off x="6461608" y="2834640"/>
            <a:ext cx="4952848" cy="1097280"/>
          </a:xfrm>
          <a:prstGeom prst="rect">
            <a:avLst/>
          </a:prstGeom>
          <a:noFill/>
          <a:ln/>
        </p:spPr>
        <p:txBody>
          <a:bodyPr wrap="square" lIns="0" tIns="0" rIns="0" bIns="0" rtlCol="0" anchor="t"/>
          <a:lstStyle/>
          <a:p>
            <a:pPr indent="0" marL="0">
              <a:buNone/>
            </a:pPr>
            <a:r>
              <a:rPr lang="en-US" sz="1500" dirty="0">
                <a:solidFill>
                  <a:schemeClr val="tx2"/>
                </a:solidFill>
              </a:rPr>
              <a:t>spielen nach der Arbeit, entscheiden kurzfristig – und finden abends keinen freien Platz mehr.</a:t>
            </a:r>
            <a:endParaRPr lang="en-US" sz="1500" dirty="0"/>
          </a:p>
        </p:txBody>
      </p:sp>
      <p:sp>
        <p:nvSpPr>
          <p:cNvPr id="15" name="Frage"/>
          <p:cNvSpPr/>
          <p:nvPr/>
        </p:nvSpPr>
        <p:spPr>
          <a:xfrm>
            <a:off x="548640" y="4343400"/>
            <a:ext cx="11094415" cy="1463040"/>
          </a:xfrm>
          <a:prstGeom prst="roundRect">
            <a:avLst>
              <a:gd name="adj" fmla="val 7500"/>
            </a:avLst>
          </a:prstGeom>
          <a:solidFill>
            <a:schemeClr val="tx1"/>
          </a:solidFill>
          <a:ln/>
        </p:spPr>
      </p:sp>
      <p:sp>
        <p:nvSpPr>
          <p:cNvPr id="16" name="Text 12"/>
          <p:cNvSpPr txBox="1"/>
          <p:nvPr/>
        </p:nvSpPr>
        <p:spPr>
          <a:xfrm>
            <a:off x="868680" y="4480560"/>
            <a:ext cx="10454335" cy="1188720"/>
          </a:xfrm>
          <a:prstGeom prst="rect">
            <a:avLst/>
          </a:prstGeom>
          <a:noFill/>
          <a:ln/>
        </p:spPr>
        <p:txBody>
          <a:bodyPr wrap="square" lIns="0" tIns="0" rIns="0" bIns="0" rtlCol="0" anchor="ctr"/>
          <a:lstStyle/>
          <a:p>
            <a:pPr indent="0" marL="0">
              <a:buNone/>
            </a:pPr>
            <a:r>
              <a:rPr lang="en-US" sz="1900" b="1" dirty="0">
                <a:solidFill>
                  <a:schemeClr val="bg1"/>
                </a:solidFill>
              </a:rPr>
              <a:t>Schreiben wir eine Regel in die Spezifikation (z. B. höchstens 50 % der Abendstunden für Serien, PA-10) – oder ist das ein Entscheid, den nur die Geschäftsleitung treffen darf?</a:t>
            </a:r>
            <a:endParaRPr lang="en-US" sz="1900" dirty="0"/>
          </a:p>
        </p:txBody>
      </p:sp>
      <p:sp>
        <p:nvSpPr>
          <p:cNvPr id="17" name="Text 13"/>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Annahme  </a:t>
            </a:r>
            <a:pPr indent="0" marL="0">
              <a:buNone/>
            </a:pPr>
            <a:r>
              <a:rPr lang="en-US" sz="1100" dirty="0">
                <a:solidFill>
                  <a:schemeClr val="tx2"/>
                </a:solidFill>
              </a:rPr>
              <a:t>Die 50 % stammen aus dem Probelauf (S-04: «Hälfte oder ein Drittel»), nicht von Gruppe 2.</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DISKUSSION · FRAGE 3</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Darf eine simulierte Antwort in die Spezifikation?</a:t>
            </a:r>
            <a:endParaRPr lang="en-US" sz="32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600" dirty="0">
                <a:solidFill>
                  <a:schemeClr val="tx2"/>
                </a:solidFill>
              </a:rPr>
              <a:t>Unser Probelauf nannte eine Stornofrist von 24 Stunden. Gruppe 2 hat dazu noch nichts gesagt.</a:t>
            </a:r>
            <a:endParaRPr lang="en-US" sz="1600" dirty="0"/>
          </a:p>
        </p:txBody>
      </p:sp>
      <p:sp>
        <p:nvSpPr>
          <p:cNvPr id="5" name="Option Ja, als Annahme"/>
          <p:cNvSpPr/>
          <p:nvPr/>
        </p:nvSpPr>
        <p:spPr>
          <a:xfrm>
            <a:off x="548640" y="1965960"/>
            <a:ext cx="3545738" cy="2286000"/>
          </a:xfrm>
          <a:prstGeom prst="roundRect">
            <a:avLst>
              <a:gd name="adj" fmla="val 4800"/>
            </a:avLst>
          </a:prstGeom>
          <a:solidFill>
            <a:schemeClr val="accent4"/>
          </a:solidFill>
          <a:ln/>
        </p:spPr>
      </p:sp>
      <p:sp>
        <p:nvSpPr>
          <p:cNvPr id="6" name="Text 4"/>
          <p:cNvSpPr txBox="1"/>
          <p:nvPr/>
        </p:nvSpPr>
        <p:spPr>
          <a:xfrm>
            <a:off x="777240" y="2148840"/>
            <a:ext cx="3088538" cy="457200"/>
          </a:xfrm>
          <a:prstGeom prst="rect">
            <a:avLst/>
          </a:prstGeom>
          <a:noFill/>
          <a:ln/>
        </p:spPr>
        <p:txBody>
          <a:bodyPr wrap="square" lIns="0" tIns="0" rIns="0" bIns="0" rtlCol="0" anchor="t"/>
          <a:lstStyle/>
          <a:p>
            <a:pPr indent="0" marL="0">
              <a:buNone/>
            </a:pPr>
            <a:r>
              <a:rPr lang="en-US" sz="2000" b="1" dirty="0">
                <a:solidFill>
                  <a:schemeClr val="accent1"/>
                </a:solidFill>
              </a:rPr>
              <a:t>Ja, als Annahme</a:t>
            </a:r>
            <a:endParaRPr lang="en-US" sz="2000" dirty="0"/>
          </a:p>
        </p:txBody>
      </p:sp>
      <p:sp>
        <p:nvSpPr>
          <p:cNvPr id="7" name="Text 5"/>
          <p:cNvSpPr txBox="1"/>
          <p:nvPr/>
        </p:nvSpPr>
        <p:spPr>
          <a:xfrm>
            <a:off x="777240" y="2697480"/>
            <a:ext cx="3088538" cy="1417320"/>
          </a:xfrm>
          <a:prstGeom prst="rect">
            <a:avLst/>
          </a:prstGeom>
          <a:noFill/>
          <a:ln/>
        </p:spPr>
        <p:txBody>
          <a:bodyPr wrap="square" lIns="0" tIns="0" rIns="0" bIns="0" rtlCol="0" anchor="t"/>
          <a:lstStyle/>
          <a:p>
            <a:pPr indent="0" marL="0">
              <a:buNone/>
            </a:pPr>
            <a:r>
              <a:rPr lang="en-US" sz="1500" dirty="0">
                <a:solidFill>
                  <a:schemeClr val="tx2"/>
                </a:solidFill>
              </a:rPr>
              <a:t>markiert mit Quelle S, wird im Interview bestätigt oder gestrichen – so machen wir es (PA-04)</a:t>
            </a:r>
            <a:endParaRPr lang="en-US" sz="1500" dirty="0"/>
          </a:p>
        </p:txBody>
      </p:sp>
      <p:sp>
        <p:nvSpPr>
          <p:cNvPr id="8" name="Option Nein"/>
          <p:cNvSpPr/>
          <p:nvPr/>
        </p:nvSpPr>
        <p:spPr>
          <a:xfrm>
            <a:off x="4322978" y="1965960"/>
            <a:ext cx="3545738" cy="2286000"/>
          </a:xfrm>
          <a:prstGeom prst="roundRect">
            <a:avLst>
              <a:gd name="adj" fmla="val 4800"/>
            </a:avLst>
          </a:prstGeom>
          <a:solidFill>
            <a:schemeClr val="bg2"/>
          </a:solidFill>
          <a:ln/>
        </p:spPr>
      </p:sp>
      <p:sp>
        <p:nvSpPr>
          <p:cNvPr id="9" name="Text 7"/>
          <p:cNvSpPr txBox="1"/>
          <p:nvPr/>
        </p:nvSpPr>
        <p:spPr>
          <a:xfrm>
            <a:off x="4551578" y="2148840"/>
            <a:ext cx="3088538" cy="457200"/>
          </a:xfrm>
          <a:prstGeom prst="rect">
            <a:avLst/>
          </a:prstGeom>
          <a:noFill/>
          <a:ln/>
        </p:spPr>
        <p:txBody>
          <a:bodyPr wrap="square" lIns="0" tIns="0" rIns="0" bIns="0" rtlCol="0" anchor="t"/>
          <a:lstStyle/>
          <a:p>
            <a:pPr indent="0" marL="0">
              <a:buNone/>
            </a:pPr>
            <a:r>
              <a:rPr lang="en-US" sz="2000" b="1" dirty="0">
                <a:solidFill>
                  <a:schemeClr val="tx1"/>
                </a:solidFill>
              </a:rPr>
              <a:t>Nein</a:t>
            </a:r>
            <a:endParaRPr lang="en-US" sz="2000" dirty="0"/>
          </a:p>
        </p:txBody>
      </p:sp>
      <p:sp>
        <p:nvSpPr>
          <p:cNvPr id="10" name="Text 8"/>
          <p:cNvSpPr txBox="1"/>
          <p:nvPr/>
        </p:nvSpPr>
        <p:spPr>
          <a:xfrm>
            <a:off x="4551578" y="2697480"/>
            <a:ext cx="3088538" cy="1417320"/>
          </a:xfrm>
          <a:prstGeom prst="rect">
            <a:avLst/>
          </a:prstGeom>
          <a:noFill/>
          <a:ln/>
        </p:spPr>
        <p:txBody>
          <a:bodyPr wrap="square" lIns="0" tIns="0" rIns="0" bIns="0" rtlCol="0" anchor="t"/>
          <a:lstStyle/>
          <a:p>
            <a:pPr indent="0" marL="0">
              <a:buNone/>
            </a:pPr>
            <a:r>
              <a:rPr lang="en-US" sz="1500" dirty="0">
                <a:solidFill>
                  <a:schemeClr val="tx2"/>
                </a:solidFill>
              </a:rPr>
              <a:t>nur was der Auftraggeber sagt, gehört hinein; der Rest bleibt eine offene Frage</a:t>
            </a:r>
            <a:endParaRPr lang="en-US" sz="1500" dirty="0"/>
          </a:p>
        </p:txBody>
      </p:sp>
      <p:sp>
        <p:nvSpPr>
          <p:cNvPr id="11" name="Option Nur als Frage"/>
          <p:cNvSpPr/>
          <p:nvPr/>
        </p:nvSpPr>
        <p:spPr>
          <a:xfrm>
            <a:off x="8097317" y="1965960"/>
            <a:ext cx="3545738" cy="2286000"/>
          </a:xfrm>
          <a:prstGeom prst="roundRect">
            <a:avLst>
              <a:gd name="adj" fmla="val 4800"/>
            </a:avLst>
          </a:prstGeom>
          <a:solidFill>
            <a:schemeClr val="bg2"/>
          </a:solidFill>
          <a:ln/>
        </p:spPr>
      </p:sp>
      <p:sp>
        <p:nvSpPr>
          <p:cNvPr id="12" name="Text 10"/>
          <p:cNvSpPr txBox="1"/>
          <p:nvPr/>
        </p:nvSpPr>
        <p:spPr>
          <a:xfrm>
            <a:off x="8325917" y="2148840"/>
            <a:ext cx="3088538" cy="457200"/>
          </a:xfrm>
          <a:prstGeom prst="rect">
            <a:avLst/>
          </a:prstGeom>
          <a:noFill/>
          <a:ln/>
        </p:spPr>
        <p:txBody>
          <a:bodyPr wrap="square" lIns="0" tIns="0" rIns="0" bIns="0" rtlCol="0" anchor="t"/>
          <a:lstStyle/>
          <a:p>
            <a:pPr indent="0" marL="0">
              <a:buNone/>
            </a:pPr>
            <a:r>
              <a:rPr lang="en-US" sz="2000" b="1" dirty="0">
                <a:solidFill>
                  <a:schemeClr val="tx1"/>
                </a:solidFill>
              </a:rPr>
              <a:t>Nur als Frage</a:t>
            </a:r>
            <a:endParaRPr lang="en-US" sz="2000" dirty="0"/>
          </a:p>
        </p:txBody>
      </p:sp>
      <p:sp>
        <p:nvSpPr>
          <p:cNvPr id="13" name="Text 11"/>
          <p:cNvSpPr txBox="1"/>
          <p:nvPr/>
        </p:nvSpPr>
        <p:spPr>
          <a:xfrm>
            <a:off x="8325917" y="2697480"/>
            <a:ext cx="3088538" cy="1417320"/>
          </a:xfrm>
          <a:prstGeom prst="rect">
            <a:avLst/>
          </a:prstGeom>
          <a:noFill/>
          <a:ln/>
        </p:spPr>
        <p:txBody>
          <a:bodyPr wrap="square" lIns="0" tIns="0" rIns="0" bIns="0" rtlCol="0" anchor="t"/>
          <a:lstStyle/>
          <a:p>
            <a:pPr indent="0" marL="0">
              <a:buNone/>
            </a:pPr>
            <a:r>
              <a:rPr lang="en-US" sz="1500" dirty="0">
                <a:solidFill>
                  <a:schemeClr val="tx2"/>
                </a:solidFill>
              </a:rPr>
              <a:t>die Zahl steht im Interviewleitfaden, aber nicht in der Spezifikation</a:t>
            </a:r>
            <a:endParaRPr lang="en-US" sz="1500" dirty="0"/>
          </a:p>
        </p:txBody>
      </p:sp>
      <p:sp>
        <p:nvSpPr>
          <p:cNvPr id="14" name="Frage"/>
          <p:cNvSpPr/>
          <p:nvPr/>
        </p:nvSpPr>
        <p:spPr>
          <a:xfrm>
            <a:off x="548640" y="4480560"/>
            <a:ext cx="11094415" cy="1325880"/>
          </a:xfrm>
          <a:prstGeom prst="roundRect">
            <a:avLst>
              <a:gd name="adj" fmla="val 8276"/>
            </a:avLst>
          </a:prstGeom>
          <a:solidFill>
            <a:schemeClr val="tx1"/>
          </a:solidFill>
          <a:ln/>
        </p:spPr>
      </p:sp>
      <p:sp>
        <p:nvSpPr>
          <p:cNvPr id="15" name="Text 13"/>
          <p:cNvSpPr txBox="1"/>
          <p:nvPr/>
        </p:nvSpPr>
        <p:spPr>
          <a:xfrm>
            <a:off x="868680" y="4572000"/>
            <a:ext cx="10454335" cy="1143000"/>
          </a:xfrm>
          <a:prstGeom prst="rect">
            <a:avLst/>
          </a:prstGeom>
          <a:noFill/>
          <a:ln/>
        </p:spPr>
        <p:txBody>
          <a:bodyPr wrap="square" lIns="0" tIns="0" rIns="0" bIns="0" rtlCol="0" anchor="ctr"/>
          <a:lstStyle/>
          <a:p>
            <a:pPr indent="0" marL="0">
              <a:buNone/>
            </a:pPr>
            <a:r>
              <a:rPr lang="en-US" sz="1900" b="1" dirty="0">
                <a:solidFill>
                  <a:schemeClr val="bg1"/>
                </a:solidFill>
              </a:rPr>
              <a:t>Wo endet Vorbereitung, und wo beginnt «Lösungs- statt Anforderungsdenken»? Hilft eine Simulation dem Auftraggeber – oder lenkt sie ihn?</a:t>
            </a:r>
            <a:endParaRPr lang="en-US" sz="19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BACKUP · ANFORDERUNGSLISTE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Funktionale Anforderungen (1/2)</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731520"/>
                <a:gridCol w="4023360"/>
                <a:gridCol w="777240"/>
                <a:gridCol w="1600200"/>
                <a:gridCol w="1554480"/>
                <a:gridCol w="2407615"/>
              </a:tblGrid>
              <a:tr h="23774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Anforderung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Prio</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Ziele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Use Cases</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Art der Quelle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Verfügbarkeit für Kunden anzeigen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GZ-3, PDZ-1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Gesamtbelegung für den Empfang anzeigen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PDZ-1, PZ-1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UC-01, UC-06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Belegung aktuell halten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PDZ-1, 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Einzelreservation online vornehmen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GZ-2, GZ-3, PDZ-2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Reservation im Auftrag erfassen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PDZ-2, PZ-1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UC-02, UC-06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Doppelbuchung verhindern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UC-02, UC-06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FA-07</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Kundenkonto führen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UC-02, UC-06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FA-08</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Organisationen mit mehreren Berechtigten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FA-09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Eigene Reservation verschieben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GZ-3, PDZ-2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FA-10</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Eigene Reservation stornieren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PDZ-2, PZ-2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Reservationen im Auftrag ändern und stornieren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UC-04, UC-06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Zeitfenster nach Stornierung freigeben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GZ-1, PZ-2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Auf Warteliste eintragen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GZ-1, PZ-2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Benchmark</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Warteliste benachrichtigen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PDZ-5, PZ-2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Nachrücken nach dem Prinzip «wer zuerst bestätigt»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Serie beantragen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PDZ-4, PZ-4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FA-17</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Konflikte einer Serie anzeigen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PDZ-4, 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UC-05, UC-06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Benchmark</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FA-18</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Serie bestätigen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PDZ-4, PZ-4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bl>
          </a:graphicData>
        </a:graphic>
      </p:graphicFrame>
      <p:sp>
        <p:nvSpPr>
          <p:cNvPr id="6"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BACKUP · ANFORDERUNGSLISTE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Funktionale Anforderungen (2/2)</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731520"/>
                <a:gridCol w="4023360"/>
                <a:gridCol w="777240"/>
                <a:gridCol w="1600200"/>
                <a:gridCol w="1554480"/>
                <a:gridCol w="2407615"/>
              </a:tblGrid>
              <a:tr h="23774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Anforderung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Prio</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Ziele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Use Cases</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Art der Quelle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FA-19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Einzeltermin einer Serie absagen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PDZ-4, PZ-2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FA-20</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Serienzugehörigkeit erkennen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PDZ-1, PDZ-4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UC-05, UC-06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Bestätigung senden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PDZ-5, 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UC-02, UC-04, UC-05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Erinnerung vor dem Termin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PDZ-5, PZ-2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Benchmark</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Betroffene bei Sperrzeit informieren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PDZ-5, 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UC-07</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Kundengruppen festlegen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PDZ-3, PZ-4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Buchungsregeln je Kundengruppe festlegen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PDZ-3, PZ-4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Kontingente festlegen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GZ-1, PZ-4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FA-27</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Anlage sperren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PDZ-1, 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UC-07</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FA-28</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Betroffene Reservationen bei Sperrzeit anzeigen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UC-07</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FA-29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Auslastung auswerten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GZ-1, PDZ-6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UC-08</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FA-30</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Stornierungen auswerten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PDZ-6, PZ-2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UC-08</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FA-31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Auswertungen exportieren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Could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UC-08</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FA-32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Anlagen und Öffnungszeiten pflegen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FA-33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Benutzer und Rollen verwalten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FA-34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Bestehende Reservationen übernehmen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PZ-1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FA-35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Benachrichtigung per SMS</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Could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UC-02, UC-04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Benchmark</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bl>
          </a:graphicData>
        </a:graphic>
      </p:graphicFrame>
      <p:sp>
        <p:nvSpPr>
          <p:cNvPr id="6"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BACKUP · ANFORDERUNGSLISTE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Qualitätsanforderungen</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731520"/>
                <a:gridCol w="4389120"/>
                <a:gridCol w="777240"/>
                <a:gridCol w="2011680"/>
                <a:gridCol w="3184855"/>
              </a:tblGrid>
              <a:tr h="2468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Anforderung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Prio</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Ziele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Art der Quelle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Erstreservation ohne Hilfe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Schnelle Erfassung am Empfang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Nutzung auf Smartphone und PC</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Sprache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Verfügbarkeit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PDZ-1, PZ-1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Weiterarbeit bei Ausfall</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PZ-1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Simulation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QA-07</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Antwortzeit Verfügbarkeit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QA-08</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Antwortzeit Reservation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QA-09</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Aktualität der Belegung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PDZ-1, 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QA-10</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Datensparsamkeit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Gesetz + Simulation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QA-11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Löschung inaktiver Konten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 (Randbedingung)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Gesetz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QA-12</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Auskunft und Herausgabe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 (Randbedingung)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Gesetz</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QA-13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Rollen und Berechtigungen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QA-14</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Anmeldung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PDZ-3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Gesetz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QA-15</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Änderungen nachvollziehen</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PZ-3</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Folie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246888">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QA-16</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Verschlüsselte Übertragung und Datensicherung</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PZ-1</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00" dirty="0">
                          <a:solidFill>
                            <a:srgbClr val="13293D"/>
                          </a:solidFill>
                          <a:latin typeface="Calibri" pitchFamily="34" charset="0"/>
                          <a:ea typeface="Calibri" pitchFamily="34" charset="-122"/>
                          <a:cs typeface="Calibri" pitchFamily="34" charset="-120"/>
                        </a:rPr>
                        <a:t>Gesetz + Annahme</a:t>
                      </a:r>
                      <a:endParaRPr lang="en-US" sz="10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bl>
          </a:graphicData>
        </a:graphic>
      </p:graphicFrame>
      <p:sp>
        <p:nvSpPr>
          <p:cNvPr id="6"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BACKUP · QA-13</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Berechtigungsmatrix (Vorschlag)</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206240"/>
                <a:gridCol w="1051560"/>
                <a:gridCol w="1280160"/>
                <a:gridCol w="1371600"/>
                <a:gridCol w="1051560"/>
                <a:gridCol w="914400"/>
                <a:gridCol w="1218895"/>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Funktion</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Kunde</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Verein/Firma</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Trainer:in</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Empfang</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GL</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Admin</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Verfügbarkeit sehen (FA-01)</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Gesamtbelegung mit Namen (FA-02)</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eigene Gruppen</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eigene Reservation, Warteliste (FA-04, 09, 10, 13)</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Reservation im Auftrag (FA-05, FA-11)</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Serie beantragen (FA-16)</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Serie bestätigen, Anlage sperren (FA-18, FA-27)</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Regeln, Kundengruppen, Kontingente (FA-24–26)</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Auswertungen (FA-29–31)</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Anlagen, Benutzer, Datenauskunft (FA-32, 33, QA-12)</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algn="ctr" indent="0" marL="0">
                        <a:buNone/>
                      </a:pPr>
                      <a:r>
                        <a:rPr lang="en-US" sz="1200" dirty="0">
                          <a:solidFill>
                            <a:srgbClr val="1329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bl>
          </a:graphicData>
        </a:graphic>
      </p:graphicFrame>
      <p:sp>
        <p:nvSpPr>
          <p:cNvPr id="5" name="Text 2"/>
          <p:cNvSpPr txBox="1"/>
          <p:nvPr/>
        </p:nvSpPr>
        <p:spPr>
          <a:xfrm>
            <a:off x="548640" y="5669280"/>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Annahme  </a:t>
            </a:r>
            <a:pPr indent="0" marL="0">
              <a:buNone/>
            </a:pPr>
            <a:r>
              <a:rPr lang="en-US" sz="1100" dirty="0">
                <a:solidFill>
                  <a:schemeClr val="tx2"/>
                </a:solidFill>
              </a:rPr>
              <a:t>Die Matrix ist unser Vorschlag (A). Ob Trainer:innen selbst reservieren und Serien beantragen, ist offen (OP-08); ob eine Rolle «Betrieb der Anlage» sperren darf, ebenso (OP-19).</a:t>
            </a:r>
            <a:endParaRPr lang="en-US" sz="1100" dirty="0"/>
          </a:p>
        </p:txBody>
      </p:sp>
      <p:sp>
        <p:nvSpPr>
          <p:cNvPr id="7"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BACKUP · KAPITEL 13</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22 offene Punkte für das Interview PVA 5</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822960"/>
                <a:gridCol w="7132320"/>
                <a:gridCol w="3139135"/>
              </a:tblGrid>
              <a:tr h="18288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ID</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Frage an Gruppe 2</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betrifft</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3293D"/>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OP-01</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Zahlen heute und Zielwerte (Anlagen, Öffnungszeiten, Auslastung, Doppelbuchungen)</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Ziele, PA-01, PA-08, PA-09</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OP-02</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Self-Service online? Vorlauf und Anzahl offener Reservationen je Kundengruppe</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FA-04, FA-09, FA-13, QA-01</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OP-03</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Wer beantragt und bestätigt Serien? Saison, Ferien?</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FA-16 bis FA-19</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OP-04</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Preise, Bezahlung, Rechnungen im System?</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WO-01</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OP-05</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Kurzfristige Stornierung: Frist, Gebühr, Unterschiede je Gruppe</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FA-09, FA-10, PA-04</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OP-06</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Warteliste ja? Alle gleichzeitig oder der Reihe nach?</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FA-13 bis FA-15</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OP-07</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Welche Benachrichtigungen, über welchen Kanal?</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FA-21 bis FA-23, FA-35</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OP-08</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Dürfen Trainer:innen selbst reservieren und Serien beantragen?</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FA-16, QA-13</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OP-09</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Wer entscheidet Konflikte zwischen Kundengruppen? Kontingente?</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FA-26</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OP-10</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Eigene IT oder externer Dienstleister?</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QA-05, QA-16</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OP-11</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Zutritt oder Licht im Umfang?</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WO-03</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OP-12</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Einführungstermin, Budget?</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PJ-2</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OP-13</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Mehrzweckhallen ganz oder in Teilen reservierbar?</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FA-06</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OP-14</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Welche Kundendaten mindestens, wo beginnt das CRM?</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FA-07, QA-10</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OP-15</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Form der heutigen Listen, laufende Serien beim Start?</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FA-34</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OP-16</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Weitere Sprachen?</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QA-04</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OP-17</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Wer ist für Datenschutz zuständig, Aufbewahrungsfrist?</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QA-11, PA-07</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OP-18</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Darf der Empfang Buchungsregeln übersteuern? (KI-Versuch)</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FA-05, FA-25</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OP-19</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Rolle «Betrieb der Anlage», die nur sperrt? (KI-Versuch)</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FA-27, QA-13</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OP-20</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Wer legt Kundenkonten an, Selbstregistrierung? (KI-Versuch)</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FA-07, FA-08</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OP-21</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Sehen Kunden belegte Zeitfenster (Warteliste)? (KI-Versuch)</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FA-01, FA-13, QA-14</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3F6F8"/>
                    </a:solidFill>
                  </a:tcPr>
                </a:tc>
              </a:tr>
              <a:tr h="182880">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OP-22</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Sperrzeit: wer sucht Ersatz, zählt es als kurzfristig? (KI-Versuch)</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900" dirty="0">
                          <a:solidFill>
                            <a:srgbClr val="13293D"/>
                          </a:solidFill>
                          <a:latin typeface="Calibri" pitchFamily="34" charset="0"/>
                          <a:ea typeface="Calibri" pitchFamily="34" charset="-122"/>
                          <a:cs typeface="Calibri" pitchFamily="34" charset="-120"/>
                        </a:rPr>
                        <a:t>FA-28, FA-30</a:t>
                      </a:r>
                      <a:endParaRPr lang="en-US" sz="900" dirty="0">
                        <a:latin typeface="Calibri" charset="0"/>
                        <a:ea typeface="Calibri" charset="0"/>
                        <a:cs typeface="Calibri" charset="0"/>
                      </a:endParaRPr>
                    </a:p>
                  </a:txBody>
                  <a:tcPr marL="18288" marR="18288" marT="18288" marB="18288"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bl>
          </a:graphicData>
        </a:graphic>
      </p:graphicFrame>
      <p:sp>
        <p:nvSpPr>
          <p:cNvPr id="6"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BACKUP · SYSTEMKONTEXT</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Kontextdiagramm (Hypothese vor PVA 5)</a:t>
            </a:r>
            <a:endParaRPr lang="en-US" sz="3200" dirty="0"/>
          </a:p>
        </p:txBody>
      </p:sp>
      <p:pic>
        <p:nvPicPr>
          <p:cNvPr id="4" name="Image 0" descr="Kontextdiagramm des Buchungs- und Belegungssystems ArenaOne mit Akteuren und Umsystemen">    </p:cNvPr>
          <p:cNvPicPr>
            <a:picLocks noChangeAspect="1"/>
          </p:cNvPicPr>
          <p:nvPr/>
        </p:nvPicPr>
        <p:blipFill>
          <a:blip r:embed="rId1"/>
          <a:stretch>
            <a:fillRect/>
          </a:stretch>
        </p:blipFill>
        <p:spPr>
          <a:xfrm>
            <a:off x="2227058" y="1508760"/>
            <a:ext cx="7737580" cy="4343400"/>
          </a:xfrm>
          <a:prstGeom prst="rect">
            <a:avLst/>
          </a:prstGeom>
        </p:spPr>
      </p:pic>
      <p:sp>
        <p:nvSpPr>
          <p:cNvPr id="5" name="Text 2"/>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Hypothese  </a:t>
            </a:r>
            <a:pPr indent="0" marL="0">
              <a:buNone/>
            </a:pPr>
            <a:r>
              <a:rPr lang="en-US" sz="1100" dirty="0">
                <a:solidFill>
                  <a:schemeClr val="tx2"/>
                </a:solidFill>
              </a:rPr>
              <a:t>Gestrichelte Umsysteme gibt es vielleicht nicht; ob das System mit ihnen Daten austauscht, ist offen (IF-08 bis IF-12).</a:t>
            </a:r>
            <a:endParaRPr lang="en-US" sz="1100" dirty="0"/>
          </a:p>
        </p:txBody>
      </p:sp>
      <p:sp>
        <p:nvSpPr>
          <p:cNvPr id="7"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BACKUP · KI-EXPERIMENT</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b="1" dirty="0">
                <a:solidFill>
                  <a:schemeClr val="tx1"/>
                </a:solidFill>
              </a:rPr>
              <a:t>Die App, die der KI-Agent aus der Spezifikation gebaut hat</a:t>
            </a:r>
            <a:endParaRPr lang="en-US" sz="3200" dirty="0"/>
          </a:p>
        </p:txBody>
      </p:sp>
      <p:pic>
        <p:nvPicPr>
          <p:cNvPr id="4" name="Image 0" descr="Screenshot der KI-App: screenshots/22-gl-kontingent-fa26.png">    </p:cNvPr>
          <p:cNvPicPr>
            <a:picLocks noChangeAspect="1"/>
          </p:cNvPicPr>
          <p:nvPr/>
        </p:nvPicPr>
        <p:blipFill>
          <a:blip r:embed="rId1"/>
          <a:srcRect l="0" r="0" t="0" b="0"/>
          <a:stretch/>
        </p:blipFill>
        <p:spPr>
          <a:xfrm>
            <a:off x="548640" y="1554480"/>
            <a:ext cx="5410048" cy="4114800"/>
          </a:xfrm>
          <a:prstGeom prst="rect">
            <a:avLst/>
          </a:prstGeom>
        </p:spPr>
      </p:pic>
      <p:pic>
        <p:nvPicPr>
          <p:cNvPr id="5" name="Image 1" descr="Screenshot der KI-App: screenshots/10-warteliste-angebot.png">    </p:cNvPr>
          <p:cNvPicPr>
            <a:picLocks noChangeAspect="1"/>
          </p:cNvPicPr>
          <p:nvPr/>
        </p:nvPicPr>
        <p:blipFill>
          <a:blip r:embed="rId2"/>
          <a:srcRect l="0" r="0" t="0" b="0"/>
          <a:stretch/>
        </p:blipFill>
        <p:spPr>
          <a:xfrm>
            <a:off x="6233008" y="1554480"/>
            <a:ext cx="5410048" cy="4114800"/>
          </a:xfrm>
          <a:prstGeom prst="rect">
            <a:avLst/>
          </a:prstGeom>
        </p:spPr>
      </p:pic>
      <p:sp>
        <p:nvSpPr>
          <p:cNvPr id="6" name="Text 2"/>
          <p:cNvSpPr txBox="1"/>
          <p:nvPr/>
        </p:nvSpPr>
        <p:spPr>
          <a:xfrm>
            <a:off x="548640" y="5852160"/>
            <a:ext cx="11094415" cy="274320"/>
          </a:xfrm>
          <a:prstGeom prst="rect">
            <a:avLst/>
          </a:prstGeom>
          <a:noFill/>
          <a:ln/>
        </p:spPr>
        <p:txBody>
          <a:bodyPr wrap="square" lIns="0" tIns="0" rIns="0" bIns="0" rtlCol="0" anchor="t"/>
          <a:lstStyle/>
          <a:p>
            <a:pPr indent="0" marL="0">
              <a:buNone/>
            </a:pPr>
            <a:r>
              <a:rPr lang="en-US" sz="1100" b="1" dirty="0">
                <a:solidFill>
                  <a:srgbClr val="B7791F"/>
                </a:solidFill>
              </a:rPr>
              <a:t>Hinweis  </a:t>
            </a:r>
            <a:pPr indent="0" marL="0">
              <a:buNone/>
            </a:pPr>
            <a:r>
              <a:rPr lang="en-US" sz="1100" dirty="0">
                <a:solidFill>
                  <a:schemeClr val="tx2"/>
                </a:solidFill>
              </a:rPr>
              <a:t>Prototyp aus einem Test der Spezifikation – kein Lösungsvorschlag an Gruppe 2.</a:t>
            </a:r>
            <a:endParaRPr lang="en-US" sz="1100" dirty="0"/>
          </a:p>
        </p:txBody>
      </p:sp>
      <p:sp>
        <p:nvSpPr>
          <p:cNvPr id="8"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ArenaOne RE">
  <a:themeElements>
    <a:clrScheme name="ArenaOne RE">
      <a:dk1>
        <a:srgbClr val="13293D"/>
      </a:dk1>
      <a:lt1>
        <a:srgbClr val="FFFFFF"/>
      </a:lt1>
      <a:dk2>
        <a:srgbClr val="5A6B7B"/>
      </a:dk2>
      <a:lt2>
        <a:srgbClr val="F3F6F8"/>
      </a:lt2>
      <a:accent1>
        <a:srgbClr val="0A8A7A"/>
      </a:accent1>
      <a:accent2>
        <a:srgbClr val="C4472D"/>
      </a:accent2>
      <a:accent3>
        <a:srgbClr val="6FD1C0"/>
      </a:accent3>
      <a:accent4>
        <a:srgbClr val="E3F3F0"/>
      </a:accent4>
      <a:accent5>
        <a:srgbClr val="FBEAE5"/>
      </a:accent5>
      <a:accent6>
        <a:srgbClr val="D5DDE4"/>
      </a:accent6>
      <a:hlink>
        <a:srgbClr val="0A8A7A"/>
      </a:hlink>
      <a:folHlink>
        <a:srgbClr val="5A6B7B"/>
      </a:folHlink>
    </a:clrScheme>
    <a:fontScheme name="ArenaOne 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ArenaOne – Anforderungsspezifikation Buchungs- und Belegungssystem</dc:title>
  <dc:subject>Requirements Engineering HS26, PVA 9/10, RE-Rolle Gruppe 9 für Gruppe 2</dc:subject>
  <dc:creator>Gruppe 9</dc:creator>
  <cp:lastModifiedBy>Gruppe 9</cp:lastModifiedBy>
  <cp:revision>1</cp:revision>
  <dcterms:created xsi:type="dcterms:W3CDTF">2026-10-25T15:53:21Z</dcterms:created>
  <dcterms:modified xsi:type="dcterms:W3CDTF">2026-10-25T15:53:21Z</dcterms:modified>
</cp:coreProperties>
</file>