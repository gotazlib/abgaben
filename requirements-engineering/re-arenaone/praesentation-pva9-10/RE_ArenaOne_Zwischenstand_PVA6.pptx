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Zwischenstand" id="{c6b2d598-6a89-14a3-534d-a74feeb51da5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 · Görkem Taspinar
Wir sind Gruppe 9 und machen das Requirements Engineering für ArenaOne. Wir arbeiten nach dem Kreislauf von Folie 28. Die erste Runde ist abgeschlossen: Wir haben die Präsentation von Gruppe 2 analysiert, das Interview im Team als Rollenspiel geprobt und daraus die Spezifikation v0.6 geschrieben und intern geprüft. Was noch fehlt, ist das Wichtigste: die Validierung mit Gruppe 2. Damit beginnt die zweite Runde.
[Vor PVA 6 an den echten Stand anpassen.]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 · Ardian Ibrahimaj
In Zahlen: 12 Stakeholder, 9 Use Cases, 35 funktionale und 16 Qualitätsanforderungen. Jede Anforderung hat eine Quelle. 39 gehen auf Folien von Gruppe 2 zurück, 12 nur auf Annahmen, das Gesetz, den Benchmark oder unseren Probelauf. Die prüfen wir mit Gruppe 2 zuerst. Dafür haben wir 22 offene Punkte.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 · Görkem Taspinar
Drei Dinge haben uns überrascht. Erstens: Self-Service ist gar nicht verlangt – diese Frage entscheidet über den Umfang. Zweitens: In den Serien stecken versteckte Anforderungen, etwa das Absagen einzelner Termine. Drittens: Die eigentlichen Konflikte, etwa wer abends spielen darf, können wir nur vorbereiten – entscheiden muss die Geschäftsleitung. Bis PVA 9/10 werten wir das Interview aus, lassen die Spezifikation reviewen und priorisieren, spielen Szenarien durch und holen die Freigabe. Für den Erfahrungsaustausch eine Frage an alle: Wie bringt ihr euren Auftraggeber dazu, Zahlen zu nennen?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dunkel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63825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ArenaOne Sportzentrum AG (fiktiv) · RE Gruppe 9 · Zwischenstand PVA 6 · Spezifikation v0.6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ZWISCHENSTAND PVA 6 · GRUPPE 9 ALS RE FÜR GRUPPE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 wir im RE-Kreislauf stehen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Buchungs- und Belegungssystem ArenaOne · Görkem Taspinar, Ardian Ibrahimaj</a:t>
            </a:r>
            <a:endParaRPr lang="en-US" sz="1600" dirty="0"/>
          </a:p>
        </p:txBody>
      </p:sp>
      <p:sp>
        <p:nvSpPr>
          <p:cNvPr id="5" name="Pfeil 1"/>
          <p:cNvSpPr/>
          <p:nvPr/>
        </p:nvSpPr>
        <p:spPr>
          <a:xfrm>
            <a:off x="2225010" y="2651760"/>
            <a:ext cx="1085027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Phase Ermitteln Kreis"/>
          <p:cNvSpPr/>
          <p:nvPr/>
        </p:nvSpPr>
        <p:spPr>
          <a:xfrm>
            <a:off x="1200882" y="219456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Phase Ermitteln" descr="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9482" y="24231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3291840"/>
            <a:ext cx="21274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Ermitteln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639312"/>
            <a:ext cx="19445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Runde 1 erledigt</a:t>
            </a:r>
            <a:endParaRPr lang="en-US" sz="1300" dirty="0"/>
          </a:p>
        </p:txBody>
      </p:sp>
      <p:sp>
        <p:nvSpPr>
          <p:cNvPr id="10" name="Pfeil 2"/>
          <p:cNvSpPr/>
          <p:nvPr/>
        </p:nvSpPr>
        <p:spPr>
          <a:xfrm>
            <a:off x="4443893" y="2651760"/>
            <a:ext cx="1085027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Phase Dokumentieren Kreis"/>
          <p:cNvSpPr/>
          <p:nvPr/>
        </p:nvSpPr>
        <p:spPr>
          <a:xfrm>
            <a:off x="3419765" y="219456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Phase Dokumentieren" descr="File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365" y="24231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813243" y="3291840"/>
            <a:ext cx="21274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Dokumentieren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904683" y="3639312"/>
            <a:ext cx="19445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Spezifikation v0.6</a:t>
            </a:r>
            <a:endParaRPr lang="en-US" sz="1300" dirty="0"/>
          </a:p>
        </p:txBody>
      </p:sp>
      <p:sp>
        <p:nvSpPr>
          <p:cNvPr id="15" name="Pfeil 3"/>
          <p:cNvSpPr/>
          <p:nvPr/>
        </p:nvSpPr>
        <p:spPr>
          <a:xfrm>
            <a:off x="6662776" y="2651760"/>
            <a:ext cx="1085027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Phase Prüfen &amp; Abstimmen Kreis"/>
          <p:cNvSpPr/>
          <p:nvPr/>
        </p:nvSpPr>
        <p:spPr>
          <a:xfrm>
            <a:off x="5638648" y="2194560"/>
            <a:ext cx="914400" cy="914400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pic>
        <p:nvPicPr>
          <p:cNvPr id="17" name="Image 2" descr="Prüfen &amp; Abstimm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48" y="24231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032126" y="3291840"/>
            <a:ext cx="21274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Prüfen &amp; Abstimmen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123566" y="3639312"/>
            <a:ext cx="19445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intern erledigt, Review offen</a:t>
            </a:r>
            <a:endParaRPr lang="en-US" sz="1300" dirty="0"/>
          </a:p>
        </p:txBody>
      </p:sp>
      <p:sp>
        <p:nvSpPr>
          <p:cNvPr id="20" name="Pfeil 4"/>
          <p:cNvSpPr/>
          <p:nvPr/>
        </p:nvSpPr>
        <p:spPr>
          <a:xfrm>
            <a:off x="8881659" y="2651760"/>
            <a:ext cx="1085027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Phase Verwalten Kreis"/>
          <p:cNvSpPr/>
          <p:nvPr/>
        </p:nvSpPr>
        <p:spPr>
          <a:xfrm>
            <a:off x="7857531" y="219456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Phase Verwalten" descr="GitBran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131" y="242316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51009" y="3291840"/>
            <a:ext cx="21274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Verwalten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7342449" y="3639312"/>
            <a:ext cx="19445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Quellen, Versionen, Matrix</a:t>
            </a:r>
            <a:endParaRPr lang="en-US" sz="1300" dirty="0"/>
          </a:p>
        </p:txBody>
      </p:sp>
      <p:sp>
        <p:nvSpPr>
          <p:cNvPr id="25" name="Phase Validieren Kreis"/>
          <p:cNvSpPr/>
          <p:nvPr/>
        </p:nvSpPr>
        <p:spPr>
          <a:xfrm>
            <a:off x="10076414" y="2194560"/>
            <a:ext cx="914400" cy="914400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6"/>
            </a:solidFill>
            <a:prstDash val="dash"/>
          </a:ln>
        </p:spPr>
      </p:sp>
      <p:pic>
        <p:nvPicPr>
          <p:cNvPr id="26" name="Image 4" descr="Validiere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5014" y="242316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469892" y="3291840"/>
            <a:ext cx="21274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Validieren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9561332" y="3639312"/>
            <a:ext cx="19445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mit Gruppe 2 ab PVA 5</a:t>
            </a:r>
            <a:endParaRPr lang="en-US" sz="1300" dirty="0"/>
          </a:p>
        </p:txBody>
      </p:sp>
      <p:sp>
        <p:nvSpPr>
          <p:cNvPr id="29" name="Stand"/>
          <p:cNvSpPr/>
          <p:nvPr/>
        </p:nvSpPr>
        <p:spPr>
          <a:xfrm>
            <a:off x="548640" y="4526280"/>
            <a:ext cx="11094415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822960" y="452628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Heute: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Erste Runde ohne Gruppe 2 abgeschlossen – Analyse der Präsentation, Probelauf des Interviews, Spezifikation v0.6 intern geprüft.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Als Nächstes: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Interview und Review mit Gruppe 2, dann zweite Runde bis zur Freigabe v1.0.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548640" y="59618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7791F"/>
                </a:solidFill>
              </a:rPr>
              <a:t>Hinweis 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[Vor PVA 6 aktualisieren: Hat das Interview PVA 5 stattgefunden, steht «Validieren» auf «läuft» und die Version auf v0.7.]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WAS WIR BISHER HABEN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51 Anforderungen – jede mit Quelle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Stand Spezifikation v0.6; Zahlen aus der Nachverfolgbarkeitsmatrix.</a:t>
            </a:r>
            <a:endParaRPr lang="en-US" sz="1600" dirty="0"/>
          </a:p>
        </p:txBody>
      </p:sp>
      <p:sp>
        <p:nvSpPr>
          <p:cNvPr id="5" name="Kennzahl Stakeholder"/>
          <p:cNvSpPr/>
          <p:nvPr/>
        </p:nvSpPr>
        <p:spPr>
          <a:xfrm>
            <a:off x="548640" y="1965960"/>
            <a:ext cx="2072579" cy="210312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16153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accent1"/>
                </a:solidFill>
              </a:rPr>
              <a:t>12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16153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Stakeholder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47872"/>
            <a:ext cx="16153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6 von Gruppe 2 genannt</a:t>
            </a:r>
            <a:endParaRPr lang="en-US" sz="1200" dirty="0"/>
          </a:p>
        </p:txBody>
      </p:sp>
      <p:sp>
        <p:nvSpPr>
          <p:cNvPr id="9" name="Kennzahl Use Cases"/>
          <p:cNvSpPr/>
          <p:nvPr/>
        </p:nvSpPr>
        <p:spPr>
          <a:xfrm>
            <a:off x="2804099" y="1965960"/>
            <a:ext cx="2072579" cy="210312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32699" y="2148840"/>
            <a:ext cx="16153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accent1"/>
                </a:solidFill>
              </a:rPr>
              <a:t>9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3032699" y="3017520"/>
            <a:ext cx="16153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Use Cases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032699" y="3547872"/>
            <a:ext cx="16153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6 ausführlich beschrieben</a:t>
            </a:r>
            <a:endParaRPr lang="en-US" sz="1200" dirty="0"/>
          </a:p>
        </p:txBody>
      </p:sp>
      <p:sp>
        <p:nvSpPr>
          <p:cNvPr id="13" name="Kennzahl funktionale Anforderungen"/>
          <p:cNvSpPr/>
          <p:nvPr/>
        </p:nvSpPr>
        <p:spPr>
          <a:xfrm>
            <a:off x="5059558" y="1965960"/>
            <a:ext cx="2072579" cy="210312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88158" y="2148840"/>
            <a:ext cx="16153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accent1"/>
                </a:solidFill>
              </a:rPr>
              <a:t>35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5288158" y="3017520"/>
            <a:ext cx="16153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funktionale Anforderungen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288158" y="3547872"/>
            <a:ext cx="16153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davon 21 Must</a:t>
            </a:r>
            <a:endParaRPr lang="en-US" sz="1200" dirty="0"/>
          </a:p>
        </p:txBody>
      </p:sp>
      <p:sp>
        <p:nvSpPr>
          <p:cNvPr id="17" name="Kennzahl Qualitäts- anforderungen"/>
          <p:cNvSpPr/>
          <p:nvPr/>
        </p:nvSpPr>
        <p:spPr>
          <a:xfrm>
            <a:off x="7315017" y="1965960"/>
            <a:ext cx="2072579" cy="210312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43617" y="2148840"/>
            <a:ext cx="16153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accent1"/>
                </a:solidFill>
              </a:rPr>
              <a:t>16</a:t>
            </a:r>
            <a:endParaRPr lang="en-US" sz="4600" dirty="0"/>
          </a:p>
        </p:txBody>
      </p:sp>
      <p:sp>
        <p:nvSpPr>
          <p:cNvPr id="19" name="Text 17"/>
          <p:cNvSpPr txBox="1"/>
          <p:nvPr/>
        </p:nvSpPr>
        <p:spPr>
          <a:xfrm>
            <a:off x="7543617" y="3017520"/>
            <a:ext cx="16153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Qualitäts-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anforderungen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543617" y="3547872"/>
            <a:ext cx="16153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jede mit Messgrösse</a:t>
            </a:r>
            <a:endParaRPr lang="en-US" sz="1200" dirty="0"/>
          </a:p>
        </p:txBody>
      </p:sp>
      <p:sp>
        <p:nvSpPr>
          <p:cNvPr id="21" name="Kennzahl offene Punkte"/>
          <p:cNvSpPr/>
          <p:nvPr/>
        </p:nvSpPr>
        <p:spPr>
          <a:xfrm>
            <a:off x="9570476" y="1965960"/>
            <a:ext cx="2072579" cy="210312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799076" y="2148840"/>
            <a:ext cx="16153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accent1"/>
                </a:solidFill>
              </a:rPr>
              <a:t>22</a:t>
            </a:r>
            <a:endParaRPr lang="en-US" sz="4600" dirty="0"/>
          </a:p>
        </p:txBody>
      </p:sp>
      <p:sp>
        <p:nvSpPr>
          <p:cNvPr id="23" name="Text 21"/>
          <p:cNvSpPr txBox="1"/>
          <p:nvPr/>
        </p:nvSpPr>
        <p:spPr>
          <a:xfrm>
            <a:off x="9799076" y="3017520"/>
            <a:ext cx="16153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offene Punkte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799076" y="3547872"/>
            <a:ext cx="16153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für das Interview PVA 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343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Herkunft</a:t>
            </a:r>
            <a:endParaRPr lang="en-US" sz="1400" dirty="0"/>
          </a:p>
        </p:txBody>
      </p:sp>
      <p:sp>
        <p:nvSpPr>
          <p:cNvPr id="26" name="Anteil belegt"/>
          <p:cNvSpPr/>
          <p:nvPr/>
        </p:nvSpPr>
        <p:spPr>
          <a:xfrm>
            <a:off x="548640" y="4709160"/>
            <a:ext cx="8483965" cy="411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Anteil Annahme"/>
          <p:cNvSpPr/>
          <p:nvPr/>
        </p:nvSpPr>
        <p:spPr>
          <a:xfrm>
            <a:off x="9032605" y="4709160"/>
            <a:ext cx="2610451" cy="41148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4709160"/>
            <a:ext cx="811820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39 mit Folie oder Notiz von Gruppe 2 belegt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124045" y="4709160"/>
            <a:ext cx="242757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 ohne Folienbezug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394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7791F"/>
                </a:solidFill>
              </a:rPr>
              <a:t>Annahme 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Ziele, Stakeholder-Einschätzung und alle Werte sind Hypothesen, bis Gruppe 2 sie bestätigt; die Simulation ersetzt die Ermittlung nicht.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ERKENNTNISSE UND NÄCHSTE SCHRITTE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Die grössten Fragen betreffen Regeln, nicht Funktionen</a:t>
            </a:r>
            <a:endParaRPr lang="en-US" sz="3200" dirty="0"/>
          </a:p>
        </p:txBody>
      </p:sp>
      <p:sp>
        <p:nvSpPr>
          <p:cNvPr id="4" name="Erkenntnisse"/>
          <p:cNvSpPr/>
          <p:nvPr/>
        </p:nvSpPr>
        <p:spPr>
          <a:xfrm>
            <a:off x="548640" y="1600200"/>
            <a:ext cx="5410048" cy="4160520"/>
          </a:xfrm>
          <a:prstGeom prst="roundRect">
            <a:avLst>
              <a:gd name="adj" fmla="val 2637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WAS UNS ÜBERRASCHT HAT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86140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Self-Service ist nicht verlangt.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Gruppe 2 nennt «komfortabler für Kunden», aber nicht, dass Kunden selbst online reservieren. Diese eine Antwort verändert den Umfang am stärksten (OP-02).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Serien haben versteckte Anforderungen.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Was passiert, wenn ein Verein einen einzelnen Termin absagt? Wer bestätigt eine Serie? (Folie 47: versteckte Anforderungen)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Konflikte gehören der Geschäftsleitung.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Vereine gegen Privatkunden am Abend, Kulanz bei Stornos: Das können wir vorbereiten, nicht entscheiden.</a:t>
            </a:r>
            <a:endParaRPr lang="en-US" sz="1400" dirty="0"/>
          </a:p>
        </p:txBody>
      </p:sp>
      <p:sp>
        <p:nvSpPr>
          <p:cNvPr id="7" name="Nächste Schritte"/>
          <p:cNvSpPr/>
          <p:nvPr/>
        </p:nvSpPr>
        <p:spPr>
          <a:xfrm>
            <a:off x="6233008" y="1600200"/>
            <a:ext cx="5410048" cy="4160520"/>
          </a:xfrm>
          <a:prstGeom prst="roundRect">
            <a:avLst>
              <a:gd name="adj" fmla="val 2637"/>
            </a:avLst>
          </a:prstGeom>
          <a:solidFill>
            <a:schemeClr val="accent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07328" y="178308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BIS PVA 9/10</a:t>
            </a:r>
            <a:endParaRPr lang="en-US" sz="1100" dirty="0"/>
          </a:p>
        </p:txBody>
      </p:sp>
      <p:sp>
        <p:nvSpPr>
          <p:cNvPr id="9" name="Schritt 1"/>
          <p:cNvSpPr/>
          <p:nvPr/>
        </p:nvSpPr>
        <p:spPr>
          <a:xfrm>
            <a:off x="6507328" y="22677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7328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055968" y="2240280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Interview mit Gruppe 2 auswerten, Spezifikation v0.7</a:t>
            </a:r>
            <a:endParaRPr lang="en-US" sz="1500" dirty="0"/>
          </a:p>
        </p:txBody>
      </p:sp>
      <p:sp>
        <p:nvSpPr>
          <p:cNvPr id="12" name="Schritt 2"/>
          <p:cNvSpPr/>
          <p:nvPr/>
        </p:nvSpPr>
        <p:spPr>
          <a:xfrm>
            <a:off x="6507328" y="2926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07328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055968" y="2898648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Review der Spezifikation durch Gruppe 2</a:t>
            </a:r>
            <a:endParaRPr lang="en-US" sz="1500" dirty="0"/>
          </a:p>
        </p:txBody>
      </p:sp>
      <p:sp>
        <p:nvSpPr>
          <p:cNvPr id="15" name="Schritt 3"/>
          <p:cNvSpPr/>
          <p:nvPr/>
        </p:nvSpPr>
        <p:spPr>
          <a:xfrm>
            <a:off x="6507328" y="35844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0732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055968" y="3557016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Priorisierung durch die Geschäftsleitung von ArenaOne</a:t>
            </a:r>
            <a:endParaRPr lang="en-US" sz="1500" dirty="0"/>
          </a:p>
        </p:txBody>
      </p:sp>
      <p:sp>
        <p:nvSpPr>
          <p:cNvPr id="18" name="Schritt 4"/>
          <p:cNvSpPr/>
          <p:nvPr/>
        </p:nvSpPr>
        <p:spPr>
          <a:xfrm>
            <a:off x="6507328" y="42428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07328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055968" y="4215384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Szenarien durchspielen, Freigabe v1.0</a:t>
            </a:r>
            <a:endParaRPr lang="en-US" sz="1500" dirty="0"/>
          </a:p>
        </p:txBody>
      </p:sp>
      <p:sp>
        <p:nvSpPr>
          <p:cNvPr id="21" name="Schritt 5"/>
          <p:cNvSpPr/>
          <p:nvPr/>
        </p:nvSpPr>
        <p:spPr>
          <a:xfrm>
            <a:off x="6507328" y="49011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07328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055968" y="4873752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Präsentation und Diskussion PVA 9/10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7791F"/>
                </a:solidFill>
              </a:rPr>
              <a:t>Frage an alle 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Erfahrungsaustausch: Wie bringt ihr euren Auftraggeber dazu, Zahlen zu nennen? Wie geht ihr mit Lösungsvorschlägen um?</a:t>
            </a:r>
            <a:endParaRPr lang="en-US" sz="1100" dirty="0"/>
          </a:p>
        </p:txBody>
      </p:sp>
      <p:sp>
        <p:nvSpPr>
          <p:cNvPr id="26" name="Text 0"/>
          <p:cNvSpPr/>
          <p:nvPr>
            <p:ph idx="102" type="body" hasCustomPrompt="1"/>
          </p:nvPr>
        </p:nvSpPr>
        <p:spPr>
          <a:xfrm>
            <a:off x="548640" y="1371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enaOne RE">
  <a:themeElements>
    <a:clrScheme name="ArenaOne RE">
      <a:dk1>
        <a:srgbClr val="13293D"/>
      </a:dk1>
      <a:lt1>
        <a:srgbClr val="FFFFFF"/>
      </a:lt1>
      <a:dk2>
        <a:srgbClr val="5A6B7B"/>
      </a:dk2>
      <a:lt2>
        <a:srgbClr val="F3F6F8"/>
      </a:lt2>
      <a:accent1>
        <a:srgbClr val="0A8A7A"/>
      </a:accent1>
      <a:accent2>
        <a:srgbClr val="C4472D"/>
      </a:accent2>
      <a:accent3>
        <a:srgbClr val="6FD1C0"/>
      </a:accent3>
      <a:accent4>
        <a:srgbClr val="E3F3F0"/>
      </a:accent4>
      <a:accent5>
        <a:srgbClr val="FBEAE5"/>
      </a:accent5>
      <a:accent6>
        <a:srgbClr val="D5DDE4"/>
      </a:accent6>
      <a:hlink>
        <a:srgbClr val="0A8A7A"/>
      </a:hlink>
      <a:folHlink>
        <a:srgbClr val="5A6B7B"/>
      </a:folHlink>
    </a:clrScheme>
    <a:fontScheme name="ArenaOne R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ArenaOne – Zwischenstand RE (PVA 6)</dc:title>
  <dc:subject>Requirements Engineering HS26, PVA 6, RE-Rolle Gruppe 9 für Gruppe 2</dc:subject>
  <dc:creator>Gruppe 9</dc:creator>
  <cp:lastModifiedBy>Gruppe 9</cp:lastModifiedBy>
  <cp:revision>1</cp:revision>
  <dcterms:created xsi:type="dcterms:W3CDTF">2026-10-25T15:53:21Z</dcterms:created>
  <dcterms:modified xsi:type="dcterms:W3CDTF">2026-10-25T15:53:21Z</dcterms:modified>
</cp:coreProperties>
</file>