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25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A394"/>
          </a:solidFill>
          <a:ln w="12700">
            <a:solidFill>
              <a:srgbClr val="10A39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82296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7CD6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REQUIREMENTS ENGINEERING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77240" y="1600200"/>
            <a:ext cx="10744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Digitalisierung der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internen Postverarbeitung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365760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D9E6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Projektvorstellung aus Sicht des Auftraggebers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822960" y="5010912"/>
            <a:ext cx="5577840" cy="0"/>
          </a:xfrm>
          <a:prstGeom prst="line">
            <a:avLst/>
          </a:prstGeom>
          <a:noFill/>
          <a:ln w="25400">
            <a:solidFill>
              <a:srgbClr val="10A39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5340096"/>
            <a:ext cx="9144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Bank · Fallbeispiel  |  PVA 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59436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CAD9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Ziel: weniger physische Umläufe, mehr Transparenz und schnellere Bearbeitung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A394"/>
          </a:solidFill>
          <a:ln w="12700">
            <a:solidFill>
              <a:srgbClr val="10A39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365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REQUIREMENTS ENGINEERING · PVA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125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Ausgangslage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12648" y="1481328"/>
            <a:ext cx="108813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A6B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Die Kundenpost wird bisher physisch innerhalb der Bank weitergegeben.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03504" y="6455664"/>
            <a:ext cx="10972800" cy="0"/>
          </a:xfrm>
          <a:prstGeom prst="line">
            <a:avLst/>
          </a:prstGeom>
          <a:noFill/>
          <a:ln w="12700">
            <a:solidFill>
              <a:srgbClr val="DFE7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651967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A6B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Projektvorstellung · Digitalisierung der Postverarbeitung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09960" y="6519672"/>
            <a:ext cx="393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A6B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40080" y="2194560"/>
            <a:ext cx="530352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FE7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194560"/>
            <a:ext cx="59436" cy="3108960"/>
          </a:xfrm>
          <a:prstGeom prst="rect">
            <a:avLst/>
          </a:prstGeom>
          <a:solidFill>
            <a:srgbClr val="10A394"/>
          </a:solidFill>
          <a:ln w="12700">
            <a:solidFill>
              <a:srgbClr val="10A39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37744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125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Unternehmen &amp; Umfeld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68680" y="2880360"/>
            <a:ext cx="48463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5A6B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Bank mit Kundenberatung, Posteingang und Backoffice.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5A6B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Kunden erhalten weiterhin Unterlagen in Papierform und senden diese per Post zurück.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263640" y="2194560"/>
            <a:ext cx="530352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FE7E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63640" y="2194560"/>
            <a:ext cx="59436" cy="3108960"/>
          </a:xfrm>
          <a:prstGeom prst="rect">
            <a:avLst/>
          </a:prstGeom>
          <a:solidFill>
            <a:srgbClr val="2365A0"/>
          </a:solidFill>
          <a:ln w="12700">
            <a:solidFill>
              <a:srgbClr val="2365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237744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125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Projektauftrag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492240" y="2880360"/>
            <a:ext cx="48463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5A6B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Der interne Umgang mit retournierten Kundendokumenten soll vereinfacht und digital unterstützt werden.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5A6B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Die Anforderungen dafür soll ein Requirements-Engineering-Team ermitteln.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A394"/>
          </a:solidFill>
          <a:ln w="12700">
            <a:solidFill>
              <a:srgbClr val="10A39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365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REQUIREMENTS ENGINEERING · PVA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125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Ist-Prozess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12648" y="1481328"/>
            <a:ext cx="108813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A6B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Rücksendungen werden direkt den Kundenberatern zugestellt und intern physisch weitergeleitet.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03504" y="6455664"/>
            <a:ext cx="10972800" cy="0"/>
          </a:xfrm>
          <a:prstGeom prst="line">
            <a:avLst/>
          </a:prstGeom>
          <a:noFill/>
          <a:ln w="12700">
            <a:solidFill>
              <a:srgbClr val="DFE7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651967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A6B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Projektvorstellung · Digitalisierung der Postverarbeitung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09960" y="6519672"/>
            <a:ext cx="393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A6B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03504" y="2331720"/>
            <a:ext cx="2624328" cy="2121408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12700">
            <a:solidFill>
              <a:srgbClr val="DFE7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58952" y="2496312"/>
            <a:ext cx="475488" cy="475488"/>
          </a:xfrm>
          <a:prstGeom prst="ellipse">
            <a:avLst/>
          </a:prstGeom>
          <a:solidFill>
            <a:srgbClr val="2365A0"/>
          </a:solidFill>
          <a:ln w="12700">
            <a:solidFill>
              <a:srgbClr val="2365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8952" y="2532888"/>
            <a:ext cx="475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68096" y="318211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125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Kundenberater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68096" y="3639312"/>
            <a:ext cx="22494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A6B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Versendet Dokumente per Post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64408" y="3227832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0A3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300" dirty="0"/>
          </a:p>
        </p:txBody>
      </p:sp>
      <p:sp>
        <p:nvSpPr>
          <p:cNvPr id="15" name="Shape 13"/>
          <p:cNvSpPr/>
          <p:nvPr/>
        </p:nvSpPr>
        <p:spPr>
          <a:xfrm>
            <a:off x="3511296" y="2331720"/>
            <a:ext cx="2624328" cy="2121408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12700">
            <a:solidFill>
              <a:srgbClr val="DFE7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66744" y="2496312"/>
            <a:ext cx="475488" cy="475488"/>
          </a:xfrm>
          <a:prstGeom prst="ellipse">
            <a:avLst/>
          </a:prstGeom>
          <a:solidFill>
            <a:srgbClr val="2365A0"/>
          </a:solidFill>
          <a:ln w="12700">
            <a:solidFill>
              <a:srgbClr val="2365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66744" y="2532888"/>
            <a:ext cx="475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675888" y="318211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125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Kunde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3675888" y="3639312"/>
            <a:ext cx="22494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A6B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Ergänzt / unterschreibt und retourniert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172200" y="3227832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0A3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300" dirty="0"/>
          </a:p>
        </p:txBody>
      </p:sp>
      <p:sp>
        <p:nvSpPr>
          <p:cNvPr id="21" name="Shape 19"/>
          <p:cNvSpPr/>
          <p:nvPr/>
        </p:nvSpPr>
        <p:spPr>
          <a:xfrm>
            <a:off x="6419088" y="2331720"/>
            <a:ext cx="2624328" cy="2121408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12700">
            <a:solidFill>
              <a:srgbClr val="DFE7E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74536" y="2496312"/>
            <a:ext cx="475488" cy="475488"/>
          </a:xfrm>
          <a:prstGeom prst="ellipse">
            <a:avLst/>
          </a:prstGeom>
          <a:solidFill>
            <a:srgbClr val="2365A0"/>
          </a:solidFill>
          <a:ln w="12700">
            <a:solidFill>
              <a:srgbClr val="2365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74536" y="2532888"/>
            <a:ext cx="475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583680" y="318211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125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Kundenberater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6583680" y="3639312"/>
            <a:ext cx="22494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A6B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Empfängt und kontrolliert die Rücksendung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079992" y="3227832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0A3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300" dirty="0"/>
          </a:p>
        </p:txBody>
      </p:sp>
      <p:sp>
        <p:nvSpPr>
          <p:cNvPr id="27" name="Shape 25"/>
          <p:cNvSpPr/>
          <p:nvPr/>
        </p:nvSpPr>
        <p:spPr>
          <a:xfrm>
            <a:off x="9326880" y="2331720"/>
            <a:ext cx="2624328" cy="2121408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12700">
            <a:solidFill>
              <a:srgbClr val="DFE7E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482328" y="2496312"/>
            <a:ext cx="475488" cy="475488"/>
          </a:xfrm>
          <a:prstGeom prst="ellipse">
            <a:avLst/>
          </a:prstGeom>
          <a:solidFill>
            <a:srgbClr val="2365A0"/>
          </a:solidFill>
          <a:ln w="12700">
            <a:solidFill>
              <a:srgbClr val="2365A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482328" y="2532888"/>
            <a:ext cx="475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491472" y="318211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125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Backoffice</a:t>
            </a:r>
            <a:endParaRPr lang="en-US" sz="1900" dirty="0"/>
          </a:p>
        </p:txBody>
      </p:sp>
      <p:sp>
        <p:nvSpPr>
          <p:cNvPr id="31" name="Text 29"/>
          <p:cNvSpPr/>
          <p:nvPr/>
        </p:nvSpPr>
        <p:spPr>
          <a:xfrm>
            <a:off x="9491472" y="3639312"/>
            <a:ext cx="22494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A6B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Erhält Unterlagen durch internen Postlauf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22960" y="502920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C65E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Besonderheit: Die Weiterleitung hängt von Personen und der internen Logistik ab.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A394"/>
          </a:solidFill>
          <a:ln w="12700">
            <a:solidFill>
              <a:srgbClr val="10A39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365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REQUIREMENTS ENGINEERING · PVA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125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Herausforderungen im heutigen Ablauf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12648" y="1481328"/>
            <a:ext cx="108813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A6B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Der physische Postlauf verursacht Mehraufwand und erschwert die Zusammenarbeit.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03504" y="6455664"/>
            <a:ext cx="10972800" cy="0"/>
          </a:xfrm>
          <a:prstGeom prst="line">
            <a:avLst/>
          </a:prstGeom>
          <a:noFill/>
          <a:ln w="12700">
            <a:solidFill>
              <a:srgbClr val="DFE7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651967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A6B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Projektvorstellung · Digitalisierung der Postverarbeitung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09960" y="6519672"/>
            <a:ext cx="393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A6B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40080" y="1947672"/>
            <a:ext cx="5257800" cy="1618488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FE7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1947672"/>
            <a:ext cx="59436" cy="1618488"/>
          </a:xfrm>
          <a:prstGeom prst="rect">
            <a:avLst/>
          </a:prstGeom>
          <a:solidFill>
            <a:srgbClr val="C65E49"/>
          </a:solidFill>
          <a:ln w="12700">
            <a:solidFill>
              <a:srgbClr val="C65E4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130552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125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Zeitverlust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68680" y="2633472"/>
            <a:ext cx="4800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5A6B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Dokumente müssen transportiert, verteilt und manuell weitergeleitet werden.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6217920" y="1947672"/>
            <a:ext cx="5257800" cy="1618488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FE7E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1947672"/>
            <a:ext cx="59436" cy="1618488"/>
          </a:xfrm>
          <a:prstGeom prst="rect">
            <a:avLst/>
          </a:prstGeom>
          <a:solidFill>
            <a:srgbClr val="2365A0"/>
          </a:solidFill>
          <a:ln w="12700">
            <a:solidFill>
              <a:srgbClr val="2365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2130552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125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Fehlerpotenzial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446520" y="2633472"/>
            <a:ext cx="4800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5A6B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Unterlagen können falsch zugeordnet, verspätet oder unvollständig weitergegeben werden.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640080" y="3822192"/>
            <a:ext cx="5257800" cy="1618488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FE7E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3822192"/>
            <a:ext cx="59436" cy="1618488"/>
          </a:xfrm>
          <a:prstGeom prst="rect">
            <a:avLst/>
          </a:prstGeom>
          <a:solidFill>
            <a:srgbClr val="2365A0"/>
          </a:solidFill>
          <a:ln w="12700">
            <a:solidFill>
              <a:srgbClr val="2365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4005072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125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Abhängigkeit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868680" y="4507992"/>
            <a:ext cx="4800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5A6B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Bearbeitung ist von Anwesenheit und interner Logistik abhängig.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6217920" y="3822192"/>
            <a:ext cx="5257800" cy="1618488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FE7E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17920" y="3822192"/>
            <a:ext cx="59436" cy="1618488"/>
          </a:xfrm>
          <a:prstGeom prst="rect">
            <a:avLst/>
          </a:prstGeom>
          <a:solidFill>
            <a:srgbClr val="2365A0"/>
          </a:solidFill>
          <a:ln w="12700">
            <a:solidFill>
              <a:srgbClr val="2365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46520" y="4005072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125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Wenig Transparenz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6446520" y="4507992"/>
            <a:ext cx="4800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5A6B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Status, Zuständigkeit und Stellvertretung sind schwerer nachzuvollziehen.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A394"/>
          </a:solidFill>
          <a:ln w="12700">
            <a:solidFill>
              <a:srgbClr val="10A39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365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REQUIREMENTS ENGINEERING · PVA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125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Gewünschter Soll-Prozess &amp; Auftrag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12648" y="1481328"/>
            <a:ext cx="108813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A6B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Der Postversand zum Kunden bleibt physisch; die interne Weiterverarbeitung wird digital.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03504" y="6455664"/>
            <a:ext cx="10972800" cy="0"/>
          </a:xfrm>
          <a:prstGeom prst="line">
            <a:avLst/>
          </a:prstGeom>
          <a:noFill/>
          <a:ln w="12700">
            <a:solidFill>
              <a:srgbClr val="DFE7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651967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A6B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Projektvorstellung · Digitalisierung der Postverarbeitung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09960" y="6519672"/>
            <a:ext cx="393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A6B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21792" y="1984248"/>
            <a:ext cx="5230368" cy="1252728"/>
          </a:xfrm>
          <a:prstGeom prst="roundRect">
            <a:avLst>
              <a:gd name="adj" fmla="val 8759"/>
            </a:avLst>
          </a:prstGeom>
          <a:solidFill>
            <a:srgbClr val="FFFFFF"/>
          </a:solidFill>
          <a:ln w="12700">
            <a:solidFill>
              <a:srgbClr val="DFE7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" y="1984248"/>
            <a:ext cx="59436" cy="1252728"/>
          </a:xfrm>
          <a:prstGeom prst="rect">
            <a:avLst/>
          </a:prstGeom>
          <a:solidFill>
            <a:srgbClr val="10A394"/>
          </a:solidFill>
          <a:ln w="12700">
            <a:solidFill>
              <a:srgbClr val="10A39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" y="2167128"/>
            <a:ext cx="4773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125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Posteingang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50392" y="2670048"/>
            <a:ext cx="4773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A6B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Retournierte Dokumente zentral entgegennehmen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17920" y="1984248"/>
            <a:ext cx="5230368" cy="1252728"/>
          </a:xfrm>
          <a:prstGeom prst="roundRect">
            <a:avLst>
              <a:gd name="adj" fmla="val 8759"/>
            </a:avLst>
          </a:prstGeom>
          <a:solidFill>
            <a:srgbClr val="FFFFFF"/>
          </a:solidFill>
          <a:ln w="12700">
            <a:solidFill>
              <a:srgbClr val="DFE7E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1984248"/>
            <a:ext cx="59436" cy="1252728"/>
          </a:xfrm>
          <a:prstGeom prst="rect">
            <a:avLst/>
          </a:prstGeom>
          <a:solidFill>
            <a:srgbClr val="10A394"/>
          </a:solidFill>
          <a:ln w="12700">
            <a:solidFill>
              <a:srgbClr val="10A39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2167128"/>
            <a:ext cx="4773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125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Digitalisierung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446520" y="2670048"/>
            <a:ext cx="4773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A6B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Scannen und dem richtigen Vorgang zuordnen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21792" y="3401568"/>
            <a:ext cx="5230368" cy="1252728"/>
          </a:xfrm>
          <a:prstGeom prst="roundRect">
            <a:avLst>
              <a:gd name="adj" fmla="val 8759"/>
            </a:avLst>
          </a:prstGeom>
          <a:solidFill>
            <a:srgbClr val="FFFFFF"/>
          </a:solidFill>
          <a:ln w="12700">
            <a:solidFill>
              <a:srgbClr val="DFE7E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" y="3401568"/>
            <a:ext cx="59436" cy="1252728"/>
          </a:xfrm>
          <a:prstGeom prst="rect">
            <a:avLst/>
          </a:prstGeom>
          <a:solidFill>
            <a:srgbClr val="10A394"/>
          </a:solidFill>
          <a:ln w="12700">
            <a:solidFill>
              <a:srgbClr val="10A39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0392" y="3584448"/>
            <a:ext cx="4773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125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Bearbeitung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850392" y="4087368"/>
            <a:ext cx="4773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A6B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Digital prüfen, Rückfragen / Korrekturen koordinieren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217920" y="3401568"/>
            <a:ext cx="5230368" cy="1252728"/>
          </a:xfrm>
          <a:prstGeom prst="roundRect">
            <a:avLst>
              <a:gd name="adj" fmla="val 8759"/>
            </a:avLst>
          </a:prstGeom>
          <a:solidFill>
            <a:srgbClr val="FFFFFF"/>
          </a:solidFill>
          <a:ln w="12700">
            <a:solidFill>
              <a:srgbClr val="DFE7E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17920" y="3401568"/>
            <a:ext cx="59436" cy="1252728"/>
          </a:xfrm>
          <a:prstGeom prst="rect">
            <a:avLst/>
          </a:prstGeom>
          <a:solidFill>
            <a:srgbClr val="10A394"/>
          </a:solidFill>
          <a:ln w="12700">
            <a:solidFill>
              <a:srgbClr val="10A39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46520" y="3584448"/>
            <a:ext cx="4773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125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Weiterleitung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6446520" y="4087368"/>
            <a:ext cx="4773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A6B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Zuständigem Backoffice digital zuweisen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49224" y="5111496"/>
            <a:ext cx="10881360" cy="676656"/>
          </a:xfrm>
          <a:prstGeom prst="roundRect">
            <a:avLst>
              <a:gd name="adj" fmla="val 10811"/>
            </a:avLst>
          </a:prstGeom>
          <a:solidFill>
            <a:srgbClr val="E8F6F3"/>
          </a:solidFill>
          <a:ln w="12700">
            <a:solidFill>
              <a:srgbClr val="B8D7D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9536" y="5221224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25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Auftrag an das RE-Team: Bedürfnisse, Zugriffsrechte, Abläufe und messbare Qualitätsziele mit den Stakeholdern klären.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Digitalisierung der internen Postverarbeitung</dc:title>
  <dc:subject>Projektvorstellung PVA 2 – Requirements Engineering</dc:subject>
  <dc:creator/>
  <cp:lastModifiedBy/>
  <cp:revision>1</cp:revision>
  <dcterms:created xsi:type="dcterms:W3CDTF">2026-10-18T11:14:35Z</dcterms:created>
  <dcterms:modified xsi:type="dcterms:W3CDTF">2026-10-18T11:14:35Z</dcterms:modified>
</cp:coreProperties>
</file>